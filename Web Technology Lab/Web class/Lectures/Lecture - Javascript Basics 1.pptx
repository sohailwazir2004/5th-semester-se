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267" r:id="rId5"/>
    <p:sldId id="315" r:id="rId6"/>
    <p:sldId id="326" r:id="rId7"/>
    <p:sldId id="330" r:id="rId8"/>
    <p:sldId id="340" r:id="rId9"/>
    <p:sldId id="328" r:id="rId10"/>
    <p:sldId id="329" r:id="rId11"/>
    <p:sldId id="332" r:id="rId12"/>
    <p:sldId id="258" r:id="rId13"/>
    <p:sldId id="331" r:id="rId14"/>
    <p:sldId id="260" r:id="rId15"/>
    <p:sldId id="334" r:id="rId16"/>
    <p:sldId id="274" r:id="rId17"/>
    <p:sldId id="280" r:id="rId18"/>
    <p:sldId id="281" r:id="rId19"/>
    <p:sldId id="261" r:id="rId20"/>
    <p:sldId id="282" r:id="rId21"/>
    <p:sldId id="263" r:id="rId22"/>
    <p:sldId id="310" r:id="rId23"/>
    <p:sldId id="311" r:id="rId24"/>
    <p:sldId id="313" r:id="rId25"/>
    <p:sldId id="314" r:id="rId26"/>
    <p:sldId id="283" r:id="rId27"/>
    <p:sldId id="284" r:id="rId28"/>
    <p:sldId id="292" r:id="rId29"/>
    <p:sldId id="293" r:id="rId30"/>
    <p:sldId id="294" r:id="rId31"/>
    <p:sldId id="337" r:id="rId32"/>
    <p:sldId id="338" r:id="rId33"/>
    <p:sldId id="339" r:id="rId34"/>
    <p:sldId id="317"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660"/>
  </p:normalViewPr>
  <p:slideViewPr>
    <p:cSldViewPr>
      <p:cViewPr varScale="1">
        <p:scale>
          <a:sx n="81" d="100"/>
          <a:sy n="81" d="100"/>
        </p:scale>
        <p:origin x="1517"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63A455-1CCD-4503-96ED-4F3401E49A69}" type="datetimeFigureOut">
              <a:rPr lang="en-US" smtClean="0"/>
              <a:t>4/3/2023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45B46-355F-47B0-9DDB-86C85D5EBE35}" type="slidenum">
              <a:rPr lang="en-US" smtClean="0"/>
              <a:t>‹#›</a:t>
            </a:fld>
            <a:endParaRPr lang="en-US"/>
          </a:p>
        </p:txBody>
      </p:sp>
    </p:spTree>
    <p:extLst>
      <p:ext uri="{BB962C8B-B14F-4D97-AF65-F5344CB8AC3E}">
        <p14:creationId xmlns:p14="http://schemas.microsoft.com/office/powerpoint/2010/main" val="1826889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B45B46-355F-47B0-9DDB-86C85D5EBE35}" type="slidenum">
              <a:rPr lang="en-US" smtClean="0"/>
              <a:t>24</a:t>
            </a:fld>
            <a:endParaRPr lang="en-US"/>
          </a:p>
        </p:txBody>
      </p:sp>
    </p:spTree>
    <p:extLst>
      <p:ext uri="{BB962C8B-B14F-4D97-AF65-F5344CB8AC3E}">
        <p14:creationId xmlns:p14="http://schemas.microsoft.com/office/powerpoint/2010/main" val="1724380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D2DA1CB-A723-4432-9E93-9A1802467888}" type="datetimeFigureOut">
              <a:rPr lang="en-US" smtClean="0"/>
              <a:pPr/>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2DA1CB-A723-4432-9E93-9A1802467888}" type="datetimeFigureOut">
              <a:rPr lang="en-US" smtClean="0"/>
              <a:pPr/>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2DA1CB-A723-4432-9E93-9A1802467888}" type="datetimeFigureOut">
              <a:rPr lang="en-US" smtClean="0"/>
              <a:pPr/>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D2DA1CB-A723-4432-9E93-9A1802467888}" type="datetimeFigureOut">
              <a:rPr lang="en-US" smtClean="0"/>
              <a:pPr/>
              <a:t>4/3/2023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D2DA1CB-A723-4432-9E93-9A1802467888}" type="datetimeFigureOut">
              <a:rPr lang="en-US" smtClean="0"/>
              <a:pPr/>
              <a:t>4/3/2023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2DA1CB-A723-4432-9E93-9A1802467888}" type="datetimeFigureOut">
              <a:rPr lang="en-US" smtClean="0"/>
              <a:pPr/>
              <a:t>4/3/2023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DA1CB-A723-4432-9E93-9A1802467888}" type="datetimeFigureOut">
              <a:rPr lang="en-US" smtClean="0"/>
              <a:pPr/>
              <a:t>4/3/2023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2DA1CB-A723-4432-9E93-9A1802467888}" type="datetimeFigureOut">
              <a:rPr lang="en-US" smtClean="0"/>
              <a:pPr/>
              <a:t>4/3/2023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2DA1CB-A723-4432-9E93-9A1802467888}" type="datetimeFigureOut">
              <a:rPr lang="en-US" smtClean="0"/>
              <a:pPr/>
              <a:t>4/3/2023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2DA1CB-A723-4432-9E93-9A1802467888}" type="datetimeFigureOut">
              <a:rPr lang="en-US" smtClean="0"/>
              <a:pPr/>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2DA1CB-A723-4432-9E93-9A1802467888}" type="datetimeFigureOut">
              <a:rPr lang="en-US" smtClean="0"/>
              <a:pPr/>
              <a:t>4/3/2023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A4882F-0F78-4193-81E3-1A5EFC70AF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2DA1CB-A723-4432-9E93-9A1802467888}" type="datetimeFigureOut">
              <a:rPr lang="en-US" smtClean="0"/>
              <a:pPr/>
              <a:t>4/3/2023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A4882F-0F78-4193-81E3-1A5EFC70AF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w3schools.com/js/js_let.as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w3schools.com/js/js_const.as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w3schools.com/js/js_object_definition.as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w3schools.com/js/js_object_properties.asp"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w3schools.com/js/js_object_methods.asp"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w3schools.com/js/js_object_constructors.asp"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hyperlink" Target="https://www.w3schools.com/js/js_arrays.asp"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w3schools.com/js/js_array_methods.as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w3schools.com/js/js_array_iteration.asp"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w3schools.com/js/js_comparisons.as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w3schools.com/js/js_arithmetic.asp"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tutorialrepublic.com/javascript-tutorial/" TargetMode="External"/><Relationship Id="rId2" Type="http://schemas.openxmlformats.org/officeDocument/2006/relationships/hyperlink" Target="https://www.w3schools.com/j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Web Technologies</a:t>
            </a:r>
          </a:p>
        </p:txBody>
      </p:sp>
      <p:sp>
        <p:nvSpPr>
          <p:cNvPr id="5" name="Subtitle 4"/>
          <p:cNvSpPr>
            <a:spLocks noGrp="1"/>
          </p:cNvSpPr>
          <p:nvPr>
            <p:ph type="subTitle" idx="1"/>
          </p:nvPr>
        </p:nvSpPr>
        <p:spPr/>
        <p:txBody>
          <a:bodyPr/>
          <a:lstStyle/>
          <a:p>
            <a:r>
              <a:rPr lang="en-US" dirty="0"/>
              <a:t>JS Basics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6467-6DBE-4D60-BFBF-496509322D35}"/>
              </a:ext>
            </a:extLst>
          </p:cNvPr>
          <p:cNvSpPr>
            <a:spLocks noGrp="1"/>
          </p:cNvSpPr>
          <p:nvPr>
            <p:ph type="title"/>
          </p:nvPr>
        </p:nvSpPr>
        <p:spPr>
          <a:xfrm>
            <a:off x="457200" y="76200"/>
            <a:ext cx="8229600" cy="563562"/>
          </a:xfrm>
        </p:spPr>
        <p:txBody>
          <a:bodyPr>
            <a:normAutofit fontScale="90000"/>
          </a:bodyPr>
          <a:lstStyle/>
          <a:p>
            <a:r>
              <a:rPr lang="en-US" sz="4000" dirty="0"/>
              <a:t>Summary of Today’s Lecture</a:t>
            </a:r>
          </a:p>
        </p:txBody>
      </p:sp>
      <p:sp>
        <p:nvSpPr>
          <p:cNvPr id="3" name="Content Placeholder 2">
            <a:extLst>
              <a:ext uri="{FF2B5EF4-FFF2-40B4-BE49-F238E27FC236}">
                <a16:creationId xmlns:a16="http://schemas.microsoft.com/office/drawing/2014/main" id="{55493E03-D5C6-44E8-A294-B2BF9607846E}"/>
              </a:ext>
            </a:extLst>
          </p:cNvPr>
          <p:cNvSpPr>
            <a:spLocks noGrp="1"/>
          </p:cNvSpPr>
          <p:nvPr>
            <p:ph idx="1"/>
          </p:nvPr>
        </p:nvSpPr>
        <p:spPr>
          <a:xfrm>
            <a:off x="457200" y="838200"/>
            <a:ext cx="8229600" cy="5791200"/>
          </a:xfrm>
        </p:spPr>
        <p:txBody>
          <a:bodyPr>
            <a:normAutofit/>
          </a:bodyPr>
          <a:lstStyle/>
          <a:p>
            <a:r>
              <a:rPr lang="en-US" sz="2200" dirty="0"/>
              <a:t>JavaScript Introduction</a:t>
            </a:r>
          </a:p>
          <a:p>
            <a:r>
              <a:rPr lang="en-US" sz="2200" dirty="0"/>
              <a:t>Variable Declaration</a:t>
            </a:r>
          </a:p>
          <a:p>
            <a:r>
              <a:rPr lang="en-US" sz="2200" dirty="0"/>
              <a:t>Data Types</a:t>
            </a:r>
          </a:p>
          <a:p>
            <a:r>
              <a:rPr lang="en-US" sz="2200" dirty="0"/>
              <a:t>Comparison Operators</a:t>
            </a:r>
          </a:p>
          <a:p>
            <a:r>
              <a:rPr lang="en-US" sz="2200" dirty="0"/>
              <a:t>Arithmetic Operators</a:t>
            </a:r>
          </a:p>
          <a:p>
            <a:pPr marL="0" indent="0">
              <a:buNone/>
            </a:pPr>
            <a:endParaRPr lang="en-US" dirty="0"/>
          </a:p>
        </p:txBody>
      </p:sp>
    </p:spTree>
    <p:extLst>
      <p:ext uri="{BB962C8B-B14F-4D97-AF65-F5344CB8AC3E}">
        <p14:creationId xmlns:p14="http://schemas.microsoft.com/office/powerpoint/2010/main" val="523128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a:t>
            </a:r>
          </a:p>
        </p:txBody>
      </p:sp>
      <p:sp>
        <p:nvSpPr>
          <p:cNvPr id="3" name="Content Placeholder 2"/>
          <p:cNvSpPr>
            <a:spLocks noGrp="1"/>
          </p:cNvSpPr>
          <p:nvPr>
            <p:ph idx="1"/>
          </p:nvPr>
        </p:nvSpPr>
        <p:spPr/>
        <p:txBody>
          <a:bodyPr>
            <a:normAutofit fontScale="70000" lnSpcReduction="20000"/>
          </a:bodyPr>
          <a:lstStyle/>
          <a:p>
            <a:pPr>
              <a:buFont typeface="Wingdings" panose="05000000000000000000" pitchFamily="2" charset="2"/>
              <a:buChar char="§"/>
            </a:pPr>
            <a:r>
              <a:rPr lang="en-US" sz="2400" dirty="0"/>
              <a:t> </a:t>
            </a:r>
            <a:r>
              <a:rPr lang="en-US" dirty="0"/>
              <a:t>JavaScript springs into action when the user asks the page to perform a task.</a:t>
            </a:r>
          </a:p>
          <a:p>
            <a:pPr>
              <a:buFont typeface="Wingdings" panose="05000000000000000000" pitchFamily="2" charset="2"/>
              <a:buChar char="§"/>
            </a:pPr>
            <a:r>
              <a:rPr lang="en-US" dirty="0"/>
              <a:t>The problem is that HTML and CSS </a:t>
            </a:r>
            <a:r>
              <a:rPr lang="en-US" i="1" dirty="0"/>
              <a:t>aren’t really interactive</a:t>
            </a:r>
            <a:r>
              <a:rPr lang="en-US" dirty="0"/>
              <a:t>. </a:t>
            </a:r>
          </a:p>
          <a:p>
            <a:pPr lvl="1">
              <a:buFont typeface="Wingdings" panose="05000000000000000000" pitchFamily="2" charset="2"/>
              <a:buChar char="§"/>
            </a:pPr>
            <a:r>
              <a:rPr lang="en-US" dirty="0"/>
              <a:t>certainly are CSS tricks you can use to manipulate styles in very specific situations, such as mouse hovers over links, but your options are fairly limited if you’re using just HTML and CSS.</a:t>
            </a:r>
          </a:p>
          <a:p>
            <a:pPr>
              <a:buFont typeface="Wingdings" panose="05000000000000000000" pitchFamily="2" charset="2"/>
              <a:buChar char="§"/>
            </a:pPr>
            <a:r>
              <a:rPr lang="en-US" dirty="0"/>
              <a:t>JavaScript allows you to detect just about anything that takes place in a web page, like a user clicking buttons, resizing the browser window, or entering data into a text field. </a:t>
            </a:r>
          </a:p>
          <a:p>
            <a:pPr>
              <a:buFont typeface="Wingdings" panose="05000000000000000000" pitchFamily="2" charset="2"/>
              <a:buChar char="§"/>
            </a:pPr>
            <a:r>
              <a:rPr lang="en-US" dirty="0"/>
              <a:t>And since JavaScript is a </a:t>
            </a:r>
            <a:r>
              <a:rPr lang="en-US" b="1" dirty="0"/>
              <a:t>scripting programming language</a:t>
            </a:r>
            <a:r>
              <a:rPr lang="en-US" dirty="0"/>
              <a:t>, you can learn to write code to respond to these user interactions, like performing a calculation, dynamically swapping images on the page, or even validating data.</a:t>
            </a:r>
          </a:p>
          <a:p>
            <a:pPr>
              <a:buFont typeface="Wingdings" panose="05000000000000000000" pitchFamily="2" charset="2"/>
              <a:buChar char="§"/>
            </a:pPr>
            <a:endParaRPr lang="en-US" dirty="0"/>
          </a:p>
          <a:p>
            <a:endParaRPr lang="en-US" sz="2200" dirty="0"/>
          </a:p>
        </p:txBody>
      </p:sp>
      <p:pic>
        <p:nvPicPr>
          <p:cNvPr id="4" name="Picture 3"/>
          <p:cNvPicPr>
            <a:picLocks noChangeAspect="1"/>
          </p:cNvPicPr>
          <p:nvPr/>
        </p:nvPicPr>
        <p:blipFill>
          <a:blip r:embed="rId2"/>
          <a:stretch>
            <a:fillRect/>
          </a:stretch>
        </p:blipFill>
        <p:spPr>
          <a:xfrm>
            <a:off x="2133600" y="5661025"/>
            <a:ext cx="5924550" cy="647700"/>
          </a:xfrm>
          <a:prstGeom prst="rect">
            <a:avLst/>
          </a:prstGeom>
        </p:spPr>
      </p:pic>
    </p:spTree>
    <p:extLst>
      <p:ext uri="{BB962C8B-B14F-4D97-AF65-F5344CB8AC3E}">
        <p14:creationId xmlns:p14="http://schemas.microsoft.com/office/powerpoint/2010/main" val="3611310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a:t>
            </a:r>
          </a:p>
        </p:txBody>
      </p:sp>
      <p:pic>
        <p:nvPicPr>
          <p:cNvPr id="4" name="Content Placeholder 3"/>
          <p:cNvPicPr>
            <a:picLocks noGrp="1" noChangeAspect="1"/>
          </p:cNvPicPr>
          <p:nvPr>
            <p:ph idx="1"/>
          </p:nvPr>
        </p:nvPicPr>
        <p:blipFill>
          <a:blip r:embed="rId2"/>
          <a:stretch>
            <a:fillRect/>
          </a:stretch>
        </p:blipFill>
        <p:spPr>
          <a:xfrm>
            <a:off x="457200" y="1658144"/>
            <a:ext cx="8382000" cy="5047456"/>
          </a:xfrm>
          <a:prstGeom prst="rect">
            <a:avLst/>
          </a:prstGeom>
        </p:spPr>
      </p:pic>
    </p:spTree>
    <p:extLst>
      <p:ext uri="{BB962C8B-B14F-4D97-AF65-F5344CB8AC3E}">
        <p14:creationId xmlns:p14="http://schemas.microsoft.com/office/powerpoint/2010/main" val="131385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9FEB6-CBB8-4602-B90E-4870C8CCC43A}"/>
              </a:ext>
            </a:extLst>
          </p:cNvPr>
          <p:cNvSpPr>
            <a:spLocks noGrp="1"/>
          </p:cNvSpPr>
          <p:nvPr>
            <p:ph type="title"/>
          </p:nvPr>
        </p:nvSpPr>
        <p:spPr/>
        <p:txBody>
          <a:bodyPr/>
          <a:lstStyle/>
          <a:p>
            <a:r>
              <a:rPr lang="en-US" dirty="0">
                <a:solidFill>
                  <a:srgbClr val="000000"/>
                </a:solidFill>
                <a:latin typeface="Verdana" panose="020B0604030504040204" pitchFamily="34" charset="0"/>
              </a:rPr>
              <a:t>JavaScript versions</a:t>
            </a:r>
            <a:endParaRPr lang="en-US" dirty="0"/>
          </a:p>
        </p:txBody>
      </p:sp>
      <p:sp>
        <p:nvSpPr>
          <p:cNvPr id="3" name="Content Placeholder 2">
            <a:extLst>
              <a:ext uri="{FF2B5EF4-FFF2-40B4-BE49-F238E27FC236}">
                <a16:creationId xmlns:a16="http://schemas.microsoft.com/office/drawing/2014/main" id="{17D0D52E-877D-4A56-B7C3-3C929C7446B5}"/>
              </a:ext>
            </a:extLst>
          </p:cNvPr>
          <p:cNvSpPr>
            <a:spLocks noGrp="1"/>
          </p:cNvSpPr>
          <p:nvPr>
            <p:ph idx="1"/>
          </p:nvPr>
        </p:nvSpPr>
        <p:spPr/>
        <p:txBody>
          <a:bodyPr>
            <a:normAutofit/>
          </a:bodyPr>
          <a:lstStyle/>
          <a:p>
            <a:r>
              <a:rPr lang="en-US" sz="2000" dirty="0">
                <a:solidFill>
                  <a:srgbClr val="000000"/>
                </a:solidFill>
                <a:latin typeface="Verdana" panose="020B0604030504040204" pitchFamily="34" charset="0"/>
              </a:rPr>
              <a:t>JavaScript was invented by Brendan </a:t>
            </a:r>
            <a:r>
              <a:rPr lang="en-US" sz="2000" dirty="0" err="1">
                <a:solidFill>
                  <a:srgbClr val="000000"/>
                </a:solidFill>
                <a:latin typeface="Verdana" panose="020B0604030504040204" pitchFamily="34" charset="0"/>
              </a:rPr>
              <a:t>Eich</a:t>
            </a:r>
            <a:r>
              <a:rPr lang="en-US" sz="2000" dirty="0">
                <a:solidFill>
                  <a:srgbClr val="000000"/>
                </a:solidFill>
                <a:latin typeface="Verdana" panose="020B0604030504040204" pitchFamily="34" charset="0"/>
              </a:rPr>
              <a:t> in 1995, and became an ECMA standard in 1997.</a:t>
            </a:r>
          </a:p>
          <a:p>
            <a:r>
              <a:rPr lang="en-US" sz="2000" dirty="0">
                <a:solidFill>
                  <a:srgbClr val="000000"/>
                </a:solidFill>
                <a:latin typeface="Verdana" panose="020B0604030504040204" pitchFamily="34" charset="0"/>
              </a:rPr>
              <a:t>ECMAScript is the official name of the language.</a:t>
            </a:r>
          </a:p>
          <a:p>
            <a:r>
              <a:rPr lang="en-US" sz="2000" b="0" i="0" dirty="0">
                <a:solidFill>
                  <a:srgbClr val="000000"/>
                </a:solidFill>
                <a:effectLst/>
                <a:latin typeface="Verdana" panose="020B0604030504040204" pitchFamily="34" charset="0"/>
              </a:rPr>
              <a:t>ECMAScript versions have been abbreviated to ES1, ES2, ES3, ES5, and ES6.</a:t>
            </a:r>
          </a:p>
          <a:p>
            <a:pPr lvl="1">
              <a:buFont typeface="Arial" panose="020B0604020202020204" pitchFamily="34" charset="0"/>
              <a:buChar char="•"/>
            </a:pPr>
            <a:r>
              <a:rPr lang="en-US" sz="1800" b="0" i="0" dirty="0">
                <a:solidFill>
                  <a:srgbClr val="000000"/>
                </a:solidFill>
                <a:effectLst/>
                <a:latin typeface="Verdana" panose="020B0604030504040204" pitchFamily="34" charset="0"/>
              </a:rPr>
              <a:t>The Original JavaScript ES1 ES2 ES3 (1997-1999)</a:t>
            </a:r>
          </a:p>
          <a:p>
            <a:pPr lvl="1">
              <a:buFont typeface="Arial" panose="020B0604020202020204" pitchFamily="34" charset="0"/>
              <a:buChar char="•"/>
            </a:pPr>
            <a:r>
              <a:rPr lang="en-US" sz="1800" b="0" i="0" dirty="0">
                <a:solidFill>
                  <a:srgbClr val="000000"/>
                </a:solidFill>
                <a:effectLst/>
                <a:latin typeface="Verdana" panose="020B0604030504040204" pitchFamily="34" charset="0"/>
              </a:rPr>
              <a:t>The First Main Revision ES5 (2009)</a:t>
            </a:r>
          </a:p>
          <a:p>
            <a:pPr lvl="1">
              <a:buFont typeface="Arial" panose="020B0604020202020204" pitchFamily="34" charset="0"/>
              <a:buChar char="•"/>
            </a:pPr>
            <a:r>
              <a:rPr lang="en-US" sz="1800" b="0" i="0" dirty="0">
                <a:solidFill>
                  <a:srgbClr val="000000"/>
                </a:solidFill>
                <a:effectLst/>
                <a:latin typeface="Verdana" panose="020B0604030504040204" pitchFamily="34" charset="0"/>
              </a:rPr>
              <a:t>The Second Revision ES6 (2015)</a:t>
            </a:r>
          </a:p>
          <a:p>
            <a:pPr lvl="1">
              <a:buFont typeface="Arial" panose="020B0604020202020204" pitchFamily="34" charset="0"/>
              <a:buChar char="•"/>
            </a:pPr>
            <a:r>
              <a:rPr lang="en-US" sz="1800" b="0" i="0" dirty="0">
                <a:solidFill>
                  <a:srgbClr val="000000"/>
                </a:solidFill>
                <a:effectLst/>
                <a:latin typeface="Verdana" panose="020B0604030504040204" pitchFamily="34" charset="0"/>
              </a:rPr>
              <a:t>The Yearly Additions (2016, 2017, 2018, 2019, 2020)</a:t>
            </a:r>
          </a:p>
          <a:p>
            <a:r>
              <a:rPr lang="en-US" sz="1200" b="0" i="0" dirty="0">
                <a:solidFill>
                  <a:srgbClr val="000000"/>
                </a:solidFill>
                <a:effectLst/>
                <a:latin typeface="Verdana" panose="020B0604030504040204" pitchFamily="34" charset="0"/>
              </a:rPr>
              <a:t>Since 2016 new versions are named by year (ECMAScript 2016 / 2017 / 2018, 2019, 2020).</a:t>
            </a:r>
          </a:p>
          <a:p>
            <a:endParaRPr lang="en-US" sz="2000" dirty="0"/>
          </a:p>
        </p:txBody>
      </p:sp>
    </p:spTree>
    <p:extLst>
      <p:ext uri="{BB962C8B-B14F-4D97-AF65-F5344CB8AC3E}">
        <p14:creationId xmlns:p14="http://schemas.microsoft.com/office/powerpoint/2010/main" val="262844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to Server-side scripting</a:t>
            </a:r>
          </a:p>
        </p:txBody>
      </p:sp>
      <p:sp>
        <p:nvSpPr>
          <p:cNvPr id="3" name="Content Placeholder 2"/>
          <p:cNvSpPr>
            <a:spLocks noGrp="1"/>
          </p:cNvSpPr>
          <p:nvPr>
            <p:ph idx="1"/>
          </p:nvPr>
        </p:nvSpPr>
        <p:spPr/>
        <p:txBody>
          <a:bodyPr/>
          <a:lstStyle/>
          <a:p>
            <a:pPr marL="0" indent="0">
              <a:buNone/>
            </a:pPr>
            <a:r>
              <a:rPr lang="en-US" dirty="0"/>
              <a:t>Why also use client-side scripting?</a:t>
            </a:r>
          </a:p>
          <a:p>
            <a:r>
              <a:rPr lang="en-US" dirty="0"/>
              <a:t>client-side scripting (JavaScript) benefits:</a:t>
            </a:r>
          </a:p>
          <a:p>
            <a:r>
              <a:rPr lang="en-US" b="1" dirty="0"/>
              <a:t>Client-side validation</a:t>
            </a:r>
          </a:p>
          <a:p>
            <a:r>
              <a:rPr lang="en-US" b="1" dirty="0"/>
              <a:t>efficiency</a:t>
            </a:r>
            <a:r>
              <a:rPr lang="en-US" dirty="0"/>
              <a:t>: can make small, quick changes to page without waiting for server</a:t>
            </a:r>
          </a:p>
          <a:p>
            <a:r>
              <a:rPr lang="en-US" b="1" dirty="0"/>
              <a:t>event-driven</a:t>
            </a:r>
            <a:r>
              <a:rPr lang="en-US" dirty="0"/>
              <a:t>: can respond to user actions like clicks and key presses</a:t>
            </a:r>
          </a:p>
          <a:p>
            <a:endParaRPr lang="en-US" dirty="0"/>
          </a:p>
        </p:txBody>
      </p:sp>
    </p:spTree>
    <p:extLst>
      <p:ext uri="{BB962C8B-B14F-4D97-AF65-F5344CB8AC3E}">
        <p14:creationId xmlns:p14="http://schemas.microsoft.com/office/powerpoint/2010/main" val="3103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programming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29391"/>
            <a:ext cx="8229600" cy="4067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3621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33400" y="609600"/>
            <a:ext cx="8153399" cy="5516563"/>
          </a:xfrm>
          <a:prstGeom prst="rect">
            <a:avLst/>
          </a:prstGeom>
        </p:spPr>
      </p:pic>
    </p:spTree>
    <p:extLst>
      <p:ext uri="{BB962C8B-B14F-4D97-AF65-F5344CB8AC3E}">
        <p14:creationId xmlns:p14="http://schemas.microsoft.com/office/powerpoint/2010/main" val="1169061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JavaScript to a Page</a:t>
            </a:r>
          </a:p>
        </p:txBody>
      </p:sp>
      <p:sp>
        <p:nvSpPr>
          <p:cNvPr id="3" name="Content Placeholder 2"/>
          <p:cNvSpPr>
            <a:spLocks noGrp="1"/>
          </p:cNvSpPr>
          <p:nvPr>
            <p:ph idx="1"/>
          </p:nvPr>
        </p:nvSpPr>
        <p:spPr>
          <a:xfrm>
            <a:off x="457200" y="1600200"/>
            <a:ext cx="8229600" cy="4953000"/>
          </a:xfrm>
        </p:spPr>
        <p:txBody>
          <a:bodyPr>
            <a:normAutofit fontScale="62500" lnSpcReduction="20000"/>
          </a:bodyPr>
          <a:lstStyle/>
          <a:p>
            <a:pPr marL="514350" indent="-514350">
              <a:buFont typeface="+mj-lt"/>
              <a:buAutoNum type="arabicPeriod"/>
            </a:pPr>
            <a:r>
              <a:rPr lang="en-US" sz="3500" dirty="0"/>
              <a:t>Like CSS, you can embed a script right in a document or keep it in an external file and link it to the page. Both methods use the </a:t>
            </a:r>
            <a:r>
              <a:rPr lang="en-US" sz="3500" b="1" dirty="0"/>
              <a:t>script element.</a:t>
            </a:r>
          </a:p>
          <a:p>
            <a:r>
              <a:rPr lang="en-US" sz="3500" b="1" dirty="0"/>
              <a:t>Embedded Script</a:t>
            </a:r>
          </a:p>
          <a:p>
            <a:pPr lvl="1"/>
            <a:r>
              <a:rPr lang="en-US" sz="3500" dirty="0"/>
              <a:t>To embed a script on a page, just add the code as the content of a </a:t>
            </a:r>
            <a:r>
              <a:rPr lang="en-US" sz="3500" b="1" dirty="0"/>
              <a:t>script </a:t>
            </a:r>
            <a:r>
              <a:rPr lang="en-US" sz="3500" dirty="0"/>
              <a:t>element:</a:t>
            </a:r>
          </a:p>
          <a:p>
            <a:pPr lvl="2"/>
            <a:r>
              <a:rPr lang="en-US" sz="3500" dirty="0"/>
              <a:t>&lt;script&gt;</a:t>
            </a:r>
          </a:p>
          <a:p>
            <a:pPr lvl="3"/>
            <a:r>
              <a:rPr lang="en-US" sz="3500" dirty="0"/>
              <a:t>… JavaScript code goes here</a:t>
            </a:r>
          </a:p>
          <a:p>
            <a:pPr lvl="2"/>
            <a:r>
              <a:rPr lang="en-US" sz="3500" dirty="0"/>
              <a:t>&lt;/script&gt;</a:t>
            </a:r>
          </a:p>
          <a:p>
            <a:pPr marL="342900" lvl="1" indent="-342900">
              <a:buFont typeface="Arial" pitchFamily="34" charset="0"/>
              <a:buChar char="•"/>
            </a:pPr>
            <a:r>
              <a:rPr lang="en-US" sz="3500" b="1" dirty="0"/>
              <a:t>External scripts</a:t>
            </a:r>
          </a:p>
          <a:p>
            <a:pPr lvl="1"/>
            <a:r>
              <a:rPr lang="en-US" sz="3500" dirty="0"/>
              <a:t>The other method uses the </a:t>
            </a:r>
            <a:r>
              <a:rPr lang="en-US" sz="3500" b="1" dirty="0" err="1"/>
              <a:t>src</a:t>
            </a:r>
            <a:r>
              <a:rPr lang="en-US" sz="3500" b="1" dirty="0"/>
              <a:t> attribute to point to a script file (with a </a:t>
            </a:r>
            <a:r>
              <a:rPr lang="en-US" sz="3500" b="1" i="1" dirty="0"/>
              <a:t>.</a:t>
            </a:r>
            <a:r>
              <a:rPr lang="en-US" sz="3500" b="1" i="1" dirty="0" err="1"/>
              <a:t>js</a:t>
            </a:r>
            <a:r>
              <a:rPr lang="en-US" sz="3500" b="1" i="1" dirty="0"/>
              <a:t> </a:t>
            </a:r>
            <a:r>
              <a:rPr lang="en-US" sz="3500" dirty="0"/>
              <a:t>suffix) by its URL. In this case, the script element has no content.</a:t>
            </a:r>
          </a:p>
          <a:p>
            <a:pPr lvl="2"/>
            <a:r>
              <a:rPr lang="en-US" sz="3500" dirty="0"/>
              <a:t>&lt;script </a:t>
            </a:r>
            <a:r>
              <a:rPr lang="en-US" sz="3500" dirty="0" err="1"/>
              <a:t>src</a:t>
            </a:r>
            <a:r>
              <a:rPr lang="en-US" sz="3500" dirty="0"/>
              <a:t>="my_script.js"&gt;&lt;/script&gt;</a:t>
            </a:r>
            <a:br>
              <a:rPr lang="en-US" dirty="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990600"/>
            <a:ext cx="7620000" cy="5867400"/>
          </a:xfrm>
          <a:prstGeom prst="rect">
            <a:avLst/>
          </a:prstGeom>
        </p:spPr>
      </p:pic>
    </p:spTree>
    <p:extLst>
      <p:ext uri="{BB962C8B-B14F-4D97-AF65-F5344CB8AC3E}">
        <p14:creationId xmlns:p14="http://schemas.microsoft.com/office/powerpoint/2010/main" val="74890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sz="4000" dirty="0"/>
              <a:t>Variables (</a:t>
            </a:r>
            <a:r>
              <a:rPr lang="en-US" sz="4000" dirty="0">
                <a:latin typeface="Courier New" panose="02070309020205020404" pitchFamily="49" charset="0"/>
                <a:cs typeface="Courier New" panose="02070309020205020404" pitchFamily="49" charset="0"/>
              </a:rPr>
              <a:t>var</a:t>
            </a:r>
            <a:r>
              <a:rPr lang="en-US" sz="4000" dirty="0"/>
              <a:t>)</a:t>
            </a:r>
          </a:p>
        </p:txBody>
      </p:sp>
      <p:sp>
        <p:nvSpPr>
          <p:cNvPr id="3" name="Content Placeholder 2"/>
          <p:cNvSpPr>
            <a:spLocks noGrp="1"/>
          </p:cNvSpPr>
          <p:nvPr>
            <p:ph idx="1"/>
          </p:nvPr>
        </p:nvSpPr>
        <p:spPr>
          <a:xfrm>
            <a:off x="457200" y="685800"/>
            <a:ext cx="8229600" cy="6096000"/>
          </a:xfrm>
        </p:spPr>
        <p:txBody>
          <a:bodyPr>
            <a:normAutofit fontScale="85000" lnSpcReduction="10000"/>
          </a:bodyPr>
          <a:lstStyle/>
          <a:p>
            <a:r>
              <a:rPr lang="en-US" sz="3100" dirty="0"/>
              <a:t>A variable is like an information container. You give it a name and then assign it a value, which can be a number, text string, an element in the DOM, or a function.</a:t>
            </a:r>
          </a:p>
          <a:p>
            <a:r>
              <a:rPr lang="en-US" sz="3100" dirty="0"/>
              <a:t>The general rules for constructing names for variables (unique identifiers) are:</a:t>
            </a:r>
          </a:p>
          <a:p>
            <a:pPr lvl="1"/>
            <a:r>
              <a:rPr lang="en-US" sz="2700" dirty="0"/>
              <a:t>Names can contain letters, digits, underscores, and dollar signs.</a:t>
            </a:r>
          </a:p>
          <a:p>
            <a:pPr lvl="1"/>
            <a:r>
              <a:rPr lang="en-US" sz="2700" dirty="0"/>
              <a:t>Names must begin with a letter, $ or _.</a:t>
            </a:r>
          </a:p>
          <a:p>
            <a:pPr lvl="1"/>
            <a:r>
              <a:rPr lang="en-US" sz="2700" dirty="0"/>
              <a:t>Names are case sensitive (y and Y are different variables)</a:t>
            </a:r>
          </a:p>
          <a:p>
            <a:pPr lvl="1"/>
            <a:r>
              <a:rPr lang="en-US" sz="2700" dirty="0"/>
              <a:t>Reserved words (like JavaScript keywords) cannot be used as names</a:t>
            </a:r>
          </a:p>
          <a:p>
            <a:pPr lvl="1"/>
            <a:r>
              <a:rPr lang="en-US" sz="2700" dirty="0"/>
              <a:t>The following declaration creates a variable with the name “foo” and assigns it the value 5:</a:t>
            </a:r>
          </a:p>
          <a:p>
            <a:pPr lvl="2"/>
            <a:r>
              <a:rPr lang="en-US" sz="2300" dirty="0">
                <a:latin typeface="Courier New" panose="02070309020205020404" pitchFamily="49" charset="0"/>
                <a:cs typeface="Courier New" panose="02070309020205020404" pitchFamily="49" charset="0"/>
              </a:rPr>
              <a:t>var foo = 5;</a:t>
            </a:r>
          </a:p>
          <a:p>
            <a:pPr lvl="2"/>
            <a:r>
              <a:rPr lang="en-US" sz="2300" dirty="0">
                <a:latin typeface="Courier New" panose="02070309020205020404" pitchFamily="49" charset="0"/>
                <a:cs typeface="Courier New" panose="02070309020205020404" pitchFamily="49" charset="0"/>
              </a:rPr>
              <a:t>var person = "John Doe",</a:t>
            </a:r>
            <a:br>
              <a:rPr lang="en-US" sz="2300" dirty="0">
                <a:latin typeface="Courier New" panose="02070309020205020404" pitchFamily="49" charset="0"/>
                <a:cs typeface="Courier New" panose="02070309020205020404" pitchFamily="49" charset="0"/>
              </a:rPr>
            </a:br>
            <a:r>
              <a:rPr lang="en-US" sz="2300" dirty="0" err="1">
                <a:latin typeface="Courier New" panose="02070309020205020404" pitchFamily="49" charset="0"/>
                <a:cs typeface="Courier New" panose="02070309020205020404" pitchFamily="49" charset="0"/>
              </a:rPr>
              <a:t>carName</a:t>
            </a:r>
            <a:r>
              <a:rPr lang="en-US" sz="2300" dirty="0">
                <a:latin typeface="Courier New" panose="02070309020205020404" pitchFamily="49" charset="0"/>
                <a:cs typeface="Courier New" panose="02070309020205020404" pitchFamily="49" charset="0"/>
              </a:rPr>
              <a:t> = "Volvo",</a:t>
            </a:r>
            <a:br>
              <a:rPr lang="en-US" sz="2300" dirty="0">
                <a:latin typeface="Courier New" panose="02070309020205020404" pitchFamily="49" charset="0"/>
                <a:cs typeface="Courier New" panose="02070309020205020404" pitchFamily="49" charset="0"/>
              </a:rPr>
            </a:br>
            <a:r>
              <a:rPr lang="en-US" sz="2300" dirty="0">
                <a:latin typeface="Courier New" panose="02070309020205020404" pitchFamily="49" charset="0"/>
                <a:cs typeface="Courier New" panose="02070309020205020404" pitchFamily="49" charset="0"/>
              </a:rPr>
              <a:t>price = 200;</a:t>
            </a:r>
          </a:p>
          <a:p>
            <a:pPr lvl="2"/>
            <a:endParaRPr lang="en-US" sz="2200" dirty="0">
              <a:latin typeface="Courier New" panose="02070309020205020404" pitchFamily="49" charset="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8001000" cy="521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628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rmAutofit fontScale="90000"/>
          </a:bodyPr>
          <a:lstStyle/>
          <a:p>
            <a:r>
              <a:rPr lang="en-US" dirty="0"/>
              <a:t>Variable Scope</a:t>
            </a:r>
          </a:p>
        </p:txBody>
      </p:sp>
      <p:sp>
        <p:nvSpPr>
          <p:cNvPr id="3" name="Content Placeholder 2"/>
          <p:cNvSpPr>
            <a:spLocks noGrp="1"/>
          </p:cNvSpPr>
          <p:nvPr>
            <p:ph idx="1"/>
          </p:nvPr>
        </p:nvSpPr>
        <p:spPr>
          <a:xfrm>
            <a:off x="457200" y="762000"/>
            <a:ext cx="8229600" cy="6096000"/>
          </a:xfrm>
        </p:spPr>
        <p:txBody>
          <a:bodyPr>
            <a:normAutofit fontScale="62500" lnSpcReduction="20000"/>
          </a:bodyPr>
          <a:lstStyle/>
          <a:p>
            <a:r>
              <a:rPr lang="en-US" sz="3500" dirty="0"/>
              <a:t>The notion of the availability of the variable is known as its scope.</a:t>
            </a:r>
          </a:p>
          <a:p>
            <a:r>
              <a:rPr lang="en-US" sz="3500" dirty="0"/>
              <a:t>A variable that can be used by any of the scripts on your page is globally scoped.</a:t>
            </a:r>
          </a:p>
          <a:p>
            <a:r>
              <a:rPr lang="en-US" sz="3500" dirty="0"/>
              <a:t>A variable that’s available only within its parent function is locally scoped.</a:t>
            </a:r>
          </a:p>
          <a:p>
            <a:r>
              <a:rPr lang="en-US" sz="3500" dirty="0"/>
              <a:t>JavaScript variables use functions to manage their scope. If a variable is defined outside of a function, it will be globally scoped and available to all scripts. </a:t>
            </a:r>
          </a:p>
          <a:p>
            <a:r>
              <a:rPr lang="en-US" sz="3500" b="1" dirty="0"/>
              <a:t>Global</a:t>
            </a:r>
            <a:r>
              <a:rPr lang="en-US" sz="3500" dirty="0"/>
              <a:t> variables can be accessed from anywhere in a JavaScript program.</a:t>
            </a:r>
          </a:p>
          <a:p>
            <a:pPr lvl="1"/>
            <a:r>
              <a:rPr lang="en-US" sz="2000" dirty="0">
                <a:solidFill>
                  <a:srgbClr val="0000CD"/>
                </a:solidFill>
                <a:latin typeface="Consolas" panose="020B0609020204030204" pitchFamily="49" charset="0"/>
              </a:rPr>
              <a:t>var</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carName</a:t>
            </a:r>
            <a:r>
              <a:rPr lang="en-US" sz="2000" dirty="0">
                <a:solidFill>
                  <a:srgbClr val="000000"/>
                </a:solidFill>
                <a:latin typeface="Consolas" panose="020B0609020204030204" pitchFamily="49" charset="0"/>
              </a:rPr>
              <a:t> = </a:t>
            </a:r>
            <a:r>
              <a:rPr lang="en-US" sz="2000" dirty="0">
                <a:solidFill>
                  <a:srgbClr val="A52A2A"/>
                </a:solidFill>
                <a:latin typeface="Consolas" panose="020B0609020204030204" pitchFamily="49" charset="0"/>
              </a:rPr>
              <a:t>"Volvo"</a:t>
            </a:r>
            <a:r>
              <a:rPr lang="en-US" sz="2000" dirty="0">
                <a:solidFill>
                  <a:srgbClr val="000000"/>
                </a:solidFill>
                <a:latin typeface="Consolas" panose="020B0609020204030204" pitchFamily="49" charset="0"/>
              </a:rPr>
              <a:t>;</a:t>
            </a:r>
            <a:br>
              <a:rPr lang="en-US" sz="2000" dirty="0"/>
            </a:br>
            <a:br>
              <a:rPr lang="en-US" sz="2000" dirty="0"/>
            </a:br>
            <a:r>
              <a:rPr lang="en-US" sz="2000" dirty="0">
                <a:solidFill>
                  <a:srgbClr val="008000"/>
                </a:solidFill>
                <a:latin typeface="Consolas" panose="020B0609020204030204" pitchFamily="49" charset="0"/>
              </a:rPr>
              <a:t>// code here can use </a:t>
            </a:r>
            <a:r>
              <a:rPr lang="en-US" sz="2000" dirty="0" err="1">
                <a:solidFill>
                  <a:srgbClr val="008000"/>
                </a:solidFill>
                <a:latin typeface="Consolas" panose="020B0609020204030204" pitchFamily="49" charset="0"/>
              </a:rPr>
              <a:t>carName</a:t>
            </a:r>
            <a:br>
              <a:rPr lang="en-US" sz="2000" dirty="0">
                <a:solidFill>
                  <a:srgbClr val="008000"/>
                </a:solidFill>
                <a:latin typeface="Consolas" panose="020B0609020204030204" pitchFamily="49" charset="0"/>
              </a:rPr>
            </a:br>
            <a:br>
              <a:rPr lang="en-US" sz="2000" dirty="0"/>
            </a:br>
            <a:r>
              <a:rPr lang="en-US" sz="2000" dirty="0">
                <a:solidFill>
                  <a:srgbClr val="0000CD"/>
                </a:solidFill>
                <a:latin typeface="Consolas" panose="020B0609020204030204" pitchFamily="49" charset="0"/>
              </a:rPr>
              <a:t>function</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myFunction</a:t>
            </a:r>
            <a:r>
              <a:rPr lang="en-US" sz="2000" dirty="0">
                <a:solidFill>
                  <a:srgbClr val="000000"/>
                </a:solidFill>
                <a:latin typeface="Consolas" panose="020B0609020204030204" pitchFamily="49" charset="0"/>
              </a:rPr>
              <a:t>() {</a:t>
            </a:r>
            <a:br>
              <a:rPr lang="en-US" sz="2000" dirty="0"/>
            </a:b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code here can also use </a:t>
            </a:r>
            <a:r>
              <a:rPr lang="en-US" sz="2000" dirty="0" err="1">
                <a:solidFill>
                  <a:srgbClr val="008000"/>
                </a:solidFill>
                <a:latin typeface="Consolas" panose="020B0609020204030204" pitchFamily="49" charset="0"/>
              </a:rPr>
              <a:t>carName</a:t>
            </a:r>
            <a:br>
              <a:rPr lang="en-US" sz="2000" dirty="0">
                <a:solidFill>
                  <a:srgbClr val="008000"/>
                </a:solidFill>
                <a:latin typeface="Consolas" panose="020B0609020204030204" pitchFamily="49" charset="0"/>
              </a:rPr>
            </a:br>
            <a:r>
              <a:rPr lang="en-US" sz="2000" dirty="0">
                <a:solidFill>
                  <a:srgbClr val="000000"/>
                </a:solidFill>
                <a:latin typeface="Consolas" panose="020B0609020204030204" pitchFamily="49" charset="0"/>
              </a:rPr>
              <a:t>}</a:t>
            </a:r>
          </a:p>
          <a:p>
            <a:r>
              <a:rPr lang="en-US" sz="3500" dirty="0"/>
              <a:t>Variables declared </a:t>
            </a:r>
            <a:r>
              <a:rPr lang="en-US" sz="3500" b="1" dirty="0"/>
              <a:t>Locally</a:t>
            </a:r>
            <a:r>
              <a:rPr lang="en-US" sz="3500" dirty="0"/>
              <a:t> (inside a function) have </a:t>
            </a:r>
            <a:r>
              <a:rPr lang="en-US" sz="3500" b="1" dirty="0"/>
              <a:t>Function Scope</a:t>
            </a:r>
            <a:r>
              <a:rPr lang="en-US" sz="3500" dirty="0"/>
              <a:t>.</a:t>
            </a:r>
          </a:p>
          <a:p>
            <a:pPr lvl="1"/>
            <a:r>
              <a:rPr lang="en-US" sz="2000" dirty="0">
                <a:solidFill>
                  <a:srgbClr val="008000"/>
                </a:solidFill>
                <a:latin typeface="Consolas" panose="020B0609020204030204" pitchFamily="49" charset="0"/>
              </a:rPr>
              <a:t>// code here can NOT use </a:t>
            </a:r>
            <a:r>
              <a:rPr lang="en-US" sz="2000" dirty="0" err="1">
                <a:solidFill>
                  <a:srgbClr val="008000"/>
                </a:solidFill>
                <a:latin typeface="Consolas" panose="020B0609020204030204" pitchFamily="49" charset="0"/>
              </a:rPr>
              <a:t>carName</a:t>
            </a:r>
            <a:br>
              <a:rPr lang="en-US" sz="2000" dirty="0">
                <a:solidFill>
                  <a:srgbClr val="008000"/>
                </a:solidFill>
                <a:latin typeface="Consolas" panose="020B0609020204030204" pitchFamily="49" charset="0"/>
              </a:rPr>
            </a:br>
            <a:br>
              <a:rPr lang="en-US" sz="2000" dirty="0"/>
            </a:br>
            <a:r>
              <a:rPr lang="en-US" sz="2000" dirty="0">
                <a:solidFill>
                  <a:srgbClr val="0000CD"/>
                </a:solidFill>
                <a:latin typeface="Consolas" panose="020B0609020204030204" pitchFamily="49" charset="0"/>
              </a:rPr>
              <a:t>function</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myFunction</a:t>
            </a:r>
            <a:r>
              <a:rPr lang="en-US" sz="2000" dirty="0">
                <a:solidFill>
                  <a:srgbClr val="000000"/>
                </a:solidFill>
                <a:latin typeface="Consolas" panose="020B0609020204030204" pitchFamily="49" charset="0"/>
              </a:rPr>
              <a:t>() {</a:t>
            </a:r>
            <a:br>
              <a:rPr lang="en-US" sz="2000" dirty="0"/>
            </a:br>
            <a:r>
              <a:rPr lang="en-US" sz="2000" dirty="0">
                <a:solidFill>
                  <a:srgbClr val="000000"/>
                </a:solidFill>
                <a:latin typeface="Consolas" panose="020B0609020204030204" pitchFamily="49" charset="0"/>
              </a:rPr>
              <a:t>  </a:t>
            </a:r>
            <a:r>
              <a:rPr lang="en-US" sz="2000" dirty="0">
                <a:solidFill>
                  <a:srgbClr val="0000CD"/>
                </a:solidFill>
                <a:latin typeface="Consolas" panose="020B0609020204030204" pitchFamily="49" charset="0"/>
              </a:rPr>
              <a:t>var</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carName</a:t>
            </a:r>
            <a:r>
              <a:rPr lang="en-US" sz="2000" dirty="0">
                <a:solidFill>
                  <a:srgbClr val="000000"/>
                </a:solidFill>
                <a:latin typeface="Consolas" panose="020B0609020204030204" pitchFamily="49" charset="0"/>
              </a:rPr>
              <a:t> = </a:t>
            </a:r>
            <a:r>
              <a:rPr lang="en-US" sz="2000" dirty="0">
                <a:solidFill>
                  <a:srgbClr val="A52A2A"/>
                </a:solidFill>
                <a:latin typeface="Consolas" panose="020B0609020204030204" pitchFamily="49" charset="0"/>
              </a:rPr>
              <a:t>"Volvo"</a:t>
            </a:r>
            <a:r>
              <a:rPr lang="en-US" sz="2000" dirty="0">
                <a:solidFill>
                  <a:srgbClr val="000000"/>
                </a:solidFill>
                <a:latin typeface="Consolas" panose="020B0609020204030204" pitchFamily="49" charset="0"/>
              </a:rPr>
              <a:t>;</a:t>
            </a:r>
            <a:br>
              <a:rPr lang="en-US" sz="2000" dirty="0"/>
            </a:b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code here CAN use </a:t>
            </a:r>
            <a:r>
              <a:rPr lang="en-US" sz="2000" dirty="0" err="1">
                <a:solidFill>
                  <a:srgbClr val="008000"/>
                </a:solidFill>
                <a:latin typeface="Consolas" panose="020B0609020204030204" pitchFamily="49" charset="0"/>
              </a:rPr>
              <a:t>carName</a:t>
            </a:r>
            <a:br>
              <a:rPr lang="en-US" sz="2000" dirty="0">
                <a:solidFill>
                  <a:srgbClr val="008000"/>
                </a:solidFill>
                <a:latin typeface="Consolas" panose="020B0609020204030204" pitchFamily="49" charset="0"/>
              </a:rPr>
            </a:br>
            <a:r>
              <a:rPr lang="en-US" sz="2000" dirty="0">
                <a:solidFill>
                  <a:srgbClr val="000000"/>
                </a:solidFill>
                <a:latin typeface="Consolas" panose="020B0609020204030204" pitchFamily="49" charset="0"/>
              </a:rPr>
              <a:t>}</a:t>
            </a:r>
            <a:br>
              <a:rPr lang="en-US" sz="2000" dirty="0"/>
            </a:br>
            <a:br>
              <a:rPr lang="en-US" sz="2000" dirty="0"/>
            </a:br>
            <a:r>
              <a:rPr lang="en-US" sz="2000" dirty="0">
                <a:solidFill>
                  <a:srgbClr val="008000"/>
                </a:solidFill>
                <a:latin typeface="Consolas" panose="020B0609020204030204" pitchFamily="49" charset="0"/>
              </a:rPr>
              <a:t>// code here can NOT use </a:t>
            </a:r>
            <a:r>
              <a:rPr lang="en-US" sz="2000" dirty="0" err="1">
                <a:solidFill>
                  <a:srgbClr val="008000"/>
                </a:solidFill>
                <a:latin typeface="Consolas" panose="020B0609020204030204" pitchFamily="49" charset="0"/>
              </a:rPr>
              <a:t>carName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AC681C-1B60-4466-B592-FB8A6EC29B52}"/>
              </a:ext>
            </a:extLst>
          </p:cNvPr>
          <p:cNvSpPr>
            <a:spLocks noGrp="1"/>
          </p:cNvSpPr>
          <p:nvPr>
            <p:ph idx="1"/>
          </p:nvPr>
        </p:nvSpPr>
        <p:spPr>
          <a:xfrm>
            <a:off x="457200" y="762000"/>
            <a:ext cx="8229600" cy="2667000"/>
          </a:xfrm>
        </p:spPr>
        <p:txBody>
          <a:bodyPr>
            <a:normAutofit fontScale="55000" lnSpcReduction="20000"/>
          </a:bodyPr>
          <a:lstStyle/>
          <a:p>
            <a:r>
              <a:rPr lang="en-US" dirty="0"/>
              <a:t>Before ES2015 (ES6), JavaScript had only two types of scope: Global Scope and Function (local) Scope. </a:t>
            </a:r>
          </a:p>
          <a:p>
            <a:r>
              <a:rPr lang="en-US" dirty="0"/>
              <a:t>ES6 introduces the new </a:t>
            </a:r>
            <a:r>
              <a:rPr lang="en-US" dirty="0">
                <a:latin typeface="Courier New" panose="02070309020205020404" pitchFamily="49" charset="0"/>
                <a:cs typeface="Courier New" panose="02070309020205020404" pitchFamily="49" charset="0"/>
              </a:rPr>
              <a:t>let</a:t>
            </a:r>
            <a:r>
              <a:rPr lang="en-US" dirty="0"/>
              <a:t> keyword for declaring variables. Prior to ES6, the only way to declare a variable in JavaScript was the var keyword. </a:t>
            </a:r>
          </a:p>
          <a:p>
            <a:r>
              <a:rPr lang="en-US" dirty="0"/>
              <a:t>Variables declared by </a:t>
            </a:r>
            <a:r>
              <a:rPr lang="en-US" dirty="0">
                <a:latin typeface="Courier New" panose="02070309020205020404" pitchFamily="49" charset="0"/>
                <a:cs typeface="Courier New" panose="02070309020205020404" pitchFamily="49" charset="0"/>
              </a:rPr>
              <a:t>let</a:t>
            </a:r>
            <a:r>
              <a:rPr lang="en-US" dirty="0"/>
              <a:t> have their scope in the block for which they are defined, as well as in any contained sub-blocks.</a:t>
            </a:r>
          </a:p>
          <a:p>
            <a:r>
              <a:rPr lang="en-US" dirty="0"/>
              <a:t>Block scoping simply means that a new scope is created between a pair of curly brackets i.e. {}. </a:t>
            </a:r>
          </a:p>
          <a:p>
            <a:r>
              <a:rPr lang="en-US" dirty="0"/>
              <a:t>Therefore, if you declare a variable with the </a:t>
            </a:r>
            <a:r>
              <a:rPr lang="en-US" dirty="0">
                <a:latin typeface="Courier New" panose="02070309020205020404" pitchFamily="49" charset="0"/>
                <a:cs typeface="Courier New" panose="02070309020205020404" pitchFamily="49" charset="0"/>
              </a:rPr>
              <a:t>let</a:t>
            </a:r>
            <a:r>
              <a:rPr lang="en-US" dirty="0"/>
              <a:t> keyword inside a block, it does not exist outside of the block.</a:t>
            </a:r>
          </a:p>
        </p:txBody>
      </p:sp>
      <p:sp>
        <p:nvSpPr>
          <p:cNvPr id="4" name="Title 1">
            <a:extLst>
              <a:ext uri="{FF2B5EF4-FFF2-40B4-BE49-F238E27FC236}">
                <a16:creationId xmlns:a16="http://schemas.microsoft.com/office/drawing/2014/main" id="{C192CC8E-1D77-4157-9B3F-537E810E92A5}"/>
              </a:ext>
            </a:extLst>
          </p:cNvPr>
          <p:cNvSpPr>
            <a:spLocks noGrp="1"/>
          </p:cNvSpPr>
          <p:nvPr>
            <p:ph type="title"/>
          </p:nvPr>
        </p:nvSpPr>
        <p:spPr>
          <a:xfrm>
            <a:off x="457200" y="76200"/>
            <a:ext cx="8229600" cy="563562"/>
          </a:xfrm>
        </p:spPr>
        <p:txBody>
          <a:bodyPr>
            <a:normAutofit fontScale="90000"/>
          </a:bodyPr>
          <a:lstStyle/>
          <a:p>
            <a:r>
              <a:rPr lang="en-US" sz="4000" dirty="0"/>
              <a:t>Variables (</a:t>
            </a:r>
            <a:r>
              <a:rPr lang="en-US" sz="4000" dirty="0">
                <a:latin typeface="Courier New" panose="02070309020205020404" pitchFamily="49" charset="0"/>
                <a:cs typeface="Courier New" panose="02070309020205020404" pitchFamily="49" charset="0"/>
                <a:hlinkClick r:id="rId2"/>
              </a:rPr>
              <a:t>let</a:t>
            </a:r>
            <a:r>
              <a:rPr lang="en-US" sz="4000" dirty="0"/>
              <a:t>)</a:t>
            </a:r>
          </a:p>
        </p:txBody>
      </p:sp>
      <p:pic>
        <p:nvPicPr>
          <p:cNvPr id="7" name="Picture 6">
            <a:extLst>
              <a:ext uri="{FF2B5EF4-FFF2-40B4-BE49-F238E27FC236}">
                <a16:creationId xmlns:a16="http://schemas.microsoft.com/office/drawing/2014/main" id="{C0ED6BD2-7B25-4A69-9B79-A8B317252316}"/>
              </a:ext>
            </a:extLst>
          </p:cNvPr>
          <p:cNvPicPr>
            <a:picLocks noChangeAspect="1"/>
          </p:cNvPicPr>
          <p:nvPr/>
        </p:nvPicPr>
        <p:blipFill rotWithShape="1">
          <a:blip r:embed="rId3"/>
          <a:srcRect l="899" t="30740" r="65833" b="14445"/>
          <a:stretch/>
        </p:blipFill>
        <p:spPr>
          <a:xfrm>
            <a:off x="2631896" y="3287422"/>
            <a:ext cx="3880208" cy="3596263"/>
          </a:xfrm>
          <a:prstGeom prst="rect">
            <a:avLst/>
          </a:prstGeom>
        </p:spPr>
      </p:pic>
    </p:spTree>
    <p:extLst>
      <p:ext uri="{BB962C8B-B14F-4D97-AF65-F5344CB8AC3E}">
        <p14:creationId xmlns:p14="http://schemas.microsoft.com/office/powerpoint/2010/main" val="2771190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1BB607-4D6C-4495-BDC6-EF66294F680B}"/>
              </a:ext>
            </a:extLst>
          </p:cNvPr>
          <p:cNvSpPr>
            <a:spLocks noGrp="1"/>
          </p:cNvSpPr>
          <p:nvPr>
            <p:ph idx="1"/>
          </p:nvPr>
        </p:nvSpPr>
        <p:spPr>
          <a:xfrm>
            <a:off x="457200" y="731837"/>
            <a:ext cx="8229600" cy="5440363"/>
          </a:xfrm>
        </p:spPr>
        <p:txBody>
          <a:bodyPr>
            <a:noAutofit/>
          </a:bodyPr>
          <a:lstStyle/>
          <a:p>
            <a:r>
              <a:rPr lang="en-US" sz="2200" dirty="0"/>
              <a:t>Variables defined with </a:t>
            </a:r>
            <a:r>
              <a:rPr lang="en-US" sz="2200" dirty="0">
                <a:latin typeface="Courier New" panose="02070309020205020404" pitchFamily="49" charset="0"/>
                <a:cs typeface="Courier New" panose="02070309020205020404" pitchFamily="49" charset="0"/>
              </a:rPr>
              <a:t>const</a:t>
            </a:r>
            <a:r>
              <a:rPr lang="en-US" sz="2200" dirty="0"/>
              <a:t> behave like </a:t>
            </a:r>
            <a:r>
              <a:rPr lang="en-US" sz="2200" dirty="0">
                <a:latin typeface="Courier New" panose="02070309020205020404" pitchFamily="49" charset="0"/>
                <a:cs typeface="Courier New" panose="02070309020205020404" pitchFamily="49" charset="0"/>
              </a:rPr>
              <a:t>let</a:t>
            </a:r>
            <a:r>
              <a:rPr lang="en-US" sz="2200" dirty="0"/>
              <a:t> variables, except they cannot be reassigned:</a:t>
            </a:r>
          </a:p>
          <a:p>
            <a:pPr lvl="1"/>
            <a:r>
              <a:rPr lang="en-US" sz="1800" dirty="0">
                <a:solidFill>
                  <a:srgbClr val="0000CD"/>
                </a:solidFill>
                <a:latin typeface="Consolas" panose="020B0609020204030204" pitchFamily="49" charset="0"/>
              </a:rPr>
              <a:t>const</a:t>
            </a:r>
            <a:r>
              <a:rPr lang="en-US" sz="1800" dirty="0">
                <a:solidFill>
                  <a:srgbClr val="000000"/>
                </a:solidFill>
                <a:latin typeface="Consolas" panose="020B0609020204030204" pitchFamily="49" charset="0"/>
              </a:rPr>
              <a:t> PI = </a:t>
            </a:r>
            <a:r>
              <a:rPr lang="en-US" sz="1800" dirty="0">
                <a:solidFill>
                  <a:srgbClr val="FF0000"/>
                </a:solidFill>
                <a:latin typeface="Consolas" panose="020B0609020204030204" pitchFamily="49" charset="0"/>
              </a:rPr>
              <a:t>3.141592653589793</a:t>
            </a:r>
            <a:r>
              <a:rPr lang="en-US" sz="1800" dirty="0">
                <a:solidFill>
                  <a:srgbClr val="000000"/>
                </a:solidFill>
                <a:latin typeface="Consolas" panose="020B0609020204030204" pitchFamily="49" charset="0"/>
              </a:rPr>
              <a:t>;</a:t>
            </a:r>
            <a:br>
              <a:rPr lang="en-US" sz="1800" dirty="0"/>
            </a:br>
            <a:r>
              <a:rPr lang="en-US" sz="1800" dirty="0">
                <a:solidFill>
                  <a:srgbClr val="000000"/>
                </a:solidFill>
                <a:latin typeface="Consolas" panose="020B0609020204030204" pitchFamily="49" charset="0"/>
              </a:rPr>
              <a:t>PI = </a:t>
            </a:r>
            <a:r>
              <a:rPr lang="en-US" sz="1800" dirty="0">
                <a:solidFill>
                  <a:srgbClr val="FF0000"/>
                </a:solidFill>
                <a:latin typeface="Consolas" panose="020B0609020204030204" pitchFamily="49" charset="0"/>
              </a:rPr>
              <a:t>3.14</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This will give an error</a:t>
            </a:r>
            <a:br>
              <a:rPr lang="en-US" sz="1800" dirty="0">
                <a:solidFill>
                  <a:srgbClr val="008000"/>
                </a:solidFill>
                <a:latin typeface="Consolas" panose="020B0609020204030204" pitchFamily="49" charset="0"/>
              </a:rPr>
            </a:br>
            <a:r>
              <a:rPr lang="en-US" sz="1800" dirty="0">
                <a:solidFill>
                  <a:srgbClr val="000000"/>
                </a:solidFill>
                <a:latin typeface="Consolas" panose="020B0609020204030204" pitchFamily="49" charset="0"/>
              </a:rPr>
              <a:t>PI = PI + </a:t>
            </a:r>
            <a:r>
              <a:rPr lang="en-US" sz="1800" dirty="0">
                <a:solidFill>
                  <a:srgbClr val="FF0000"/>
                </a:solidFill>
                <a:latin typeface="Consolas" panose="020B0609020204030204" pitchFamily="49" charset="0"/>
              </a:rPr>
              <a:t>10</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This will also give an error</a:t>
            </a:r>
          </a:p>
          <a:p>
            <a:r>
              <a:rPr lang="en-US" sz="2200" dirty="0"/>
              <a:t>Declaring a variable with const is similar to </a:t>
            </a:r>
            <a:r>
              <a:rPr lang="en-US" sz="2200" dirty="0">
                <a:latin typeface="Courier New" panose="02070309020205020404" pitchFamily="49" charset="0"/>
                <a:cs typeface="Courier New" panose="02070309020205020404" pitchFamily="49" charset="0"/>
              </a:rPr>
              <a:t>let</a:t>
            </a:r>
            <a:r>
              <a:rPr lang="en-US" sz="2200" dirty="0"/>
              <a:t> when it comes to Block Scope.</a:t>
            </a:r>
          </a:p>
          <a:p>
            <a:r>
              <a:rPr lang="en-US" sz="2200" dirty="0"/>
              <a:t>The </a:t>
            </a:r>
            <a:r>
              <a:rPr lang="en-US" sz="2200" dirty="0">
                <a:latin typeface="Courier New" panose="02070309020205020404" pitchFamily="49" charset="0"/>
                <a:cs typeface="Courier New" panose="02070309020205020404" pitchFamily="49" charset="0"/>
              </a:rPr>
              <a:t>x</a:t>
            </a:r>
            <a:r>
              <a:rPr lang="en-US" sz="2200" dirty="0"/>
              <a:t> declared in the block, in this example, is not the same as the </a:t>
            </a:r>
            <a:r>
              <a:rPr lang="en-US" sz="2200" dirty="0">
                <a:latin typeface="Courier New" panose="02070309020205020404" pitchFamily="49" charset="0"/>
                <a:cs typeface="Courier New" panose="02070309020205020404" pitchFamily="49" charset="0"/>
              </a:rPr>
              <a:t>x</a:t>
            </a:r>
            <a:r>
              <a:rPr lang="en-US" sz="2200" dirty="0"/>
              <a:t> declared outside the block:</a:t>
            </a:r>
          </a:p>
          <a:p>
            <a:pPr lvl="1"/>
            <a:r>
              <a:rPr lang="en-US" sz="1800" dirty="0">
                <a:solidFill>
                  <a:srgbClr val="0000CD"/>
                </a:solidFill>
                <a:latin typeface="Consolas" panose="020B0609020204030204" pitchFamily="49" charset="0"/>
              </a:rPr>
              <a:t>var</a:t>
            </a:r>
            <a:r>
              <a:rPr lang="en-US" sz="1800" dirty="0">
                <a:solidFill>
                  <a:srgbClr val="000000"/>
                </a:solidFill>
                <a:latin typeface="Consolas" panose="020B0609020204030204" pitchFamily="49" charset="0"/>
              </a:rPr>
              <a:t> x = </a:t>
            </a:r>
            <a:r>
              <a:rPr lang="en-US" sz="1800" dirty="0">
                <a:solidFill>
                  <a:srgbClr val="FF0000"/>
                </a:solidFill>
                <a:latin typeface="Consolas" panose="020B0609020204030204" pitchFamily="49" charset="0"/>
              </a:rPr>
              <a:t>10</a:t>
            </a:r>
            <a:r>
              <a:rPr lang="en-US" sz="1800" dirty="0">
                <a:solidFill>
                  <a:srgbClr val="000000"/>
                </a:solidFill>
                <a:latin typeface="Consolas" panose="020B0609020204030204" pitchFamily="49" charset="0"/>
              </a:rPr>
              <a:t>;</a:t>
            </a:r>
            <a:br>
              <a:rPr lang="en-US" sz="1800" dirty="0"/>
            </a:br>
            <a:r>
              <a:rPr lang="en-US" sz="1800" dirty="0">
                <a:solidFill>
                  <a:srgbClr val="008000"/>
                </a:solidFill>
                <a:latin typeface="Consolas" panose="020B0609020204030204" pitchFamily="49" charset="0"/>
              </a:rPr>
              <a:t>// Here x is 10</a:t>
            </a:r>
            <a:br>
              <a:rPr lang="en-US" sz="1800" dirty="0">
                <a:solidFill>
                  <a:srgbClr val="008000"/>
                </a:solidFill>
                <a:latin typeface="Consolas" panose="020B0609020204030204" pitchFamily="49" charset="0"/>
              </a:rPr>
            </a:br>
            <a:r>
              <a:rPr lang="en-US" sz="1800" dirty="0">
                <a:solidFill>
                  <a:srgbClr val="000000"/>
                </a:solidFill>
                <a:latin typeface="Consolas" panose="020B0609020204030204" pitchFamily="49" charset="0"/>
              </a:rPr>
              <a:t>{</a:t>
            </a:r>
            <a:br>
              <a:rPr lang="en-US" sz="1800" dirty="0"/>
            </a:br>
            <a:r>
              <a:rPr lang="en-US" sz="1800" dirty="0">
                <a:solidFill>
                  <a:srgbClr val="000000"/>
                </a:solidFill>
                <a:latin typeface="Consolas" panose="020B0609020204030204" pitchFamily="49" charset="0"/>
              </a:rPr>
              <a:t>  </a:t>
            </a:r>
            <a:r>
              <a:rPr lang="en-US" sz="1800" dirty="0">
                <a:solidFill>
                  <a:srgbClr val="0000CD"/>
                </a:solidFill>
                <a:latin typeface="Consolas" panose="020B0609020204030204" pitchFamily="49" charset="0"/>
              </a:rPr>
              <a:t>const</a:t>
            </a:r>
            <a:r>
              <a:rPr lang="en-US" sz="1800" dirty="0">
                <a:solidFill>
                  <a:srgbClr val="000000"/>
                </a:solidFill>
                <a:latin typeface="Consolas" panose="020B0609020204030204" pitchFamily="49" charset="0"/>
              </a:rPr>
              <a:t> x = </a:t>
            </a:r>
            <a:r>
              <a:rPr lang="en-US" sz="1800" dirty="0">
                <a:solidFill>
                  <a:srgbClr val="FF0000"/>
                </a:solidFill>
                <a:latin typeface="Consolas" panose="020B0609020204030204" pitchFamily="49" charset="0"/>
              </a:rPr>
              <a:t>2</a:t>
            </a:r>
            <a:r>
              <a:rPr lang="en-US" sz="1800" dirty="0">
                <a:solidFill>
                  <a:srgbClr val="000000"/>
                </a:solidFill>
                <a:latin typeface="Consolas" panose="020B0609020204030204" pitchFamily="49" charset="0"/>
              </a:rPr>
              <a:t>;</a:t>
            </a:r>
            <a:br>
              <a:rPr lang="en-US" sz="1800" dirty="0"/>
            </a:b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Here x is 2</a:t>
            </a:r>
            <a:br>
              <a:rPr lang="en-US" sz="1800" dirty="0">
                <a:solidFill>
                  <a:srgbClr val="008000"/>
                </a:solidFill>
                <a:latin typeface="Consolas" panose="020B0609020204030204" pitchFamily="49" charset="0"/>
              </a:rPr>
            </a:br>
            <a:r>
              <a:rPr lang="en-US" sz="1800" dirty="0">
                <a:solidFill>
                  <a:srgbClr val="000000"/>
                </a:solidFill>
                <a:latin typeface="Consolas" panose="020B0609020204030204" pitchFamily="49" charset="0"/>
              </a:rPr>
              <a:t>}</a:t>
            </a:r>
            <a:br>
              <a:rPr lang="en-US" sz="1800" dirty="0"/>
            </a:br>
            <a:r>
              <a:rPr lang="en-US" sz="1800" dirty="0">
                <a:solidFill>
                  <a:srgbClr val="008000"/>
                </a:solidFill>
                <a:latin typeface="Consolas" panose="020B0609020204030204" pitchFamily="49" charset="0"/>
              </a:rPr>
              <a:t>// Here x is 10</a:t>
            </a:r>
            <a:endParaRPr lang="en-US" sz="1800" dirty="0"/>
          </a:p>
        </p:txBody>
      </p:sp>
      <p:sp>
        <p:nvSpPr>
          <p:cNvPr id="4" name="Title 1">
            <a:extLst>
              <a:ext uri="{FF2B5EF4-FFF2-40B4-BE49-F238E27FC236}">
                <a16:creationId xmlns:a16="http://schemas.microsoft.com/office/drawing/2014/main" id="{746B18A0-C33A-4D11-9207-FCDF96CF0F5B}"/>
              </a:ext>
            </a:extLst>
          </p:cNvPr>
          <p:cNvSpPr>
            <a:spLocks noGrp="1"/>
          </p:cNvSpPr>
          <p:nvPr>
            <p:ph type="title"/>
          </p:nvPr>
        </p:nvSpPr>
        <p:spPr>
          <a:xfrm>
            <a:off x="457200" y="76200"/>
            <a:ext cx="8229600" cy="563562"/>
          </a:xfrm>
        </p:spPr>
        <p:txBody>
          <a:bodyPr>
            <a:normAutofit fontScale="90000"/>
          </a:bodyPr>
          <a:lstStyle/>
          <a:p>
            <a:r>
              <a:rPr lang="en-US" sz="4000" dirty="0"/>
              <a:t>Variables (</a:t>
            </a:r>
            <a:r>
              <a:rPr lang="en-US" sz="4000" dirty="0">
                <a:hlinkClick r:id="rId2"/>
              </a:rPr>
              <a:t>const</a:t>
            </a:r>
            <a:r>
              <a:rPr lang="en-US" sz="4000" dirty="0"/>
              <a:t>)</a:t>
            </a:r>
          </a:p>
        </p:txBody>
      </p:sp>
    </p:spTree>
    <p:extLst>
      <p:ext uri="{BB962C8B-B14F-4D97-AF65-F5344CB8AC3E}">
        <p14:creationId xmlns:p14="http://schemas.microsoft.com/office/powerpoint/2010/main" val="436355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dirty="0"/>
              <a:t>Data types</a:t>
            </a:r>
          </a:p>
        </p:txBody>
      </p:sp>
      <p:sp>
        <p:nvSpPr>
          <p:cNvPr id="3" name="Content Placeholder 2"/>
          <p:cNvSpPr>
            <a:spLocks noGrp="1"/>
          </p:cNvSpPr>
          <p:nvPr>
            <p:ph idx="1"/>
          </p:nvPr>
        </p:nvSpPr>
        <p:spPr>
          <a:xfrm>
            <a:off x="457200" y="838200"/>
            <a:ext cx="8229600" cy="5638800"/>
          </a:xfrm>
        </p:spPr>
        <p:txBody>
          <a:bodyPr>
            <a:normAutofit/>
          </a:bodyPr>
          <a:lstStyle/>
          <a:p>
            <a:r>
              <a:rPr lang="en-US" sz="2400" dirty="0"/>
              <a:t>JavaScript has dynamic types. This means that the same variable can be used to hold different data types.</a:t>
            </a:r>
          </a:p>
          <a:p>
            <a:pPr lvl="1"/>
            <a:r>
              <a:rPr lang="en-US" sz="1800" dirty="0"/>
              <a:t>var x;           // Now x is undefined</a:t>
            </a:r>
          </a:p>
          <a:p>
            <a:pPr lvl="1"/>
            <a:r>
              <a:rPr lang="en-US" sz="1800" dirty="0"/>
              <a:t>x = 5;           // Now x is a Number</a:t>
            </a:r>
          </a:p>
          <a:p>
            <a:pPr lvl="1"/>
            <a:r>
              <a:rPr lang="en-US" sz="1800" dirty="0"/>
              <a:t>x = "John";      // Now x is a String</a:t>
            </a:r>
          </a:p>
          <a:p>
            <a:r>
              <a:rPr lang="en-US" sz="2200" dirty="0"/>
              <a:t>Undefined</a:t>
            </a:r>
          </a:p>
          <a:p>
            <a:pPr lvl="1"/>
            <a:r>
              <a:rPr lang="en-US" sz="2200" dirty="0"/>
              <a:t>The simplest of these data types is “undefined.” If we declare a variable by giving it a name but no value, that variable contains a value of “undefined.”</a:t>
            </a:r>
          </a:p>
          <a:p>
            <a:pPr lvl="2"/>
            <a:r>
              <a:rPr lang="en-US" sz="2200" dirty="0" err="1">
                <a:latin typeface="Courier New" panose="02070309020205020404" pitchFamily="49" charset="0"/>
                <a:cs typeface="Courier New" panose="02070309020205020404" pitchFamily="49" charset="0"/>
              </a:rPr>
              <a:t>var</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foo</a:t>
            </a:r>
            <a:r>
              <a:rPr lang="en-US" sz="2200" dirty="0">
                <a:latin typeface="Courier New" panose="02070309020205020404" pitchFamily="49" charset="0"/>
                <a:cs typeface="Courier New" panose="02070309020205020404" pitchFamily="49" charset="0"/>
              </a:rPr>
              <a:t>;</a:t>
            </a:r>
          </a:p>
          <a:p>
            <a:pPr lvl="2"/>
            <a:r>
              <a:rPr lang="en-US" sz="2200" dirty="0">
                <a:latin typeface="Courier New" panose="02070309020205020404" pitchFamily="49" charset="0"/>
                <a:cs typeface="Courier New" panose="02070309020205020404" pitchFamily="49" charset="0"/>
              </a:rPr>
              <a:t>alert(</a:t>
            </a:r>
            <a:r>
              <a:rPr lang="en-US" sz="2200" dirty="0" err="1">
                <a:latin typeface="Courier New" panose="02070309020205020404" pitchFamily="49" charset="0"/>
                <a:cs typeface="Courier New" panose="02070309020205020404" pitchFamily="49" charset="0"/>
              </a:rPr>
              <a:t>foo</a:t>
            </a:r>
            <a:r>
              <a:rPr lang="en-US" sz="2200" dirty="0">
                <a:latin typeface="Courier New" panose="02070309020205020404" pitchFamily="49" charset="0"/>
                <a:cs typeface="Courier New" panose="02070309020205020404" pitchFamily="49" charset="0"/>
              </a:rPr>
              <a:t>); </a:t>
            </a:r>
            <a:r>
              <a:rPr lang="en-US" sz="1800" dirty="0"/>
              <a:t>// This will open a dialog containing "undefined“.</a:t>
            </a:r>
          </a:p>
          <a:p>
            <a:r>
              <a:rPr lang="en-US" sz="2200" dirty="0"/>
              <a:t>Boolean</a:t>
            </a:r>
          </a:p>
          <a:p>
            <a:pPr lvl="1"/>
            <a:r>
              <a:rPr lang="en-US" sz="1800" dirty="0"/>
              <a:t>Booleans can only have two values: true or false.</a:t>
            </a:r>
            <a:endParaRPr lang="en-US" sz="1800" dirty="0">
              <a:latin typeface="Courier New" panose="02070309020205020404" pitchFamily="49" charset="0"/>
              <a:cs typeface="Courier New" panose="02070309020205020404" pitchFamily="49" charset="0"/>
            </a:endParaRPr>
          </a:p>
          <a:p>
            <a:pPr lvl="2"/>
            <a:r>
              <a:rPr lang="en-US" sz="1800" dirty="0">
                <a:latin typeface="Courier New" panose="02070309020205020404" pitchFamily="49" charset="0"/>
                <a:cs typeface="Courier New" panose="02070309020205020404" pitchFamily="49" charset="0"/>
              </a:rPr>
              <a:t>var foo = true; </a:t>
            </a:r>
            <a:r>
              <a:rPr lang="en-US" sz="1800" dirty="0"/>
              <a:t>// The variable "foo" is now true</a:t>
            </a:r>
          </a:p>
          <a:p>
            <a:pPr lvl="2"/>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A07152-2011-443C-9389-658E10B3584E}"/>
              </a:ext>
            </a:extLst>
          </p:cNvPr>
          <p:cNvSpPr>
            <a:spLocks noGrp="1"/>
          </p:cNvSpPr>
          <p:nvPr>
            <p:ph idx="1"/>
          </p:nvPr>
        </p:nvSpPr>
        <p:spPr>
          <a:xfrm>
            <a:off x="457200" y="914400"/>
            <a:ext cx="8229600" cy="5486400"/>
          </a:xfrm>
        </p:spPr>
        <p:txBody>
          <a:bodyPr>
            <a:normAutofit fontScale="92500" lnSpcReduction="10000"/>
          </a:bodyPr>
          <a:lstStyle/>
          <a:p>
            <a:r>
              <a:rPr lang="en-US" sz="2200" dirty="0"/>
              <a:t>Numbers</a:t>
            </a:r>
          </a:p>
          <a:p>
            <a:pPr lvl="1"/>
            <a:r>
              <a:rPr lang="en-US" sz="2200" dirty="0"/>
              <a:t>You can assign variables numeric values.</a:t>
            </a:r>
          </a:p>
          <a:p>
            <a:pPr lvl="2"/>
            <a:r>
              <a:rPr lang="en-US" sz="2200" dirty="0">
                <a:latin typeface="Courier New" panose="02070309020205020404" pitchFamily="49" charset="0"/>
                <a:cs typeface="Courier New" panose="02070309020205020404" pitchFamily="49" charset="0"/>
              </a:rPr>
              <a:t>var foo = 5;</a:t>
            </a:r>
          </a:p>
          <a:p>
            <a:pPr lvl="2"/>
            <a:r>
              <a:rPr lang="en-US" sz="2200" dirty="0">
                <a:latin typeface="Courier New" panose="02070309020205020404" pitchFamily="49" charset="0"/>
                <a:cs typeface="Courier New" panose="02070309020205020404" pitchFamily="49" charset="0"/>
              </a:rPr>
              <a:t>alert(foo); </a:t>
            </a:r>
            <a:r>
              <a:rPr lang="en-US" sz="2200" dirty="0"/>
              <a:t>// This will open a dialog containing "5".</a:t>
            </a:r>
          </a:p>
          <a:p>
            <a:r>
              <a:rPr lang="en-US" sz="2200" dirty="0"/>
              <a:t>JavaScript is “loosely typed,” we don’t have to tell our script to treat the variable </a:t>
            </a:r>
            <a:r>
              <a:rPr lang="en-US" sz="2200" b="1" dirty="0"/>
              <a:t>foo as the </a:t>
            </a:r>
            <a:r>
              <a:rPr lang="en-US" sz="2200" b="1" i="1" dirty="0"/>
              <a:t>number five.</a:t>
            </a:r>
          </a:p>
          <a:p>
            <a:r>
              <a:rPr lang="en-US" sz="2200" dirty="0"/>
              <a:t>We can use classic mathematical notation: </a:t>
            </a:r>
            <a:r>
              <a:rPr lang="en-US" sz="2200" b="1" dirty="0"/>
              <a:t>+, -, *, and / for plus, minus, multiply, and divide, respectively.</a:t>
            </a:r>
          </a:p>
          <a:p>
            <a:r>
              <a:rPr lang="en-US" sz="2200" dirty="0"/>
              <a:t>In this example, we use the plus sign (</a:t>
            </a:r>
            <a:r>
              <a:rPr lang="en-US" sz="2200" b="1" dirty="0"/>
              <a:t>+) to add foo to itself (foo + foo).</a:t>
            </a:r>
          </a:p>
          <a:p>
            <a:pPr lvl="2"/>
            <a:r>
              <a:rPr lang="en-US" sz="2200" dirty="0">
                <a:latin typeface="Courier New" panose="02070309020205020404" pitchFamily="49" charset="0"/>
                <a:cs typeface="Courier New" panose="02070309020205020404" pitchFamily="49" charset="0"/>
              </a:rPr>
              <a:t>var foo = 5;</a:t>
            </a:r>
          </a:p>
          <a:p>
            <a:pPr lvl="2"/>
            <a:r>
              <a:rPr lang="en-US" sz="2200" dirty="0">
                <a:latin typeface="Courier New" panose="02070309020205020404" pitchFamily="49" charset="0"/>
                <a:cs typeface="Courier New" panose="02070309020205020404" pitchFamily="49" charset="0"/>
              </a:rPr>
              <a:t>alert(foo + foo); </a:t>
            </a:r>
            <a:r>
              <a:rPr lang="en-US" sz="2200" dirty="0"/>
              <a:t>// This will alert "10".</a:t>
            </a:r>
          </a:p>
          <a:p>
            <a:r>
              <a:rPr lang="en-US" sz="2200" dirty="0"/>
              <a:t>Strings</a:t>
            </a:r>
          </a:p>
          <a:p>
            <a:pPr lvl="1"/>
            <a:r>
              <a:rPr lang="en-US" sz="2200" dirty="0"/>
              <a:t>Another type of data is a string, which is basically a line of text. Enclosing characters in a set of single or double quotes indicates that it’s a string, as shown here:</a:t>
            </a:r>
          </a:p>
          <a:p>
            <a:pPr lvl="1"/>
            <a:r>
              <a:rPr lang="en-US" sz="2200" dirty="0">
                <a:latin typeface="Courier New" panose="02070309020205020404" pitchFamily="49" charset="0"/>
                <a:cs typeface="Courier New" panose="02070309020205020404" pitchFamily="49" charset="0"/>
              </a:rPr>
              <a:t>var foo = "five";</a:t>
            </a:r>
          </a:p>
          <a:p>
            <a:pPr lvl="1"/>
            <a:r>
              <a:rPr lang="en-US" sz="2200" dirty="0">
                <a:latin typeface="Courier New" panose="02070309020205020404" pitchFamily="49" charset="0"/>
                <a:cs typeface="Courier New" panose="02070309020205020404" pitchFamily="49" charset="0"/>
              </a:rPr>
              <a:t>alert( foo ); // This will alert "five"</a:t>
            </a:r>
          </a:p>
          <a:p>
            <a:pPr lvl="2"/>
            <a:endParaRPr lang="en-US" sz="2200" dirty="0"/>
          </a:p>
          <a:p>
            <a:endParaRPr lang="en-US" dirty="0"/>
          </a:p>
        </p:txBody>
      </p:sp>
      <p:sp>
        <p:nvSpPr>
          <p:cNvPr id="4" name="Title 1">
            <a:extLst>
              <a:ext uri="{FF2B5EF4-FFF2-40B4-BE49-F238E27FC236}">
                <a16:creationId xmlns:a16="http://schemas.microsoft.com/office/drawing/2014/main" id="{8EF0C2F2-3672-40B2-B8E5-F09F40D32ADB}"/>
              </a:ext>
            </a:extLst>
          </p:cNvPr>
          <p:cNvSpPr>
            <a:spLocks noGrp="1"/>
          </p:cNvSpPr>
          <p:nvPr>
            <p:ph type="title"/>
          </p:nvPr>
        </p:nvSpPr>
        <p:spPr>
          <a:xfrm>
            <a:off x="457200" y="152400"/>
            <a:ext cx="8229600" cy="639762"/>
          </a:xfrm>
        </p:spPr>
        <p:txBody>
          <a:bodyPr>
            <a:normAutofit fontScale="90000"/>
          </a:bodyPr>
          <a:lstStyle/>
          <a:p>
            <a:r>
              <a:rPr lang="en-US" dirty="0"/>
              <a:t>Data types</a:t>
            </a:r>
          </a:p>
        </p:txBody>
      </p:sp>
    </p:spTree>
    <p:extLst>
      <p:ext uri="{BB962C8B-B14F-4D97-AF65-F5344CB8AC3E}">
        <p14:creationId xmlns:p14="http://schemas.microsoft.com/office/powerpoint/2010/main" val="1365704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p:spPr>
        <p:txBody>
          <a:bodyPr>
            <a:normAutofit fontScale="90000"/>
          </a:bodyPr>
          <a:lstStyle/>
          <a:p>
            <a:r>
              <a:rPr lang="en-US" dirty="0"/>
              <a:t>Data types</a:t>
            </a:r>
          </a:p>
        </p:txBody>
      </p:sp>
      <p:sp>
        <p:nvSpPr>
          <p:cNvPr id="3" name="Content Placeholder 2"/>
          <p:cNvSpPr>
            <a:spLocks noGrp="1"/>
          </p:cNvSpPr>
          <p:nvPr>
            <p:ph idx="1"/>
          </p:nvPr>
        </p:nvSpPr>
        <p:spPr>
          <a:xfrm>
            <a:off x="457200" y="685800"/>
            <a:ext cx="8229600" cy="6172200"/>
          </a:xfrm>
        </p:spPr>
        <p:txBody>
          <a:bodyPr>
            <a:normAutofit fontScale="70000" lnSpcReduction="20000"/>
          </a:bodyPr>
          <a:lstStyle/>
          <a:p>
            <a:r>
              <a:rPr lang="en-US" dirty="0"/>
              <a:t>When the plus sign is used with strings, it sticks the strings together (called concatenation) into one long string, as shown in this example.</a:t>
            </a:r>
          </a:p>
          <a:p>
            <a:pPr lvl="1"/>
            <a:r>
              <a:rPr lang="en-US" dirty="0" err="1">
                <a:latin typeface="Courier New" panose="02070309020205020404" pitchFamily="49" charset="0"/>
                <a:cs typeface="Courier New" panose="02070309020205020404" pitchFamily="49" charset="0"/>
              </a:rPr>
              <a:t>var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foo</a:t>
            </a:r>
            <a:r>
              <a:rPr lang="en-US" dirty="0">
                <a:latin typeface="Courier New" panose="02070309020205020404" pitchFamily="49" charset="0"/>
                <a:cs typeface="Courier New" panose="02070309020205020404" pitchFamily="49" charset="0"/>
              </a:rPr>
              <a:t> = "bye"</a:t>
            </a:r>
          </a:p>
          <a:p>
            <a:pPr lvl="1"/>
            <a:r>
              <a:rPr lang="en-US" dirty="0">
                <a:latin typeface="Courier New" panose="02070309020205020404" pitchFamily="49" charset="0"/>
                <a:cs typeface="Courier New" panose="02070309020205020404" pitchFamily="49" charset="0"/>
              </a:rPr>
              <a:t>alert (</a:t>
            </a:r>
            <a:r>
              <a:rPr lang="en-US" dirty="0" err="1">
                <a:latin typeface="Courier New" panose="02070309020205020404" pitchFamily="49" charset="0"/>
                <a:cs typeface="Courier New" panose="02070309020205020404" pitchFamily="49" charset="0"/>
              </a:rPr>
              <a:t>foo</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foo</a:t>
            </a:r>
            <a:r>
              <a:rPr lang="en-US" dirty="0">
                <a:latin typeface="Courier New" panose="02070309020205020404" pitchFamily="49" charset="0"/>
                <a:cs typeface="Courier New" panose="02070309020205020404" pitchFamily="49" charset="0"/>
              </a:rPr>
              <a:t>); // This will alert "</a:t>
            </a:r>
            <a:r>
              <a:rPr lang="en-US" dirty="0" err="1">
                <a:latin typeface="Courier New" panose="02070309020205020404" pitchFamily="49" charset="0"/>
                <a:cs typeface="Courier New" panose="02070309020205020404" pitchFamily="49" charset="0"/>
              </a:rPr>
              <a:t>byebye</a:t>
            </a:r>
            <a:r>
              <a:rPr lang="en-US" dirty="0">
                <a:latin typeface="Courier New" panose="02070309020205020404" pitchFamily="49" charset="0"/>
                <a:cs typeface="Courier New" panose="02070309020205020404" pitchFamily="49" charset="0"/>
              </a:rPr>
              <a:t>“</a:t>
            </a:r>
          </a:p>
          <a:p>
            <a:pPr lvl="1"/>
            <a:r>
              <a:rPr lang="en-US" sz="2700" dirty="0" err="1">
                <a:latin typeface="Courier New" panose="02070309020205020404" pitchFamily="49" charset="0"/>
                <a:cs typeface="Courier New" panose="02070309020205020404" pitchFamily="49" charset="0"/>
              </a:rPr>
              <a:t>var</a:t>
            </a:r>
            <a:r>
              <a:rPr lang="en-US" sz="2700" dirty="0">
                <a:latin typeface="Courier New" panose="02070309020205020404" pitchFamily="49" charset="0"/>
                <a:cs typeface="Courier New" panose="02070309020205020404" pitchFamily="49" charset="0"/>
              </a:rPr>
              <a:t> </a:t>
            </a:r>
            <a:r>
              <a:rPr lang="en-US" sz="2700" dirty="0" err="1">
                <a:latin typeface="Courier New" panose="02070309020205020404" pitchFamily="49" charset="0"/>
                <a:cs typeface="Courier New" panose="02070309020205020404" pitchFamily="49" charset="0"/>
              </a:rPr>
              <a:t>foo</a:t>
            </a:r>
            <a:r>
              <a:rPr lang="en-US" sz="2700" dirty="0">
                <a:latin typeface="Courier New" panose="02070309020205020404" pitchFamily="49" charset="0"/>
                <a:cs typeface="Courier New" panose="02070309020205020404" pitchFamily="49" charset="0"/>
              </a:rPr>
              <a:t> = "5";</a:t>
            </a:r>
          </a:p>
          <a:p>
            <a:pPr lvl="1"/>
            <a:r>
              <a:rPr lang="en-US" sz="2700" dirty="0">
                <a:latin typeface="Courier New" panose="02070309020205020404" pitchFamily="49" charset="0"/>
                <a:cs typeface="Courier New" panose="02070309020205020404" pitchFamily="49" charset="0"/>
              </a:rPr>
              <a:t>alert( </a:t>
            </a:r>
            <a:r>
              <a:rPr lang="en-US" sz="2700" dirty="0" err="1">
                <a:latin typeface="Courier New" panose="02070309020205020404" pitchFamily="49" charset="0"/>
                <a:cs typeface="Courier New" panose="02070309020205020404" pitchFamily="49" charset="0"/>
              </a:rPr>
              <a:t>foo</a:t>
            </a:r>
            <a:r>
              <a:rPr lang="en-US" sz="2700" dirty="0">
                <a:latin typeface="Courier New" panose="02070309020205020404" pitchFamily="49" charset="0"/>
                <a:cs typeface="Courier New" panose="02070309020205020404" pitchFamily="49" charset="0"/>
              </a:rPr>
              <a:t> + </a:t>
            </a:r>
            <a:r>
              <a:rPr lang="en-US" sz="2700" dirty="0" err="1">
                <a:latin typeface="Courier New" panose="02070309020205020404" pitchFamily="49" charset="0"/>
                <a:cs typeface="Courier New" panose="02070309020205020404" pitchFamily="49" charset="0"/>
              </a:rPr>
              <a:t>foo</a:t>
            </a:r>
            <a:r>
              <a:rPr lang="en-US" sz="2700" dirty="0">
                <a:latin typeface="Courier New" panose="02070309020205020404" pitchFamily="49" charset="0"/>
                <a:cs typeface="Courier New" panose="02070309020205020404" pitchFamily="49" charset="0"/>
              </a:rPr>
              <a:t> ); // This will alert "55“</a:t>
            </a:r>
          </a:p>
          <a:p>
            <a:pPr lvl="1"/>
            <a:r>
              <a:rPr lang="en-US" sz="2700" dirty="0" err="1">
                <a:latin typeface="Courier New" panose="02070309020205020404" pitchFamily="49" charset="0"/>
                <a:cs typeface="Courier New" panose="02070309020205020404" pitchFamily="49" charset="0"/>
              </a:rPr>
              <a:t>var</a:t>
            </a:r>
            <a:r>
              <a:rPr lang="en-US" sz="2700" dirty="0">
                <a:latin typeface="Courier New" panose="02070309020205020404" pitchFamily="49" charset="0"/>
                <a:cs typeface="Courier New" panose="02070309020205020404" pitchFamily="49" charset="0"/>
              </a:rPr>
              <a:t> </a:t>
            </a:r>
            <a:r>
              <a:rPr lang="en-US" sz="2700" dirty="0" err="1">
                <a:latin typeface="Courier New" panose="02070309020205020404" pitchFamily="49" charset="0"/>
                <a:cs typeface="Courier New" panose="02070309020205020404" pitchFamily="49" charset="0"/>
              </a:rPr>
              <a:t>foo</a:t>
            </a:r>
            <a:r>
              <a:rPr lang="en-US" sz="2700" dirty="0">
                <a:latin typeface="Courier New" panose="02070309020205020404" pitchFamily="49" charset="0"/>
                <a:cs typeface="Courier New" panose="02070309020205020404" pitchFamily="49" charset="0"/>
              </a:rPr>
              <a:t> = "five";</a:t>
            </a:r>
          </a:p>
          <a:p>
            <a:pPr lvl="1"/>
            <a:r>
              <a:rPr lang="en-US" sz="2700" dirty="0" err="1">
                <a:latin typeface="Courier New" panose="02070309020205020404" pitchFamily="49" charset="0"/>
                <a:cs typeface="Courier New" panose="02070309020205020404" pitchFamily="49" charset="0"/>
              </a:rPr>
              <a:t>var</a:t>
            </a:r>
            <a:r>
              <a:rPr lang="en-US" sz="2700" dirty="0">
                <a:latin typeface="Courier New" panose="02070309020205020404" pitchFamily="49" charset="0"/>
                <a:cs typeface="Courier New" panose="02070309020205020404" pitchFamily="49" charset="0"/>
              </a:rPr>
              <a:t> bar = 5;</a:t>
            </a:r>
          </a:p>
          <a:p>
            <a:pPr lvl="1"/>
            <a:r>
              <a:rPr lang="en-US" sz="2700" dirty="0">
                <a:latin typeface="Courier New" panose="02070309020205020404" pitchFamily="49" charset="0"/>
                <a:cs typeface="Courier New" panose="02070309020205020404" pitchFamily="49" charset="0"/>
              </a:rPr>
              <a:t>alert( foo + bar ); // This will alert "five5“</a:t>
            </a:r>
          </a:p>
          <a:p>
            <a:pPr marL="342900" lvl="1" indent="-342900">
              <a:buFont typeface="Arial" pitchFamily="34" charset="0"/>
              <a:buChar char="•"/>
            </a:pPr>
            <a:r>
              <a:rPr lang="en-US" sz="3100" dirty="0"/>
              <a:t>Objects</a:t>
            </a:r>
          </a:p>
          <a:p>
            <a:pPr lvl="1"/>
            <a:r>
              <a:rPr lang="en-US" sz="2900" dirty="0"/>
              <a:t>The object is a complex data type that allows you to store collections of data.</a:t>
            </a:r>
          </a:p>
          <a:p>
            <a:pPr lvl="1"/>
            <a:r>
              <a:rPr lang="en-US" dirty="0"/>
              <a:t>An object contains properties, defined as a key-value pair. A property key (name) is always a string, but the value can be any data type, like strings, numbers, </a:t>
            </a:r>
            <a:r>
              <a:rPr lang="en-US" dirty="0" err="1"/>
              <a:t>booleans</a:t>
            </a:r>
            <a:r>
              <a:rPr lang="en-US" dirty="0"/>
              <a:t>, or complex data types like arrays, functions and other objects. </a:t>
            </a:r>
          </a:p>
          <a:p>
            <a:pPr lvl="1"/>
            <a:r>
              <a:rPr lang="en-US" sz="2400" dirty="0">
                <a:solidFill>
                  <a:srgbClr val="0000CD"/>
                </a:solidFill>
                <a:latin typeface="Consolas" panose="020B0609020204030204" pitchFamily="49" charset="0"/>
              </a:rPr>
              <a:t>var</a:t>
            </a:r>
            <a:r>
              <a:rPr lang="en-US" sz="2400" dirty="0">
                <a:solidFill>
                  <a:srgbClr val="000000"/>
                </a:solidFill>
                <a:latin typeface="Consolas" panose="020B0609020204030204" pitchFamily="49" charset="0"/>
              </a:rPr>
              <a:t> person = {</a:t>
            </a:r>
            <a:r>
              <a:rPr lang="en-US" sz="2400" dirty="0" err="1">
                <a:solidFill>
                  <a:srgbClr val="000000"/>
                </a:solidFill>
                <a:latin typeface="Consolas" panose="020B0609020204030204" pitchFamily="49" charset="0"/>
              </a:rPr>
              <a:t>firstName</a:t>
            </a:r>
            <a:r>
              <a:rPr lang="en-US" sz="2400" dirty="0">
                <a:solidFill>
                  <a:srgbClr val="000000"/>
                </a:solidFill>
                <a:latin typeface="Consolas" panose="020B0609020204030204" pitchFamily="49" charset="0"/>
              </a:rPr>
              <a:t>:</a:t>
            </a:r>
            <a:r>
              <a:rPr lang="en-US" sz="2400" dirty="0">
                <a:solidFill>
                  <a:srgbClr val="A52A2A"/>
                </a:solidFill>
                <a:latin typeface="Consolas" panose="020B0609020204030204" pitchFamily="49" charset="0"/>
              </a:rPr>
              <a:t>"John"</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lastName</a:t>
            </a:r>
            <a:r>
              <a:rPr lang="en-US" sz="2400" dirty="0">
                <a:solidFill>
                  <a:srgbClr val="000000"/>
                </a:solidFill>
                <a:latin typeface="Consolas" panose="020B0609020204030204" pitchFamily="49" charset="0"/>
              </a:rPr>
              <a:t>:</a:t>
            </a:r>
            <a:r>
              <a:rPr lang="en-US" sz="2400" dirty="0">
                <a:solidFill>
                  <a:srgbClr val="A52A2A"/>
                </a:solidFill>
                <a:latin typeface="Consolas" panose="020B0609020204030204" pitchFamily="49" charset="0"/>
              </a:rPr>
              <a:t>"Doe"</a:t>
            </a:r>
            <a:r>
              <a:rPr lang="en-US" sz="2400" dirty="0">
                <a:solidFill>
                  <a:srgbClr val="000000"/>
                </a:solidFill>
                <a:latin typeface="Consolas" panose="020B0609020204030204" pitchFamily="49" charset="0"/>
              </a:rPr>
              <a:t>, age:</a:t>
            </a:r>
            <a:r>
              <a:rPr lang="en-US" sz="2400" dirty="0">
                <a:solidFill>
                  <a:srgbClr val="FF0000"/>
                </a:solidFill>
                <a:latin typeface="Consolas" panose="020B0609020204030204" pitchFamily="49" charset="0"/>
              </a:rPr>
              <a:t>50</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eyeColor</a:t>
            </a:r>
            <a:r>
              <a:rPr lang="en-US" sz="2400" dirty="0">
                <a:solidFill>
                  <a:srgbClr val="000000"/>
                </a:solidFill>
                <a:latin typeface="Consolas" panose="020B0609020204030204" pitchFamily="49" charset="0"/>
              </a:rPr>
              <a:t>:</a:t>
            </a:r>
            <a:r>
              <a:rPr lang="en-US" sz="2400" dirty="0">
                <a:solidFill>
                  <a:srgbClr val="A52A2A"/>
                </a:solidFill>
                <a:latin typeface="Consolas" panose="020B0609020204030204" pitchFamily="49" charset="0"/>
              </a:rPr>
              <a:t>"blue"</a:t>
            </a:r>
            <a:r>
              <a:rPr lang="en-US" sz="2400" dirty="0">
                <a:solidFill>
                  <a:srgbClr val="000000"/>
                </a:solidFill>
                <a:latin typeface="Consolas" panose="020B0609020204030204" pitchFamily="49" charset="0"/>
              </a:rPr>
              <a:t>};</a:t>
            </a:r>
          </a:p>
          <a:p>
            <a:pPr lvl="1"/>
            <a:r>
              <a:rPr lang="en-US" dirty="0"/>
              <a:t>The object (person) in the example above has 4 properties: </a:t>
            </a:r>
            <a:r>
              <a:rPr lang="en-US" dirty="0" err="1">
                <a:latin typeface="Courier New" panose="02070309020205020404" pitchFamily="49" charset="0"/>
                <a:cs typeface="Courier New" panose="02070309020205020404" pitchFamily="49" charset="0"/>
              </a:rPr>
              <a:t>firstName</a:t>
            </a:r>
            <a:r>
              <a:rPr lang="en-US" dirty="0"/>
              <a:t>, </a:t>
            </a:r>
            <a:r>
              <a:rPr lang="en-US" sz="2900" dirty="0" err="1">
                <a:latin typeface="Courier New" panose="02070309020205020404" pitchFamily="49" charset="0"/>
                <a:cs typeface="Courier New" panose="02070309020205020404" pitchFamily="49" charset="0"/>
              </a:rPr>
              <a:t>lastName</a:t>
            </a:r>
            <a:r>
              <a:rPr lang="en-US" dirty="0"/>
              <a:t>, </a:t>
            </a:r>
            <a:r>
              <a:rPr lang="en-US" sz="2900" dirty="0">
                <a:latin typeface="Courier New" panose="02070309020205020404" pitchFamily="49" charset="0"/>
                <a:cs typeface="Courier New" panose="02070309020205020404" pitchFamily="49" charset="0"/>
              </a:rPr>
              <a:t>age</a:t>
            </a:r>
            <a:r>
              <a:rPr lang="en-US" dirty="0"/>
              <a:t>, and </a:t>
            </a:r>
            <a:r>
              <a:rPr lang="en-US" sz="2900" dirty="0" err="1">
                <a:latin typeface="Courier New" panose="02070309020205020404" pitchFamily="49" charset="0"/>
                <a:cs typeface="Courier New" panose="02070309020205020404" pitchFamily="49" charset="0"/>
              </a:rPr>
              <a:t>eyeColor</a:t>
            </a:r>
            <a:r>
              <a:rPr lang="en-US" dirty="0"/>
              <a:t>.</a:t>
            </a:r>
            <a:endParaRPr lang="en-US" sz="2700" dirty="0">
              <a:latin typeface="Courier New" panose="02070309020205020404" pitchFamily="49" charset="0"/>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C714B-36C5-4077-8E76-16A2BB46C861}"/>
              </a:ext>
            </a:extLst>
          </p:cNvPr>
          <p:cNvSpPr>
            <a:spLocks noGrp="1"/>
          </p:cNvSpPr>
          <p:nvPr>
            <p:ph type="title"/>
          </p:nvPr>
        </p:nvSpPr>
        <p:spPr>
          <a:xfrm>
            <a:off x="457200" y="152400"/>
            <a:ext cx="8229600" cy="639762"/>
          </a:xfrm>
        </p:spPr>
        <p:txBody>
          <a:bodyPr>
            <a:normAutofit fontScale="90000"/>
          </a:bodyPr>
          <a:lstStyle/>
          <a:p>
            <a:r>
              <a:rPr lang="en-US" dirty="0">
                <a:hlinkClick r:id="rId2"/>
              </a:rPr>
              <a:t>JavaScript</a:t>
            </a:r>
            <a:r>
              <a:rPr lang="en-US" dirty="0"/>
              <a:t> Objects</a:t>
            </a:r>
          </a:p>
        </p:txBody>
      </p:sp>
      <p:sp>
        <p:nvSpPr>
          <p:cNvPr id="3" name="Content Placeholder 2">
            <a:extLst>
              <a:ext uri="{FF2B5EF4-FFF2-40B4-BE49-F238E27FC236}">
                <a16:creationId xmlns:a16="http://schemas.microsoft.com/office/drawing/2014/main" id="{E8FD4204-B25F-4C2C-854B-948B1195C177}"/>
              </a:ext>
            </a:extLst>
          </p:cNvPr>
          <p:cNvSpPr>
            <a:spLocks noGrp="1"/>
          </p:cNvSpPr>
          <p:nvPr>
            <p:ph idx="1"/>
          </p:nvPr>
        </p:nvSpPr>
        <p:spPr>
          <a:xfrm>
            <a:off x="457200" y="914400"/>
            <a:ext cx="8229600" cy="5638800"/>
          </a:xfrm>
        </p:spPr>
        <p:txBody>
          <a:bodyPr>
            <a:normAutofit fontScale="92500"/>
          </a:bodyPr>
          <a:lstStyle/>
          <a:p>
            <a:r>
              <a:rPr lang="en-US" sz="2200" dirty="0"/>
              <a:t>Objects are variables too. But objects can contain many values. </a:t>
            </a:r>
          </a:p>
          <a:p>
            <a:r>
              <a:rPr lang="en-US" sz="2200" dirty="0"/>
              <a:t>The values are written as </a:t>
            </a:r>
            <a:r>
              <a:rPr lang="en-US" sz="2200" b="1" dirty="0" err="1"/>
              <a:t>name:value</a:t>
            </a:r>
            <a:r>
              <a:rPr lang="en-US" sz="2200" dirty="0"/>
              <a:t> pairs (name and value separated by a colon). For example, the following object describes a person.</a:t>
            </a:r>
          </a:p>
          <a:p>
            <a:r>
              <a:rPr lang="en-US" sz="2200" dirty="0">
                <a:solidFill>
                  <a:srgbClr val="0000CD"/>
                </a:solidFill>
                <a:latin typeface="Consolas" panose="020B0609020204030204" pitchFamily="49" charset="0"/>
              </a:rPr>
              <a:t>var</a:t>
            </a:r>
            <a:r>
              <a:rPr lang="en-US" sz="2200" dirty="0">
                <a:solidFill>
                  <a:srgbClr val="000000"/>
                </a:solidFill>
                <a:latin typeface="Consolas" panose="020B0609020204030204" pitchFamily="49" charset="0"/>
              </a:rPr>
              <a:t> person = {</a:t>
            </a:r>
            <a:br>
              <a:rPr lang="en-US" sz="2200" dirty="0"/>
            </a:b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firstName</a:t>
            </a:r>
            <a:r>
              <a:rPr lang="en-US" sz="2200" dirty="0">
                <a:solidFill>
                  <a:srgbClr val="000000"/>
                </a:solidFill>
                <a:latin typeface="Consolas" panose="020B0609020204030204" pitchFamily="49" charset="0"/>
              </a:rPr>
              <a:t>: </a:t>
            </a:r>
            <a:r>
              <a:rPr lang="en-US" sz="2200" dirty="0">
                <a:solidFill>
                  <a:srgbClr val="A52A2A"/>
                </a:solidFill>
                <a:latin typeface="Consolas" panose="020B0609020204030204" pitchFamily="49" charset="0"/>
              </a:rPr>
              <a:t>"John"</a:t>
            </a:r>
            <a:r>
              <a:rPr lang="en-US" sz="2200" dirty="0">
                <a:solidFill>
                  <a:srgbClr val="000000"/>
                </a:solidFill>
                <a:latin typeface="Consolas" panose="020B0609020204030204" pitchFamily="49" charset="0"/>
              </a:rPr>
              <a:t>,</a:t>
            </a:r>
            <a:br>
              <a:rPr lang="en-US" sz="2200" dirty="0"/>
            </a:b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lastName</a:t>
            </a:r>
            <a:r>
              <a:rPr lang="en-US" sz="2200" dirty="0">
                <a:solidFill>
                  <a:srgbClr val="000000"/>
                </a:solidFill>
                <a:latin typeface="Consolas" panose="020B0609020204030204" pitchFamily="49" charset="0"/>
              </a:rPr>
              <a:t>: </a:t>
            </a:r>
            <a:r>
              <a:rPr lang="en-US" sz="2200" dirty="0">
                <a:solidFill>
                  <a:srgbClr val="A52A2A"/>
                </a:solidFill>
                <a:latin typeface="Consolas" panose="020B0609020204030204" pitchFamily="49" charset="0"/>
              </a:rPr>
              <a:t>"Doe"</a:t>
            </a:r>
            <a:r>
              <a:rPr lang="en-US" sz="2200" dirty="0">
                <a:solidFill>
                  <a:srgbClr val="000000"/>
                </a:solidFill>
                <a:latin typeface="Consolas" panose="020B0609020204030204" pitchFamily="49" charset="0"/>
              </a:rPr>
              <a:t>,</a:t>
            </a:r>
            <a:br>
              <a:rPr lang="en-US" sz="2200" dirty="0"/>
            </a:br>
            <a:r>
              <a:rPr lang="en-US" sz="2200" dirty="0">
                <a:solidFill>
                  <a:srgbClr val="000000"/>
                </a:solidFill>
                <a:latin typeface="Consolas" panose="020B0609020204030204" pitchFamily="49" charset="0"/>
              </a:rPr>
              <a:t>  age: </a:t>
            </a:r>
            <a:r>
              <a:rPr lang="en-US" sz="2200" dirty="0">
                <a:solidFill>
                  <a:srgbClr val="FF0000"/>
                </a:solidFill>
                <a:latin typeface="Consolas" panose="020B0609020204030204" pitchFamily="49" charset="0"/>
              </a:rPr>
              <a:t>50</a:t>
            </a:r>
            <a:r>
              <a:rPr lang="en-US" sz="2200" dirty="0">
                <a:solidFill>
                  <a:srgbClr val="000000"/>
                </a:solidFill>
                <a:latin typeface="Consolas" panose="020B0609020204030204" pitchFamily="49" charset="0"/>
              </a:rPr>
              <a:t>,</a:t>
            </a:r>
            <a:br>
              <a:rPr lang="en-US" sz="2200" dirty="0"/>
            </a:b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eyeColor</a:t>
            </a:r>
            <a:r>
              <a:rPr lang="en-US" sz="2200" dirty="0">
                <a:solidFill>
                  <a:srgbClr val="000000"/>
                </a:solidFill>
                <a:latin typeface="Consolas" panose="020B0609020204030204" pitchFamily="49" charset="0"/>
              </a:rPr>
              <a:t>: </a:t>
            </a:r>
            <a:r>
              <a:rPr lang="en-US" sz="2200" dirty="0">
                <a:solidFill>
                  <a:srgbClr val="A52A2A"/>
                </a:solidFill>
                <a:latin typeface="Consolas" panose="020B0609020204030204" pitchFamily="49" charset="0"/>
              </a:rPr>
              <a:t>"blue“</a:t>
            </a:r>
          </a:p>
          <a:p>
            <a:pPr marL="0" indent="0">
              <a:buNone/>
            </a:pPr>
            <a:r>
              <a:rPr lang="en-US" sz="2200" dirty="0">
                <a:solidFill>
                  <a:srgbClr val="000000"/>
                </a:solidFill>
                <a:latin typeface="Consolas" panose="020B0609020204030204" pitchFamily="49" charset="0"/>
              </a:rPr>
              <a:t>    </a:t>
            </a:r>
            <a:r>
              <a:rPr lang="en-US" sz="2200" dirty="0" err="1">
                <a:solidFill>
                  <a:srgbClr val="000000"/>
                </a:solidFill>
                <a:latin typeface="Consolas" panose="020B0609020204030204" pitchFamily="49" charset="0"/>
              </a:rPr>
              <a:t>fullName</a:t>
            </a:r>
            <a:r>
              <a:rPr lang="en-US" sz="2200" dirty="0">
                <a:solidFill>
                  <a:srgbClr val="000000"/>
                </a:solidFill>
                <a:latin typeface="Consolas" panose="020B0609020204030204" pitchFamily="49" charset="0"/>
              </a:rPr>
              <a:t> : </a:t>
            </a:r>
            <a:r>
              <a:rPr lang="en-US" sz="2200" dirty="0">
                <a:solidFill>
                  <a:srgbClr val="0000CD"/>
                </a:solidFill>
                <a:latin typeface="Consolas" panose="020B0609020204030204" pitchFamily="49" charset="0"/>
              </a:rPr>
              <a:t>function</a:t>
            </a:r>
            <a:r>
              <a:rPr lang="en-US" sz="2200" dirty="0">
                <a:solidFill>
                  <a:srgbClr val="000000"/>
                </a:solidFill>
                <a:latin typeface="Consolas" panose="020B0609020204030204" pitchFamily="49" charset="0"/>
              </a:rPr>
              <a:t>() {</a:t>
            </a:r>
            <a:br>
              <a:rPr lang="en-US" sz="2200" dirty="0"/>
            </a:br>
            <a:r>
              <a:rPr lang="en-US" sz="2200" dirty="0">
                <a:solidFill>
                  <a:srgbClr val="000000"/>
                </a:solidFill>
                <a:latin typeface="Consolas" panose="020B0609020204030204" pitchFamily="49" charset="0"/>
              </a:rPr>
              <a:t>    </a:t>
            </a:r>
            <a:r>
              <a:rPr lang="en-US" sz="2200" dirty="0">
                <a:solidFill>
                  <a:srgbClr val="0000CD"/>
                </a:solidFill>
                <a:latin typeface="Consolas" panose="020B0609020204030204" pitchFamily="49" charset="0"/>
              </a:rPr>
              <a:t>return</a:t>
            </a:r>
            <a:r>
              <a:rPr lang="en-US" sz="2200" dirty="0">
                <a:solidFill>
                  <a:srgbClr val="000000"/>
                </a:solidFill>
                <a:latin typeface="Consolas" panose="020B0609020204030204" pitchFamily="49" charset="0"/>
              </a:rPr>
              <a:t> </a:t>
            </a:r>
            <a:r>
              <a:rPr lang="en-US" sz="2200" b="1" dirty="0" err="1">
                <a:solidFill>
                  <a:srgbClr val="0000CD"/>
                </a:solidFill>
                <a:latin typeface="Consolas" panose="020B0609020204030204" pitchFamily="49" charset="0"/>
              </a:rPr>
              <a:t>this</a:t>
            </a:r>
            <a:r>
              <a:rPr lang="en-US" sz="2200" dirty="0" err="1">
                <a:solidFill>
                  <a:srgbClr val="000000"/>
                </a:solidFill>
                <a:latin typeface="Consolas" panose="020B0609020204030204" pitchFamily="49" charset="0"/>
              </a:rPr>
              <a:t>.firstName</a:t>
            </a:r>
            <a:r>
              <a:rPr lang="en-US" sz="2200" dirty="0">
                <a:solidFill>
                  <a:srgbClr val="000000"/>
                </a:solidFill>
                <a:latin typeface="Consolas" panose="020B0609020204030204" pitchFamily="49" charset="0"/>
              </a:rPr>
              <a:t> + </a:t>
            </a:r>
            <a:r>
              <a:rPr lang="en-US" sz="2200" dirty="0">
                <a:solidFill>
                  <a:srgbClr val="A52A2A"/>
                </a:solidFill>
                <a:latin typeface="Consolas" panose="020B0609020204030204" pitchFamily="49" charset="0"/>
              </a:rPr>
              <a:t>" "</a:t>
            </a:r>
            <a:r>
              <a:rPr lang="en-US" sz="2200" dirty="0">
                <a:solidFill>
                  <a:srgbClr val="000000"/>
                </a:solidFill>
                <a:latin typeface="Consolas" panose="020B0609020204030204" pitchFamily="49" charset="0"/>
              </a:rPr>
              <a:t> + </a:t>
            </a:r>
            <a:r>
              <a:rPr lang="en-US" sz="2200" b="1" dirty="0" err="1">
                <a:solidFill>
                  <a:srgbClr val="0000CD"/>
                </a:solidFill>
                <a:latin typeface="Consolas" panose="020B0609020204030204" pitchFamily="49" charset="0"/>
              </a:rPr>
              <a:t>this</a:t>
            </a:r>
            <a:r>
              <a:rPr lang="en-US" sz="2200" dirty="0" err="1">
                <a:solidFill>
                  <a:srgbClr val="000000"/>
                </a:solidFill>
                <a:latin typeface="Consolas" panose="020B0609020204030204" pitchFamily="49" charset="0"/>
              </a:rPr>
              <a:t>.lastName</a:t>
            </a:r>
            <a:r>
              <a:rPr lang="en-US" sz="2200" dirty="0">
                <a:solidFill>
                  <a:srgbClr val="000000"/>
                </a:solidFill>
                <a:latin typeface="Consolas" panose="020B0609020204030204" pitchFamily="49" charset="0"/>
              </a:rPr>
              <a:t>;</a:t>
            </a:r>
            <a:br>
              <a:rPr lang="en-US" sz="2200" dirty="0"/>
            </a:br>
            <a:r>
              <a:rPr lang="en-US" sz="2200" dirty="0">
                <a:solidFill>
                  <a:srgbClr val="000000"/>
                </a:solidFill>
                <a:latin typeface="Consolas" panose="020B0609020204030204" pitchFamily="49" charset="0"/>
              </a:rPr>
              <a:t>  }</a:t>
            </a:r>
            <a:br>
              <a:rPr lang="en-US" sz="2200" dirty="0"/>
            </a:br>
            <a:r>
              <a:rPr lang="en-US" sz="2200" dirty="0">
                <a:solidFill>
                  <a:srgbClr val="000000"/>
                </a:solidFill>
                <a:latin typeface="Consolas" panose="020B0609020204030204" pitchFamily="49" charset="0"/>
              </a:rPr>
              <a:t>};</a:t>
            </a:r>
          </a:p>
          <a:p>
            <a:r>
              <a:rPr lang="en-US" sz="2200" dirty="0"/>
              <a:t>Object Properties:</a:t>
            </a:r>
          </a:p>
          <a:p>
            <a:pPr lvl="1"/>
            <a:r>
              <a:rPr lang="en-US" sz="1800" dirty="0"/>
              <a:t>The </a:t>
            </a:r>
            <a:r>
              <a:rPr lang="en-US" sz="1800" b="1" dirty="0" err="1"/>
              <a:t>name:values</a:t>
            </a:r>
            <a:r>
              <a:rPr lang="en-US" sz="1800" dirty="0"/>
              <a:t> pairs in JavaScript objects are called </a:t>
            </a:r>
            <a:r>
              <a:rPr lang="en-US" sz="1800" b="1" dirty="0"/>
              <a:t>properties.</a:t>
            </a:r>
            <a:endParaRPr lang="en-US" sz="1800" dirty="0"/>
          </a:p>
          <a:p>
            <a:r>
              <a:rPr lang="en-US" sz="2200" dirty="0"/>
              <a:t>Object Methods:</a:t>
            </a:r>
          </a:p>
          <a:p>
            <a:pPr lvl="1"/>
            <a:r>
              <a:rPr lang="en-US" sz="1800" dirty="0"/>
              <a:t>Methods are </a:t>
            </a:r>
            <a:r>
              <a:rPr lang="en-US" sz="1800" b="1" dirty="0"/>
              <a:t>actions</a:t>
            </a:r>
            <a:r>
              <a:rPr lang="en-US" sz="1800" dirty="0"/>
              <a:t> that can be performed on objects.</a:t>
            </a:r>
          </a:p>
          <a:p>
            <a:pPr lvl="1"/>
            <a:r>
              <a:rPr lang="en-US" sz="1800" dirty="0"/>
              <a:t>Methods are stored in properties as </a:t>
            </a:r>
            <a:r>
              <a:rPr lang="en-US" sz="1800" b="1" dirty="0"/>
              <a:t>function definitions</a:t>
            </a:r>
            <a:r>
              <a:rPr lang="en-US" sz="1800" dirty="0"/>
              <a:t>.</a:t>
            </a:r>
          </a:p>
          <a:p>
            <a:endParaRPr lang="en-US" dirty="0"/>
          </a:p>
        </p:txBody>
      </p:sp>
    </p:spTree>
    <p:extLst>
      <p:ext uri="{BB962C8B-B14F-4D97-AF65-F5344CB8AC3E}">
        <p14:creationId xmlns:p14="http://schemas.microsoft.com/office/powerpoint/2010/main" val="3128605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987C-62F1-4255-9BB4-698E0FA69A81}"/>
              </a:ext>
            </a:extLst>
          </p:cNvPr>
          <p:cNvSpPr>
            <a:spLocks noGrp="1"/>
          </p:cNvSpPr>
          <p:nvPr>
            <p:ph type="title"/>
          </p:nvPr>
        </p:nvSpPr>
        <p:spPr>
          <a:xfrm>
            <a:off x="457200" y="0"/>
            <a:ext cx="8229600" cy="639762"/>
          </a:xfrm>
        </p:spPr>
        <p:txBody>
          <a:bodyPr>
            <a:normAutofit fontScale="90000"/>
          </a:bodyPr>
          <a:lstStyle/>
          <a:p>
            <a:r>
              <a:rPr lang="en-US" dirty="0">
                <a:hlinkClick r:id="rId2"/>
              </a:rPr>
              <a:t>Object Properties</a:t>
            </a:r>
            <a:endParaRPr lang="en-US" dirty="0"/>
          </a:p>
        </p:txBody>
      </p:sp>
      <p:sp>
        <p:nvSpPr>
          <p:cNvPr id="3" name="Content Placeholder 2">
            <a:extLst>
              <a:ext uri="{FF2B5EF4-FFF2-40B4-BE49-F238E27FC236}">
                <a16:creationId xmlns:a16="http://schemas.microsoft.com/office/drawing/2014/main" id="{A5FE98D7-C316-4DCA-BF82-B2743F4ED893}"/>
              </a:ext>
            </a:extLst>
          </p:cNvPr>
          <p:cNvSpPr>
            <a:spLocks noGrp="1"/>
          </p:cNvSpPr>
          <p:nvPr>
            <p:ph idx="1"/>
          </p:nvPr>
        </p:nvSpPr>
        <p:spPr>
          <a:xfrm>
            <a:off x="457200" y="685800"/>
            <a:ext cx="8229600" cy="1752600"/>
          </a:xfrm>
        </p:spPr>
        <p:txBody>
          <a:bodyPr>
            <a:normAutofit fontScale="70000" lnSpcReduction="20000"/>
          </a:bodyPr>
          <a:lstStyle/>
          <a:p>
            <a:r>
              <a:rPr lang="en-US" dirty="0"/>
              <a:t>Properties are the values associated with a JavaScript object.</a:t>
            </a:r>
          </a:p>
          <a:p>
            <a:r>
              <a:rPr lang="en-US" dirty="0"/>
              <a:t>A JavaScript object is a collection of unordered properties.</a:t>
            </a:r>
          </a:p>
          <a:p>
            <a:r>
              <a:rPr lang="en-US" dirty="0"/>
              <a:t>Properties can usually be changed, added, and deleted.</a:t>
            </a:r>
          </a:p>
          <a:p>
            <a:r>
              <a:rPr lang="en-US" dirty="0"/>
              <a:t>The example below shows how we can access properties in Javascript Objects.</a:t>
            </a:r>
          </a:p>
          <a:p>
            <a:endParaRPr lang="en-US" dirty="0"/>
          </a:p>
        </p:txBody>
      </p:sp>
      <p:pic>
        <p:nvPicPr>
          <p:cNvPr id="4" name="Picture 3">
            <a:extLst>
              <a:ext uri="{FF2B5EF4-FFF2-40B4-BE49-F238E27FC236}">
                <a16:creationId xmlns:a16="http://schemas.microsoft.com/office/drawing/2014/main" id="{BE302119-E4BD-4D52-9D53-C91CC4E09C02}"/>
              </a:ext>
            </a:extLst>
          </p:cNvPr>
          <p:cNvPicPr>
            <a:picLocks noChangeAspect="1"/>
          </p:cNvPicPr>
          <p:nvPr/>
        </p:nvPicPr>
        <p:blipFill rotWithShape="1">
          <a:blip r:embed="rId3"/>
          <a:srcRect l="834" t="30741" r="51667" b="15926"/>
          <a:stretch/>
        </p:blipFill>
        <p:spPr>
          <a:xfrm>
            <a:off x="76200" y="2286000"/>
            <a:ext cx="7239000" cy="4572000"/>
          </a:xfrm>
          <a:prstGeom prst="rect">
            <a:avLst/>
          </a:prstGeom>
        </p:spPr>
      </p:pic>
      <p:pic>
        <p:nvPicPr>
          <p:cNvPr id="6" name="Picture 5">
            <a:extLst>
              <a:ext uri="{FF2B5EF4-FFF2-40B4-BE49-F238E27FC236}">
                <a16:creationId xmlns:a16="http://schemas.microsoft.com/office/drawing/2014/main" id="{29B6CE06-C0A0-4930-B9EF-6825F74FF6B7}"/>
              </a:ext>
            </a:extLst>
          </p:cNvPr>
          <p:cNvPicPr>
            <a:picLocks noChangeAspect="1"/>
          </p:cNvPicPr>
          <p:nvPr/>
        </p:nvPicPr>
        <p:blipFill rotWithShape="1">
          <a:blip r:embed="rId4"/>
          <a:srcRect l="50833" t="32182" r="20000" b="48583"/>
          <a:stretch/>
        </p:blipFill>
        <p:spPr>
          <a:xfrm>
            <a:off x="4267200" y="3770811"/>
            <a:ext cx="4724400" cy="1754777"/>
          </a:xfrm>
          <a:prstGeom prst="rect">
            <a:avLst/>
          </a:prstGeom>
        </p:spPr>
      </p:pic>
    </p:spTree>
    <p:extLst>
      <p:ext uri="{BB962C8B-B14F-4D97-AF65-F5344CB8AC3E}">
        <p14:creationId xmlns:p14="http://schemas.microsoft.com/office/powerpoint/2010/main" val="2526670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987C-62F1-4255-9BB4-698E0FA69A81}"/>
              </a:ext>
            </a:extLst>
          </p:cNvPr>
          <p:cNvSpPr>
            <a:spLocks noGrp="1"/>
          </p:cNvSpPr>
          <p:nvPr>
            <p:ph type="title"/>
          </p:nvPr>
        </p:nvSpPr>
        <p:spPr>
          <a:xfrm>
            <a:off x="457200" y="0"/>
            <a:ext cx="8229600" cy="639762"/>
          </a:xfrm>
        </p:spPr>
        <p:txBody>
          <a:bodyPr>
            <a:normAutofit fontScale="90000"/>
          </a:bodyPr>
          <a:lstStyle/>
          <a:p>
            <a:r>
              <a:rPr lang="en-US" dirty="0">
                <a:hlinkClick r:id="rId2"/>
              </a:rPr>
              <a:t>Object Methods</a:t>
            </a:r>
            <a:endParaRPr lang="en-US" dirty="0"/>
          </a:p>
        </p:txBody>
      </p:sp>
      <p:sp>
        <p:nvSpPr>
          <p:cNvPr id="3" name="Content Placeholder 2">
            <a:extLst>
              <a:ext uri="{FF2B5EF4-FFF2-40B4-BE49-F238E27FC236}">
                <a16:creationId xmlns:a16="http://schemas.microsoft.com/office/drawing/2014/main" id="{A5FE98D7-C316-4DCA-BF82-B2743F4ED893}"/>
              </a:ext>
            </a:extLst>
          </p:cNvPr>
          <p:cNvSpPr>
            <a:spLocks noGrp="1"/>
          </p:cNvSpPr>
          <p:nvPr>
            <p:ph idx="1"/>
          </p:nvPr>
        </p:nvSpPr>
        <p:spPr>
          <a:xfrm>
            <a:off x="457200" y="685800"/>
            <a:ext cx="8229600" cy="1752600"/>
          </a:xfrm>
        </p:spPr>
        <p:txBody>
          <a:bodyPr>
            <a:normAutofit fontScale="62500" lnSpcReduction="20000"/>
          </a:bodyPr>
          <a:lstStyle/>
          <a:p>
            <a:r>
              <a:rPr lang="en-US" dirty="0"/>
              <a:t>A JavaScript </a:t>
            </a:r>
            <a:r>
              <a:rPr lang="en-US" b="1" dirty="0"/>
              <a:t>method</a:t>
            </a:r>
            <a:r>
              <a:rPr lang="en-US" dirty="0"/>
              <a:t> is a property containing a </a:t>
            </a:r>
            <a:r>
              <a:rPr lang="en-US" b="1" dirty="0"/>
              <a:t>function definition</a:t>
            </a:r>
            <a:r>
              <a:rPr lang="en-US" dirty="0"/>
              <a:t>.</a:t>
            </a:r>
          </a:p>
          <a:p>
            <a:r>
              <a:rPr lang="en-US" dirty="0"/>
              <a:t>In a function definition, </a:t>
            </a:r>
            <a:r>
              <a:rPr lang="en-US" b="1" dirty="0">
                <a:latin typeface="Courier New" panose="02070309020205020404" pitchFamily="49" charset="0"/>
                <a:cs typeface="Courier New" panose="02070309020205020404" pitchFamily="49" charset="0"/>
              </a:rPr>
              <a:t>this</a:t>
            </a:r>
            <a:r>
              <a:rPr lang="en-US" dirty="0"/>
              <a:t> refers to the "owner" of the function.</a:t>
            </a:r>
          </a:p>
          <a:p>
            <a:r>
              <a:rPr lang="en-US" dirty="0"/>
              <a:t>In the example below, </a:t>
            </a:r>
            <a:r>
              <a:rPr lang="en-US" b="1" dirty="0">
                <a:latin typeface="Courier New" panose="02070309020205020404" pitchFamily="49" charset="0"/>
                <a:cs typeface="Courier New" panose="02070309020205020404" pitchFamily="49" charset="0"/>
              </a:rPr>
              <a:t>this</a:t>
            </a:r>
            <a:r>
              <a:rPr lang="en-US" dirty="0"/>
              <a:t> is the person object that "owns" the </a:t>
            </a:r>
            <a:r>
              <a:rPr lang="en-US" b="1" dirty="0" err="1">
                <a:latin typeface="Courier New" panose="02070309020205020404" pitchFamily="49" charset="0"/>
                <a:cs typeface="Courier New" panose="02070309020205020404" pitchFamily="49" charset="0"/>
              </a:rPr>
              <a:t>fullName</a:t>
            </a:r>
            <a:r>
              <a:rPr lang="en-US" dirty="0"/>
              <a:t> function.</a:t>
            </a:r>
          </a:p>
          <a:p>
            <a:r>
              <a:rPr lang="en-US" dirty="0"/>
              <a:t>In other words, </a:t>
            </a:r>
            <a:r>
              <a:rPr lang="en-US" b="1" dirty="0" err="1">
                <a:latin typeface="Courier New" panose="02070309020205020404" pitchFamily="49" charset="0"/>
                <a:cs typeface="Courier New" panose="02070309020205020404" pitchFamily="49" charset="0"/>
              </a:rPr>
              <a:t>this.firstName</a:t>
            </a:r>
            <a:r>
              <a:rPr lang="en-US" b="1" dirty="0">
                <a:latin typeface="Courier New" panose="02070309020205020404" pitchFamily="49" charset="0"/>
                <a:cs typeface="Courier New" panose="02070309020205020404" pitchFamily="49" charset="0"/>
              </a:rPr>
              <a:t> </a:t>
            </a:r>
            <a:r>
              <a:rPr lang="en-US" dirty="0"/>
              <a:t>means the </a:t>
            </a:r>
            <a:r>
              <a:rPr lang="en-US" b="1" dirty="0" err="1">
                <a:latin typeface="Courier New" panose="02070309020205020404" pitchFamily="49" charset="0"/>
                <a:cs typeface="Courier New" panose="02070309020205020404" pitchFamily="49" charset="0"/>
              </a:rPr>
              <a:t>firstName</a:t>
            </a:r>
            <a:r>
              <a:rPr lang="en-US" dirty="0"/>
              <a:t> property of this object.</a:t>
            </a:r>
          </a:p>
          <a:p>
            <a:endParaRPr lang="en-US" dirty="0"/>
          </a:p>
        </p:txBody>
      </p:sp>
      <p:pic>
        <p:nvPicPr>
          <p:cNvPr id="7" name="Picture 6">
            <a:extLst>
              <a:ext uri="{FF2B5EF4-FFF2-40B4-BE49-F238E27FC236}">
                <a16:creationId xmlns:a16="http://schemas.microsoft.com/office/drawing/2014/main" id="{2A0E1C38-DA0A-4E2C-91BD-78ED542BD4BD}"/>
              </a:ext>
            </a:extLst>
          </p:cNvPr>
          <p:cNvPicPr>
            <a:picLocks noChangeAspect="1"/>
          </p:cNvPicPr>
          <p:nvPr/>
        </p:nvPicPr>
        <p:blipFill rotWithShape="1">
          <a:blip r:embed="rId3"/>
          <a:srcRect l="834" t="31636" r="55834" b="15926"/>
          <a:stretch/>
        </p:blipFill>
        <p:spPr>
          <a:xfrm>
            <a:off x="76200" y="2362200"/>
            <a:ext cx="6313253" cy="4297362"/>
          </a:xfrm>
          <a:prstGeom prst="rect">
            <a:avLst/>
          </a:prstGeom>
        </p:spPr>
      </p:pic>
      <p:pic>
        <p:nvPicPr>
          <p:cNvPr id="8" name="Picture 7">
            <a:extLst>
              <a:ext uri="{FF2B5EF4-FFF2-40B4-BE49-F238E27FC236}">
                <a16:creationId xmlns:a16="http://schemas.microsoft.com/office/drawing/2014/main" id="{85487451-63D6-4BE7-ABB1-39ADD3044FFA}"/>
              </a:ext>
            </a:extLst>
          </p:cNvPr>
          <p:cNvPicPr>
            <a:picLocks noChangeAspect="1"/>
          </p:cNvPicPr>
          <p:nvPr/>
        </p:nvPicPr>
        <p:blipFill rotWithShape="1">
          <a:blip r:embed="rId4"/>
          <a:srcRect l="50833" t="30741" r="14167" b="55926"/>
          <a:stretch/>
        </p:blipFill>
        <p:spPr>
          <a:xfrm>
            <a:off x="3454400" y="3551238"/>
            <a:ext cx="5689600" cy="1219200"/>
          </a:xfrm>
          <a:prstGeom prst="rect">
            <a:avLst/>
          </a:prstGeom>
        </p:spPr>
      </p:pic>
    </p:spTree>
    <p:extLst>
      <p:ext uri="{BB962C8B-B14F-4D97-AF65-F5344CB8AC3E}">
        <p14:creationId xmlns:p14="http://schemas.microsoft.com/office/powerpoint/2010/main" val="3841409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8603-52F7-42FE-8A9A-049F3FB7CFF7}"/>
              </a:ext>
            </a:extLst>
          </p:cNvPr>
          <p:cNvSpPr>
            <a:spLocks noGrp="1"/>
          </p:cNvSpPr>
          <p:nvPr>
            <p:ph type="title"/>
          </p:nvPr>
        </p:nvSpPr>
        <p:spPr>
          <a:xfrm>
            <a:off x="457200" y="76200"/>
            <a:ext cx="8229600" cy="457200"/>
          </a:xfrm>
        </p:spPr>
        <p:txBody>
          <a:bodyPr>
            <a:normAutofit fontScale="90000"/>
          </a:bodyPr>
          <a:lstStyle/>
          <a:p>
            <a:r>
              <a:rPr lang="en-US" dirty="0">
                <a:hlinkClick r:id="rId2"/>
              </a:rPr>
              <a:t>Object Constructors</a:t>
            </a:r>
            <a:endParaRPr lang="en-US" dirty="0"/>
          </a:p>
        </p:txBody>
      </p:sp>
      <p:sp>
        <p:nvSpPr>
          <p:cNvPr id="3" name="Content Placeholder 2">
            <a:extLst>
              <a:ext uri="{FF2B5EF4-FFF2-40B4-BE49-F238E27FC236}">
                <a16:creationId xmlns:a16="http://schemas.microsoft.com/office/drawing/2014/main" id="{2493F02B-6BA2-49CA-AC06-D885B211B052}"/>
              </a:ext>
            </a:extLst>
          </p:cNvPr>
          <p:cNvSpPr>
            <a:spLocks noGrp="1"/>
          </p:cNvSpPr>
          <p:nvPr>
            <p:ph idx="1"/>
          </p:nvPr>
        </p:nvSpPr>
        <p:spPr>
          <a:xfrm>
            <a:off x="304800" y="609600"/>
            <a:ext cx="8382000" cy="1752600"/>
          </a:xfrm>
        </p:spPr>
        <p:txBody>
          <a:bodyPr>
            <a:normAutofit fontScale="55000" lnSpcReduction="20000"/>
          </a:bodyPr>
          <a:lstStyle/>
          <a:p>
            <a:r>
              <a:rPr lang="en-US" dirty="0"/>
              <a:t>Sometimes we need a "blueprint" for creating many objects of the same "type".</a:t>
            </a:r>
          </a:p>
          <a:p>
            <a:r>
              <a:rPr lang="en-US" dirty="0"/>
              <a:t>The way to create an "object type", is to use an object constructor function.</a:t>
            </a:r>
          </a:p>
          <a:p>
            <a:r>
              <a:rPr lang="en-US" dirty="0"/>
              <a:t>In the example below, function </a:t>
            </a:r>
            <a:r>
              <a:rPr lang="en-US" dirty="0">
                <a:latin typeface="Courier New" panose="02070309020205020404" pitchFamily="49" charset="0"/>
                <a:cs typeface="Courier New" panose="02070309020205020404" pitchFamily="49" charset="0"/>
              </a:rPr>
              <a:t>Person()</a:t>
            </a:r>
            <a:r>
              <a:rPr lang="en-US" dirty="0"/>
              <a:t> is an object constructor function.</a:t>
            </a:r>
          </a:p>
          <a:p>
            <a:r>
              <a:rPr lang="en-US" dirty="0"/>
              <a:t>Objects of the same type are created by calling the constructor function with the </a:t>
            </a:r>
            <a:r>
              <a:rPr lang="en-US" dirty="0">
                <a:latin typeface="Courier New" panose="02070309020205020404" pitchFamily="49" charset="0"/>
                <a:cs typeface="Courier New" panose="02070309020205020404" pitchFamily="49" charset="0"/>
              </a:rPr>
              <a:t>new</a:t>
            </a:r>
            <a:r>
              <a:rPr lang="en-US" dirty="0"/>
              <a:t> keyword:</a:t>
            </a:r>
          </a:p>
        </p:txBody>
      </p:sp>
      <p:pic>
        <p:nvPicPr>
          <p:cNvPr id="5" name="Picture 4">
            <a:extLst>
              <a:ext uri="{FF2B5EF4-FFF2-40B4-BE49-F238E27FC236}">
                <a16:creationId xmlns:a16="http://schemas.microsoft.com/office/drawing/2014/main" id="{5E9F2583-BE4A-49B0-A514-048151E06138}"/>
              </a:ext>
            </a:extLst>
          </p:cNvPr>
          <p:cNvPicPr>
            <a:picLocks noChangeAspect="1"/>
          </p:cNvPicPr>
          <p:nvPr/>
        </p:nvPicPr>
        <p:blipFill rotWithShape="1">
          <a:blip r:embed="rId3"/>
          <a:srcRect l="834" t="29258" r="55000" b="12964"/>
          <a:stretch/>
        </p:blipFill>
        <p:spPr>
          <a:xfrm>
            <a:off x="76199" y="2590800"/>
            <a:ext cx="5799014" cy="4267200"/>
          </a:xfrm>
          <a:prstGeom prst="rect">
            <a:avLst/>
          </a:prstGeom>
        </p:spPr>
      </p:pic>
      <p:pic>
        <p:nvPicPr>
          <p:cNvPr id="6" name="Picture 5">
            <a:extLst>
              <a:ext uri="{FF2B5EF4-FFF2-40B4-BE49-F238E27FC236}">
                <a16:creationId xmlns:a16="http://schemas.microsoft.com/office/drawing/2014/main" id="{35A50E20-C301-4A8B-9B97-7FE8E8782DDA}"/>
              </a:ext>
            </a:extLst>
          </p:cNvPr>
          <p:cNvPicPr>
            <a:picLocks noChangeAspect="1"/>
          </p:cNvPicPr>
          <p:nvPr/>
        </p:nvPicPr>
        <p:blipFill rotWithShape="1">
          <a:blip r:embed="rId4"/>
          <a:srcRect l="50833" t="32222" r="23334" b="58889"/>
          <a:stretch/>
        </p:blipFill>
        <p:spPr>
          <a:xfrm>
            <a:off x="4362072" y="2827978"/>
            <a:ext cx="4343400" cy="840658"/>
          </a:xfrm>
          <a:prstGeom prst="rect">
            <a:avLst/>
          </a:prstGeom>
        </p:spPr>
      </p:pic>
    </p:spTree>
    <p:extLst>
      <p:ext uri="{BB962C8B-B14F-4D97-AF65-F5344CB8AC3E}">
        <p14:creationId xmlns:p14="http://schemas.microsoft.com/office/powerpoint/2010/main" val="86107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709AA5-1152-43E2-9F77-B94E24072631}"/>
              </a:ext>
            </a:extLst>
          </p:cNvPr>
          <p:cNvSpPr>
            <a:spLocks noGrp="1"/>
          </p:cNvSpPr>
          <p:nvPr>
            <p:ph idx="1"/>
          </p:nvPr>
        </p:nvSpPr>
        <p:spPr>
          <a:xfrm>
            <a:off x="457200" y="1036638"/>
            <a:ext cx="8229600" cy="5546724"/>
          </a:xfrm>
        </p:spPr>
        <p:txBody>
          <a:bodyPr>
            <a:normAutofit/>
          </a:bodyPr>
          <a:lstStyle/>
          <a:p>
            <a:r>
              <a:rPr lang="en-US" sz="2200" dirty="0"/>
              <a:t>An array is a group of multiple values (called members) that can be assigned to a single variable. It is a way to store a list of items, or values.</a:t>
            </a:r>
          </a:p>
          <a:p>
            <a:r>
              <a:rPr lang="en-US" sz="2200" dirty="0"/>
              <a:t>The values in an array are said to be indexed, meaning you can refer to them by number according to the order in which they appear in the list. The first member is given the index number 0, the second is 1, and so on.</a:t>
            </a:r>
          </a:p>
          <a:p>
            <a:r>
              <a:rPr lang="en-US" sz="2200" dirty="0"/>
              <a:t>For example, values in the array </a:t>
            </a:r>
            <a:r>
              <a:rPr lang="en-US" sz="2200" i="1" dirty="0"/>
              <a:t>foo</a:t>
            </a:r>
            <a:r>
              <a:rPr lang="en-US" sz="2200" dirty="0"/>
              <a:t> can be accessed </a:t>
            </a:r>
            <a:r>
              <a:rPr lang="en-US" sz="2200" b="1" dirty="0"/>
              <a:t>by referencing their index number:</a:t>
            </a:r>
            <a:endParaRPr lang="en-US" sz="2200" dirty="0"/>
          </a:p>
          <a:p>
            <a:pPr lvl="1"/>
            <a:r>
              <a:rPr lang="en-US" sz="1600" dirty="0">
                <a:solidFill>
                  <a:srgbClr val="000000"/>
                </a:solidFill>
                <a:latin typeface="Consolas" panose="020B0609020204030204" pitchFamily="49" charset="0"/>
              </a:rPr>
              <a:t>var foo = [5, "five", "5"];</a:t>
            </a:r>
          </a:p>
          <a:p>
            <a:pPr lvl="2"/>
            <a:r>
              <a:rPr lang="en-US" sz="1600" dirty="0">
                <a:solidFill>
                  <a:srgbClr val="000000"/>
                </a:solidFill>
                <a:latin typeface="Consolas" panose="020B0609020204030204" pitchFamily="49" charset="0"/>
              </a:rPr>
              <a:t>alert( foo[0] ); // Alerts "5"</a:t>
            </a:r>
          </a:p>
          <a:p>
            <a:pPr lvl="2"/>
            <a:r>
              <a:rPr lang="en-US" sz="1600" dirty="0">
                <a:solidFill>
                  <a:srgbClr val="000000"/>
                </a:solidFill>
                <a:latin typeface="Consolas" panose="020B0609020204030204" pitchFamily="49" charset="0"/>
              </a:rPr>
              <a:t>alert( foo[1] ); // Alerts "five"</a:t>
            </a:r>
          </a:p>
          <a:p>
            <a:pPr lvl="2"/>
            <a:r>
              <a:rPr lang="en-US" sz="1600" dirty="0">
                <a:solidFill>
                  <a:srgbClr val="000000"/>
                </a:solidFill>
                <a:latin typeface="Consolas" panose="020B0609020204030204" pitchFamily="49" charset="0"/>
              </a:rPr>
              <a:t>alert( foo[2] ); // Also alerts "5“</a:t>
            </a:r>
          </a:p>
          <a:p>
            <a:endParaRPr lang="en-US" dirty="0"/>
          </a:p>
        </p:txBody>
      </p:sp>
      <p:sp>
        <p:nvSpPr>
          <p:cNvPr id="4" name="Title 1">
            <a:extLst>
              <a:ext uri="{FF2B5EF4-FFF2-40B4-BE49-F238E27FC236}">
                <a16:creationId xmlns:a16="http://schemas.microsoft.com/office/drawing/2014/main" id="{67B68AA7-03EE-442A-B7A2-0018A5956E50}"/>
              </a:ext>
            </a:extLst>
          </p:cNvPr>
          <p:cNvSpPr>
            <a:spLocks noGrp="1"/>
          </p:cNvSpPr>
          <p:nvPr>
            <p:ph type="title"/>
          </p:nvPr>
        </p:nvSpPr>
        <p:spPr>
          <a:xfrm>
            <a:off x="457200" y="152400"/>
            <a:ext cx="8229600" cy="761999"/>
          </a:xfrm>
        </p:spPr>
        <p:txBody>
          <a:bodyPr>
            <a:normAutofit fontScale="90000"/>
          </a:bodyPr>
          <a:lstStyle/>
          <a:p>
            <a:r>
              <a:rPr lang="en-US" dirty="0">
                <a:hlinkClick r:id="rId2"/>
              </a:rPr>
              <a:t>Arrays</a:t>
            </a:r>
            <a:endParaRPr lang="en-US" dirty="0"/>
          </a:p>
        </p:txBody>
      </p:sp>
    </p:spTree>
    <p:extLst>
      <p:ext uri="{BB962C8B-B14F-4D97-AF65-F5344CB8AC3E}">
        <p14:creationId xmlns:p14="http://schemas.microsoft.com/office/powerpoint/2010/main" val="3595164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04963-A241-421C-A8DE-6C312CE914B8}"/>
              </a:ext>
            </a:extLst>
          </p:cNvPr>
          <p:cNvSpPr>
            <a:spLocks noGrp="1"/>
          </p:cNvSpPr>
          <p:nvPr>
            <p:ph type="title"/>
          </p:nvPr>
        </p:nvSpPr>
        <p:spPr>
          <a:xfrm>
            <a:off x="457200" y="76200"/>
            <a:ext cx="8229600" cy="533400"/>
          </a:xfrm>
        </p:spPr>
        <p:txBody>
          <a:bodyPr>
            <a:normAutofit fontScale="90000"/>
          </a:bodyPr>
          <a:lstStyle/>
          <a:p>
            <a:r>
              <a:rPr lang="en-US" dirty="0">
                <a:hlinkClick r:id="rId3"/>
              </a:rPr>
              <a:t>Array Methods</a:t>
            </a:r>
            <a:endParaRPr lang="en-US" dirty="0"/>
          </a:p>
        </p:txBody>
      </p:sp>
      <p:sp>
        <p:nvSpPr>
          <p:cNvPr id="3" name="Content Placeholder 2">
            <a:extLst>
              <a:ext uri="{FF2B5EF4-FFF2-40B4-BE49-F238E27FC236}">
                <a16:creationId xmlns:a16="http://schemas.microsoft.com/office/drawing/2014/main" id="{65B5F533-CA6A-4597-AAD7-D1620A2D6EED}"/>
              </a:ext>
            </a:extLst>
          </p:cNvPr>
          <p:cNvSpPr>
            <a:spLocks noGrp="1"/>
          </p:cNvSpPr>
          <p:nvPr>
            <p:ph idx="1"/>
          </p:nvPr>
        </p:nvSpPr>
        <p:spPr>
          <a:xfrm>
            <a:off x="457200" y="685800"/>
            <a:ext cx="8229600" cy="6096000"/>
          </a:xfrm>
        </p:spPr>
        <p:txBody>
          <a:bodyPr>
            <a:normAutofit lnSpcReduction="10000"/>
          </a:bodyPr>
          <a:lstStyle/>
          <a:p>
            <a:r>
              <a:rPr lang="en-US" sz="2200" b="1" u="sng" dirty="0"/>
              <a:t>Converting Arrays to Strings</a:t>
            </a:r>
          </a:p>
          <a:p>
            <a:pPr lvl="1"/>
            <a:r>
              <a:rPr lang="en-US" sz="2000" dirty="0"/>
              <a:t>The JavaScript method </a:t>
            </a:r>
            <a:r>
              <a:rPr lang="en-US" sz="2000" dirty="0" err="1"/>
              <a:t>toString</a:t>
            </a:r>
            <a:r>
              <a:rPr lang="en-US" sz="2000" dirty="0"/>
              <a:t>() converts an array to a string of (comma separated) array values.</a:t>
            </a:r>
          </a:p>
          <a:p>
            <a:pPr lvl="2"/>
            <a:r>
              <a:rPr lang="en-US" sz="1600" dirty="0">
                <a:solidFill>
                  <a:srgbClr val="0000CD"/>
                </a:solidFill>
                <a:latin typeface="Consolas" panose="020B0609020204030204" pitchFamily="49" charset="0"/>
              </a:rPr>
              <a:t>var</a:t>
            </a:r>
            <a:r>
              <a:rPr lang="en-US" sz="1600" dirty="0">
                <a:solidFill>
                  <a:srgbClr val="000000"/>
                </a:solidFill>
                <a:latin typeface="Consolas" panose="020B0609020204030204" pitchFamily="49" charset="0"/>
              </a:rPr>
              <a:t> fruits = [</a:t>
            </a:r>
            <a:r>
              <a:rPr lang="en-US" sz="1600" dirty="0">
                <a:solidFill>
                  <a:srgbClr val="A52A2A"/>
                </a:solidFill>
                <a:latin typeface="Consolas" panose="020B0609020204030204" pitchFamily="49" charset="0"/>
              </a:rPr>
              <a:t>"Banana"</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"Orange"</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"Apple"</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"Mango"</a:t>
            </a:r>
            <a:r>
              <a:rPr lang="en-US" sz="1600" dirty="0">
                <a:solidFill>
                  <a:srgbClr val="000000"/>
                </a:solidFill>
                <a:latin typeface="Consolas" panose="020B0609020204030204" pitchFamily="49" charset="0"/>
              </a:rPr>
              <a:t>];</a:t>
            </a:r>
            <a:br>
              <a:rPr lang="en-US" sz="1600" dirty="0"/>
            </a:br>
            <a:r>
              <a:rPr lang="en-US" sz="1600" dirty="0" err="1">
                <a:solidFill>
                  <a:srgbClr val="000000"/>
                </a:solidFill>
                <a:latin typeface="Consolas" panose="020B0609020204030204" pitchFamily="49" charset="0"/>
              </a:rPr>
              <a:t>document.getElementById</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"demo"</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innerHTML</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fruits.toString</a:t>
            </a:r>
            <a:r>
              <a:rPr lang="en-US" sz="1600" dirty="0">
                <a:solidFill>
                  <a:srgbClr val="000000"/>
                </a:solidFill>
                <a:latin typeface="Consolas" panose="020B0609020204030204" pitchFamily="49" charset="0"/>
              </a:rPr>
              <a:t>();</a:t>
            </a:r>
          </a:p>
          <a:p>
            <a:pPr lvl="2"/>
            <a:r>
              <a:rPr lang="en-US" sz="1600" dirty="0" err="1">
                <a:solidFill>
                  <a:srgbClr val="000000"/>
                </a:solidFill>
                <a:latin typeface="Verdana" panose="020B0604030504040204" pitchFamily="34" charset="0"/>
              </a:rPr>
              <a:t>Banana,Orange,Apple,Mango</a:t>
            </a:r>
            <a:endParaRPr lang="en-US" sz="1600" dirty="0">
              <a:solidFill>
                <a:srgbClr val="000000"/>
              </a:solidFill>
              <a:latin typeface="Verdana" panose="020B0604030504040204" pitchFamily="34" charset="0"/>
            </a:endParaRPr>
          </a:p>
          <a:p>
            <a:pPr lvl="1"/>
            <a:r>
              <a:rPr lang="en-US" sz="2000" dirty="0"/>
              <a:t>The join() method also joins all array elements into a string. It behaves just like </a:t>
            </a:r>
            <a:r>
              <a:rPr lang="en-US" sz="2000" dirty="0" err="1"/>
              <a:t>toString</a:t>
            </a:r>
            <a:r>
              <a:rPr lang="en-US" sz="2000" dirty="0"/>
              <a:t>(), but in addition you can specify the separator:</a:t>
            </a:r>
          </a:p>
          <a:p>
            <a:pPr lvl="2"/>
            <a:r>
              <a:rPr lang="en-US" sz="1600" dirty="0">
                <a:solidFill>
                  <a:srgbClr val="0000CD"/>
                </a:solidFill>
                <a:latin typeface="Consolas" panose="020B0609020204030204" pitchFamily="49" charset="0"/>
              </a:rPr>
              <a:t>var</a:t>
            </a:r>
            <a:r>
              <a:rPr lang="en-US" sz="1600" dirty="0">
                <a:solidFill>
                  <a:srgbClr val="000000"/>
                </a:solidFill>
                <a:latin typeface="Consolas" panose="020B0609020204030204" pitchFamily="49" charset="0"/>
              </a:rPr>
              <a:t> fruits = [</a:t>
            </a:r>
            <a:r>
              <a:rPr lang="en-US" sz="1600" dirty="0">
                <a:solidFill>
                  <a:srgbClr val="A52A2A"/>
                </a:solidFill>
                <a:latin typeface="Consolas" panose="020B0609020204030204" pitchFamily="49" charset="0"/>
              </a:rPr>
              <a:t>"Banana"</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"Orange"</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"Apple"</a:t>
            </a:r>
            <a:r>
              <a:rPr lang="en-US" sz="1600" dirty="0">
                <a:solidFill>
                  <a:srgbClr val="000000"/>
                </a:solidFill>
                <a:latin typeface="Consolas" panose="020B0609020204030204" pitchFamily="49" charset="0"/>
              </a:rPr>
              <a:t>, </a:t>
            </a:r>
            <a:r>
              <a:rPr lang="en-US" sz="1600" dirty="0">
                <a:solidFill>
                  <a:srgbClr val="A52A2A"/>
                </a:solidFill>
                <a:latin typeface="Consolas" panose="020B0609020204030204" pitchFamily="49" charset="0"/>
              </a:rPr>
              <a:t>"Mango"</a:t>
            </a:r>
            <a:r>
              <a:rPr lang="en-US" sz="1600" dirty="0">
                <a:solidFill>
                  <a:srgbClr val="000000"/>
                </a:solidFill>
                <a:latin typeface="Consolas" panose="020B0609020204030204" pitchFamily="49" charset="0"/>
              </a:rPr>
              <a:t>];</a:t>
            </a:r>
            <a:br>
              <a:rPr lang="en-US" sz="1600" dirty="0"/>
            </a:br>
            <a:r>
              <a:rPr lang="en-US" sz="1600" dirty="0" err="1">
                <a:solidFill>
                  <a:srgbClr val="000000"/>
                </a:solidFill>
                <a:latin typeface="Consolas" panose="020B0609020204030204" pitchFamily="49" charset="0"/>
              </a:rPr>
              <a:t>document.getElementById</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"demo"</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innerHTML</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fruits.join</a:t>
            </a:r>
            <a:r>
              <a:rPr lang="en-US" sz="1600" dirty="0">
                <a:solidFill>
                  <a:srgbClr val="000000"/>
                </a:solidFill>
                <a:latin typeface="Consolas" panose="020B0609020204030204" pitchFamily="49" charset="0"/>
              </a:rPr>
              <a:t>(</a:t>
            </a:r>
            <a:r>
              <a:rPr lang="en-US" sz="1600" dirty="0">
                <a:solidFill>
                  <a:srgbClr val="A52A2A"/>
                </a:solidFill>
                <a:latin typeface="Consolas" panose="020B0609020204030204" pitchFamily="49" charset="0"/>
              </a:rPr>
              <a:t>" * "</a:t>
            </a:r>
            <a:r>
              <a:rPr lang="en-US" sz="1600" dirty="0">
                <a:solidFill>
                  <a:srgbClr val="000000"/>
                </a:solidFill>
                <a:latin typeface="Consolas" panose="020B0609020204030204" pitchFamily="49" charset="0"/>
              </a:rPr>
              <a:t>);</a:t>
            </a:r>
          </a:p>
          <a:p>
            <a:pPr lvl="2"/>
            <a:r>
              <a:rPr lang="en-US" sz="1600" dirty="0">
                <a:solidFill>
                  <a:srgbClr val="000000"/>
                </a:solidFill>
                <a:latin typeface="Verdana" panose="020B0604030504040204" pitchFamily="34" charset="0"/>
              </a:rPr>
              <a:t>Banana * Orange * Apple * Mango</a:t>
            </a:r>
          </a:p>
          <a:p>
            <a:r>
              <a:rPr lang="en-US" sz="2200" b="1" u="sng" dirty="0"/>
              <a:t>Popping and Pushing</a:t>
            </a:r>
          </a:p>
          <a:p>
            <a:pPr lvl="1"/>
            <a:r>
              <a:rPr lang="en-US" sz="1800" dirty="0"/>
              <a:t>Popping is to remove elements items </a:t>
            </a:r>
            <a:r>
              <a:rPr lang="en-US" sz="1800" b="1" dirty="0"/>
              <a:t>out</a:t>
            </a:r>
            <a:r>
              <a:rPr lang="en-US" sz="1800" dirty="0"/>
              <a:t> of an array,  and pushing is to add new elements items </a:t>
            </a:r>
            <a:r>
              <a:rPr lang="en-US" sz="1800" b="1" dirty="0"/>
              <a:t>into</a:t>
            </a:r>
            <a:r>
              <a:rPr lang="en-US" sz="1800" dirty="0"/>
              <a:t> an array.</a:t>
            </a:r>
          </a:p>
          <a:p>
            <a:pPr lvl="1"/>
            <a:r>
              <a:rPr lang="en-US" sz="1800" dirty="0"/>
              <a:t>The pop() method removes the last element from an array:</a:t>
            </a:r>
          </a:p>
          <a:p>
            <a:pPr lvl="2"/>
            <a:r>
              <a:rPr lang="en-US" sz="1400" dirty="0">
                <a:solidFill>
                  <a:srgbClr val="0000CD"/>
                </a:solidFill>
                <a:latin typeface="Consolas" panose="020B0609020204030204" pitchFamily="49" charset="0"/>
              </a:rPr>
              <a:t>var</a:t>
            </a:r>
            <a:r>
              <a:rPr lang="en-US" sz="1400" dirty="0">
                <a:solidFill>
                  <a:srgbClr val="000000"/>
                </a:solidFill>
                <a:latin typeface="Consolas" panose="020B0609020204030204" pitchFamily="49" charset="0"/>
              </a:rPr>
              <a:t> fruits = [</a:t>
            </a:r>
            <a:r>
              <a:rPr lang="en-US" sz="1400" dirty="0">
                <a:solidFill>
                  <a:srgbClr val="A52A2A"/>
                </a:solidFill>
                <a:latin typeface="Consolas" panose="020B0609020204030204" pitchFamily="49" charset="0"/>
              </a:rPr>
              <a:t>"Banana"</a:t>
            </a:r>
            <a:r>
              <a:rPr lang="en-US" sz="1400" dirty="0">
                <a:solidFill>
                  <a:srgbClr val="000000"/>
                </a:solidFill>
                <a:latin typeface="Consolas" panose="020B0609020204030204" pitchFamily="49" charset="0"/>
              </a:rPr>
              <a:t>, </a:t>
            </a:r>
            <a:r>
              <a:rPr lang="en-US" sz="1400" dirty="0">
                <a:solidFill>
                  <a:srgbClr val="A52A2A"/>
                </a:solidFill>
                <a:latin typeface="Consolas" panose="020B0609020204030204" pitchFamily="49" charset="0"/>
              </a:rPr>
              <a:t>"Orange"</a:t>
            </a:r>
            <a:r>
              <a:rPr lang="en-US" sz="1400" dirty="0">
                <a:solidFill>
                  <a:srgbClr val="000000"/>
                </a:solidFill>
                <a:latin typeface="Consolas" panose="020B0609020204030204" pitchFamily="49" charset="0"/>
              </a:rPr>
              <a:t>, </a:t>
            </a:r>
            <a:r>
              <a:rPr lang="en-US" sz="1400" dirty="0">
                <a:solidFill>
                  <a:srgbClr val="A52A2A"/>
                </a:solidFill>
                <a:latin typeface="Consolas" panose="020B0609020204030204" pitchFamily="49" charset="0"/>
              </a:rPr>
              <a:t>"Apple"</a:t>
            </a:r>
            <a:r>
              <a:rPr lang="en-US" sz="1400" dirty="0">
                <a:solidFill>
                  <a:srgbClr val="000000"/>
                </a:solidFill>
                <a:latin typeface="Consolas" panose="020B0609020204030204" pitchFamily="49" charset="0"/>
              </a:rPr>
              <a:t>, </a:t>
            </a:r>
            <a:r>
              <a:rPr lang="en-US" sz="1400" dirty="0">
                <a:solidFill>
                  <a:srgbClr val="A52A2A"/>
                </a:solidFill>
                <a:latin typeface="Consolas" panose="020B0609020204030204" pitchFamily="49" charset="0"/>
              </a:rPr>
              <a:t>"Mango"</a:t>
            </a:r>
            <a:r>
              <a:rPr lang="en-US" sz="1400" dirty="0">
                <a:solidFill>
                  <a:srgbClr val="000000"/>
                </a:solidFill>
                <a:latin typeface="Consolas" panose="020B0609020204030204" pitchFamily="49" charset="0"/>
              </a:rPr>
              <a:t>];</a:t>
            </a:r>
            <a:br>
              <a:rPr lang="en-US" sz="1400" dirty="0"/>
            </a:br>
            <a:r>
              <a:rPr lang="en-US" sz="1400" dirty="0">
                <a:solidFill>
                  <a:srgbClr val="0000CD"/>
                </a:solidFill>
                <a:latin typeface="Consolas" panose="020B0609020204030204" pitchFamily="49" charset="0"/>
              </a:rPr>
              <a:t>var</a:t>
            </a:r>
            <a:r>
              <a:rPr lang="en-US" sz="1400" dirty="0">
                <a:solidFill>
                  <a:srgbClr val="000000"/>
                </a:solidFill>
                <a:latin typeface="Consolas" panose="020B0609020204030204" pitchFamily="49" charset="0"/>
              </a:rPr>
              <a:t> x = </a:t>
            </a:r>
            <a:r>
              <a:rPr lang="en-US" sz="1400" dirty="0" err="1">
                <a:solidFill>
                  <a:srgbClr val="000000"/>
                </a:solidFill>
                <a:latin typeface="Consolas" panose="020B0609020204030204" pitchFamily="49" charset="0"/>
              </a:rPr>
              <a:t>fruits.pop</a:t>
            </a:r>
            <a:r>
              <a:rPr lang="en-US" sz="1400" dirty="0">
                <a:solidFill>
                  <a:srgbClr val="000000"/>
                </a:solidFill>
                <a:latin typeface="Consolas" panose="020B0609020204030204" pitchFamily="49" charset="0"/>
              </a:rPr>
              <a:t>();    </a:t>
            </a:r>
            <a:endParaRPr lang="en-US" sz="1400" dirty="0">
              <a:solidFill>
                <a:srgbClr val="008000"/>
              </a:solidFill>
              <a:latin typeface="Consolas" panose="020B0609020204030204" pitchFamily="49" charset="0"/>
            </a:endParaRPr>
          </a:p>
          <a:p>
            <a:pPr lvl="1"/>
            <a:r>
              <a:rPr lang="en-US" sz="1800" dirty="0"/>
              <a:t>The push() method adds a new element to an array (at the end):</a:t>
            </a:r>
          </a:p>
          <a:p>
            <a:pPr lvl="2"/>
            <a:r>
              <a:rPr lang="en-US" sz="1400" dirty="0">
                <a:solidFill>
                  <a:srgbClr val="0000CD"/>
                </a:solidFill>
                <a:latin typeface="Consolas" panose="020B0609020204030204" pitchFamily="49" charset="0"/>
              </a:rPr>
              <a:t>var</a:t>
            </a:r>
            <a:r>
              <a:rPr lang="en-US" sz="1400" dirty="0">
                <a:solidFill>
                  <a:srgbClr val="000000"/>
                </a:solidFill>
                <a:latin typeface="Consolas" panose="020B0609020204030204" pitchFamily="49" charset="0"/>
              </a:rPr>
              <a:t> fruits = [</a:t>
            </a:r>
            <a:r>
              <a:rPr lang="en-US" sz="1400" dirty="0">
                <a:solidFill>
                  <a:srgbClr val="A52A2A"/>
                </a:solidFill>
                <a:latin typeface="Consolas" panose="020B0609020204030204" pitchFamily="49" charset="0"/>
              </a:rPr>
              <a:t>"Banana"</a:t>
            </a:r>
            <a:r>
              <a:rPr lang="en-US" sz="1400" dirty="0">
                <a:solidFill>
                  <a:srgbClr val="000000"/>
                </a:solidFill>
                <a:latin typeface="Consolas" panose="020B0609020204030204" pitchFamily="49" charset="0"/>
              </a:rPr>
              <a:t>, </a:t>
            </a:r>
            <a:r>
              <a:rPr lang="en-US" sz="1400" dirty="0">
                <a:solidFill>
                  <a:srgbClr val="A52A2A"/>
                </a:solidFill>
                <a:latin typeface="Consolas" panose="020B0609020204030204" pitchFamily="49" charset="0"/>
              </a:rPr>
              <a:t>"Orange"</a:t>
            </a:r>
            <a:r>
              <a:rPr lang="en-US" sz="1400" dirty="0">
                <a:solidFill>
                  <a:srgbClr val="000000"/>
                </a:solidFill>
                <a:latin typeface="Consolas" panose="020B0609020204030204" pitchFamily="49" charset="0"/>
              </a:rPr>
              <a:t>, </a:t>
            </a:r>
            <a:r>
              <a:rPr lang="en-US" sz="1400" dirty="0">
                <a:solidFill>
                  <a:srgbClr val="A52A2A"/>
                </a:solidFill>
                <a:latin typeface="Consolas" panose="020B0609020204030204" pitchFamily="49" charset="0"/>
              </a:rPr>
              <a:t>"Apple"</a:t>
            </a:r>
            <a:r>
              <a:rPr lang="en-US" sz="1400" dirty="0">
                <a:solidFill>
                  <a:srgbClr val="000000"/>
                </a:solidFill>
                <a:latin typeface="Consolas" panose="020B0609020204030204" pitchFamily="49" charset="0"/>
              </a:rPr>
              <a:t>, </a:t>
            </a:r>
            <a:r>
              <a:rPr lang="en-US" sz="1400" dirty="0">
                <a:solidFill>
                  <a:srgbClr val="A52A2A"/>
                </a:solidFill>
                <a:latin typeface="Consolas" panose="020B0609020204030204" pitchFamily="49" charset="0"/>
              </a:rPr>
              <a:t>"Mango"</a:t>
            </a:r>
            <a:r>
              <a:rPr lang="en-US" sz="1400" dirty="0">
                <a:solidFill>
                  <a:srgbClr val="000000"/>
                </a:solidFill>
                <a:latin typeface="Consolas" panose="020B0609020204030204" pitchFamily="49" charset="0"/>
              </a:rPr>
              <a:t>];</a:t>
            </a:r>
            <a:br>
              <a:rPr lang="en-US" sz="1400" dirty="0"/>
            </a:br>
            <a:r>
              <a:rPr lang="en-US" sz="1400" dirty="0">
                <a:solidFill>
                  <a:srgbClr val="0000CD"/>
                </a:solidFill>
                <a:latin typeface="Consolas" panose="020B0609020204030204" pitchFamily="49" charset="0"/>
              </a:rPr>
              <a:t>var</a:t>
            </a:r>
            <a:r>
              <a:rPr lang="en-US" sz="1400" dirty="0">
                <a:solidFill>
                  <a:srgbClr val="000000"/>
                </a:solidFill>
                <a:latin typeface="Consolas" panose="020B0609020204030204" pitchFamily="49" charset="0"/>
              </a:rPr>
              <a:t> x =</a:t>
            </a:r>
            <a:r>
              <a:rPr lang="en-US" sz="1400" dirty="0">
                <a:solidFill>
                  <a:srgbClr val="FF0000"/>
                </a:solidFill>
                <a:latin typeface="Consolas" panose="020B0609020204030204" pitchFamily="49" charset="0"/>
              </a:rPr>
              <a:t> </a:t>
            </a:r>
            <a:r>
              <a:rPr lang="en-US" sz="1400" dirty="0" err="1">
                <a:solidFill>
                  <a:srgbClr val="000000"/>
                </a:solidFill>
                <a:latin typeface="Consolas" panose="020B0609020204030204" pitchFamily="49" charset="0"/>
              </a:rPr>
              <a:t>fruits.push</a:t>
            </a:r>
            <a:r>
              <a:rPr lang="en-US" sz="1400" dirty="0">
                <a:solidFill>
                  <a:srgbClr val="000000"/>
                </a:solidFill>
                <a:latin typeface="Consolas" panose="020B0609020204030204" pitchFamily="49" charset="0"/>
              </a:rPr>
              <a:t>(</a:t>
            </a:r>
            <a:r>
              <a:rPr lang="en-US" sz="1400" dirty="0">
                <a:solidFill>
                  <a:srgbClr val="A52A2A"/>
                </a:solidFill>
                <a:latin typeface="Consolas" panose="020B0609020204030204" pitchFamily="49" charset="0"/>
              </a:rPr>
              <a:t>"Kiwi"</a:t>
            </a:r>
            <a:r>
              <a:rPr lang="en-US" sz="1400" dirty="0">
                <a:solidFill>
                  <a:srgbClr val="000000"/>
                </a:solidFill>
                <a:latin typeface="Consolas" panose="020B0609020204030204" pitchFamily="49" charset="0"/>
              </a:rPr>
              <a:t>);   </a:t>
            </a:r>
            <a:endParaRPr lang="en-US" sz="1400" dirty="0"/>
          </a:p>
          <a:p>
            <a:endParaRPr lang="en-US" dirty="0"/>
          </a:p>
        </p:txBody>
      </p:sp>
    </p:spTree>
    <p:extLst>
      <p:ext uri="{BB962C8B-B14F-4D97-AF65-F5344CB8AC3E}">
        <p14:creationId xmlns:p14="http://schemas.microsoft.com/office/powerpoint/2010/main" val="536296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0EFEB-65D1-4F90-B68E-83A07B021B8F}"/>
              </a:ext>
            </a:extLst>
          </p:cNvPr>
          <p:cNvSpPr>
            <a:spLocks noGrp="1"/>
          </p:cNvSpPr>
          <p:nvPr>
            <p:ph type="title"/>
          </p:nvPr>
        </p:nvSpPr>
        <p:spPr>
          <a:xfrm>
            <a:off x="457200" y="76200"/>
            <a:ext cx="8229600" cy="639762"/>
          </a:xfrm>
        </p:spPr>
        <p:txBody>
          <a:bodyPr>
            <a:normAutofit fontScale="90000"/>
          </a:bodyPr>
          <a:lstStyle/>
          <a:p>
            <a:r>
              <a:rPr lang="en-US" sz="4000" dirty="0"/>
              <a:t>Array Iteration</a:t>
            </a:r>
          </a:p>
        </p:txBody>
      </p:sp>
      <p:sp>
        <p:nvSpPr>
          <p:cNvPr id="3" name="Content Placeholder 2">
            <a:extLst>
              <a:ext uri="{FF2B5EF4-FFF2-40B4-BE49-F238E27FC236}">
                <a16:creationId xmlns:a16="http://schemas.microsoft.com/office/drawing/2014/main" id="{648AD9DA-5840-424C-BE4A-E127A7194F28}"/>
              </a:ext>
            </a:extLst>
          </p:cNvPr>
          <p:cNvSpPr>
            <a:spLocks noGrp="1"/>
          </p:cNvSpPr>
          <p:nvPr>
            <p:ph idx="1"/>
          </p:nvPr>
        </p:nvSpPr>
        <p:spPr>
          <a:xfrm>
            <a:off x="0" y="685800"/>
            <a:ext cx="9144000" cy="1600200"/>
          </a:xfrm>
        </p:spPr>
        <p:txBody>
          <a:bodyPr>
            <a:normAutofit fontScale="92500" lnSpcReduction="20000"/>
          </a:bodyPr>
          <a:lstStyle/>
          <a:p>
            <a:r>
              <a:rPr lang="en-US" sz="2600" dirty="0" err="1">
                <a:latin typeface="Courier New" panose="02070309020205020404" pitchFamily="49" charset="0"/>
                <a:cs typeface="Courier New" panose="02070309020205020404" pitchFamily="49" charset="0"/>
              </a:rPr>
              <a:t>Array.map</a:t>
            </a:r>
            <a:r>
              <a:rPr lang="en-US" sz="2600" dirty="0">
                <a:latin typeface="Courier New" panose="02070309020205020404" pitchFamily="49" charset="0"/>
                <a:cs typeface="Courier New" panose="02070309020205020404" pitchFamily="49" charset="0"/>
              </a:rPr>
              <a:t>()</a:t>
            </a:r>
          </a:p>
          <a:p>
            <a:pPr lvl="1"/>
            <a:r>
              <a:rPr lang="en-US" sz="2100" dirty="0"/>
              <a:t>The map() method creates a new array by performing a function on each array element.</a:t>
            </a:r>
          </a:p>
          <a:p>
            <a:pPr lvl="1"/>
            <a:r>
              <a:rPr lang="en-US" sz="2100" dirty="0"/>
              <a:t>The map() method does not change the original array.</a:t>
            </a:r>
          </a:p>
          <a:p>
            <a:pPr lvl="1"/>
            <a:r>
              <a:rPr lang="en-US" sz="2100" dirty="0"/>
              <a:t>The following example multiplies each array value by 2.</a:t>
            </a:r>
          </a:p>
        </p:txBody>
      </p:sp>
      <p:pic>
        <p:nvPicPr>
          <p:cNvPr id="7" name="Picture 6">
            <a:extLst>
              <a:ext uri="{FF2B5EF4-FFF2-40B4-BE49-F238E27FC236}">
                <a16:creationId xmlns:a16="http://schemas.microsoft.com/office/drawing/2014/main" id="{DDC75F47-501F-434E-9824-62CC39F37355}"/>
              </a:ext>
            </a:extLst>
          </p:cNvPr>
          <p:cNvPicPr>
            <a:picLocks noChangeAspect="1"/>
          </p:cNvPicPr>
          <p:nvPr/>
        </p:nvPicPr>
        <p:blipFill rotWithShape="1">
          <a:blip r:embed="rId2"/>
          <a:srcRect l="833" t="35555" r="53333" b="14074"/>
          <a:stretch/>
        </p:blipFill>
        <p:spPr>
          <a:xfrm>
            <a:off x="152400" y="2286000"/>
            <a:ext cx="6096000" cy="3768436"/>
          </a:xfrm>
          <a:prstGeom prst="rect">
            <a:avLst/>
          </a:prstGeom>
        </p:spPr>
      </p:pic>
      <p:pic>
        <p:nvPicPr>
          <p:cNvPr id="8" name="Picture 7">
            <a:extLst>
              <a:ext uri="{FF2B5EF4-FFF2-40B4-BE49-F238E27FC236}">
                <a16:creationId xmlns:a16="http://schemas.microsoft.com/office/drawing/2014/main" id="{DA6E01A3-DE3A-482A-80A1-61CAFBFB051F}"/>
              </a:ext>
            </a:extLst>
          </p:cNvPr>
          <p:cNvPicPr>
            <a:picLocks noChangeAspect="1"/>
          </p:cNvPicPr>
          <p:nvPr/>
        </p:nvPicPr>
        <p:blipFill rotWithShape="1">
          <a:blip r:embed="rId3"/>
          <a:srcRect l="50834" t="31646" r="14166" b="52962"/>
          <a:stretch/>
        </p:blipFill>
        <p:spPr>
          <a:xfrm>
            <a:off x="3352800" y="5257800"/>
            <a:ext cx="5334000" cy="1319413"/>
          </a:xfrm>
          <a:prstGeom prst="rect">
            <a:avLst/>
          </a:prstGeom>
        </p:spPr>
      </p:pic>
    </p:spTree>
    <p:extLst>
      <p:ext uri="{BB962C8B-B14F-4D97-AF65-F5344CB8AC3E}">
        <p14:creationId xmlns:p14="http://schemas.microsoft.com/office/powerpoint/2010/main" val="2235121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0EFEB-65D1-4F90-B68E-83A07B021B8F}"/>
              </a:ext>
            </a:extLst>
          </p:cNvPr>
          <p:cNvSpPr>
            <a:spLocks noGrp="1"/>
          </p:cNvSpPr>
          <p:nvPr>
            <p:ph type="title"/>
          </p:nvPr>
        </p:nvSpPr>
        <p:spPr>
          <a:xfrm>
            <a:off x="457200" y="76200"/>
            <a:ext cx="8229600" cy="639762"/>
          </a:xfrm>
        </p:spPr>
        <p:txBody>
          <a:bodyPr>
            <a:normAutofit fontScale="90000"/>
          </a:bodyPr>
          <a:lstStyle/>
          <a:p>
            <a:r>
              <a:rPr lang="en-US" sz="4000" dirty="0"/>
              <a:t>Array Iteration</a:t>
            </a:r>
          </a:p>
        </p:txBody>
      </p:sp>
      <p:sp>
        <p:nvSpPr>
          <p:cNvPr id="3" name="Content Placeholder 2">
            <a:extLst>
              <a:ext uri="{FF2B5EF4-FFF2-40B4-BE49-F238E27FC236}">
                <a16:creationId xmlns:a16="http://schemas.microsoft.com/office/drawing/2014/main" id="{648AD9DA-5840-424C-BE4A-E127A7194F28}"/>
              </a:ext>
            </a:extLst>
          </p:cNvPr>
          <p:cNvSpPr>
            <a:spLocks noGrp="1"/>
          </p:cNvSpPr>
          <p:nvPr>
            <p:ph idx="1"/>
          </p:nvPr>
        </p:nvSpPr>
        <p:spPr>
          <a:xfrm>
            <a:off x="0" y="685800"/>
            <a:ext cx="9144000" cy="1371600"/>
          </a:xfrm>
        </p:spPr>
        <p:txBody>
          <a:bodyPr>
            <a:normAutofit fontScale="92500"/>
          </a:bodyPr>
          <a:lstStyle/>
          <a:p>
            <a:r>
              <a:rPr lang="en-US" sz="2600" dirty="0" err="1">
                <a:latin typeface="Courier New" panose="02070309020205020404" pitchFamily="49" charset="0"/>
                <a:cs typeface="Courier New" panose="02070309020205020404" pitchFamily="49" charset="0"/>
              </a:rPr>
              <a:t>Array.filter</a:t>
            </a:r>
            <a:r>
              <a:rPr lang="en-US" sz="2600" dirty="0">
                <a:latin typeface="Courier New" panose="02070309020205020404" pitchFamily="49" charset="0"/>
                <a:cs typeface="Courier New" panose="02070309020205020404" pitchFamily="49" charset="0"/>
              </a:rPr>
              <a:t>()</a:t>
            </a:r>
          </a:p>
          <a:p>
            <a:pPr lvl="1"/>
            <a:r>
              <a:rPr lang="en-US" sz="2100" dirty="0"/>
              <a:t>The filter() method creates a new array with array elements that passes a test.</a:t>
            </a:r>
          </a:p>
          <a:p>
            <a:pPr lvl="1"/>
            <a:r>
              <a:rPr lang="en-US" sz="2100" dirty="0"/>
              <a:t>This example creates a new array from elements with a value larger than 18:</a:t>
            </a:r>
          </a:p>
        </p:txBody>
      </p:sp>
      <p:pic>
        <p:nvPicPr>
          <p:cNvPr id="5" name="Picture 4">
            <a:extLst>
              <a:ext uri="{FF2B5EF4-FFF2-40B4-BE49-F238E27FC236}">
                <a16:creationId xmlns:a16="http://schemas.microsoft.com/office/drawing/2014/main" id="{39DEB9C8-14DD-41F9-9D70-3DFC7710CBD5}"/>
              </a:ext>
            </a:extLst>
          </p:cNvPr>
          <p:cNvPicPr>
            <a:picLocks noChangeAspect="1"/>
          </p:cNvPicPr>
          <p:nvPr/>
        </p:nvPicPr>
        <p:blipFill rotWithShape="1">
          <a:blip r:embed="rId2"/>
          <a:srcRect l="833" t="35185" r="53333" b="17407"/>
          <a:stretch/>
        </p:blipFill>
        <p:spPr>
          <a:xfrm>
            <a:off x="152400" y="1904999"/>
            <a:ext cx="6705600" cy="3901441"/>
          </a:xfrm>
          <a:prstGeom prst="rect">
            <a:avLst/>
          </a:prstGeom>
        </p:spPr>
      </p:pic>
      <p:pic>
        <p:nvPicPr>
          <p:cNvPr id="6" name="Picture 5">
            <a:extLst>
              <a:ext uri="{FF2B5EF4-FFF2-40B4-BE49-F238E27FC236}">
                <a16:creationId xmlns:a16="http://schemas.microsoft.com/office/drawing/2014/main" id="{663F5A2F-942B-46CD-9E0C-E4758BD58F88}"/>
              </a:ext>
            </a:extLst>
          </p:cNvPr>
          <p:cNvPicPr>
            <a:picLocks noChangeAspect="1"/>
          </p:cNvPicPr>
          <p:nvPr/>
        </p:nvPicPr>
        <p:blipFill rotWithShape="1">
          <a:blip r:embed="rId2"/>
          <a:srcRect l="50833" t="32222" r="18334" b="53550"/>
          <a:stretch/>
        </p:blipFill>
        <p:spPr>
          <a:xfrm>
            <a:off x="3124200" y="5257800"/>
            <a:ext cx="4953000" cy="1285659"/>
          </a:xfrm>
          <a:prstGeom prst="rect">
            <a:avLst/>
          </a:prstGeom>
        </p:spPr>
      </p:pic>
    </p:spTree>
    <p:extLst>
      <p:ext uri="{BB962C8B-B14F-4D97-AF65-F5344CB8AC3E}">
        <p14:creationId xmlns:p14="http://schemas.microsoft.com/office/powerpoint/2010/main" val="3568003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71562-0714-4841-89F5-3F3DF17C1B2C}"/>
              </a:ext>
            </a:extLst>
          </p:cNvPr>
          <p:cNvSpPr>
            <a:spLocks noGrp="1"/>
          </p:cNvSpPr>
          <p:nvPr>
            <p:ph type="title"/>
          </p:nvPr>
        </p:nvSpPr>
        <p:spPr>
          <a:xfrm>
            <a:off x="457200" y="152400"/>
            <a:ext cx="8229600" cy="715962"/>
          </a:xfrm>
        </p:spPr>
        <p:txBody>
          <a:bodyPr>
            <a:normAutofit fontScale="90000"/>
          </a:bodyPr>
          <a:lstStyle/>
          <a:p>
            <a:r>
              <a:rPr lang="en-US" dirty="0">
                <a:hlinkClick r:id="rId2"/>
              </a:rPr>
              <a:t>Array Iteration</a:t>
            </a:r>
            <a:endParaRPr lang="en-US" dirty="0"/>
          </a:p>
        </p:txBody>
      </p:sp>
      <p:sp>
        <p:nvSpPr>
          <p:cNvPr id="3" name="Content Placeholder 2">
            <a:extLst>
              <a:ext uri="{FF2B5EF4-FFF2-40B4-BE49-F238E27FC236}">
                <a16:creationId xmlns:a16="http://schemas.microsoft.com/office/drawing/2014/main" id="{C4E2757A-31C0-4496-BF1C-1403404062E4}"/>
              </a:ext>
            </a:extLst>
          </p:cNvPr>
          <p:cNvSpPr>
            <a:spLocks noGrp="1"/>
          </p:cNvSpPr>
          <p:nvPr>
            <p:ph idx="1"/>
          </p:nvPr>
        </p:nvSpPr>
        <p:spPr>
          <a:xfrm>
            <a:off x="457200" y="1066800"/>
            <a:ext cx="8229600" cy="5059363"/>
          </a:xfrm>
        </p:spPr>
        <p:txBody>
          <a:bodyPr>
            <a:normAutofit/>
          </a:bodyPr>
          <a:lstStyle/>
          <a:p>
            <a:r>
              <a:rPr lang="en-US" sz="2200" dirty="0"/>
              <a:t>Visit the following URL to read about below-mentioned Array iteration functions.</a:t>
            </a:r>
          </a:p>
          <a:p>
            <a:pPr lvl="1"/>
            <a:r>
              <a:rPr lang="en-US" sz="1600" dirty="0">
                <a:hlinkClick r:id="rId2"/>
              </a:rPr>
              <a:t>https://www.w3schools.com/js/js_array_iteration.asp</a:t>
            </a:r>
            <a:endParaRPr lang="en-US" sz="1800" dirty="0"/>
          </a:p>
          <a:p>
            <a:pPr lvl="1"/>
            <a:r>
              <a:rPr lang="en-US" sz="1800" dirty="0" err="1"/>
              <a:t>Array.reduce</a:t>
            </a:r>
            <a:r>
              <a:rPr lang="en-US" sz="1800" dirty="0"/>
              <a:t>()</a:t>
            </a:r>
          </a:p>
          <a:p>
            <a:pPr lvl="1"/>
            <a:r>
              <a:rPr lang="en-US" sz="1800" dirty="0" err="1"/>
              <a:t>Array.reduceRight</a:t>
            </a:r>
            <a:r>
              <a:rPr lang="en-US" sz="1800" dirty="0"/>
              <a:t>()</a:t>
            </a:r>
          </a:p>
          <a:p>
            <a:pPr lvl="1"/>
            <a:r>
              <a:rPr lang="en-US" sz="1800" dirty="0" err="1"/>
              <a:t>Array.every</a:t>
            </a:r>
            <a:r>
              <a:rPr lang="en-US" sz="1800" dirty="0"/>
              <a:t>()</a:t>
            </a:r>
          </a:p>
          <a:p>
            <a:pPr lvl="1"/>
            <a:r>
              <a:rPr lang="en-US" sz="1800" dirty="0" err="1"/>
              <a:t>Array.some</a:t>
            </a:r>
            <a:r>
              <a:rPr lang="en-US" sz="1800" dirty="0"/>
              <a:t>()</a:t>
            </a:r>
          </a:p>
          <a:p>
            <a:pPr lvl="1"/>
            <a:r>
              <a:rPr lang="en-US" sz="1800" dirty="0" err="1"/>
              <a:t>Array.indexOf</a:t>
            </a:r>
            <a:r>
              <a:rPr lang="en-US" sz="1800" dirty="0"/>
              <a:t>()</a:t>
            </a:r>
          </a:p>
          <a:p>
            <a:pPr lvl="1"/>
            <a:r>
              <a:rPr lang="en-US" sz="1800" dirty="0" err="1"/>
              <a:t>Array.lastIndexOf</a:t>
            </a:r>
            <a:r>
              <a:rPr lang="en-US" sz="1800" dirty="0"/>
              <a:t>()</a:t>
            </a:r>
          </a:p>
          <a:p>
            <a:pPr lvl="1"/>
            <a:r>
              <a:rPr lang="en-US" sz="1800" dirty="0" err="1"/>
              <a:t>Array.find</a:t>
            </a:r>
            <a:r>
              <a:rPr lang="en-US" sz="1800" dirty="0"/>
              <a:t>()</a:t>
            </a:r>
          </a:p>
          <a:p>
            <a:pPr lvl="1"/>
            <a:r>
              <a:rPr lang="en-US" sz="1800" dirty="0" err="1"/>
              <a:t>Array.findIndex</a:t>
            </a:r>
            <a:r>
              <a:rPr lang="en-US" sz="1800" dirty="0"/>
              <a:t>()</a:t>
            </a:r>
          </a:p>
          <a:p>
            <a:pPr lvl="1"/>
            <a:endParaRPr lang="en-US" sz="1800" dirty="0"/>
          </a:p>
          <a:p>
            <a:endParaRPr lang="en-US" dirty="0"/>
          </a:p>
        </p:txBody>
      </p:sp>
    </p:spTree>
    <p:extLst>
      <p:ext uri="{BB962C8B-B14F-4D97-AF65-F5344CB8AC3E}">
        <p14:creationId xmlns:p14="http://schemas.microsoft.com/office/powerpoint/2010/main" val="1902447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sz="4000" dirty="0">
                <a:hlinkClick r:id="rId2"/>
              </a:rPr>
              <a:t>Comparison Operators</a:t>
            </a:r>
            <a:endParaRPr lang="en-US" sz="4000" dirty="0"/>
          </a:p>
        </p:txBody>
      </p:sp>
      <p:sp>
        <p:nvSpPr>
          <p:cNvPr id="3" name="Content Placeholder 2"/>
          <p:cNvSpPr>
            <a:spLocks noGrp="1"/>
          </p:cNvSpPr>
          <p:nvPr>
            <p:ph idx="1"/>
          </p:nvPr>
        </p:nvSpPr>
        <p:spPr>
          <a:xfrm>
            <a:off x="457200" y="914400"/>
            <a:ext cx="8229600" cy="5486400"/>
          </a:xfrm>
        </p:spPr>
        <p:txBody>
          <a:bodyPr>
            <a:normAutofit/>
          </a:bodyPr>
          <a:lstStyle/>
          <a:p>
            <a:r>
              <a:rPr lang="en-US" sz="2200" dirty="0"/>
              <a:t>When we compare two values, JavaScript evaluates the statement and gives us back a Boolean value depending on whether the statement is true or false.</a:t>
            </a:r>
          </a:p>
          <a:p>
            <a:pPr lvl="1"/>
            <a:r>
              <a:rPr lang="en-US" sz="1800" dirty="0"/>
              <a:t>== Is equal to</a:t>
            </a:r>
          </a:p>
          <a:p>
            <a:pPr lvl="1"/>
            <a:r>
              <a:rPr lang="en-US" sz="1800" dirty="0"/>
              <a:t>!= Is not equal to</a:t>
            </a:r>
          </a:p>
          <a:p>
            <a:pPr lvl="1"/>
            <a:r>
              <a:rPr lang="en-US" sz="1800" dirty="0"/>
              <a:t>=== Is identical to (equal to and of the same data type)</a:t>
            </a:r>
          </a:p>
          <a:p>
            <a:pPr lvl="1"/>
            <a:r>
              <a:rPr lang="en-US" sz="1800" dirty="0"/>
              <a:t>!== Is not identical to</a:t>
            </a:r>
          </a:p>
          <a:p>
            <a:pPr lvl="1"/>
            <a:r>
              <a:rPr lang="en-US" sz="1800" dirty="0"/>
              <a:t>&gt; Is greater than</a:t>
            </a:r>
          </a:p>
          <a:p>
            <a:pPr lvl="1"/>
            <a:r>
              <a:rPr lang="en-US" sz="1800" dirty="0"/>
              <a:t>&gt;= Is greater than or equal to</a:t>
            </a:r>
          </a:p>
          <a:p>
            <a:pPr lvl="1"/>
            <a:r>
              <a:rPr lang="en-US" sz="1800" dirty="0"/>
              <a:t>&lt; Is less than</a:t>
            </a:r>
          </a:p>
          <a:p>
            <a:pPr lvl="1"/>
            <a:r>
              <a:rPr lang="en-US" sz="1800" dirty="0"/>
              <a:t>&lt;= Is less than or equal to</a:t>
            </a:r>
          </a:p>
          <a:p>
            <a:pPr lvl="1"/>
            <a:endParaRPr lang="en-US" sz="1800" dirty="0"/>
          </a:p>
          <a:p>
            <a:pPr lvl="1"/>
            <a:r>
              <a:rPr lang="en-US" sz="2000" dirty="0">
                <a:latin typeface="Courier New" panose="02070309020205020404" pitchFamily="49" charset="0"/>
                <a:cs typeface="Courier New" panose="02070309020205020404" pitchFamily="49" charset="0"/>
              </a:rPr>
              <a:t>alert( 5 == “5” ); // This will alert "true"</a:t>
            </a:r>
          </a:p>
          <a:p>
            <a:pPr lvl="1"/>
            <a:r>
              <a:rPr lang="en-US" sz="2000" dirty="0">
                <a:latin typeface="Courier New" panose="02070309020205020404" pitchFamily="49" charset="0"/>
                <a:cs typeface="Courier New" panose="02070309020205020404" pitchFamily="49" charset="0"/>
              </a:rPr>
              <a:t>alert( 5 != 6 ); // This will alert "true"</a:t>
            </a:r>
          </a:p>
          <a:p>
            <a:pPr lvl="1"/>
            <a:r>
              <a:rPr lang="en-US" sz="2000" dirty="0">
                <a:latin typeface="Courier New" panose="02070309020205020404" pitchFamily="49" charset="0"/>
                <a:cs typeface="Courier New" panose="02070309020205020404" pitchFamily="49" charset="0"/>
              </a:rPr>
              <a:t>alert( 5 &lt; 1 ); // This will alert "false"</a:t>
            </a:r>
            <a:endParaRPr lang="en-US"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60587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sz="4000" dirty="0">
                <a:hlinkClick r:id="rId2"/>
              </a:rPr>
              <a:t>Arithmetic Operators</a:t>
            </a:r>
            <a:endParaRPr lang="en-US" sz="4000" dirty="0"/>
          </a:p>
        </p:txBody>
      </p:sp>
      <p:sp>
        <p:nvSpPr>
          <p:cNvPr id="3" name="Content Placeholder 2"/>
          <p:cNvSpPr>
            <a:spLocks noGrp="1"/>
          </p:cNvSpPr>
          <p:nvPr>
            <p:ph idx="1"/>
          </p:nvPr>
        </p:nvSpPr>
        <p:spPr>
          <a:xfrm>
            <a:off x="457200" y="914400"/>
            <a:ext cx="8229600" cy="457200"/>
          </a:xfrm>
        </p:spPr>
        <p:txBody>
          <a:bodyPr>
            <a:normAutofit/>
          </a:bodyPr>
          <a:lstStyle/>
          <a:p>
            <a:r>
              <a:rPr lang="en-US" sz="2200" dirty="0"/>
              <a:t>Arithmetic operators are used to perform arithmetic on numbers.</a:t>
            </a:r>
          </a:p>
        </p:txBody>
      </p:sp>
      <p:pic>
        <p:nvPicPr>
          <p:cNvPr id="4" name="Picture 3">
            <a:extLst>
              <a:ext uri="{FF2B5EF4-FFF2-40B4-BE49-F238E27FC236}">
                <a16:creationId xmlns:a16="http://schemas.microsoft.com/office/drawing/2014/main" id="{1BBC83E4-2BA6-4F34-9C86-1FA74FE0BAD0}"/>
              </a:ext>
            </a:extLst>
          </p:cNvPr>
          <p:cNvPicPr>
            <a:picLocks noChangeAspect="1"/>
          </p:cNvPicPr>
          <p:nvPr/>
        </p:nvPicPr>
        <p:blipFill rotWithShape="1">
          <a:blip r:embed="rId3"/>
          <a:srcRect l="20000" t="23333" r="45833" b="27778"/>
          <a:stretch/>
        </p:blipFill>
        <p:spPr>
          <a:xfrm>
            <a:off x="1600200" y="1493838"/>
            <a:ext cx="5943600" cy="4783873"/>
          </a:xfrm>
          <a:prstGeom prst="rect">
            <a:avLst/>
          </a:prstGeom>
        </p:spPr>
      </p:pic>
    </p:spTree>
    <p:extLst>
      <p:ext uri="{BB962C8B-B14F-4D97-AF65-F5344CB8AC3E}">
        <p14:creationId xmlns:p14="http://schemas.microsoft.com/office/powerpoint/2010/main" val="4235926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6467-6DBE-4D60-BFBF-496509322D35}"/>
              </a:ext>
            </a:extLst>
          </p:cNvPr>
          <p:cNvSpPr>
            <a:spLocks noGrp="1"/>
          </p:cNvSpPr>
          <p:nvPr>
            <p:ph type="title"/>
          </p:nvPr>
        </p:nvSpPr>
        <p:spPr>
          <a:xfrm>
            <a:off x="457200" y="76200"/>
            <a:ext cx="8229600" cy="563562"/>
          </a:xfrm>
        </p:spPr>
        <p:txBody>
          <a:bodyPr>
            <a:normAutofit fontScale="90000"/>
          </a:bodyPr>
          <a:lstStyle/>
          <a:p>
            <a:r>
              <a:rPr lang="en-US" sz="4000" dirty="0"/>
              <a:t>Summary of Today’s Lecture</a:t>
            </a:r>
          </a:p>
        </p:txBody>
      </p:sp>
      <p:sp>
        <p:nvSpPr>
          <p:cNvPr id="3" name="Content Placeholder 2">
            <a:extLst>
              <a:ext uri="{FF2B5EF4-FFF2-40B4-BE49-F238E27FC236}">
                <a16:creationId xmlns:a16="http://schemas.microsoft.com/office/drawing/2014/main" id="{55493E03-D5C6-44E8-A294-B2BF9607846E}"/>
              </a:ext>
            </a:extLst>
          </p:cNvPr>
          <p:cNvSpPr>
            <a:spLocks noGrp="1"/>
          </p:cNvSpPr>
          <p:nvPr>
            <p:ph idx="1"/>
          </p:nvPr>
        </p:nvSpPr>
        <p:spPr>
          <a:xfrm>
            <a:off x="457200" y="838200"/>
            <a:ext cx="8229600" cy="5791200"/>
          </a:xfrm>
        </p:spPr>
        <p:txBody>
          <a:bodyPr>
            <a:normAutofit/>
          </a:bodyPr>
          <a:lstStyle/>
          <a:p>
            <a:r>
              <a:rPr lang="en-US" sz="2200" dirty="0"/>
              <a:t>JavaScript Introduction</a:t>
            </a:r>
          </a:p>
          <a:p>
            <a:r>
              <a:rPr lang="en-US" sz="2200" dirty="0"/>
              <a:t>Variable Declaration</a:t>
            </a:r>
          </a:p>
          <a:p>
            <a:r>
              <a:rPr lang="en-US" sz="2200" dirty="0"/>
              <a:t>Data Types</a:t>
            </a:r>
          </a:p>
          <a:p>
            <a:r>
              <a:rPr lang="en-US" sz="2200" dirty="0"/>
              <a:t>Comparison Operators</a:t>
            </a:r>
          </a:p>
          <a:p>
            <a:r>
              <a:rPr lang="en-US" sz="2200" dirty="0"/>
              <a:t>Arithmetic Operators</a:t>
            </a:r>
          </a:p>
          <a:p>
            <a:pPr marL="0" indent="0">
              <a:buNone/>
            </a:pPr>
            <a:endParaRPr lang="en-US" dirty="0"/>
          </a:p>
        </p:txBody>
      </p:sp>
    </p:spTree>
    <p:extLst>
      <p:ext uri="{BB962C8B-B14F-4D97-AF65-F5344CB8AC3E}">
        <p14:creationId xmlns:p14="http://schemas.microsoft.com/office/powerpoint/2010/main" val="2060664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CFAB-2AA2-4D91-BDB1-5033FC0AD23F}"/>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E0D4EE07-F983-4E73-AE0C-B598C71D01F4}"/>
              </a:ext>
            </a:extLst>
          </p:cNvPr>
          <p:cNvSpPr>
            <a:spLocks noGrp="1"/>
          </p:cNvSpPr>
          <p:nvPr>
            <p:ph idx="1"/>
          </p:nvPr>
        </p:nvSpPr>
        <p:spPr>
          <a:xfrm>
            <a:off x="457200" y="1600201"/>
            <a:ext cx="8229600" cy="3886200"/>
          </a:xfrm>
        </p:spPr>
        <p:txBody>
          <a:bodyPr>
            <a:normAutofit/>
          </a:bodyPr>
          <a:lstStyle/>
          <a:p>
            <a:r>
              <a:rPr lang="en-US" sz="2200" dirty="0"/>
              <a:t>Chapter 19 and Chapter 20 from </a:t>
            </a:r>
            <a:r>
              <a:rPr lang="en-US" sz="2200" i="1" dirty="0"/>
              <a:t>Learning Web Design- A Beginner’s Guide to HTML, CSS, </a:t>
            </a:r>
            <a:r>
              <a:rPr lang="en-US" sz="2200" i="1" dirty="0" err="1"/>
              <a:t>Javascript</a:t>
            </a:r>
            <a:r>
              <a:rPr lang="en-US" sz="2200" i="1" dirty="0"/>
              <a:t> and Web Graphics </a:t>
            </a:r>
            <a:r>
              <a:rPr lang="en-US" sz="2200" dirty="0"/>
              <a:t>By Jennifer </a:t>
            </a:r>
            <a:r>
              <a:rPr lang="en-US" sz="2200" dirty="0" err="1"/>
              <a:t>Niederst</a:t>
            </a:r>
            <a:r>
              <a:rPr lang="en-US" sz="2200" dirty="0"/>
              <a:t> Robbins (4</a:t>
            </a:r>
            <a:r>
              <a:rPr lang="en-US" sz="2200" baseline="30000" dirty="0"/>
              <a:t>th</a:t>
            </a:r>
            <a:r>
              <a:rPr lang="en-US" sz="2200" dirty="0"/>
              <a:t> Edition)</a:t>
            </a:r>
          </a:p>
          <a:p>
            <a:r>
              <a:rPr lang="en-US" sz="2200" dirty="0">
                <a:hlinkClick r:id="rId2"/>
              </a:rPr>
              <a:t>https://www.w3schools.com/js/</a:t>
            </a:r>
            <a:endParaRPr lang="en-US" sz="2200" dirty="0"/>
          </a:p>
          <a:p>
            <a:r>
              <a:rPr lang="en-US" sz="2200" dirty="0">
                <a:hlinkClick r:id="rId3"/>
              </a:rPr>
              <a:t>https://www.tutorialrepublic.com/javascript-tutorial/</a:t>
            </a:r>
            <a:endParaRPr lang="en-US" sz="2200" dirty="0"/>
          </a:p>
        </p:txBody>
      </p:sp>
    </p:spTree>
    <p:extLst>
      <p:ext uri="{BB962C8B-B14F-4D97-AF65-F5344CB8AC3E}">
        <p14:creationId xmlns:p14="http://schemas.microsoft.com/office/powerpoint/2010/main" val="2347116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8F0D192E966F94487F6C741852DFD8F" ma:contentTypeVersion="6" ma:contentTypeDescription="Create a new document." ma:contentTypeScope="" ma:versionID="6a21985dd82ab4ade60bfdfeaabc8bdb">
  <xsd:schema xmlns:xsd="http://www.w3.org/2001/XMLSchema" xmlns:xs="http://www.w3.org/2001/XMLSchema" xmlns:p="http://schemas.microsoft.com/office/2006/metadata/properties" xmlns:ns2="efc92e9a-8d31-4bd7-b912-b0ed9b710ad4" targetNamespace="http://schemas.microsoft.com/office/2006/metadata/properties" ma:root="true" ma:fieldsID="1e09f2a7db16dd3a84b054fdcde6beac" ns2:_="">
    <xsd:import namespace="efc92e9a-8d31-4bd7-b912-b0ed9b710ad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c92e9a-8d31-4bd7-b912-b0ed9b710a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C3EACC-4FE2-4DEA-A9B3-3F115FFB70E6}">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79a10b91-c0c4-47ee-ba7a-114d11d475a8"/>
    <ds:schemaRef ds:uri="http://www.w3.org/XML/1998/namespace"/>
    <ds:schemaRef ds:uri="http://purl.org/dc/dcmitype/"/>
  </ds:schemaRefs>
</ds:datastoreItem>
</file>

<file path=customXml/itemProps2.xml><?xml version="1.0" encoding="utf-8"?>
<ds:datastoreItem xmlns:ds="http://schemas.openxmlformats.org/officeDocument/2006/customXml" ds:itemID="{218D3B3F-8E33-4088-9F13-1A017CA62E59}">
  <ds:schemaRefs>
    <ds:schemaRef ds:uri="http://schemas.microsoft.com/sharepoint/v3/contenttype/forms"/>
  </ds:schemaRefs>
</ds:datastoreItem>
</file>

<file path=customXml/itemProps3.xml><?xml version="1.0" encoding="utf-8"?>
<ds:datastoreItem xmlns:ds="http://schemas.openxmlformats.org/officeDocument/2006/customXml" ds:itemID="{A0BB485A-740F-4DF3-BCFF-CF6751994B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c92e9a-8d31-4bd7-b912-b0ed9b710a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19907</TotalTime>
  <Words>2520</Words>
  <Application>Microsoft Office PowerPoint</Application>
  <PresentationFormat>On-screen Show (4:3)</PresentationFormat>
  <Paragraphs>206</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Consolas</vt:lpstr>
      <vt:lpstr>Courier New</vt:lpstr>
      <vt:lpstr>Verdana</vt:lpstr>
      <vt:lpstr>Wingdings</vt:lpstr>
      <vt:lpstr>Office Theme</vt:lpstr>
      <vt:lpstr>Web Technologies</vt:lpstr>
      <vt:lpstr>Summary of Today’s Lecture</vt:lpstr>
      <vt:lpstr>JavaScript</vt:lpstr>
      <vt:lpstr>JavaScript</vt:lpstr>
      <vt:lpstr>JavaScript versions</vt:lpstr>
      <vt:lpstr>Additional to Server-side scripting</vt:lpstr>
      <vt:lpstr>Event-driven programming</vt:lpstr>
      <vt:lpstr>PowerPoint Presentation</vt:lpstr>
      <vt:lpstr>Adding JavaScript to a Page</vt:lpstr>
      <vt:lpstr>PowerPoint Presentation</vt:lpstr>
      <vt:lpstr>Variables (var)</vt:lpstr>
      <vt:lpstr>PowerPoint Presentation</vt:lpstr>
      <vt:lpstr>Variable Scope</vt:lpstr>
      <vt:lpstr>Variables (let)</vt:lpstr>
      <vt:lpstr>Variables (const)</vt:lpstr>
      <vt:lpstr>Data types</vt:lpstr>
      <vt:lpstr>Data types</vt:lpstr>
      <vt:lpstr>Data types</vt:lpstr>
      <vt:lpstr>JavaScript Objects</vt:lpstr>
      <vt:lpstr>Object Properties</vt:lpstr>
      <vt:lpstr>Object Methods</vt:lpstr>
      <vt:lpstr>Object Constructors</vt:lpstr>
      <vt:lpstr>Arrays</vt:lpstr>
      <vt:lpstr>Array Methods</vt:lpstr>
      <vt:lpstr>Array Iteration</vt:lpstr>
      <vt:lpstr>Array Iteration</vt:lpstr>
      <vt:lpstr>Array Iteration</vt:lpstr>
      <vt:lpstr>Comparison Operators</vt:lpstr>
      <vt:lpstr>Arithmetic Operators</vt:lpstr>
      <vt:lpstr>Summary of Today’s Lecture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Basics</dc:title>
  <dc:creator>Windows User</dc:creator>
  <cp:lastModifiedBy>saadi.maqbool@outlook.com</cp:lastModifiedBy>
  <cp:revision>354</cp:revision>
  <dcterms:created xsi:type="dcterms:W3CDTF">2016-11-06T05:25:23Z</dcterms:created>
  <dcterms:modified xsi:type="dcterms:W3CDTF">2023-04-05T08:13:22Z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0x010100D8F0D192E966F94487F6C741852DFD8F</vt:lpwstr>
  </property>
</Properties>
</file>