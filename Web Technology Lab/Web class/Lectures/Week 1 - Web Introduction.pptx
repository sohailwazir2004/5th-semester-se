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8.jpg" ContentType="image/jpg"/>
  <Override PartName="/ppt/media/image9.jpg" ContentType="image/jpg"/>
  <Override PartName="/ppt/media/image10.jpg" ContentType="image/jpg"/>
  <Override PartName="/ppt/media/image11.jpg" ContentType="image/jpg"/>
  <Override PartName="/ppt/media/image12.jpg" ContentType="image/jpg"/>
  <Override PartName="/ppt/media/image13.jpg" ContentType="image/jpg"/>
  <Override PartName="/ppt/media/image41.jpg" ContentType="image/jpg"/>
  <Override PartName="/ppt/media/image44.jpg" ContentType="image/jpg"/>
  <Override PartName="/ppt/media/image60.jpg" ContentType="image/jpg"/>
  <Override PartName="/ppt/media/image64.jpg" ContentType="image/jpg"/>
  <Override PartName="/ppt/media/image65.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304" r:id="rId21"/>
    <p:sldId id="305" r:id="rId22"/>
    <p:sldId id="306" r:id="rId23"/>
    <p:sldId id="286" r:id="rId24"/>
    <p:sldId id="261" r:id="rId25"/>
    <p:sldId id="287" r:id="rId26"/>
    <p:sldId id="288" r:id="rId27"/>
    <p:sldId id="289" r:id="rId28"/>
    <p:sldId id="290" r:id="rId29"/>
    <p:sldId id="291" r:id="rId30"/>
    <p:sldId id="292" r:id="rId31"/>
    <p:sldId id="293" r:id="rId32"/>
    <p:sldId id="294" r:id="rId33"/>
    <p:sldId id="295" r:id="rId34"/>
    <p:sldId id="296" r:id="rId35"/>
    <p:sldId id="262" r:id="rId36"/>
    <p:sldId id="264" r:id="rId37"/>
    <p:sldId id="265" r:id="rId38"/>
    <p:sldId id="307" r:id="rId39"/>
    <p:sldId id="308" r:id="rId40"/>
    <p:sldId id="309" r:id="rId41"/>
    <p:sldId id="310"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BD816C-1AAA-4C74-A215-949AD61AA5F4}" type="datetimeFigureOut">
              <a:rPr lang="en-PK" smtClean="0"/>
              <a:t>08/09/2025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1B5DEB46-D335-459F-BCBC-6DECAB7DA124}"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1384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D816C-1AAA-4C74-A215-949AD61AA5F4}" type="datetimeFigureOut">
              <a:rPr lang="en-PK" smtClean="0"/>
              <a:t>08/09/2025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1B5DEB46-D335-459F-BCBC-6DECAB7DA124}" type="slidenum">
              <a:rPr lang="en-PK" smtClean="0"/>
              <a:t>‹#›</a:t>
            </a:fld>
            <a:endParaRPr lang="en-PK"/>
          </a:p>
        </p:txBody>
      </p:sp>
    </p:spTree>
    <p:extLst>
      <p:ext uri="{BB962C8B-B14F-4D97-AF65-F5344CB8AC3E}">
        <p14:creationId xmlns:p14="http://schemas.microsoft.com/office/powerpoint/2010/main" val="387826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BD816C-1AAA-4C74-A215-949AD61AA5F4}" type="datetimeFigureOut">
              <a:rPr lang="en-PK" smtClean="0"/>
              <a:t>08/09/2025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1B5DEB46-D335-459F-BCBC-6DECAB7DA124}"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7255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BD816C-1AAA-4C74-A215-949AD61AA5F4}" type="datetimeFigureOut">
              <a:rPr lang="en-PK" smtClean="0"/>
              <a:t>08/09/2025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1B5DEB46-D335-459F-BCBC-6DECAB7DA124}" type="slidenum">
              <a:rPr lang="en-PK" smtClean="0"/>
              <a:t>‹#›</a:t>
            </a:fld>
            <a:endParaRPr lang="en-PK"/>
          </a:p>
        </p:txBody>
      </p:sp>
    </p:spTree>
    <p:extLst>
      <p:ext uri="{BB962C8B-B14F-4D97-AF65-F5344CB8AC3E}">
        <p14:creationId xmlns:p14="http://schemas.microsoft.com/office/powerpoint/2010/main" val="2498142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BD816C-1AAA-4C74-A215-949AD61AA5F4}" type="datetimeFigureOut">
              <a:rPr lang="en-PK" smtClean="0"/>
              <a:t>08/09/2025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1B5DEB46-D335-459F-BCBC-6DECAB7DA124}" type="slidenum">
              <a:rPr lang="en-PK" smtClean="0"/>
              <a:t>‹#›</a:t>
            </a:fld>
            <a:endParaRPr lang="en-PK"/>
          </a:p>
        </p:txBody>
      </p:sp>
    </p:spTree>
    <p:extLst>
      <p:ext uri="{BB962C8B-B14F-4D97-AF65-F5344CB8AC3E}">
        <p14:creationId xmlns:p14="http://schemas.microsoft.com/office/powerpoint/2010/main" val="711614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BD816C-1AAA-4C74-A215-949AD61AA5F4}" type="datetimeFigureOut">
              <a:rPr lang="en-PK" smtClean="0"/>
              <a:t>08/09/2025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1B5DEB46-D335-459F-BCBC-6DECAB7DA124}" type="slidenum">
              <a:rPr lang="en-PK" smtClean="0"/>
              <a:t>‹#›</a:t>
            </a:fld>
            <a:endParaRPr lang="en-PK"/>
          </a:p>
        </p:txBody>
      </p:sp>
    </p:spTree>
    <p:extLst>
      <p:ext uri="{BB962C8B-B14F-4D97-AF65-F5344CB8AC3E}">
        <p14:creationId xmlns:p14="http://schemas.microsoft.com/office/powerpoint/2010/main" val="1700456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1BD816C-1AAA-4C74-A215-949AD61AA5F4}" type="datetimeFigureOut">
              <a:rPr lang="en-PK" smtClean="0"/>
              <a:t>08/09/2025</a:t>
            </a:fld>
            <a:endParaRPr lang="en-PK"/>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PK"/>
          </a:p>
        </p:txBody>
      </p:sp>
      <p:sp>
        <p:nvSpPr>
          <p:cNvPr id="9" name="Slide Number Placeholder 8"/>
          <p:cNvSpPr>
            <a:spLocks noGrp="1"/>
          </p:cNvSpPr>
          <p:nvPr>
            <p:ph type="sldNum" sz="quarter" idx="12"/>
          </p:nvPr>
        </p:nvSpPr>
        <p:spPr/>
        <p:txBody>
          <a:bodyPr/>
          <a:lstStyle/>
          <a:p>
            <a:fld id="{1B5DEB46-D335-459F-BCBC-6DECAB7DA124}" type="slidenum">
              <a:rPr lang="en-PK" smtClean="0"/>
              <a:t>‹#›</a:t>
            </a:fld>
            <a:endParaRPr lang="en-PK"/>
          </a:p>
        </p:txBody>
      </p:sp>
    </p:spTree>
    <p:extLst>
      <p:ext uri="{BB962C8B-B14F-4D97-AF65-F5344CB8AC3E}">
        <p14:creationId xmlns:p14="http://schemas.microsoft.com/office/powerpoint/2010/main" val="3081518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1BD816C-1AAA-4C74-A215-949AD61AA5F4}" type="datetimeFigureOut">
              <a:rPr lang="en-PK" smtClean="0"/>
              <a:t>08/09/2025</a:t>
            </a:fld>
            <a:endParaRPr lang="en-PK"/>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P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B5DEB46-D335-459F-BCBC-6DECAB7DA124}" type="slidenum">
              <a:rPr lang="en-PK" smtClean="0"/>
              <a:t>‹#›</a:t>
            </a:fld>
            <a:endParaRPr lang="en-PK"/>
          </a:p>
        </p:txBody>
      </p:sp>
    </p:spTree>
    <p:extLst>
      <p:ext uri="{BB962C8B-B14F-4D97-AF65-F5344CB8AC3E}">
        <p14:creationId xmlns:p14="http://schemas.microsoft.com/office/powerpoint/2010/main" val="541931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BD816C-1AAA-4C74-A215-949AD61AA5F4}" type="datetimeFigureOut">
              <a:rPr lang="en-PK" smtClean="0"/>
              <a:t>08/09/2025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1B5DEB46-D335-459F-BCBC-6DECAB7DA124}" type="slidenum">
              <a:rPr lang="en-PK" smtClean="0"/>
              <a:t>‹#›</a:t>
            </a:fld>
            <a:endParaRPr lang="en-PK"/>
          </a:p>
        </p:txBody>
      </p:sp>
    </p:spTree>
    <p:extLst>
      <p:ext uri="{BB962C8B-B14F-4D97-AF65-F5344CB8AC3E}">
        <p14:creationId xmlns:p14="http://schemas.microsoft.com/office/powerpoint/2010/main" val="3582699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D816C-1AAA-4C74-A215-949AD61AA5F4}" type="datetimeFigureOut">
              <a:rPr lang="en-PK" smtClean="0"/>
              <a:t>08/09/2025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1B5DEB46-D335-459F-BCBC-6DECAB7DA124}" type="slidenum">
              <a:rPr lang="en-PK" smtClean="0"/>
              <a:t>‹#›</a:t>
            </a:fld>
            <a:endParaRPr lang="en-PK"/>
          </a:p>
        </p:txBody>
      </p:sp>
    </p:spTree>
    <p:extLst>
      <p:ext uri="{BB962C8B-B14F-4D97-AF65-F5344CB8AC3E}">
        <p14:creationId xmlns:p14="http://schemas.microsoft.com/office/powerpoint/2010/main" val="1101693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D816C-1AAA-4C74-A215-949AD61AA5F4}" type="datetimeFigureOut">
              <a:rPr lang="en-PK" smtClean="0"/>
              <a:t>08/09/2025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1B5DEB46-D335-459F-BCBC-6DECAB7DA124}" type="slidenum">
              <a:rPr lang="en-PK" smtClean="0"/>
              <a:t>‹#›</a:t>
            </a:fld>
            <a:endParaRPr lang="en-PK"/>
          </a:p>
        </p:txBody>
      </p:sp>
    </p:spTree>
    <p:extLst>
      <p:ext uri="{BB962C8B-B14F-4D97-AF65-F5344CB8AC3E}">
        <p14:creationId xmlns:p14="http://schemas.microsoft.com/office/powerpoint/2010/main" val="3932984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39030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903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9/8/2025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a:t>
            </a:fld>
            <a:endParaRPr lang="en-PK" spc="-50" dirty="0"/>
          </a:p>
        </p:txBody>
      </p:sp>
    </p:spTree>
    <p:extLst>
      <p:ext uri="{BB962C8B-B14F-4D97-AF65-F5344CB8AC3E}">
        <p14:creationId xmlns:p14="http://schemas.microsoft.com/office/powerpoint/2010/main" val="2104283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1BD816C-1AAA-4C74-A215-949AD61AA5F4}" type="datetimeFigureOut">
              <a:rPr lang="en-PK" smtClean="0"/>
              <a:t>08/09/2025</a:t>
            </a:fld>
            <a:endParaRPr lang="en-PK"/>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PK"/>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B5DEB46-D335-459F-BCBC-6DECAB7DA124}" type="slidenum">
              <a:rPr lang="en-PK" smtClean="0"/>
              <a:t>‹#›</a:t>
            </a:fld>
            <a:endParaRPr lang="en-PK"/>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33488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google.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iana.org/cctld/cctld-whois.ht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0.png"/><Relationship Id="rId21" Type="http://schemas.openxmlformats.org/officeDocument/2006/relationships/image" Target="../media/image38.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image" Target="../media/image19.png"/><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image" Target="../media/image45.png"/><Relationship Id="rId16"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hotframeworks.com/" TargetMode="External"/><Relationship Id="rId2" Type="http://schemas.openxmlformats.org/officeDocument/2006/relationships/image" Target="../media/image60.jp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hyperlink" Target="http://msdn.microsoft.com/en-us/library/ms995800.aspx"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37D16-211B-EA39-0FFD-AC4027182051}"/>
              </a:ext>
            </a:extLst>
          </p:cNvPr>
          <p:cNvSpPr>
            <a:spLocks noGrp="1"/>
          </p:cNvSpPr>
          <p:nvPr>
            <p:ph type="ctrTitle"/>
          </p:nvPr>
        </p:nvSpPr>
        <p:spPr/>
        <p:txBody>
          <a:bodyPr/>
          <a:lstStyle/>
          <a:p>
            <a:r>
              <a:rPr lang="en-US" dirty="0"/>
              <a:t>Web Technologies</a:t>
            </a:r>
            <a:endParaRPr lang="en-PK" dirty="0"/>
          </a:p>
        </p:txBody>
      </p:sp>
      <p:sp>
        <p:nvSpPr>
          <p:cNvPr id="3" name="Subtitle 2">
            <a:extLst>
              <a:ext uri="{FF2B5EF4-FFF2-40B4-BE49-F238E27FC236}">
                <a16:creationId xmlns:a16="http://schemas.microsoft.com/office/drawing/2014/main" id="{9DA81C77-70DC-374F-CCEB-8148B5EFEE1D}"/>
              </a:ext>
            </a:extLst>
          </p:cNvPr>
          <p:cNvSpPr>
            <a:spLocks noGrp="1"/>
          </p:cNvSpPr>
          <p:nvPr>
            <p:ph type="subTitle" idx="1"/>
          </p:nvPr>
        </p:nvSpPr>
        <p:spPr/>
        <p:txBody>
          <a:bodyPr/>
          <a:lstStyle/>
          <a:p>
            <a:r>
              <a:rPr lang="en-US" dirty="0"/>
              <a:t>Week 1 - Introduction</a:t>
            </a:r>
            <a:endParaRPr lang="en-PK" dirty="0"/>
          </a:p>
        </p:txBody>
      </p:sp>
    </p:spTree>
    <p:extLst>
      <p:ext uri="{BB962C8B-B14F-4D97-AF65-F5344CB8AC3E}">
        <p14:creationId xmlns:p14="http://schemas.microsoft.com/office/powerpoint/2010/main" val="135115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2091055">
              <a:lnSpc>
                <a:spcPct val="100000"/>
              </a:lnSpc>
              <a:spcBef>
                <a:spcPts val="105"/>
              </a:spcBef>
            </a:pPr>
            <a:r>
              <a:rPr dirty="0"/>
              <a:t>Web</a:t>
            </a:r>
            <a:r>
              <a:rPr spc="-175" dirty="0"/>
              <a:t> </a:t>
            </a:r>
            <a:r>
              <a:rPr spc="-10" dirty="0"/>
              <a:t>Essentials</a:t>
            </a:r>
          </a:p>
        </p:txBody>
      </p:sp>
      <p:sp>
        <p:nvSpPr>
          <p:cNvPr id="151" name="object 151"/>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2</a:t>
            </a:fld>
            <a:endParaRPr spc="-25" dirty="0"/>
          </a:p>
        </p:txBody>
      </p:sp>
      <p:sp>
        <p:nvSpPr>
          <p:cNvPr id="3" name="object 3"/>
          <p:cNvSpPr txBox="1"/>
          <p:nvPr/>
        </p:nvSpPr>
        <p:spPr>
          <a:xfrm>
            <a:off x="2291269" y="1914519"/>
            <a:ext cx="7369175" cy="1567815"/>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b="1" dirty="0">
                <a:latin typeface="Calibri"/>
                <a:cs typeface="Calibri"/>
              </a:rPr>
              <a:t>Client</a:t>
            </a:r>
            <a:r>
              <a:rPr sz="2200" dirty="0">
                <a:latin typeface="Calibri"/>
                <a:cs typeface="Calibri"/>
              </a:rPr>
              <a:t>:</a:t>
            </a:r>
            <a:r>
              <a:rPr sz="2200" spc="-40" dirty="0">
                <a:latin typeface="Calibri"/>
                <a:cs typeface="Calibri"/>
              </a:rPr>
              <a:t> </a:t>
            </a:r>
            <a:r>
              <a:rPr sz="2200" dirty="0">
                <a:latin typeface="Calibri"/>
                <a:cs typeface="Calibri"/>
              </a:rPr>
              <a:t>web</a:t>
            </a:r>
            <a:r>
              <a:rPr sz="2200" spc="-60" dirty="0">
                <a:latin typeface="Calibri"/>
                <a:cs typeface="Calibri"/>
              </a:rPr>
              <a:t> </a:t>
            </a:r>
            <a:r>
              <a:rPr sz="2200" spc="-10" dirty="0">
                <a:latin typeface="Calibri"/>
                <a:cs typeface="Calibri"/>
              </a:rPr>
              <a:t>browsers,</a:t>
            </a:r>
            <a:r>
              <a:rPr sz="2200" spc="-45" dirty="0">
                <a:latin typeface="Calibri"/>
                <a:cs typeface="Calibri"/>
              </a:rPr>
              <a:t> </a:t>
            </a:r>
            <a:r>
              <a:rPr sz="2200" dirty="0">
                <a:latin typeface="Calibri"/>
                <a:cs typeface="Calibri"/>
              </a:rPr>
              <a:t>used</a:t>
            </a:r>
            <a:r>
              <a:rPr sz="2200" spc="-50" dirty="0">
                <a:latin typeface="Calibri"/>
                <a:cs typeface="Calibri"/>
              </a:rPr>
              <a:t> </a:t>
            </a:r>
            <a:r>
              <a:rPr sz="2200" dirty="0">
                <a:latin typeface="Calibri"/>
                <a:cs typeface="Calibri"/>
              </a:rPr>
              <a:t>to</a:t>
            </a:r>
            <a:r>
              <a:rPr sz="2200" spc="-50" dirty="0">
                <a:latin typeface="Calibri"/>
                <a:cs typeface="Calibri"/>
              </a:rPr>
              <a:t> </a:t>
            </a:r>
            <a:r>
              <a:rPr sz="2200" dirty="0">
                <a:latin typeface="Calibri"/>
                <a:cs typeface="Calibri"/>
              </a:rPr>
              <a:t>surf</a:t>
            </a:r>
            <a:r>
              <a:rPr sz="2200" spc="-50" dirty="0">
                <a:latin typeface="Calibri"/>
                <a:cs typeface="Calibri"/>
              </a:rPr>
              <a:t> </a:t>
            </a:r>
            <a:r>
              <a:rPr sz="2200" dirty="0">
                <a:latin typeface="Calibri"/>
                <a:cs typeface="Calibri"/>
              </a:rPr>
              <a:t>the</a:t>
            </a:r>
            <a:r>
              <a:rPr sz="2200" spc="-40" dirty="0">
                <a:latin typeface="Calibri"/>
                <a:cs typeface="Calibri"/>
              </a:rPr>
              <a:t> </a:t>
            </a:r>
            <a:r>
              <a:rPr sz="2200" spc="-25" dirty="0">
                <a:latin typeface="Calibri"/>
                <a:cs typeface="Calibri"/>
              </a:rPr>
              <a:t>Web</a:t>
            </a:r>
            <a:endParaRPr sz="2200" dirty="0">
              <a:latin typeface="Calibri"/>
              <a:cs typeface="Calibri"/>
            </a:endParaRPr>
          </a:p>
          <a:p>
            <a:pPr marL="354965" indent="-342265">
              <a:spcBef>
                <a:spcPts val="530"/>
              </a:spcBef>
              <a:buFont typeface="Arial"/>
              <a:buChar char="•"/>
              <a:tabLst>
                <a:tab pos="354965" algn="l"/>
              </a:tabLst>
            </a:pPr>
            <a:r>
              <a:rPr sz="2200" b="1" dirty="0">
                <a:latin typeface="Calibri"/>
                <a:cs typeface="Calibri"/>
              </a:rPr>
              <a:t>Server</a:t>
            </a:r>
            <a:r>
              <a:rPr sz="2200" b="1" spc="-35" dirty="0">
                <a:latin typeface="Calibri"/>
                <a:cs typeface="Calibri"/>
              </a:rPr>
              <a:t> </a:t>
            </a:r>
            <a:r>
              <a:rPr sz="2200" b="1" spc="-10" dirty="0">
                <a:latin typeface="Calibri"/>
                <a:cs typeface="Calibri"/>
              </a:rPr>
              <a:t>systems</a:t>
            </a:r>
            <a:r>
              <a:rPr sz="2200" spc="-10" dirty="0">
                <a:latin typeface="Calibri"/>
                <a:cs typeface="Calibri"/>
              </a:rPr>
              <a:t>:</a:t>
            </a:r>
            <a:r>
              <a:rPr sz="2200" spc="-50" dirty="0">
                <a:latin typeface="Calibri"/>
                <a:cs typeface="Calibri"/>
              </a:rPr>
              <a:t> </a:t>
            </a:r>
            <a:r>
              <a:rPr sz="2200" dirty="0">
                <a:latin typeface="Calibri"/>
                <a:cs typeface="Calibri"/>
              </a:rPr>
              <a:t>used</a:t>
            </a:r>
            <a:r>
              <a:rPr sz="2200" spc="-45" dirty="0">
                <a:latin typeface="Calibri"/>
                <a:cs typeface="Calibri"/>
              </a:rPr>
              <a:t> </a:t>
            </a:r>
            <a:r>
              <a:rPr sz="2200" dirty="0">
                <a:latin typeface="Calibri"/>
                <a:cs typeface="Calibri"/>
              </a:rPr>
              <a:t>to</a:t>
            </a:r>
            <a:r>
              <a:rPr sz="2200" spc="-40" dirty="0">
                <a:latin typeface="Calibri"/>
                <a:cs typeface="Calibri"/>
              </a:rPr>
              <a:t> </a:t>
            </a:r>
            <a:r>
              <a:rPr sz="2200" dirty="0">
                <a:latin typeface="Calibri"/>
                <a:cs typeface="Calibri"/>
              </a:rPr>
              <a:t>supply</a:t>
            </a:r>
            <a:r>
              <a:rPr sz="2200" spc="-55" dirty="0">
                <a:latin typeface="Calibri"/>
                <a:cs typeface="Calibri"/>
              </a:rPr>
              <a:t> </a:t>
            </a:r>
            <a:r>
              <a:rPr sz="2200" spc="-10" dirty="0">
                <a:latin typeface="Calibri"/>
                <a:cs typeface="Calibri"/>
              </a:rPr>
              <a:t>information</a:t>
            </a:r>
            <a:r>
              <a:rPr sz="2200" spc="-45" dirty="0">
                <a:latin typeface="Calibri"/>
                <a:cs typeface="Calibri"/>
              </a:rPr>
              <a:t> </a:t>
            </a:r>
            <a:r>
              <a:rPr sz="2200" dirty="0">
                <a:latin typeface="Calibri"/>
                <a:cs typeface="Calibri"/>
              </a:rPr>
              <a:t>to</a:t>
            </a:r>
            <a:r>
              <a:rPr sz="2200" spc="-45" dirty="0">
                <a:latin typeface="Calibri"/>
                <a:cs typeface="Calibri"/>
              </a:rPr>
              <a:t> </a:t>
            </a:r>
            <a:r>
              <a:rPr sz="2200" dirty="0">
                <a:latin typeface="Calibri"/>
                <a:cs typeface="Calibri"/>
              </a:rPr>
              <a:t>these</a:t>
            </a:r>
            <a:r>
              <a:rPr sz="2200" spc="-30" dirty="0">
                <a:latin typeface="Calibri"/>
                <a:cs typeface="Calibri"/>
              </a:rPr>
              <a:t> </a:t>
            </a:r>
            <a:r>
              <a:rPr sz="2200" spc="-10" dirty="0">
                <a:latin typeface="Calibri"/>
                <a:cs typeface="Calibri"/>
              </a:rPr>
              <a:t>browsers</a:t>
            </a:r>
            <a:endParaRPr sz="2200" dirty="0">
              <a:latin typeface="Calibri"/>
              <a:cs typeface="Calibri"/>
            </a:endParaRPr>
          </a:p>
          <a:p>
            <a:pPr marL="354965" indent="-342265">
              <a:spcBef>
                <a:spcPts val="530"/>
              </a:spcBef>
              <a:buFont typeface="Arial"/>
              <a:buChar char="•"/>
              <a:tabLst>
                <a:tab pos="354965" algn="l"/>
              </a:tabLst>
            </a:pPr>
            <a:r>
              <a:rPr sz="2200" b="1" dirty="0">
                <a:latin typeface="Calibri"/>
                <a:cs typeface="Calibri"/>
              </a:rPr>
              <a:t>Computer</a:t>
            </a:r>
            <a:r>
              <a:rPr sz="2200" b="1" spc="-30" dirty="0">
                <a:latin typeface="Calibri"/>
                <a:cs typeface="Calibri"/>
              </a:rPr>
              <a:t> </a:t>
            </a:r>
            <a:r>
              <a:rPr sz="2200" b="1" spc="-10" dirty="0">
                <a:latin typeface="Calibri"/>
                <a:cs typeface="Calibri"/>
              </a:rPr>
              <a:t>networks</a:t>
            </a:r>
            <a:r>
              <a:rPr sz="2200" spc="-10" dirty="0">
                <a:latin typeface="Calibri"/>
                <a:cs typeface="Calibri"/>
              </a:rPr>
              <a:t>:</a:t>
            </a:r>
            <a:r>
              <a:rPr sz="2200" spc="-15" dirty="0">
                <a:latin typeface="Calibri"/>
                <a:cs typeface="Calibri"/>
              </a:rPr>
              <a:t> </a:t>
            </a:r>
            <a:r>
              <a:rPr sz="2200" dirty="0">
                <a:latin typeface="Calibri"/>
                <a:cs typeface="Calibri"/>
              </a:rPr>
              <a:t>used</a:t>
            </a:r>
            <a:r>
              <a:rPr sz="2200" spc="-50" dirty="0">
                <a:latin typeface="Calibri"/>
                <a:cs typeface="Calibri"/>
              </a:rPr>
              <a:t> </a:t>
            </a:r>
            <a:r>
              <a:rPr sz="2200" dirty="0">
                <a:latin typeface="Calibri"/>
                <a:cs typeface="Calibri"/>
              </a:rPr>
              <a:t>to</a:t>
            </a:r>
            <a:r>
              <a:rPr sz="2200" spc="-45" dirty="0">
                <a:latin typeface="Calibri"/>
                <a:cs typeface="Calibri"/>
              </a:rPr>
              <a:t> </a:t>
            </a:r>
            <a:r>
              <a:rPr sz="2200" dirty="0">
                <a:latin typeface="Calibri"/>
                <a:cs typeface="Calibri"/>
              </a:rPr>
              <a:t>support</a:t>
            </a:r>
            <a:r>
              <a:rPr sz="2200" spc="-60" dirty="0">
                <a:latin typeface="Calibri"/>
                <a:cs typeface="Calibri"/>
              </a:rPr>
              <a:t> </a:t>
            </a:r>
            <a:r>
              <a:rPr sz="2200" dirty="0">
                <a:latin typeface="Calibri"/>
                <a:cs typeface="Calibri"/>
              </a:rPr>
              <a:t>the</a:t>
            </a:r>
            <a:r>
              <a:rPr sz="2200" spc="-55" dirty="0">
                <a:latin typeface="Calibri"/>
                <a:cs typeface="Calibri"/>
              </a:rPr>
              <a:t> </a:t>
            </a:r>
            <a:r>
              <a:rPr sz="2200" spc="-20" dirty="0">
                <a:latin typeface="Calibri"/>
                <a:cs typeface="Calibri"/>
              </a:rPr>
              <a:t>browser-</a:t>
            </a:r>
            <a:r>
              <a:rPr sz="2200" spc="-10" dirty="0">
                <a:latin typeface="Calibri"/>
                <a:cs typeface="Calibri"/>
              </a:rPr>
              <a:t>server</a:t>
            </a:r>
            <a:endParaRPr sz="2200" dirty="0">
              <a:latin typeface="Calibri"/>
              <a:cs typeface="Calibri"/>
            </a:endParaRPr>
          </a:p>
          <a:p>
            <a:pPr marL="355600"/>
            <a:r>
              <a:rPr sz="2200" spc="-10" dirty="0">
                <a:latin typeface="Calibri"/>
                <a:cs typeface="Calibri"/>
              </a:rPr>
              <a:t>communication</a:t>
            </a:r>
            <a:endParaRPr sz="2200" dirty="0">
              <a:latin typeface="Calibri"/>
              <a:cs typeface="Calibri"/>
            </a:endParaRPr>
          </a:p>
        </p:txBody>
      </p:sp>
      <p:grpSp>
        <p:nvGrpSpPr>
          <p:cNvPr id="4" name="object 4"/>
          <p:cNvGrpSpPr/>
          <p:nvPr/>
        </p:nvGrpSpPr>
        <p:grpSpPr>
          <a:xfrm>
            <a:off x="3224092" y="3473196"/>
            <a:ext cx="5469890" cy="2237740"/>
            <a:chOff x="1700092" y="3473196"/>
            <a:chExt cx="5469890" cy="2237740"/>
          </a:xfrm>
        </p:grpSpPr>
        <p:sp>
          <p:nvSpPr>
            <p:cNvPr id="5" name="object 5"/>
            <p:cNvSpPr/>
            <p:nvPr/>
          </p:nvSpPr>
          <p:spPr>
            <a:xfrm>
              <a:off x="2107701" y="4934071"/>
              <a:ext cx="21590" cy="77470"/>
            </a:xfrm>
            <a:custGeom>
              <a:avLst/>
              <a:gdLst/>
              <a:ahLst/>
              <a:cxnLst/>
              <a:rect l="l" t="t" r="r" b="b"/>
              <a:pathLst>
                <a:path w="21589" h="77470">
                  <a:moveTo>
                    <a:pt x="0" y="76889"/>
                  </a:moveTo>
                  <a:lnTo>
                    <a:pt x="21241" y="76889"/>
                  </a:lnTo>
                  <a:lnTo>
                    <a:pt x="21241" y="0"/>
                  </a:lnTo>
                  <a:lnTo>
                    <a:pt x="0" y="0"/>
                  </a:lnTo>
                  <a:lnTo>
                    <a:pt x="0" y="76889"/>
                  </a:lnTo>
                  <a:close/>
                </a:path>
              </a:pathLst>
            </a:custGeom>
            <a:solidFill>
              <a:srgbClr val="FBFBFB"/>
            </a:solidFill>
          </p:spPr>
          <p:txBody>
            <a:bodyPr wrap="square" lIns="0" tIns="0" rIns="0" bIns="0" rtlCol="0"/>
            <a:lstStyle/>
            <a:p>
              <a:endParaRPr/>
            </a:p>
          </p:txBody>
        </p:sp>
        <p:sp>
          <p:nvSpPr>
            <p:cNvPr id="6" name="object 6"/>
            <p:cNvSpPr/>
            <p:nvPr/>
          </p:nvSpPr>
          <p:spPr>
            <a:xfrm>
              <a:off x="2125250" y="4918138"/>
              <a:ext cx="19685" cy="93345"/>
            </a:xfrm>
            <a:custGeom>
              <a:avLst/>
              <a:gdLst/>
              <a:ahLst/>
              <a:cxnLst/>
              <a:rect l="l" t="t" r="r" b="b"/>
              <a:pathLst>
                <a:path w="19685" h="93345">
                  <a:moveTo>
                    <a:pt x="19625" y="0"/>
                  </a:moveTo>
                  <a:lnTo>
                    <a:pt x="0" y="0"/>
                  </a:lnTo>
                  <a:lnTo>
                    <a:pt x="0" y="92822"/>
                  </a:lnTo>
                  <a:lnTo>
                    <a:pt x="19625" y="92822"/>
                  </a:lnTo>
                  <a:lnTo>
                    <a:pt x="19625" y="0"/>
                  </a:lnTo>
                  <a:close/>
                </a:path>
              </a:pathLst>
            </a:custGeom>
            <a:solidFill>
              <a:srgbClr val="F7F7F7"/>
            </a:solidFill>
          </p:spPr>
          <p:txBody>
            <a:bodyPr wrap="square" lIns="0" tIns="0" rIns="0" bIns="0" rtlCol="0"/>
            <a:lstStyle/>
            <a:p>
              <a:endParaRPr/>
            </a:p>
          </p:txBody>
        </p:sp>
        <p:sp>
          <p:nvSpPr>
            <p:cNvPr id="7" name="object 7"/>
            <p:cNvSpPr/>
            <p:nvPr/>
          </p:nvSpPr>
          <p:spPr>
            <a:xfrm>
              <a:off x="2141178" y="4918138"/>
              <a:ext cx="22225" cy="93345"/>
            </a:xfrm>
            <a:custGeom>
              <a:avLst/>
              <a:gdLst/>
              <a:ahLst/>
              <a:cxnLst/>
              <a:rect l="l" t="t" r="r" b="b"/>
              <a:pathLst>
                <a:path w="22225" h="93345">
                  <a:moveTo>
                    <a:pt x="21934" y="0"/>
                  </a:moveTo>
                  <a:lnTo>
                    <a:pt x="0" y="0"/>
                  </a:lnTo>
                  <a:lnTo>
                    <a:pt x="0" y="92822"/>
                  </a:lnTo>
                  <a:lnTo>
                    <a:pt x="21934" y="92822"/>
                  </a:lnTo>
                  <a:lnTo>
                    <a:pt x="21934" y="0"/>
                  </a:lnTo>
                  <a:close/>
                </a:path>
              </a:pathLst>
            </a:custGeom>
            <a:solidFill>
              <a:srgbClr val="F1F1F1"/>
            </a:solidFill>
          </p:spPr>
          <p:txBody>
            <a:bodyPr wrap="square" lIns="0" tIns="0" rIns="0" bIns="0" rtlCol="0"/>
            <a:lstStyle/>
            <a:p>
              <a:endParaRPr/>
            </a:p>
          </p:txBody>
        </p:sp>
        <p:sp>
          <p:nvSpPr>
            <p:cNvPr id="8" name="object 8"/>
            <p:cNvSpPr/>
            <p:nvPr/>
          </p:nvSpPr>
          <p:spPr>
            <a:xfrm>
              <a:off x="2157110" y="4918138"/>
              <a:ext cx="21590" cy="93345"/>
            </a:xfrm>
            <a:custGeom>
              <a:avLst/>
              <a:gdLst/>
              <a:ahLst/>
              <a:cxnLst/>
              <a:rect l="l" t="t" r="r" b="b"/>
              <a:pathLst>
                <a:path w="21589" h="93345">
                  <a:moveTo>
                    <a:pt x="21472" y="0"/>
                  </a:moveTo>
                  <a:lnTo>
                    <a:pt x="0" y="0"/>
                  </a:lnTo>
                  <a:lnTo>
                    <a:pt x="0" y="92822"/>
                  </a:lnTo>
                  <a:lnTo>
                    <a:pt x="21472" y="92822"/>
                  </a:lnTo>
                  <a:lnTo>
                    <a:pt x="21472" y="0"/>
                  </a:lnTo>
                  <a:close/>
                </a:path>
              </a:pathLst>
            </a:custGeom>
            <a:solidFill>
              <a:srgbClr val="ECECEC"/>
            </a:solidFill>
          </p:spPr>
          <p:txBody>
            <a:bodyPr wrap="square" lIns="0" tIns="0" rIns="0" bIns="0" rtlCol="0"/>
            <a:lstStyle/>
            <a:p>
              <a:endParaRPr/>
            </a:p>
          </p:txBody>
        </p:sp>
        <p:sp>
          <p:nvSpPr>
            <p:cNvPr id="9" name="object 9"/>
            <p:cNvSpPr/>
            <p:nvPr/>
          </p:nvSpPr>
          <p:spPr>
            <a:xfrm>
              <a:off x="2173042" y="4934071"/>
              <a:ext cx="21590" cy="77470"/>
            </a:xfrm>
            <a:custGeom>
              <a:avLst/>
              <a:gdLst/>
              <a:ahLst/>
              <a:cxnLst/>
              <a:rect l="l" t="t" r="r" b="b"/>
              <a:pathLst>
                <a:path w="21589" h="77470">
                  <a:moveTo>
                    <a:pt x="0" y="76889"/>
                  </a:moveTo>
                  <a:lnTo>
                    <a:pt x="21472" y="76889"/>
                  </a:lnTo>
                  <a:lnTo>
                    <a:pt x="21472" y="0"/>
                  </a:lnTo>
                  <a:lnTo>
                    <a:pt x="0" y="0"/>
                  </a:lnTo>
                  <a:lnTo>
                    <a:pt x="0" y="76889"/>
                  </a:lnTo>
                  <a:close/>
                </a:path>
              </a:pathLst>
            </a:custGeom>
            <a:solidFill>
              <a:srgbClr val="E8E8E8"/>
            </a:solidFill>
          </p:spPr>
          <p:txBody>
            <a:bodyPr wrap="square" lIns="0" tIns="0" rIns="0" bIns="0" rtlCol="0"/>
            <a:lstStyle/>
            <a:p>
              <a:endParaRPr/>
            </a:p>
          </p:txBody>
        </p:sp>
        <p:sp>
          <p:nvSpPr>
            <p:cNvPr id="10" name="object 10"/>
            <p:cNvSpPr/>
            <p:nvPr/>
          </p:nvSpPr>
          <p:spPr>
            <a:xfrm>
              <a:off x="2188281" y="4934071"/>
              <a:ext cx="22225" cy="77470"/>
            </a:xfrm>
            <a:custGeom>
              <a:avLst/>
              <a:gdLst/>
              <a:ahLst/>
              <a:cxnLst/>
              <a:rect l="l" t="t" r="r" b="b"/>
              <a:pathLst>
                <a:path w="22225" h="77470">
                  <a:moveTo>
                    <a:pt x="0" y="76889"/>
                  </a:moveTo>
                  <a:lnTo>
                    <a:pt x="22165" y="76889"/>
                  </a:lnTo>
                  <a:lnTo>
                    <a:pt x="22165" y="0"/>
                  </a:lnTo>
                  <a:lnTo>
                    <a:pt x="0" y="0"/>
                  </a:lnTo>
                  <a:lnTo>
                    <a:pt x="0" y="76889"/>
                  </a:lnTo>
                  <a:close/>
                </a:path>
              </a:pathLst>
            </a:custGeom>
            <a:solidFill>
              <a:srgbClr val="DFDFDF"/>
            </a:solidFill>
          </p:spPr>
          <p:txBody>
            <a:bodyPr wrap="square" lIns="0" tIns="0" rIns="0" bIns="0" rtlCol="0"/>
            <a:lstStyle/>
            <a:p>
              <a:endParaRPr/>
            </a:p>
          </p:txBody>
        </p:sp>
        <p:sp>
          <p:nvSpPr>
            <p:cNvPr id="11" name="object 11"/>
            <p:cNvSpPr/>
            <p:nvPr/>
          </p:nvSpPr>
          <p:spPr>
            <a:xfrm>
              <a:off x="2206523" y="4934071"/>
              <a:ext cx="21590" cy="77470"/>
            </a:xfrm>
            <a:custGeom>
              <a:avLst/>
              <a:gdLst/>
              <a:ahLst/>
              <a:cxnLst/>
              <a:rect l="l" t="t" r="r" b="b"/>
              <a:pathLst>
                <a:path w="21589" h="77470">
                  <a:moveTo>
                    <a:pt x="0" y="76889"/>
                  </a:moveTo>
                  <a:lnTo>
                    <a:pt x="21472" y="76889"/>
                  </a:lnTo>
                  <a:lnTo>
                    <a:pt x="21472" y="0"/>
                  </a:lnTo>
                  <a:lnTo>
                    <a:pt x="0" y="0"/>
                  </a:lnTo>
                  <a:lnTo>
                    <a:pt x="0" y="76889"/>
                  </a:lnTo>
                  <a:close/>
                </a:path>
              </a:pathLst>
            </a:custGeom>
            <a:solidFill>
              <a:srgbClr val="DBDBDB"/>
            </a:solidFill>
          </p:spPr>
          <p:txBody>
            <a:bodyPr wrap="square" lIns="0" tIns="0" rIns="0" bIns="0" rtlCol="0"/>
            <a:lstStyle/>
            <a:p>
              <a:endParaRPr/>
            </a:p>
          </p:txBody>
        </p:sp>
        <p:sp>
          <p:nvSpPr>
            <p:cNvPr id="12" name="object 12"/>
            <p:cNvSpPr/>
            <p:nvPr/>
          </p:nvSpPr>
          <p:spPr>
            <a:xfrm>
              <a:off x="2222452" y="4934071"/>
              <a:ext cx="20320" cy="77470"/>
            </a:xfrm>
            <a:custGeom>
              <a:avLst/>
              <a:gdLst/>
              <a:ahLst/>
              <a:cxnLst/>
              <a:rect l="l" t="t" r="r" b="b"/>
              <a:pathLst>
                <a:path w="20319" h="77470">
                  <a:moveTo>
                    <a:pt x="0" y="76889"/>
                  </a:moveTo>
                  <a:lnTo>
                    <a:pt x="19856" y="76889"/>
                  </a:lnTo>
                  <a:lnTo>
                    <a:pt x="19856" y="0"/>
                  </a:lnTo>
                  <a:lnTo>
                    <a:pt x="0" y="0"/>
                  </a:lnTo>
                  <a:lnTo>
                    <a:pt x="0" y="76889"/>
                  </a:lnTo>
                  <a:close/>
                </a:path>
              </a:pathLst>
            </a:custGeom>
            <a:solidFill>
              <a:srgbClr val="D5D5D5"/>
            </a:solidFill>
          </p:spPr>
          <p:txBody>
            <a:bodyPr wrap="square" lIns="0" tIns="0" rIns="0" bIns="0" rtlCol="0"/>
            <a:lstStyle/>
            <a:p>
              <a:endParaRPr/>
            </a:p>
          </p:txBody>
        </p:sp>
        <p:sp>
          <p:nvSpPr>
            <p:cNvPr id="13" name="object 13"/>
            <p:cNvSpPr/>
            <p:nvPr/>
          </p:nvSpPr>
          <p:spPr>
            <a:xfrm>
              <a:off x="2237924" y="4934071"/>
              <a:ext cx="22225" cy="77470"/>
            </a:xfrm>
            <a:custGeom>
              <a:avLst/>
              <a:gdLst/>
              <a:ahLst/>
              <a:cxnLst/>
              <a:rect l="l" t="t" r="r" b="b"/>
              <a:pathLst>
                <a:path w="22225" h="77470">
                  <a:moveTo>
                    <a:pt x="0" y="76889"/>
                  </a:moveTo>
                  <a:lnTo>
                    <a:pt x="21934" y="76889"/>
                  </a:lnTo>
                  <a:lnTo>
                    <a:pt x="21934" y="0"/>
                  </a:lnTo>
                  <a:lnTo>
                    <a:pt x="0" y="0"/>
                  </a:lnTo>
                  <a:lnTo>
                    <a:pt x="0" y="76889"/>
                  </a:lnTo>
                  <a:close/>
                </a:path>
              </a:pathLst>
            </a:custGeom>
            <a:solidFill>
              <a:srgbClr val="D1D1D1"/>
            </a:solidFill>
          </p:spPr>
          <p:txBody>
            <a:bodyPr wrap="square" lIns="0" tIns="0" rIns="0" bIns="0" rtlCol="0"/>
            <a:lstStyle/>
            <a:p>
              <a:endParaRPr/>
            </a:p>
          </p:txBody>
        </p:sp>
        <p:sp>
          <p:nvSpPr>
            <p:cNvPr id="14" name="object 14"/>
            <p:cNvSpPr/>
            <p:nvPr/>
          </p:nvSpPr>
          <p:spPr>
            <a:xfrm>
              <a:off x="2255932" y="4934071"/>
              <a:ext cx="20320" cy="77470"/>
            </a:xfrm>
            <a:custGeom>
              <a:avLst/>
              <a:gdLst/>
              <a:ahLst/>
              <a:cxnLst/>
              <a:rect l="l" t="t" r="r" b="b"/>
              <a:pathLst>
                <a:path w="20319" h="77470">
                  <a:moveTo>
                    <a:pt x="0" y="76889"/>
                  </a:moveTo>
                  <a:lnTo>
                    <a:pt x="19856" y="76889"/>
                  </a:lnTo>
                  <a:lnTo>
                    <a:pt x="19856" y="0"/>
                  </a:lnTo>
                  <a:lnTo>
                    <a:pt x="0" y="0"/>
                  </a:lnTo>
                  <a:lnTo>
                    <a:pt x="0" y="76889"/>
                  </a:lnTo>
                  <a:close/>
                </a:path>
              </a:pathLst>
            </a:custGeom>
            <a:solidFill>
              <a:srgbClr val="CCCCCC"/>
            </a:solidFill>
          </p:spPr>
          <p:txBody>
            <a:bodyPr wrap="square" lIns="0" tIns="0" rIns="0" bIns="0" rtlCol="0"/>
            <a:lstStyle/>
            <a:p>
              <a:endParaRPr/>
            </a:p>
          </p:txBody>
        </p:sp>
        <p:sp>
          <p:nvSpPr>
            <p:cNvPr id="15" name="object 15"/>
            <p:cNvSpPr/>
            <p:nvPr/>
          </p:nvSpPr>
          <p:spPr>
            <a:xfrm>
              <a:off x="2271864" y="4934071"/>
              <a:ext cx="19685" cy="77470"/>
            </a:xfrm>
            <a:custGeom>
              <a:avLst/>
              <a:gdLst/>
              <a:ahLst/>
              <a:cxnLst/>
              <a:rect l="l" t="t" r="r" b="b"/>
              <a:pathLst>
                <a:path w="19685" h="77470">
                  <a:moveTo>
                    <a:pt x="0" y="76889"/>
                  </a:moveTo>
                  <a:lnTo>
                    <a:pt x="19163" y="76889"/>
                  </a:lnTo>
                  <a:lnTo>
                    <a:pt x="19163" y="0"/>
                  </a:lnTo>
                  <a:lnTo>
                    <a:pt x="0" y="0"/>
                  </a:lnTo>
                  <a:lnTo>
                    <a:pt x="0" y="76889"/>
                  </a:lnTo>
                  <a:close/>
                </a:path>
              </a:pathLst>
            </a:custGeom>
            <a:solidFill>
              <a:srgbClr val="C5C5C5"/>
            </a:solidFill>
          </p:spPr>
          <p:txBody>
            <a:bodyPr wrap="square" lIns="0" tIns="0" rIns="0" bIns="0" rtlCol="0"/>
            <a:lstStyle/>
            <a:p>
              <a:endParaRPr/>
            </a:p>
          </p:txBody>
        </p:sp>
        <p:sp>
          <p:nvSpPr>
            <p:cNvPr id="16" name="object 16"/>
            <p:cNvSpPr/>
            <p:nvPr/>
          </p:nvSpPr>
          <p:spPr>
            <a:xfrm>
              <a:off x="2287333" y="4934071"/>
              <a:ext cx="19685" cy="77470"/>
            </a:xfrm>
            <a:custGeom>
              <a:avLst/>
              <a:gdLst/>
              <a:ahLst/>
              <a:cxnLst/>
              <a:rect l="l" t="t" r="r" b="b"/>
              <a:pathLst>
                <a:path w="19685" h="77470">
                  <a:moveTo>
                    <a:pt x="0" y="76889"/>
                  </a:moveTo>
                  <a:lnTo>
                    <a:pt x="19625" y="76889"/>
                  </a:lnTo>
                  <a:lnTo>
                    <a:pt x="19625" y="0"/>
                  </a:lnTo>
                  <a:lnTo>
                    <a:pt x="0" y="0"/>
                  </a:lnTo>
                  <a:lnTo>
                    <a:pt x="0" y="76889"/>
                  </a:lnTo>
                  <a:close/>
                </a:path>
              </a:pathLst>
            </a:custGeom>
            <a:solidFill>
              <a:srgbClr val="C1C1C1"/>
            </a:solidFill>
          </p:spPr>
          <p:txBody>
            <a:bodyPr wrap="square" lIns="0" tIns="0" rIns="0" bIns="0" rtlCol="0"/>
            <a:lstStyle/>
            <a:p>
              <a:endParaRPr/>
            </a:p>
          </p:txBody>
        </p:sp>
        <p:sp>
          <p:nvSpPr>
            <p:cNvPr id="17" name="object 17"/>
            <p:cNvSpPr/>
            <p:nvPr/>
          </p:nvSpPr>
          <p:spPr>
            <a:xfrm>
              <a:off x="2303265" y="4934071"/>
              <a:ext cx="22225" cy="77470"/>
            </a:xfrm>
            <a:custGeom>
              <a:avLst/>
              <a:gdLst/>
              <a:ahLst/>
              <a:cxnLst/>
              <a:rect l="l" t="t" r="r" b="b"/>
              <a:pathLst>
                <a:path w="22225" h="77470">
                  <a:moveTo>
                    <a:pt x="0" y="76889"/>
                  </a:moveTo>
                  <a:lnTo>
                    <a:pt x="21934" y="76889"/>
                  </a:lnTo>
                  <a:lnTo>
                    <a:pt x="21934" y="0"/>
                  </a:lnTo>
                  <a:lnTo>
                    <a:pt x="0" y="0"/>
                  </a:lnTo>
                  <a:lnTo>
                    <a:pt x="0" y="76889"/>
                  </a:lnTo>
                  <a:close/>
                </a:path>
              </a:pathLst>
            </a:custGeom>
            <a:solidFill>
              <a:srgbClr val="BBBBBB"/>
            </a:solidFill>
          </p:spPr>
          <p:txBody>
            <a:bodyPr wrap="square" lIns="0" tIns="0" rIns="0" bIns="0" rtlCol="0"/>
            <a:lstStyle/>
            <a:p>
              <a:endParaRPr/>
            </a:p>
          </p:txBody>
        </p:sp>
        <p:sp>
          <p:nvSpPr>
            <p:cNvPr id="18" name="object 18"/>
            <p:cNvSpPr/>
            <p:nvPr/>
          </p:nvSpPr>
          <p:spPr>
            <a:xfrm>
              <a:off x="2319197" y="4934071"/>
              <a:ext cx="21590" cy="77470"/>
            </a:xfrm>
            <a:custGeom>
              <a:avLst/>
              <a:gdLst/>
              <a:ahLst/>
              <a:cxnLst/>
              <a:rect l="l" t="t" r="r" b="b"/>
              <a:pathLst>
                <a:path w="21589" h="77470">
                  <a:moveTo>
                    <a:pt x="0" y="76889"/>
                  </a:moveTo>
                  <a:lnTo>
                    <a:pt x="21472" y="76889"/>
                  </a:lnTo>
                  <a:lnTo>
                    <a:pt x="21472" y="0"/>
                  </a:lnTo>
                  <a:lnTo>
                    <a:pt x="0" y="0"/>
                  </a:lnTo>
                  <a:lnTo>
                    <a:pt x="0" y="76889"/>
                  </a:lnTo>
                  <a:close/>
                </a:path>
              </a:pathLst>
            </a:custGeom>
            <a:solidFill>
              <a:srgbClr val="B7B7B7"/>
            </a:solidFill>
          </p:spPr>
          <p:txBody>
            <a:bodyPr wrap="square" lIns="0" tIns="0" rIns="0" bIns="0" rtlCol="0"/>
            <a:lstStyle/>
            <a:p>
              <a:endParaRPr/>
            </a:p>
          </p:txBody>
        </p:sp>
        <p:sp>
          <p:nvSpPr>
            <p:cNvPr id="19" name="object 19"/>
            <p:cNvSpPr/>
            <p:nvPr/>
          </p:nvSpPr>
          <p:spPr>
            <a:xfrm>
              <a:off x="2336745" y="4934071"/>
              <a:ext cx="20320" cy="77470"/>
            </a:xfrm>
            <a:custGeom>
              <a:avLst/>
              <a:gdLst/>
              <a:ahLst/>
              <a:cxnLst/>
              <a:rect l="l" t="t" r="r" b="b"/>
              <a:pathLst>
                <a:path w="20319" h="77470">
                  <a:moveTo>
                    <a:pt x="0" y="76889"/>
                  </a:moveTo>
                  <a:lnTo>
                    <a:pt x="19856" y="76889"/>
                  </a:lnTo>
                  <a:lnTo>
                    <a:pt x="19856" y="0"/>
                  </a:lnTo>
                  <a:lnTo>
                    <a:pt x="0" y="0"/>
                  </a:lnTo>
                  <a:lnTo>
                    <a:pt x="0" y="76889"/>
                  </a:lnTo>
                  <a:close/>
                </a:path>
              </a:pathLst>
            </a:custGeom>
            <a:solidFill>
              <a:srgbClr val="B1B1B1"/>
            </a:solidFill>
          </p:spPr>
          <p:txBody>
            <a:bodyPr wrap="square" lIns="0" tIns="0" rIns="0" bIns="0" rtlCol="0"/>
            <a:lstStyle/>
            <a:p>
              <a:endParaRPr/>
            </a:p>
          </p:txBody>
        </p:sp>
        <p:sp>
          <p:nvSpPr>
            <p:cNvPr id="20" name="object 20"/>
            <p:cNvSpPr/>
            <p:nvPr/>
          </p:nvSpPr>
          <p:spPr>
            <a:xfrm>
              <a:off x="2352674" y="4934071"/>
              <a:ext cx="20320" cy="77470"/>
            </a:xfrm>
            <a:custGeom>
              <a:avLst/>
              <a:gdLst/>
              <a:ahLst/>
              <a:cxnLst/>
              <a:rect l="l" t="t" r="r" b="b"/>
              <a:pathLst>
                <a:path w="20319" h="77470">
                  <a:moveTo>
                    <a:pt x="0" y="76889"/>
                  </a:moveTo>
                  <a:lnTo>
                    <a:pt x="19856" y="76889"/>
                  </a:lnTo>
                  <a:lnTo>
                    <a:pt x="19856" y="0"/>
                  </a:lnTo>
                  <a:lnTo>
                    <a:pt x="0" y="0"/>
                  </a:lnTo>
                  <a:lnTo>
                    <a:pt x="0" y="76889"/>
                  </a:lnTo>
                  <a:close/>
                </a:path>
              </a:pathLst>
            </a:custGeom>
            <a:solidFill>
              <a:srgbClr val="ACACAC"/>
            </a:solidFill>
          </p:spPr>
          <p:txBody>
            <a:bodyPr wrap="square" lIns="0" tIns="0" rIns="0" bIns="0" rtlCol="0"/>
            <a:lstStyle/>
            <a:p>
              <a:endParaRPr/>
            </a:p>
          </p:txBody>
        </p:sp>
        <p:sp>
          <p:nvSpPr>
            <p:cNvPr id="21" name="object 21"/>
            <p:cNvSpPr/>
            <p:nvPr/>
          </p:nvSpPr>
          <p:spPr>
            <a:xfrm>
              <a:off x="2366297" y="4934071"/>
              <a:ext cx="20320" cy="77470"/>
            </a:xfrm>
            <a:custGeom>
              <a:avLst/>
              <a:gdLst/>
              <a:ahLst/>
              <a:cxnLst/>
              <a:rect l="l" t="t" r="r" b="b"/>
              <a:pathLst>
                <a:path w="20319" h="77470">
                  <a:moveTo>
                    <a:pt x="0" y="76889"/>
                  </a:moveTo>
                  <a:lnTo>
                    <a:pt x="19856" y="76889"/>
                  </a:lnTo>
                  <a:lnTo>
                    <a:pt x="19856" y="0"/>
                  </a:lnTo>
                  <a:lnTo>
                    <a:pt x="0" y="0"/>
                  </a:lnTo>
                  <a:lnTo>
                    <a:pt x="0" y="76889"/>
                  </a:lnTo>
                  <a:close/>
                </a:path>
              </a:pathLst>
            </a:custGeom>
            <a:solidFill>
              <a:srgbClr val="A8A8A8"/>
            </a:solidFill>
          </p:spPr>
          <p:txBody>
            <a:bodyPr wrap="square" lIns="0" tIns="0" rIns="0" bIns="0" rtlCol="0"/>
            <a:lstStyle/>
            <a:p>
              <a:endParaRPr/>
            </a:p>
          </p:txBody>
        </p:sp>
        <p:sp>
          <p:nvSpPr>
            <p:cNvPr id="22" name="object 22"/>
            <p:cNvSpPr/>
            <p:nvPr/>
          </p:nvSpPr>
          <p:spPr>
            <a:xfrm>
              <a:off x="2380153" y="4934071"/>
              <a:ext cx="20320" cy="77470"/>
            </a:xfrm>
            <a:custGeom>
              <a:avLst/>
              <a:gdLst/>
              <a:ahLst/>
              <a:cxnLst/>
              <a:rect l="l" t="t" r="r" b="b"/>
              <a:pathLst>
                <a:path w="20319" h="77470">
                  <a:moveTo>
                    <a:pt x="0" y="76889"/>
                  </a:moveTo>
                  <a:lnTo>
                    <a:pt x="19856" y="76889"/>
                  </a:lnTo>
                  <a:lnTo>
                    <a:pt x="19856" y="0"/>
                  </a:lnTo>
                  <a:lnTo>
                    <a:pt x="0" y="0"/>
                  </a:lnTo>
                  <a:lnTo>
                    <a:pt x="0" y="76889"/>
                  </a:lnTo>
                  <a:close/>
                </a:path>
              </a:pathLst>
            </a:custGeom>
            <a:solidFill>
              <a:srgbClr val="A2A2A2"/>
            </a:solidFill>
          </p:spPr>
          <p:txBody>
            <a:bodyPr wrap="square" lIns="0" tIns="0" rIns="0" bIns="0" rtlCol="0"/>
            <a:lstStyle/>
            <a:p>
              <a:endParaRPr/>
            </a:p>
          </p:txBody>
        </p:sp>
        <p:sp>
          <p:nvSpPr>
            <p:cNvPr id="23" name="object 23"/>
            <p:cNvSpPr/>
            <p:nvPr/>
          </p:nvSpPr>
          <p:spPr>
            <a:xfrm>
              <a:off x="2396081" y="4934071"/>
              <a:ext cx="18415" cy="77470"/>
            </a:xfrm>
            <a:custGeom>
              <a:avLst/>
              <a:gdLst/>
              <a:ahLst/>
              <a:cxnLst/>
              <a:rect l="l" t="t" r="r" b="b"/>
              <a:pathLst>
                <a:path w="18414" h="77470">
                  <a:moveTo>
                    <a:pt x="0" y="76889"/>
                  </a:moveTo>
                  <a:lnTo>
                    <a:pt x="18240" y="76889"/>
                  </a:lnTo>
                  <a:lnTo>
                    <a:pt x="18240" y="0"/>
                  </a:lnTo>
                  <a:lnTo>
                    <a:pt x="0" y="0"/>
                  </a:lnTo>
                  <a:lnTo>
                    <a:pt x="0" y="76889"/>
                  </a:lnTo>
                  <a:close/>
                </a:path>
              </a:pathLst>
            </a:custGeom>
            <a:solidFill>
              <a:srgbClr val="9B9B9B"/>
            </a:solidFill>
          </p:spPr>
          <p:txBody>
            <a:bodyPr wrap="square" lIns="0" tIns="0" rIns="0" bIns="0" rtlCol="0"/>
            <a:lstStyle/>
            <a:p>
              <a:endParaRPr/>
            </a:p>
          </p:txBody>
        </p:sp>
        <p:sp>
          <p:nvSpPr>
            <p:cNvPr id="24" name="object 24"/>
            <p:cNvSpPr/>
            <p:nvPr/>
          </p:nvSpPr>
          <p:spPr>
            <a:xfrm>
              <a:off x="2409704" y="4934071"/>
              <a:ext cx="18415" cy="77470"/>
            </a:xfrm>
            <a:custGeom>
              <a:avLst/>
              <a:gdLst/>
              <a:ahLst/>
              <a:cxnLst/>
              <a:rect l="l" t="t" r="r" b="b"/>
              <a:pathLst>
                <a:path w="18414" h="77470">
                  <a:moveTo>
                    <a:pt x="0" y="76889"/>
                  </a:moveTo>
                  <a:lnTo>
                    <a:pt x="18240" y="76889"/>
                  </a:lnTo>
                  <a:lnTo>
                    <a:pt x="18240" y="0"/>
                  </a:lnTo>
                  <a:lnTo>
                    <a:pt x="0" y="0"/>
                  </a:lnTo>
                  <a:lnTo>
                    <a:pt x="0" y="76889"/>
                  </a:lnTo>
                  <a:close/>
                </a:path>
              </a:pathLst>
            </a:custGeom>
            <a:solidFill>
              <a:srgbClr val="959595"/>
            </a:solidFill>
          </p:spPr>
          <p:txBody>
            <a:bodyPr wrap="square" lIns="0" tIns="0" rIns="0" bIns="0" rtlCol="0"/>
            <a:lstStyle/>
            <a:p>
              <a:endParaRPr/>
            </a:p>
          </p:txBody>
        </p:sp>
        <p:sp>
          <p:nvSpPr>
            <p:cNvPr id="25" name="object 25"/>
            <p:cNvSpPr/>
            <p:nvPr/>
          </p:nvSpPr>
          <p:spPr>
            <a:xfrm>
              <a:off x="2424020" y="4934071"/>
              <a:ext cx="17780" cy="77470"/>
            </a:xfrm>
            <a:custGeom>
              <a:avLst/>
              <a:gdLst/>
              <a:ahLst/>
              <a:cxnLst/>
              <a:rect l="l" t="t" r="r" b="b"/>
              <a:pathLst>
                <a:path w="17780" h="77470">
                  <a:moveTo>
                    <a:pt x="0" y="76889"/>
                  </a:moveTo>
                  <a:lnTo>
                    <a:pt x="17778" y="76889"/>
                  </a:lnTo>
                  <a:lnTo>
                    <a:pt x="17778" y="0"/>
                  </a:lnTo>
                  <a:lnTo>
                    <a:pt x="0" y="0"/>
                  </a:lnTo>
                  <a:lnTo>
                    <a:pt x="0" y="76889"/>
                  </a:lnTo>
                  <a:close/>
                </a:path>
              </a:pathLst>
            </a:custGeom>
            <a:solidFill>
              <a:srgbClr val="919191"/>
            </a:solidFill>
          </p:spPr>
          <p:txBody>
            <a:bodyPr wrap="square" lIns="0" tIns="0" rIns="0" bIns="0" rtlCol="0"/>
            <a:lstStyle/>
            <a:p>
              <a:endParaRPr/>
            </a:p>
          </p:txBody>
        </p:sp>
        <p:sp>
          <p:nvSpPr>
            <p:cNvPr id="26" name="object 26"/>
            <p:cNvSpPr/>
            <p:nvPr/>
          </p:nvSpPr>
          <p:spPr>
            <a:xfrm>
              <a:off x="2439489" y="4934071"/>
              <a:ext cx="18415" cy="77470"/>
            </a:xfrm>
            <a:custGeom>
              <a:avLst/>
              <a:gdLst/>
              <a:ahLst/>
              <a:cxnLst/>
              <a:rect l="l" t="t" r="r" b="b"/>
              <a:pathLst>
                <a:path w="18414" h="77470">
                  <a:moveTo>
                    <a:pt x="0" y="76889"/>
                  </a:moveTo>
                  <a:lnTo>
                    <a:pt x="18240" y="76889"/>
                  </a:lnTo>
                  <a:lnTo>
                    <a:pt x="18240" y="0"/>
                  </a:lnTo>
                  <a:lnTo>
                    <a:pt x="0" y="0"/>
                  </a:lnTo>
                  <a:lnTo>
                    <a:pt x="0" y="76889"/>
                  </a:lnTo>
                  <a:close/>
                </a:path>
              </a:pathLst>
            </a:custGeom>
            <a:solidFill>
              <a:srgbClr val="8B8B8B"/>
            </a:solidFill>
          </p:spPr>
          <p:txBody>
            <a:bodyPr wrap="square" lIns="0" tIns="0" rIns="0" bIns="0" rtlCol="0"/>
            <a:lstStyle/>
            <a:p>
              <a:endParaRPr/>
            </a:p>
          </p:txBody>
        </p:sp>
        <p:sp>
          <p:nvSpPr>
            <p:cNvPr id="27" name="object 27"/>
            <p:cNvSpPr/>
            <p:nvPr/>
          </p:nvSpPr>
          <p:spPr>
            <a:xfrm>
              <a:off x="2451495" y="4934071"/>
              <a:ext cx="17780" cy="77470"/>
            </a:xfrm>
            <a:custGeom>
              <a:avLst/>
              <a:gdLst/>
              <a:ahLst/>
              <a:cxnLst/>
              <a:rect l="l" t="t" r="r" b="b"/>
              <a:pathLst>
                <a:path w="17780" h="77470">
                  <a:moveTo>
                    <a:pt x="0" y="76889"/>
                  </a:moveTo>
                  <a:lnTo>
                    <a:pt x="17547" y="76889"/>
                  </a:lnTo>
                  <a:lnTo>
                    <a:pt x="17547" y="0"/>
                  </a:lnTo>
                  <a:lnTo>
                    <a:pt x="0" y="0"/>
                  </a:lnTo>
                  <a:lnTo>
                    <a:pt x="0" y="76889"/>
                  </a:lnTo>
                  <a:close/>
                </a:path>
              </a:pathLst>
            </a:custGeom>
            <a:solidFill>
              <a:srgbClr val="868686"/>
            </a:solidFill>
          </p:spPr>
          <p:txBody>
            <a:bodyPr wrap="square" lIns="0" tIns="0" rIns="0" bIns="0" rtlCol="0"/>
            <a:lstStyle/>
            <a:p>
              <a:endParaRPr/>
            </a:p>
          </p:txBody>
        </p:sp>
        <p:sp>
          <p:nvSpPr>
            <p:cNvPr id="28" name="object 28"/>
            <p:cNvSpPr/>
            <p:nvPr/>
          </p:nvSpPr>
          <p:spPr>
            <a:xfrm>
              <a:off x="2091769" y="4918138"/>
              <a:ext cx="375920" cy="90805"/>
            </a:xfrm>
            <a:custGeom>
              <a:avLst/>
              <a:gdLst/>
              <a:ahLst/>
              <a:cxnLst/>
              <a:rect l="l" t="t" r="r" b="b"/>
              <a:pathLst>
                <a:path w="375919" h="90804">
                  <a:moveTo>
                    <a:pt x="0" y="0"/>
                  </a:moveTo>
                  <a:lnTo>
                    <a:pt x="0" y="90513"/>
                  </a:lnTo>
                  <a:lnTo>
                    <a:pt x="375657" y="90513"/>
                  </a:lnTo>
                  <a:lnTo>
                    <a:pt x="375657" y="0"/>
                  </a:lnTo>
                  <a:lnTo>
                    <a:pt x="0" y="0"/>
                  </a:lnTo>
                </a:path>
              </a:pathLst>
            </a:custGeom>
            <a:ln w="3175">
              <a:solidFill>
                <a:srgbClr val="000000"/>
              </a:solidFill>
            </a:ln>
          </p:spPr>
          <p:txBody>
            <a:bodyPr wrap="square" lIns="0" tIns="0" rIns="0" bIns="0" rtlCol="0"/>
            <a:lstStyle/>
            <a:p>
              <a:endParaRPr/>
            </a:p>
          </p:txBody>
        </p:sp>
        <p:sp>
          <p:nvSpPr>
            <p:cNvPr id="29" name="object 29"/>
            <p:cNvSpPr/>
            <p:nvPr/>
          </p:nvSpPr>
          <p:spPr>
            <a:xfrm>
              <a:off x="1935688" y="5050446"/>
              <a:ext cx="19685" cy="32384"/>
            </a:xfrm>
            <a:custGeom>
              <a:avLst/>
              <a:gdLst/>
              <a:ahLst/>
              <a:cxnLst/>
              <a:rect l="l" t="t" r="r" b="b"/>
              <a:pathLst>
                <a:path w="19685" h="32385">
                  <a:moveTo>
                    <a:pt x="19625" y="0"/>
                  </a:moveTo>
                  <a:lnTo>
                    <a:pt x="0" y="0"/>
                  </a:lnTo>
                  <a:lnTo>
                    <a:pt x="0" y="31864"/>
                  </a:lnTo>
                  <a:lnTo>
                    <a:pt x="19625" y="31864"/>
                  </a:lnTo>
                  <a:lnTo>
                    <a:pt x="19625" y="0"/>
                  </a:lnTo>
                  <a:close/>
                </a:path>
              </a:pathLst>
            </a:custGeom>
            <a:solidFill>
              <a:srgbClr val="FBFBFB"/>
            </a:solidFill>
          </p:spPr>
          <p:txBody>
            <a:bodyPr wrap="square" lIns="0" tIns="0" rIns="0" bIns="0" rtlCol="0"/>
            <a:lstStyle/>
            <a:p>
              <a:endParaRPr/>
            </a:p>
          </p:txBody>
        </p:sp>
        <p:sp>
          <p:nvSpPr>
            <p:cNvPr id="30" name="object 30"/>
            <p:cNvSpPr/>
            <p:nvPr/>
          </p:nvSpPr>
          <p:spPr>
            <a:xfrm>
              <a:off x="1951620" y="5050446"/>
              <a:ext cx="21590" cy="32384"/>
            </a:xfrm>
            <a:custGeom>
              <a:avLst/>
              <a:gdLst/>
              <a:ahLst/>
              <a:cxnLst/>
              <a:rect l="l" t="t" r="r" b="b"/>
              <a:pathLst>
                <a:path w="21589" h="32385">
                  <a:moveTo>
                    <a:pt x="21241" y="0"/>
                  </a:moveTo>
                  <a:lnTo>
                    <a:pt x="0" y="0"/>
                  </a:lnTo>
                  <a:lnTo>
                    <a:pt x="0" y="31864"/>
                  </a:lnTo>
                  <a:lnTo>
                    <a:pt x="21241" y="31864"/>
                  </a:lnTo>
                  <a:lnTo>
                    <a:pt x="21241" y="0"/>
                  </a:lnTo>
                  <a:close/>
                </a:path>
              </a:pathLst>
            </a:custGeom>
            <a:solidFill>
              <a:srgbClr val="F8F8F8"/>
            </a:solidFill>
          </p:spPr>
          <p:txBody>
            <a:bodyPr wrap="square" lIns="0" tIns="0" rIns="0" bIns="0" rtlCol="0"/>
            <a:lstStyle/>
            <a:p>
              <a:endParaRPr/>
            </a:p>
          </p:txBody>
        </p:sp>
        <p:sp>
          <p:nvSpPr>
            <p:cNvPr id="31" name="object 31"/>
            <p:cNvSpPr/>
            <p:nvPr/>
          </p:nvSpPr>
          <p:spPr>
            <a:xfrm>
              <a:off x="1966859"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F7F7F7"/>
            </a:solidFill>
          </p:spPr>
          <p:txBody>
            <a:bodyPr wrap="square" lIns="0" tIns="0" rIns="0" bIns="0" rtlCol="0"/>
            <a:lstStyle/>
            <a:p>
              <a:endParaRPr/>
            </a:p>
          </p:txBody>
        </p:sp>
        <p:sp>
          <p:nvSpPr>
            <p:cNvPr id="32" name="object 32"/>
            <p:cNvSpPr/>
            <p:nvPr/>
          </p:nvSpPr>
          <p:spPr>
            <a:xfrm>
              <a:off x="1985086" y="5050447"/>
              <a:ext cx="35560" cy="32384"/>
            </a:xfrm>
            <a:custGeom>
              <a:avLst/>
              <a:gdLst/>
              <a:ahLst/>
              <a:cxnLst/>
              <a:rect l="l" t="t" r="r" b="b"/>
              <a:pathLst>
                <a:path w="35560" h="32385">
                  <a:moveTo>
                    <a:pt x="35102" y="0"/>
                  </a:moveTo>
                  <a:lnTo>
                    <a:pt x="19634" y="0"/>
                  </a:lnTo>
                  <a:lnTo>
                    <a:pt x="15240" y="0"/>
                  </a:lnTo>
                  <a:lnTo>
                    <a:pt x="0" y="0"/>
                  </a:lnTo>
                  <a:lnTo>
                    <a:pt x="0" y="31877"/>
                  </a:lnTo>
                  <a:lnTo>
                    <a:pt x="15240" y="31877"/>
                  </a:lnTo>
                  <a:lnTo>
                    <a:pt x="19634" y="31877"/>
                  </a:lnTo>
                  <a:lnTo>
                    <a:pt x="35102" y="31877"/>
                  </a:lnTo>
                  <a:lnTo>
                    <a:pt x="35102" y="0"/>
                  </a:lnTo>
                  <a:close/>
                </a:path>
              </a:pathLst>
            </a:custGeom>
            <a:solidFill>
              <a:srgbClr val="F1F1F1"/>
            </a:solidFill>
          </p:spPr>
          <p:txBody>
            <a:bodyPr wrap="square" lIns="0" tIns="0" rIns="0" bIns="0" rtlCol="0"/>
            <a:lstStyle/>
            <a:p>
              <a:endParaRPr/>
            </a:p>
          </p:txBody>
        </p:sp>
        <p:sp>
          <p:nvSpPr>
            <p:cNvPr id="33" name="object 33"/>
            <p:cNvSpPr/>
            <p:nvPr/>
          </p:nvSpPr>
          <p:spPr>
            <a:xfrm>
              <a:off x="2016268"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ECECEC"/>
            </a:solidFill>
          </p:spPr>
          <p:txBody>
            <a:bodyPr wrap="square" lIns="0" tIns="0" rIns="0" bIns="0" rtlCol="0"/>
            <a:lstStyle/>
            <a:p>
              <a:endParaRPr/>
            </a:p>
          </p:txBody>
        </p:sp>
        <p:sp>
          <p:nvSpPr>
            <p:cNvPr id="34" name="object 34"/>
            <p:cNvSpPr/>
            <p:nvPr/>
          </p:nvSpPr>
          <p:spPr>
            <a:xfrm>
              <a:off x="2034509"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EAEAEA"/>
            </a:solidFill>
          </p:spPr>
          <p:txBody>
            <a:bodyPr wrap="square" lIns="0" tIns="0" rIns="0" bIns="0" rtlCol="0"/>
            <a:lstStyle/>
            <a:p>
              <a:endParaRPr/>
            </a:p>
          </p:txBody>
        </p:sp>
        <p:sp>
          <p:nvSpPr>
            <p:cNvPr id="35" name="object 35"/>
            <p:cNvSpPr/>
            <p:nvPr/>
          </p:nvSpPr>
          <p:spPr>
            <a:xfrm>
              <a:off x="2048132" y="5050446"/>
              <a:ext cx="21590" cy="32384"/>
            </a:xfrm>
            <a:custGeom>
              <a:avLst/>
              <a:gdLst/>
              <a:ahLst/>
              <a:cxnLst/>
              <a:rect l="l" t="t" r="r" b="b"/>
              <a:pathLst>
                <a:path w="21589" h="32385">
                  <a:moveTo>
                    <a:pt x="21472" y="0"/>
                  </a:moveTo>
                  <a:lnTo>
                    <a:pt x="0" y="0"/>
                  </a:lnTo>
                  <a:lnTo>
                    <a:pt x="0" y="31864"/>
                  </a:lnTo>
                  <a:lnTo>
                    <a:pt x="21472" y="31864"/>
                  </a:lnTo>
                  <a:lnTo>
                    <a:pt x="21472" y="0"/>
                  </a:lnTo>
                  <a:close/>
                </a:path>
              </a:pathLst>
            </a:custGeom>
            <a:solidFill>
              <a:srgbClr val="E8E8E8"/>
            </a:solidFill>
          </p:spPr>
          <p:txBody>
            <a:bodyPr wrap="square" lIns="0" tIns="0" rIns="0" bIns="0" rtlCol="0"/>
            <a:lstStyle/>
            <a:p>
              <a:endParaRPr/>
            </a:p>
          </p:txBody>
        </p:sp>
        <p:sp>
          <p:nvSpPr>
            <p:cNvPr id="36" name="object 36"/>
            <p:cNvSpPr/>
            <p:nvPr/>
          </p:nvSpPr>
          <p:spPr>
            <a:xfrm>
              <a:off x="2064294" y="5050446"/>
              <a:ext cx="21590" cy="32384"/>
            </a:xfrm>
            <a:custGeom>
              <a:avLst/>
              <a:gdLst/>
              <a:ahLst/>
              <a:cxnLst/>
              <a:rect l="l" t="t" r="r" b="b"/>
              <a:pathLst>
                <a:path w="21589" h="32385">
                  <a:moveTo>
                    <a:pt x="21241" y="0"/>
                  </a:moveTo>
                  <a:lnTo>
                    <a:pt x="0" y="0"/>
                  </a:lnTo>
                  <a:lnTo>
                    <a:pt x="0" y="31864"/>
                  </a:lnTo>
                  <a:lnTo>
                    <a:pt x="21241" y="31864"/>
                  </a:lnTo>
                  <a:lnTo>
                    <a:pt x="21241" y="0"/>
                  </a:lnTo>
                  <a:close/>
                </a:path>
              </a:pathLst>
            </a:custGeom>
            <a:solidFill>
              <a:srgbClr val="E4E4E4"/>
            </a:solidFill>
          </p:spPr>
          <p:txBody>
            <a:bodyPr wrap="square" lIns="0" tIns="0" rIns="0" bIns="0" rtlCol="0"/>
            <a:lstStyle/>
            <a:p>
              <a:endParaRPr/>
            </a:p>
          </p:txBody>
        </p:sp>
        <p:sp>
          <p:nvSpPr>
            <p:cNvPr id="37" name="object 37"/>
            <p:cNvSpPr/>
            <p:nvPr/>
          </p:nvSpPr>
          <p:spPr>
            <a:xfrm>
              <a:off x="2083918" y="5050446"/>
              <a:ext cx="17780" cy="32384"/>
            </a:xfrm>
            <a:custGeom>
              <a:avLst/>
              <a:gdLst/>
              <a:ahLst/>
              <a:cxnLst/>
              <a:rect l="l" t="t" r="r" b="b"/>
              <a:pathLst>
                <a:path w="17780" h="32385">
                  <a:moveTo>
                    <a:pt x="17547" y="0"/>
                  </a:moveTo>
                  <a:lnTo>
                    <a:pt x="0" y="0"/>
                  </a:lnTo>
                  <a:lnTo>
                    <a:pt x="0" y="31864"/>
                  </a:lnTo>
                  <a:lnTo>
                    <a:pt x="17547" y="31864"/>
                  </a:lnTo>
                  <a:lnTo>
                    <a:pt x="17547" y="0"/>
                  </a:lnTo>
                  <a:close/>
                </a:path>
              </a:pathLst>
            </a:custGeom>
            <a:solidFill>
              <a:srgbClr val="E1E1E1"/>
            </a:solidFill>
          </p:spPr>
          <p:txBody>
            <a:bodyPr wrap="square" lIns="0" tIns="0" rIns="0" bIns="0" rtlCol="0"/>
            <a:lstStyle/>
            <a:p>
              <a:endParaRPr/>
            </a:p>
          </p:txBody>
        </p:sp>
        <p:sp>
          <p:nvSpPr>
            <p:cNvPr id="38" name="object 38"/>
            <p:cNvSpPr/>
            <p:nvPr/>
          </p:nvSpPr>
          <p:spPr>
            <a:xfrm>
              <a:off x="2097771" y="5050446"/>
              <a:ext cx="21590" cy="32384"/>
            </a:xfrm>
            <a:custGeom>
              <a:avLst/>
              <a:gdLst/>
              <a:ahLst/>
              <a:cxnLst/>
              <a:rect l="l" t="t" r="r" b="b"/>
              <a:pathLst>
                <a:path w="21589" h="32385">
                  <a:moveTo>
                    <a:pt x="21472" y="0"/>
                  </a:moveTo>
                  <a:lnTo>
                    <a:pt x="0" y="0"/>
                  </a:lnTo>
                  <a:lnTo>
                    <a:pt x="0" y="31864"/>
                  </a:lnTo>
                  <a:lnTo>
                    <a:pt x="21472" y="31864"/>
                  </a:lnTo>
                  <a:lnTo>
                    <a:pt x="21472" y="0"/>
                  </a:lnTo>
                  <a:close/>
                </a:path>
              </a:pathLst>
            </a:custGeom>
            <a:solidFill>
              <a:srgbClr val="DFDFDF"/>
            </a:solidFill>
          </p:spPr>
          <p:txBody>
            <a:bodyPr wrap="square" lIns="0" tIns="0" rIns="0" bIns="0" rtlCol="0"/>
            <a:lstStyle/>
            <a:p>
              <a:endParaRPr/>
            </a:p>
          </p:txBody>
        </p:sp>
        <p:sp>
          <p:nvSpPr>
            <p:cNvPr id="39" name="object 39"/>
            <p:cNvSpPr/>
            <p:nvPr/>
          </p:nvSpPr>
          <p:spPr>
            <a:xfrm>
              <a:off x="2113703" y="5050446"/>
              <a:ext cx="21590" cy="32384"/>
            </a:xfrm>
            <a:custGeom>
              <a:avLst/>
              <a:gdLst/>
              <a:ahLst/>
              <a:cxnLst/>
              <a:rect l="l" t="t" r="r" b="b"/>
              <a:pathLst>
                <a:path w="21589" h="32385">
                  <a:moveTo>
                    <a:pt x="21472" y="0"/>
                  </a:moveTo>
                  <a:lnTo>
                    <a:pt x="0" y="0"/>
                  </a:lnTo>
                  <a:lnTo>
                    <a:pt x="0" y="31864"/>
                  </a:lnTo>
                  <a:lnTo>
                    <a:pt x="21472" y="31864"/>
                  </a:lnTo>
                  <a:lnTo>
                    <a:pt x="21472" y="0"/>
                  </a:lnTo>
                  <a:close/>
                </a:path>
              </a:pathLst>
            </a:custGeom>
            <a:solidFill>
              <a:srgbClr val="DDDDDD"/>
            </a:solidFill>
          </p:spPr>
          <p:txBody>
            <a:bodyPr wrap="square" lIns="0" tIns="0" rIns="0" bIns="0" rtlCol="0"/>
            <a:lstStyle/>
            <a:p>
              <a:endParaRPr/>
            </a:p>
          </p:txBody>
        </p:sp>
        <p:sp>
          <p:nvSpPr>
            <p:cNvPr id="40" name="object 40"/>
            <p:cNvSpPr/>
            <p:nvPr/>
          </p:nvSpPr>
          <p:spPr>
            <a:xfrm>
              <a:off x="2131251"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DBDBDB"/>
            </a:solidFill>
          </p:spPr>
          <p:txBody>
            <a:bodyPr wrap="square" lIns="0" tIns="0" rIns="0" bIns="0" rtlCol="0"/>
            <a:lstStyle/>
            <a:p>
              <a:endParaRPr/>
            </a:p>
          </p:txBody>
        </p:sp>
        <p:sp>
          <p:nvSpPr>
            <p:cNvPr id="41" name="object 41"/>
            <p:cNvSpPr/>
            <p:nvPr/>
          </p:nvSpPr>
          <p:spPr>
            <a:xfrm>
              <a:off x="2147183"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D7D7D7"/>
            </a:solidFill>
          </p:spPr>
          <p:txBody>
            <a:bodyPr wrap="square" lIns="0" tIns="0" rIns="0" bIns="0" rtlCol="0"/>
            <a:lstStyle/>
            <a:p>
              <a:endParaRPr/>
            </a:p>
          </p:txBody>
        </p:sp>
        <p:sp>
          <p:nvSpPr>
            <p:cNvPr id="42" name="object 42"/>
            <p:cNvSpPr/>
            <p:nvPr/>
          </p:nvSpPr>
          <p:spPr>
            <a:xfrm>
              <a:off x="2163115" y="5050446"/>
              <a:ext cx="21590" cy="32384"/>
            </a:xfrm>
            <a:custGeom>
              <a:avLst/>
              <a:gdLst/>
              <a:ahLst/>
              <a:cxnLst/>
              <a:rect l="l" t="t" r="r" b="b"/>
              <a:pathLst>
                <a:path w="21589" h="32385">
                  <a:moveTo>
                    <a:pt x="21472" y="0"/>
                  </a:moveTo>
                  <a:lnTo>
                    <a:pt x="0" y="0"/>
                  </a:lnTo>
                  <a:lnTo>
                    <a:pt x="0" y="31864"/>
                  </a:lnTo>
                  <a:lnTo>
                    <a:pt x="21472" y="31864"/>
                  </a:lnTo>
                  <a:lnTo>
                    <a:pt x="21472" y="0"/>
                  </a:lnTo>
                  <a:close/>
                </a:path>
              </a:pathLst>
            </a:custGeom>
            <a:solidFill>
              <a:srgbClr val="D5D5D5"/>
            </a:solidFill>
          </p:spPr>
          <p:txBody>
            <a:bodyPr wrap="square" lIns="0" tIns="0" rIns="0" bIns="0" rtlCol="0"/>
            <a:lstStyle/>
            <a:p>
              <a:endParaRPr/>
            </a:p>
          </p:txBody>
        </p:sp>
        <p:sp>
          <p:nvSpPr>
            <p:cNvPr id="43" name="object 43"/>
            <p:cNvSpPr/>
            <p:nvPr/>
          </p:nvSpPr>
          <p:spPr>
            <a:xfrm>
              <a:off x="2180660"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D2D2D2"/>
            </a:solidFill>
          </p:spPr>
          <p:txBody>
            <a:bodyPr wrap="square" lIns="0" tIns="0" rIns="0" bIns="0" rtlCol="0"/>
            <a:lstStyle/>
            <a:p>
              <a:endParaRPr/>
            </a:p>
          </p:txBody>
        </p:sp>
        <p:sp>
          <p:nvSpPr>
            <p:cNvPr id="44" name="object 44"/>
            <p:cNvSpPr/>
            <p:nvPr/>
          </p:nvSpPr>
          <p:spPr>
            <a:xfrm>
              <a:off x="2196592"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D1D1D1"/>
            </a:solidFill>
          </p:spPr>
          <p:txBody>
            <a:bodyPr wrap="square" lIns="0" tIns="0" rIns="0" bIns="0" rtlCol="0"/>
            <a:lstStyle/>
            <a:p>
              <a:endParaRPr/>
            </a:p>
          </p:txBody>
        </p:sp>
        <p:sp>
          <p:nvSpPr>
            <p:cNvPr id="45" name="object 45"/>
            <p:cNvSpPr/>
            <p:nvPr/>
          </p:nvSpPr>
          <p:spPr>
            <a:xfrm>
              <a:off x="2212524" y="5050446"/>
              <a:ext cx="21590" cy="32384"/>
            </a:xfrm>
            <a:custGeom>
              <a:avLst/>
              <a:gdLst/>
              <a:ahLst/>
              <a:cxnLst/>
              <a:rect l="l" t="t" r="r" b="b"/>
              <a:pathLst>
                <a:path w="21589" h="32385">
                  <a:moveTo>
                    <a:pt x="21472" y="0"/>
                  </a:moveTo>
                  <a:lnTo>
                    <a:pt x="0" y="0"/>
                  </a:lnTo>
                  <a:lnTo>
                    <a:pt x="0" y="31864"/>
                  </a:lnTo>
                  <a:lnTo>
                    <a:pt x="21472" y="31864"/>
                  </a:lnTo>
                  <a:lnTo>
                    <a:pt x="21472" y="0"/>
                  </a:lnTo>
                  <a:close/>
                </a:path>
              </a:pathLst>
            </a:custGeom>
            <a:solidFill>
              <a:srgbClr val="CECECE"/>
            </a:solidFill>
          </p:spPr>
          <p:txBody>
            <a:bodyPr wrap="square" lIns="0" tIns="0" rIns="0" bIns="0" rtlCol="0"/>
            <a:lstStyle/>
            <a:p>
              <a:endParaRPr/>
            </a:p>
          </p:txBody>
        </p:sp>
        <p:sp>
          <p:nvSpPr>
            <p:cNvPr id="46" name="object 46"/>
            <p:cNvSpPr/>
            <p:nvPr/>
          </p:nvSpPr>
          <p:spPr>
            <a:xfrm>
              <a:off x="2227993" y="5050446"/>
              <a:ext cx="22225" cy="32384"/>
            </a:xfrm>
            <a:custGeom>
              <a:avLst/>
              <a:gdLst/>
              <a:ahLst/>
              <a:cxnLst/>
              <a:rect l="l" t="t" r="r" b="b"/>
              <a:pathLst>
                <a:path w="22225" h="32385">
                  <a:moveTo>
                    <a:pt x="21934" y="0"/>
                  </a:moveTo>
                  <a:lnTo>
                    <a:pt x="0" y="0"/>
                  </a:lnTo>
                  <a:lnTo>
                    <a:pt x="0" y="31864"/>
                  </a:lnTo>
                  <a:lnTo>
                    <a:pt x="21934" y="31864"/>
                  </a:lnTo>
                  <a:lnTo>
                    <a:pt x="21934" y="0"/>
                  </a:lnTo>
                  <a:close/>
                </a:path>
              </a:pathLst>
            </a:custGeom>
            <a:solidFill>
              <a:srgbClr val="CCCCCC"/>
            </a:solidFill>
          </p:spPr>
          <p:txBody>
            <a:bodyPr wrap="square" lIns="0" tIns="0" rIns="0" bIns="0" rtlCol="0"/>
            <a:lstStyle/>
            <a:p>
              <a:endParaRPr/>
            </a:p>
          </p:txBody>
        </p:sp>
        <p:sp>
          <p:nvSpPr>
            <p:cNvPr id="47" name="object 47"/>
            <p:cNvSpPr/>
            <p:nvPr/>
          </p:nvSpPr>
          <p:spPr>
            <a:xfrm>
              <a:off x="2243925" y="5050446"/>
              <a:ext cx="19685" cy="32384"/>
            </a:xfrm>
            <a:custGeom>
              <a:avLst/>
              <a:gdLst/>
              <a:ahLst/>
              <a:cxnLst/>
              <a:rect l="l" t="t" r="r" b="b"/>
              <a:pathLst>
                <a:path w="19685" h="32385">
                  <a:moveTo>
                    <a:pt x="19625" y="0"/>
                  </a:moveTo>
                  <a:lnTo>
                    <a:pt x="0" y="0"/>
                  </a:lnTo>
                  <a:lnTo>
                    <a:pt x="0" y="31864"/>
                  </a:lnTo>
                  <a:lnTo>
                    <a:pt x="19625" y="31864"/>
                  </a:lnTo>
                  <a:lnTo>
                    <a:pt x="19625" y="0"/>
                  </a:lnTo>
                  <a:close/>
                </a:path>
              </a:pathLst>
            </a:custGeom>
            <a:solidFill>
              <a:srgbClr val="C8C8C8"/>
            </a:solidFill>
          </p:spPr>
          <p:txBody>
            <a:bodyPr wrap="square" lIns="0" tIns="0" rIns="0" bIns="0" rtlCol="0"/>
            <a:lstStyle/>
            <a:p>
              <a:endParaRPr/>
            </a:p>
          </p:txBody>
        </p:sp>
        <p:sp>
          <p:nvSpPr>
            <p:cNvPr id="48" name="object 48"/>
            <p:cNvSpPr/>
            <p:nvPr/>
          </p:nvSpPr>
          <p:spPr>
            <a:xfrm>
              <a:off x="2261937" y="5050446"/>
              <a:ext cx="19685" cy="32384"/>
            </a:xfrm>
            <a:custGeom>
              <a:avLst/>
              <a:gdLst/>
              <a:ahLst/>
              <a:cxnLst/>
              <a:rect l="l" t="t" r="r" b="b"/>
              <a:pathLst>
                <a:path w="19685" h="32385">
                  <a:moveTo>
                    <a:pt x="19394" y="0"/>
                  </a:moveTo>
                  <a:lnTo>
                    <a:pt x="0" y="0"/>
                  </a:lnTo>
                  <a:lnTo>
                    <a:pt x="0" y="31864"/>
                  </a:lnTo>
                  <a:lnTo>
                    <a:pt x="19394" y="31864"/>
                  </a:lnTo>
                  <a:lnTo>
                    <a:pt x="19394" y="0"/>
                  </a:lnTo>
                  <a:close/>
                </a:path>
              </a:pathLst>
            </a:custGeom>
            <a:solidFill>
              <a:srgbClr val="C5C5C5"/>
            </a:solidFill>
          </p:spPr>
          <p:txBody>
            <a:bodyPr wrap="square" lIns="0" tIns="0" rIns="0" bIns="0" rtlCol="0"/>
            <a:lstStyle/>
            <a:p>
              <a:endParaRPr/>
            </a:p>
          </p:txBody>
        </p:sp>
        <p:sp>
          <p:nvSpPr>
            <p:cNvPr id="49" name="object 49"/>
            <p:cNvSpPr/>
            <p:nvPr/>
          </p:nvSpPr>
          <p:spPr>
            <a:xfrm>
              <a:off x="2277406"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C4C4C4"/>
            </a:solidFill>
          </p:spPr>
          <p:txBody>
            <a:bodyPr wrap="square" lIns="0" tIns="0" rIns="0" bIns="0" rtlCol="0"/>
            <a:lstStyle/>
            <a:p>
              <a:endParaRPr/>
            </a:p>
          </p:txBody>
        </p:sp>
        <p:sp>
          <p:nvSpPr>
            <p:cNvPr id="50" name="object 50"/>
            <p:cNvSpPr/>
            <p:nvPr/>
          </p:nvSpPr>
          <p:spPr>
            <a:xfrm>
              <a:off x="2293338"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BEBEBE"/>
            </a:solidFill>
          </p:spPr>
          <p:txBody>
            <a:bodyPr wrap="square" lIns="0" tIns="0" rIns="0" bIns="0" rtlCol="0"/>
            <a:lstStyle/>
            <a:p>
              <a:endParaRPr/>
            </a:p>
          </p:txBody>
        </p:sp>
        <p:sp>
          <p:nvSpPr>
            <p:cNvPr id="51" name="object 51"/>
            <p:cNvSpPr/>
            <p:nvPr/>
          </p:nvSpPr>
          <p:spPr>
            <a:xfrm>
              <a:off x="2310883"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BBBBBB"/>
            </a:solidFill>
          </p:spPr>
          <p:txBody>
            <a:bodyPr wrap="square" lIns="0" tIns="0" rIns="0" bIns="0" rtlCol="0"/>
            <a:lstStyle/>
            <a:p>
              <a:endParaRPr/>
            </a:p>
          </p:txBody>
        </p:sp>
        <p:sp>
          <p:nvSpPr>
            <p:cNvPr id="52" name="object 52"/>
            <p:cNvSpPr/>
            <p:nvPr/>
          </p:nvSpPr>
          <p:spPr>
            <a:xfrm>
              <a:off x="2325198" y="5050446"/>
              <a:ext cx="21590" cy="32384"/>
            </a:xfrm>
            <a:custGeom>
              <a:avLst/>
              <a:gdLst/>
              <a:ahLst/>
              <a:cxnLst/>
              <a:rect l="l" t="t" r="r" b="b"/>
              <a:pathLst>
                <a:path w="21589" h="32385">
                  <a:moveTo>
                    <a:pt x="21472" y="0"/>
                  </a:moveTo>
                  <a:lnTo>
                    <a:pt x="0" y="0"/>
                  </a:lnTo>
                  <a:lnTo>
                    <a:pt x="0" y="31864"/>
                  </a:lnTo>
                  <a:lnTo>
                    <a:pt x="21472" y="31864"/>
                  </a:lnTo>
                  <a:lnTo>
                    <a:pt x="21472" y="0"/>
                  </a:lnTo>
                  <a:close/>
                </a:path>
              </a:pathLst>
            </a:custGeom>
            <a:solidFill>
              <a:srgbClr val="B9B9B9"/>
            </a:solidFill>
          </p:spPr>
          <p:txBody>
            <a:bodyPr wrap="square" lIns="0" tIns="0" rIns="0" bIns="0" rtlCol="0"/>
            <a:lstStyle/>
            <a:p>
              <a:endParaRPr/>
            </a:p>
          </p:txBody>
        </p:sp>
        <p:sp>
          <p:nvSpPr>
            <p:cNvPr id="53" name="object 53"/>
            <p:cNvSpPr/>
            <p:nvPr/>
          </p:nvSpPr>
          <p:spPr>
            <a:xfrm>
              <a:off x="2342747"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B7B7B7"/>
            </a:solidFill>
          </p:spPr>
          <p:txBody>
            <a:bodyPr wrap="square" lIns="0" tIns="0" rIns="0" bIns="0" rtlCol="0"/>
            <a:lstStyle/>
            <a:p>
              <a:endParaRPr/>
            </a:p>
          </p:txBody>
        </p:sp>
        <p:sp>
          <p:nvSpPr>
            <p:cNvPr id="54" name="object 54"/>
            <p:cNvSpPr/>
            <p:nvPr/>
          </p:nvSpPr>
          <p:spPr>
            <a:xfrm>
              <a:off x="2358679" y="5050446"/>
              <a:ext cx="21590" cy="32384"/>
            </a:xfrm>
            <a:custGeom>
              <a:avLst/>
              <a:gdLst/>
              <a:ahLst/>
              <a:cxnLst/>
              <a:rect l="l" t="t" r="r" b="b"/>
              <a:pathLst>
                <a:path w="21589" h="32385">
                  <a:moveTo>
                    <a:pt x="21472" y="0"/>
                  </a:moveTo>
                  <a:lnTo>
                    <a:pt x="0" y="0"/>
                  </a:lnTo>
                  <a:lnTo>
                    <a:pt x="0" y="31864"/>
                  </a:lnTo>
                  <a:lnTo>
                    <a:pt x="21472" y="31864"/>
                  </a:lnTo>
                  <a:lnTo>
                    <a:pt x="21472" y="0"/>
                  </a:lnTo>
                  <a:close/>
                </a:path>
              </a:pathLst>
            </a:custGeom>
            <a:solidFill>
              <a:srgbClr val="B5B5B5"/>
            </a:solidFill>
          </p:spPr>
          <p:txBody>
            <a:bodyPr wrap="square" lIns="0" tIns="0" rIns="0" bIns="0" rtlCol="0"/>
            <a:lstStyle/>
            <a:p>
              <a:endParaRPr/>
            </a:p>
          </p:txBody>
        </p:sp>
        <p:sp>
          <p:nvSpPr>
            <p:cNvPr id="55" name="object 55"/>
            <p:cNvSpPr/>
            <p:nvPr/>
          </p:nvSpPr>
          <p:spPr>
            <a:xfrm>
              <a:off x="2374611" y="5050446"/>
              <a:ext cx="21590" cy="32384"/>
            </a:xfrm>
            <a:custGeom>
              <a:avLst/>
              <a:gdLst/>
              <a:ahLst/>
              <a:cxnLst/>
              <a:rect l="l" t="t" r="r" b="b"/>
              <a:pathLst>
                <a:path w="21589" h="32385">
                  <a:moveTo>
                    <a:pt x="21472" y="0"/>
                  </a:moveTo>
                  <a:lnTo>
                    <a:pt x="0" y="0"/>
                  </a:lnTo>
                  <a:lnTo>
                    <a:pt x="0" y="31864"/>
                  </a:lnTo>
                  <a:lnTo>
                    <a:pt x="21472" y="31864"/>
                  </a:lnTo>
                  <a:lnTo>
                    <a:pt x="21472" y="0"/>
                  </a:lnTo>
                  <a:close/>
                </a:path>
              </a:pathLst>
            </a:custGeom>
            <a:solidFill>
              <a:srgbClr val="B1B1B1"/>
            </a:solidFill>
          </p:spPr>
          <p:txBody>
            <a:bodyPr wrap="square" lIns="0" tIns="0" rIns="0" bIns="0" rtlCol="0"/>
            <a:lstStyle/>
            <a:p>
              <a:endParaRPr/>
            </a:p>
          </p:txBody>
        </p:sp>
        <p:sp>
          <p:nvSpPr>
            <p:cNvPr id="56" name="object 56"/>
            <p:cNvSpPr/>
            <p:nvPr/>
          </p:nvSpPr>
          <p:spPr>
            <a:xfrm>
              <a:off x="2390080" y="5050446"/>
              <a:ext cx="22225" cy="32384"/>
            </a:xfrm>
            <a:custGeom>
              <a:avLst/>
              <a:gdLst/>
              <a:ahLst/>
              <a:cxnLst/>
              <a:rect l="l" t="t" r="r" b="b"/>
              <a:pathLst>
                <a:path w="22225" h="32385">
                  <a:moveTo>
                    <a:pt x="21934" y="0"/>
                  </a:moveTo>
                  <a:lnTo>
                    <a:pt x="0" y="0"/>
                  </a:lnTo>
                  <a:lnTo>
                    <a:pt x="0" y="31864"/>
                  </a:lnTo>
                  <a:lnTo>
                    <a:pt x="21934" y="31864"/>
                  </a:lnTo>
                  <a:lnTo>
                    <a:pt x="21934" y="0"/>
                  </a:lnTo>
                  <a:close/>
                </a:path>
              </a:pathLst>
            </a:custGeom>
            <a:solidFill>
              <a:srgbClr val="AEAEAE"/>
            </a:solidFill>
          </p:spPr>
          <p:txBody>
            <a:bodyPr wrap="square" lIns="0" tIns="0" rIns="0" bIns="0" rtlCol="0"/>
            <a:lstStyle/>
            <a:p>
              <a:endParaRPr/>
            </a:p>
          </p:txBody>
        </p:sp>
        <p:sp>
          <p:nvSpPr>
            <p:cNvPr id="57" name="object 57"/>
            <p:cNvSpPr/>
            <p:nvPr/>
          </p:nvSpPr>
          <p:spPr>
            <a:xfrm>
              <a:off x="2408088"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ACACAC"/>
            </a:solidFill>
          </p:spPr>
          <p:txBody>
            <a:bodyPr wrap="square" lIns="0" tIns="0" rIns="0" bIns="0" rtlCol="0"/>
            <a:lstStyle/>
            <a:p>
              <a:endParaRPr/>
            </a:p>
          </p:txBody>
        </p:sp>
        <p:sp>
          <p:nvSpPr>
            <p:cNvPr id="58" name="object 58"/>
            <p:cNvSpPr/>
            <p:nvPr/>
          </p:nvSpPr>
          <p:spPr>
            <a:xfrm>
              <a:off x="2424020"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AAAAAA"/>
            </a:solidFill>
          </p:spPr>
          <p:txBody>
            <a:bodyPr wrap="square" lIns="0" tIns="0" rIns="0" bIns="0" rtlCol="0"/>
            <a:lstStyle/>
            <a:p>
              <a:endParaRPr/>
            </a:p>
          </p:txBody>
        </p:sp>
        <p:sp>
          <p:nvSpPr>
            <p:cNvPr id="59" name="object 59"/>
            <p:cNvSpPr/>
            <p:nvPr/>
          </p:nvSpPr>
          <p:spPr>
            <a:xfrm>
              <a:off x="2439489" y="5050446"/>
              <a:ext cx="22225" cy="32384"/>
            </a:xfrm>
            <a:custGeom>
              <a:avLst/>
              <a:gdLst/>
              <a:ahLst/>
              <a:cxnLst/>
              <a:rect l="l" t="t" r="r" b="b"/>
              <a:pathLst>
                <a:path w="22225" h="32385">
                  <a:moveTo>
                    <a:pt x="21934" y="0"/>
                  </a:moveTo>
                  <a:lnTo>
                    <a:pt x="0" y="0"/>
                  </a:lnTo>
                  <a:lnTo>
                    <a:pt x="0" y="31864"/>
                  </a:lnTo>
                  <a:lnTo>
                    <a:pt x="21934" y="31864"/>
                  </a:lnTo>
                  <a:lnTo>
                    <a:pt x="21934" y="0"/>
                  </a:lnTo>
                  <a:close/>
                </a:path>
              </a:pathLst>
            </a:custGeom>
            <a:solidFill>
              <a:srgbClr val="A8A8A8"/>
            </a:solidFill>
          </p:spPr>
          <p:txBody>
            <a:bodyPr wrap="square" lIns="0" tIns="0" rIns="0" bIns="0" rtlCol="0"/>
            <a:lstStyle/>
            <a:p>
              <a:endParaRPr/>
            </a:p>
          </p:txBody>
        </p:sp>
        <p:sp>
          <p:nvSpPr>
            <p:cNvPr id="60" name="object 60"/>
            <p:cNvSpPr/>
            <p:nvPr/>
          </p:nvSpPr>
          <p:spPr>
            <a:xfrm>
              <a:off x="2457730" y="5050446"/>
              <a:ext cx="19685" cy="32384"/>
            </a:xfrm>
            <a:custGeom>
              <a:avLst/>
              <a:gdLst/>
              <a:ahLst/>
              <a:cxnLst/>
              <a:rect l="l" t="t" r="r" b="b"/>
              <a:pathLst>
                <a:path w="19685" h="32385">
                  <a:moveTo>
                    <a:pt x="19625" y="0"/>
                  </a:moveTo>
                  <a:lnTo>
                    <a:pt x="0" y="0"/>
                  </a:lnTo>
                  <a:lnTo>
                    <a:pt x="0" y="31864"/>
                  </a:lnTo>
                  <a:lnTo>
                    <a:pt x="19625" y="31864"/>
                  </a:lnTo>
                  <a:lnTo>
                    <a:pt x="19625" y="0"/>
                  </a:lnTo>
                  <a:close/>
                </a:path>
              </a:pathLst>
            </a:custGeom>
            <a:solidFill>
              <a:srgbClr val="A4A4A4"/>
            </a:solidFill>
          </p:spPr>
          <p:txBody>
            <a:bodyPr wrap="square" lIns="0" tIns="0" rIns="0" bIns="0" rtlCol="0"/>
            <a:lstStyle/>
            <a:p>
              <a:endParaRPr/>
            </a:p>
          </p:txBody>
        </p:sp>
        <p:sp>
          <p:nvSpPr>
            <p:cNvPr id="61" name="object 61"/>
            <p:cNvSpPr/>
            <p:nvPr/>
          </p:nvSpPr>
          <p:spPr>
            <a:xfrm>
              <a:off x="2473662" y="5050446"/>
              <a:ext cx="19685" cy="32384"/>
            </a:xfrm>
            <a:custGeom>
              <a:avLst/>
              <a:gdLst/>
              <a:ahLst/>
              <a:cxnLst/>
              <a:rect l="l" t="t" r="r" b="b"/>
              <a:pathLst>
                <a:path w="19685" h="32385">
                  <a:moveTo>
                    <a:pt x="19625" y="0"/>
                  </a:moveTo>
                  <a:lnTo>
                    <a:pt x="0" y="0"/>
                  </a:lnTo>
                  <a:lnTo>
                    <a:pt x="0" y="31864"/>
                  </a:lnTo>
                  <a:lnTo>
                    <a:pt x="19625" y="31864"/>
                  </a:lnTo>
                  <a:lnTo>
                    <a:pt x="19625" y="0"/>
                  </a:lnTo>
                  <a:close/>
                </a:path>
              </a:pathLst>
            </a:custGeom>
            <a:solidFill>
              <a:srgbClr val="A2A2A2"/>
            </a:solidFill>
          </p:spPr>
          <p:txBody>
            <a:bodyPr wrap="square" lIns="0" tIns="0" rIns="0" bIns="0" rtlCol="0"/>
            <a:lstStyle/>
            <a:p>
              <a:endParaRPr/>
            </a:p>
          </p:txBody>
        </p:sp>
        <p:sp>
          <p:nvSpPr>
            <p:cNvPr id="62" name="object 62"/>
            <p:cNvSpPr/>
            <p:nvPr/>
          </p:nvSpPr>
          <p:spPr>
            <a:xfrm>
              <a:off x="2488901" y="5050446"/>
              <a:ext cx="22225" cy="32384"/>
            </a:xfrm>
            <a:custGeom>
              <a:avLst/>
              <a:gdLst/>
              <a:ahLst/>
              <a:cxnLst/>
              <a:rect l="l" t="t" r="r" b="b"/>
              <a:pathLst>
                <a:path w="22225" h="32385">
                  <a:moveTo>
                    <a:pt x="21934" y="0"/>
                  </a:moveTo>
                  <a:lnTo>
                    <a:pt x="0" y="0"/>
                  </a:lnTo>
                  <a:lnTo>
                    <a:pt x="0" y="31864"/>
                  </a:lnTo>
                  <a:lnTo>
                    <a:pt x="21934" y="31864"/>
                  </a:lnTo>
                  <a:lnTo>
                    <a:pt x="21934" y="0"/>
                  </a:lnTo>
                  <a:close/>
                </a:path>
              </a:pathLst>
            </a:custGeom>
            <a:solidFill>
              <a:srgbClr val="9F9F9F"/>
            </a:solidFill>
          </p:spPr>
          <p:txBody>
            <a:bodyPr wrap="square" lIns="0" tIns="0" rIns="0" bIns="0" rtlCol="0"/>
            <a:lstStyle/>
            <a:p>
              <a:endParaRPr/>
            </a:p>
          </p:txBody>
        </p:sp>
        <p:sp>
          <p:nvSpPr>
            <p:cNvPr id="63" name="object 63"/>
            <p:cNvSpPr/>
            <p:nvPr/>
          </p:nvSpPr>
          <p:spPr>
            <a:xfrm>
              <a:off x="2504833"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9E9E9E"/>
            </a:solidFill>
          </p:spPr>
          <p:txBody>
            <a:bodyPr wrap="square" lIns="0" tIns="0" rIns="0" bIns="0" rtlCol="0"/>
            <a:lstStyle/>
            <a:p>
              <a:endParaRPr/>
            </a:p>
          </p:txBody>
        </p:sp>
        <p:sp>
          <p:nvSpPr>
            <p:cNvPr id="64" name="object 64"/>
            <p:cNvSpPr/>
            <p:nvPr/>
          </p:nvSpPr>
          <p:spPr>
            <a:xfrm>
              <a:off x="2523070" y="5050447"/>
              <a:ext cx="35560" cy="32384"/>
            </a:xfrm>
            <a:custGeom>
              <a:avLst/>
              <a:gdLst/>
              <a:ahLst/>
              <a:cxnLst/>
              <a:rect l="l" t="t" r="r" b="b"/>
              <a:pathLst>
                <a:path w="35560" h="32385">
                  <a:moveTo>
                    <a:pt x="35090" y="0"/>
                  </a:moveTo>
                  <a:lnTo>
                    <a:pt x="17538" y="0"/>
                  </a:lnTo>
                  <a:lnTo>
                    <a:pt x="15227" y="0"/>
                  </a:lnTo>
                  <a:lnTo>
                    <a:pt x="0" y="0"/>
                  </a:lnTo>
                  <a:lnTo>
                    <a:pt x="0" y="31877"/>
                  </a:lnTo>
                  <a:lnTo>
                    <a:pt x="15227" y="31877"/>
                  </a:lnTo>
                  <a:lnTo>
                    <a:pt x="17538" y="31877"/>
                  </a:lnTo>
                  <a:lnTo>
                    <a:pt x="35090" y="31877"/>
                  </a:lnTo>
                  <a:lnTo>
                    <a:pt x="35090" y="0"/>
                  </a:lnTo>
                  <a:close/>
                </a:path>
              </a:pathLst>
            </a:custGeom>
            <a:solidFill>
              <a:srgbClr val="999999"/>
            </a:solidFill>
          </p:spPr>
          <p:txBody>
            <a:bodyPr wrap="square" lIns="0" tIns="0" rIns="0" bIns="0" rtlCol="0"/>
            <a:lstStyle/>
            <a:p>
              <a:endParaRPr/>
            </a:p>
          </p:txBody>
        </p:sp>
        <p:sp>
          <p:nvSpPr>
            <p:cNvPr id="65" name="object 65"/>
            <p:cNvSpPr/>
            <p:nvPr/>
          </p:nvSpPr>
          <p:spPr>
            <a:xfrm>
              <a:off x="2554242"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959595"/>
            </a:solidFill>
          </p:spPr>
          <p:txBody>
            <a:bodyPr wrap="square" lIns="0" tIns="0" rIns="0" bIns="0" rtlCol="0"/>
            <a:lstStyle/>
            <a:p>
              <a:endParaRPr/>
            </a:p>
          </p:txBody>
        </p:sp>
        <p:sp>
          <p:nvSpPr>
            <p:cNvPr id="66" name="object 66"/>
            <p:cNvSpPr/>
            <p:nvPr/>
          </p:nvSpPr>
          <p:spPr>
            <a:xfrm>
              <a:off x="2570174" y="5050446"/>
              <a:ext cx="20320" cy="32384"/>
            </a:xfrm>
            <a:custGeom>
              <a:avLst/>
              <a:gdLst/>
              <a:ahLst/>
              <a:cxnLst/>
              <a:rect l="l" t="t" r="r" b="b"/>
              <a:pathLst>
                <a:path w="20319" h="32385">
                  <a:moveTo>
                    <a:pt x="19856" y="0"/>
                  </a:moveTo>
                  <a:lnTo>
                    <a:pt x="0" y="0"/>
                  </a:lnTo>
                  <a:lnTo>
                    <a:pt x="0" y="31864"/>
                  </a:lnTo>
                  <a:lnTo>
                    <a:pt x="19856" y="31864"/>
                  </a:lnTo>
                  <a:lnTo>
                    <a:pt x="19856" y="0"/>
                  </a:lnTo>
                  <a:close/>
                </a:path>
              </a:pathLst>
            </a:custGeom>
            <a:solidFill>
              <a:srgbClr val="919191"/>
            </a:solidFill>
          </p:spPr>
          <p:txBody>
            <a:bodyPr wrap="square" lIns="0" tIns="0" rIns="0" bIns="0" rtlCol="0"/>
            <a:lstStyle/>
            <a:p>
              <a:endParaRPr/>
            </a:p>
          </p:txBody>
        </p:sp>
        <p:sp>
          <p:nvSpPr>
            <p:cNvPr id="67" name="object 67"/>
            <p:cNvSpPr/>
            <p:nvPr/>
          </p:nvSpPr>
          <p:spPr>
            <a:xfrm>
              <a:off x="2586106" y="5050446"/>
              <a:ext cx="15875" cy="32384"/>
            </a:xfrm>
            <a:custGeom>
              <a:avLst/>
              <a:gdLst/>
              <a:ahLst/>
              <a:cxnLst/>
              <a:rect l="l" t="t" r="r" b="b"/>
              <a:pathLst>
                <a:path w="15875" h="32385">
                  <a:moveTo>
                    <a:pt x="15469" y="0"/>
                  </a:moveTo>
                  <a:lnTo>
                    <a:pt x="0" y="0"/>
                  </a:lnTo>
                  <a:lnTo>
                    <a:pt x="0" y="31864"/>
                  </a:lnTo>
                  <a:lnTo>
                    <a:pt x="15469" y="31864"/>
                  </a:lnTo>
                  <a:lnTo>
                    <a:pt x="15469" y="0"/>
                  </a:lnTo>
                  <a:close/>
                </a:path>
              </a:pathLst>
            </a:custGeom>
            <a:solidFill>
              <a:srgbClr val="8E8E8E"/>
            </a:solidFill>
          </p:spPr>
          <p:txBody>
            <a:bodyPr wrap="square" lIns="0" tIns="0" rIns="0" bIns="0" rtlCol="0"/>
            <a:lstStyle/>
            <a:p>
              <a:endParaRPr/>
            </a:p>
          </p:txBody>
        </p:sp>
        <p:sp>
          <p:nvSpPr>
            <p:cNvPr id="68" name="object 68"/>
            <p:cNvSpPr/>
            <p:nvPr/>
          </p:nvSpPr>
          <p:spPr>
            <a:xfrm>
              <a:off x="2599959" y="5050446"/>
              <a:ext cx="17780" cy="32384"/>
            </a:xfrm>
            <a:custGeom>
              <a:avLst/>
              <a:gdLst/>
              <a:ahLst/>
              <a:cxnLst/>
              <a:rect l="l" t="t" r="r" b="b"/>
              <a:pathLst>
                <a:path w="17780" h="32385">
                  <a:moveTo>
                    <a:pt x="17547" y="0"/>
                  </a:moveTo>
                  <a:lnTo>
                    <a:pt x="0" y="0"/>
                  </a:lnTo>
                  <a:lnTo>
                    <a:pt x="0" y="31864"/>
                  </a:lnTo>
                  <a:lnTo>
                    <a:pt x="17547" y="31864"/>
                  </a:lnTo>
                  <a:lnTo>
                    <a:pt x="17547" y="0"/>
                  </a:lnTo>
                  <a:close/>
                </a:path>
              </a:pathLst>
            </a:custGeom>
            <a:solidFill>
              <a:srgbClr val="8B8B8B"/>
            </a:solidFill>
          </p:spPr>
          <p:txBody>
            <a:bodyPr wrap="square" lIns="0" tIns="0" rIns="0" bIns="0" rtlCol="0"/>
            <a:lstStyle/>
            <a:p>
              <a:endParaRPr/>
            </a:p>
          </p:txBody>
        </p:sp>
        <p:sp>
          <p:nvSpPr>
            <p:cNvPr id="69" name="object 69"/>
            <p:cNvSpPr/>
            <p:nvPr/>
          </p:nvSpPr>
          <p:spPr>
            <a:xfrm>
              <a:off x="2613582" y="5050446"/>
              <a:ext cx="17780" cy="32384"/>
            </a:xfrm>
            <a:custGeom>
              <a:avLst/>
              <a:gdLst/>
              <a:ahLst/>
              <a:cxnLst/>
              <a:rect l="l" t="t" r="r" b="b"/>
              <a:pathLst>
                <a:path w="17780" h="32385">
                  <a:moveTo>
                    <a:pt x="17778" y="0"/>
                  </a:moveTo>
                  <a:lnTo>
                    <a:pt x="0" y="0"/>
                  </a:lnTo>
                  <a:lnTo>
                    <a:pt x="0" y="31864"/>
                  </a:lnTo>
                  <a:lnTo>
                    <a:pt x="17778" y="31864"/>
                  </a:lnTo>
                  <a:lnTo>
                    <a:pt x="17778" y="0"/>
                  </a:lnTo>
                  <a:close/>
                </a:path>
              </a:pathLst>
            </a:custGeom>
            <a:solidFill>
              <a:srgbClr val="888888"/>
            </a:solidFill>
          </p:spPr>
          <p:txBody>
            <a:bodyPr wrap="square" lIns="0" tIns="0" rIns="0" bIns="0" rtlCol="0"/>
            <a:lstStyle/>
            <a:p>
              <a:endParaRPr/>
            </a:p>
          </p:txBody>
        </p:sp>
        <p:sp>
          <p:nvSpPr>
            <p:cNvPr id="70" name="object 70"/>
            <p:cNvSpPr/>
            <p:nvPr/>
          </p:nvSpPr>
          <p:spPr>
            <a:xfrm>
              <a:off x="2627434" y="5050446"/>
              <a:ext cx="18415" cy="32384"/>
            </a:xfrm>
            <a:custGeom>
              <a:avLst/>
              <a:gdLst/>
              <a:ahLst/>
              <a:cxnLst/>
              <a:rect l="l" t="t" r="r" b="b"/>
              <a:pathLst>
                <a:path w="18414" h="32385">
                  <a:moveTo>
                    <a:pt x="18009" y="0"/>
                  </a:moveTo>
                  <a:lnTo>
                    <a:pt x="0" y="0"/>
                  </a:lnTo>
                  <a:lnTo>
                    <a:pt x="0" y="31864"/>
                  </a:lnTo>
                  <a:lnTo>
                    <a:pt x="18009" y="31864"/>
                  </a:lnTo>
                  <a:lnTo>
                    <a:pt x="18009" y="0"/>
                  </a:lnTo>
                  <a:close/>
                </a:path>
              </a:pathLst>
            </a:custGeom>
            <a:solidFill>
              <a:srgbClr val="868686"/>
            </a:solidFill>
          </p:spPr>
          <p:txBody>
            <a:bodyPr wrap="square" lIns="0" tIns="0" rIns="0" bIns="0" rtlCol="0"/>
            <a:lstStyle/>
            <a:p>
              <a:endParaRPr/>
            </a:p>
          </p:txBody>
        </p:sp>
        <p:sp>
          <p:nvSpPr>
            <p:cNvPr id="71" name="object 71"/>
            <p:cNvSpPr/>
            <p:nvPr/>
          </p:nvSpPr>
          <p:spPr>
            <a:xfrm>
              <a:off x="2641057" y="5050446"/>
              <a:ext cx="16510" cy="32384"/>
            </a:xfrm>
            <a:custGeom>
              <a:avLst/>
              <a:gdLst/>
              <a:ahLst/>
              <a:cxnLst/>
              <a:rect l="l" t="t" r="r" b="b"/>
              <a:pathLst>
                <a:path w="16510" h="32385">
                  <a:moveTo>
                    <a:pt x="15931" y="0"/>
                  </a:moveTo>
                  <a:lnTo>
                    <a:pt x="0" y="0"/>
                  </a:lnTo>
                  <a:lnTo>
                    <a:pt x="0" y="31864"/>
                  </a:lnTo>
                  <a:lnTo>
                    <a:pt x="15931" y="31864"/>
                  </a:lnTo>
                  <a:lnTo>
                    <a:pt x="15931" y="0"/>
                  </a:lnTo>
                  <a:close/>
                </a:path>
              </a:pathLst>
            </a:custGeom>
            <a:solidFill>
              <a:srgbClr val="848484"/>
            </a:solidFill>
          </p:spPr>
          <p:txBody>
            <a:bodyPr wrap="square" lIns="0" tIns="0" rIns="0" bIns="0" rtlCol="0"/>
            <a:lstStyle/>
            <a:p>
              <a:endParaRPr/>
            </a:p>
          </p:txBody>
        </p:sp>
        <p:sp>
          <p:nvSpPr>
            <p:cNvPr id="72" name="object 72"/>
            <p:cNvSpPr/>
            <p:nvPr/>
          </p:nvSpPr>
          <p:spPr>
            <a:xfrm>
              <a:off x="1901978" y="5050445"/>
              <a:ext cx="755015" cy="29845"/>
            </a:xfrm>
            <a:custGeom>
              <a:avLst/>
              <a:gdLst/>
              <a:ahLst/>
              <a:cxnLst/>
              <a:rect l="l" t="t" r="r" b="b"/>
              <a:pathLst>
                <a:path w="755014" h="29845">
                  <a:moveTo>
                    <a:pt x="0" y="0"/>
                  </a:moveTo>
                  <a:lnTo>
                    <a:pt x="0" y="29788"/>
                  </a:lnTo>
                  <a:lnTo>
                    <a:pt x="755011" y="29788"/>
                  </a:lnTo>
                  <a:lnTo>
                    <a:pt x="755011" y="0"/>
                  </a:lnTo>
                  <a:lnTo>
                    <a:pt x="0" y="0"/>
                  </a:lnTo>
                </a:path>
              </a:pathLst>
            </a:custGeom>
            <a:ln w="3175">
              <a:solidFill>
                <a:srgbClr val="000000"/>
              </a:solidFill>
            </a:ln>
          </p:spPr>
          <p:txBody>
            <a:bodyPr wrap="square" lIns="0" tIns="0" rIns="0" bIns="0" rtlCol="0"/>
            <a:lstStyle/>
            <a:p>
              <a:endParaRPr/>
            </a:p>
          </p:txBody>
        </p:sp>
        <p:sp>
          <p:nvSpPr>
            <p:cNvPr id="73" name="object 73"/>
            <p:cNvSpPr/>
            <p:nvPr/>
          </p:nvSpPr>
          <p:spPr>
            <a:xfrm>
              <a:off x="1901978" y="4985100"/>
              <a:ext cx="755015" cy="65405"/>
            </a:xfrm>
            <a:custGeom>
              <a:avLst/>
              <a:gdLst/>
              <a:ahLst/>
              <a:cxnLst/>
              <a:rect l="l" t="t" r="r" b="b"/>
              <a:pathLst>
                <a:path w="755014" h="65404">
                  <a:moveTo>
                    <a:pt x="567065" y="0"/>
                  </a:moveTo>
                  <a:lnTo>
                    <a:pt x="187482" y="0"/>
                  </a:lnTo>
                  <a:lnTo>
                    <a:pt x="0" y="65345"/>
                  </a:lnTo>
                  <a:lnTo>
                    <a:pt x="755011" y="65345"/>
                  </a:lnTo>
                  <a:lnTo>
                    <a:pt x="567065" y="0"/>
                  </a:lnTo>
                  <a:close/>
                </a:path>
              </a:pathLst>
            </a:custGeom>
            <a:solidFill>
              <a:srgbClr val="C1C1C1"/>
            </a:solidFill>
          </p:spPr>
          <p:txBody>
            <a:bodyPr wrap="square" lIns="0" tIns="0" rIns="0" bIns="0" rtlCol="0"/>
            <a:lstStyle/>
            <a:p>
              <a:endParaRPr/>
            </a:p>
          </p:txBody>
        </p:sp>
        <p:sp>
          <p:nvSpPr>
            <p:cNvPr id="74" name="object 74"/>
            <p:cNvSpPr/>
            <p:nvPr/>
          </p:nvSpPr>
          <p:spPr>
            <a:xfrm>
              <a:off x="1901978" y="4985100"/>
              <a:ext cx="755015" cy="65405"/>
            </a:xfrm>
            <a:custGeom>
              <a:avLst/>
              <a:gdLst/>
              <a:ahLst/>
              <a:cxnLst/>
              <a:rect l="l" t="t" r="r" b="b"/>
              <a:pathLst>
                <a:path w="755014" h="65404">
                  <a:moveTo>
                    <a:pt x="0" y="65345"/>
                  </a:moveTo>
                  <a:lnTo>
                    <a:pt x="187482" y="0"/>
                  </a:lnTo>
                  <a:lnTo>
                    <a:pt x="567065" y="0"/>
                  </a:lnTo>
                  <a:lnTo>
                    <a:pt x="755011" y="65345"/>
                  </a:lnTo>
                  <a:lnTo>
                    <a:pt x="0" y="65345"/>
                  </a:lnTo>
                </a:path>
              </a:pathLst>
            </a:custGeom>
            <a:ln w="3175">
              <a:solidFill>
                <a:srgbClr val="000000"/>
              </a:solidFill>
            </a:ln>
          </p:spPr>
          <p:txBody>
            <a:bodyPr wrap="square" lIns="0" tIns="0" rIns="0" bIns="0" rtlCol="0"/>
            <a:lstStyle/>
            <a:p>
              <a:endParaRPr/>
            </a:p>
          </p:txBody>
        </p:sp>
        <p:sp>
          <p:nvSpPr>
            <p:cNvPr id="75" name="object 75"/>
            <p:cNvSpPr/>
            <p:nvPr/>
          </p:nvSpPr>
          <p:spPr>
            <a:xfrm>
              <a:off x="1700410" y="3886220"/>
              <a:ext cx="1153160" cy="1048385"/>
            </a:xfrm>
            <a:custGeom>
              <a:avLst/>
              <a:gdLst/>
              <a:ahLst/>
              <a:cxnLst/>
              <a:rect l="l" t="t" r="r" b="b"/>
              <a:pathLst>
                <a:path w="1153160" h="1048385">
                  <a:moveTo>
                    <a:pt x="1152836" y="0"/>
                  </a:moveTo>
                  <a:lnTo>
                    <a:pt x="0" y="0"/>
                  </a:lnTo>
                  <a:lnTo>
                    <a:pt x="0" y="1047850"/>
                  </a:lnTo>
                  <a:lnTo>
                    <a:pt x="1152836" y="1047850"/>
                  </a:lnTo>
                  <a:lnTo>
                    <a:pt x="1152836" y="0"/>
                  </a:lnTo>
                  <a:close/>
                </a:path>
              </a:pathLst>
            </a:custGeom>
            <a:solidFill>
              <a:srgbClr val="F1F1F1"/>
            </a:solidFill>
          </p:spPr>
          <p:txBody>
            <a:bodyPr wrap="square" lIns="0" tIns="0" rIns="0" bIns="0" rtlCol="0"/>
            <a:lstStyle/>
            <a:p>
              <a:endParaRPr/>
            </a:p>
          </p:txBody>
        </p:sp>
        <p:sp>
          <p:nvSpPr>
            <p:cNvPr id="76" name="object 76"/>
            <p:cNvSpPr/>
            <p:nvPr/>
          </p:nvSpPr>
          <p:spPr>
            <a:xfrm>
              <a:off x="1700410" y="3886220"/>
              <a:ext cx="1153160" cy="1048385"/>
            </a:xfrm>
            <a:custGeom>
              <a:avLst/>
              <a:gdLst/>
              <a:ahLst/>
              <a:cxnLst/>
              <a:rect l="l" t="t" r="r" b="b"/>
              <a:pathLst>
                <a:path w="1153160" h="1048385">
                  <a:moveTo>
                    <a:pt x="0" y="0"/>
                  </a:moveTo>
                  <a:lnTo>
                    <a:pt x="0" y="1047850"/>
                  </a:lnTo>
                  <a:lnTo>
                    <a:pt x="1152835" y="1047850"/>
                  </a:lnTo>
                  <a:lnTo>
                    <a:pt x="1152835" y="0"/>
                  </a:lnTo>
                  <a:lnTo>
                    <a:pt x="0" y="0"/>
                  </a:lnTo>
                </a:path>
              </a:pathLst>
            </a:custGeom>
            <a:ln w="3175">
              <a:solidFill>
                <a:srgbClr val="000000"/>
              </a:solidFill>
            </a:ln>
          </p:spPr>
          <p:txBody>
            <a:bodyPr wrap="square" lIns="0" tIns="0" rIns="0" bIns="0" rtlCol="0"/>
            <a:lstStyle/>
            <a:p>
              <a:endParaRPr/>
            </a:p>
          </p:txBody>
        </p:sp>
        <p:sp>
          <p:nvSpPr>
            <p:cNvPr id="77" name="object 77"/>
            <p:cNvSpPr/>
            <p:nvPr/>
          </p:nvSpPr>
          <p:spPr>
            <a:xfrm>
              <a:off x="1823014" y="3997055"/>
              <a:ext cx="915669" cy="711200"/>
            </a:xfrm>
            <a:custGeom>
              <a:avLst/>
              <a:gdLst/>
              <a:ahLst/>
              <a:cxnLst/>
              <a:rect l="l" t="t" r="r" b="b"/>
              <a:pathLst>
                <a:path w="915669" h="711200">
                  <a:moveTo>
                    <a:pt x="915478" y="0"/>
                  </a:moveTo>
                  <a:lnTo>
                    <a:pt x="0" y="0"/>
                  </a:lnTo>
                  <a:lnTo>
                    <a:pt x="0" y="711188"/>
                  </a:lnTo>
                  <a:lnTo>
                    <a:pt x="915478" y="711188"/>
                  </a:lnTo>
                  <a:lnTo>
                    <a:pt x="915478" y="0"/>
                  </a:lnTo>
                  <a:close/>
                </a:path>
              </a:pathLst>
            </a:custGeom>
            <a:solidFill>
              <a:srgbClr val="BEBEBE"/>
            </a:solidFill>
          </p:spPr>
          <p:txBody>
            <a:bodyPr wrap="square" lIns="0" tIns="0" rIns="0" bIns="0" rtlCol="0"/>
            <a:lstStyle/>
            <a:p>
              <a:endParaRPr/>
            </a:p>
          </p:txBody>
        </p:sp>
        <p:sp>
          <p:nvSpPr>
            <p:cNvPr id="78" name="object 78"/>
            <p:cNvSpPr/>
            <p:nvPr/>
          </p:nvSpPr>
          <p:spPr>
            <a:xfrm>
              <a:off x="1823014" y="3997055"/>
              <a:ext cx="915669" cy="711200"/>
            </a:xfrm>
            <a:custGeom>
              <a:avLst/>
              <a:gdLst/>
              <a:ahLst/>
              <a:cxnLst/>
              <a:rect l="l" t="t" r="r" b="b"/>
              <a:pathLst>
                <a:path w="915669" h="711200">
                  <a:moveTo>
                    <a:pt x="0" y="0"/>
                  </a:moveTo>
                  <a:lnTo>
                    <a:pt x="0" y="711188"/>
                  </a:lnTo>
                  <a:lnTo>
                    <a:pt x="915478" y="711188"/>
                  </a:lnTo>
                  <a:lnTo>
                    <a:pt x="915478" y="0"/>
                  </a:lnTo>
                  <a:lnTo>
                    <a:pt x="0" y="0"/>
                  </a:lnTo>
                </a:path>
              </a:pathLst>
            </a:custGeom>
            <a:ln w="3175">
              <a:solidFill>
                <a:srgbClr val="000000"/>
              </a:solidFill>
            </a:ln>
          </p:spPr>
          <p:txBody>
            <a:bodyPr wrap="square" lIns="0" tIns="0" rIns="0" bIns="0" rtlCol="0"/>
            <a:lstStyle/>
            <a:p>
              <a:endParaRPr/>
            </a:p>
          </p:txBody>
        </p:sp>
        <p:sp>
          <p:nvSpPr>
            <p:cNvPr id="79" name="object 79"/>
            <p:cNvSpPr/>
            <p:nvPr/>
          </p:nvSpPr>
          <p:spPr>
            <a:xfrm>
              <a:off x="1844484" y="4009293"/>
              <a:ext cx="876300" cy="687705"/>
            </a:xfrm>
            <a:custGeom>
              <a:avLst/>
              <a:gdLst/>
              <a:ahLst/>
              <a:cxnLst/>
              <a:rect l="l" t="t" r="r" b="b"/>
              <a:pathLst>
                <a:path w="876300" h="687704">
                  <a:moveTo>
                    <a:pt x="875766" y="0"/>
                  </a:moveTo>
                  <a:lnTo>
                    <a:pt x="0" y="0"/>
                  </a:lnTo>
                  <a:lnTo>
                    <a:pt x="0" y="687407"/>
                  </a:lnTo>
                  <a:lnTo>
                    <a:pt x="875766" y="687407"/>
                  </a:lnTo>
                  <a:lnTo>
                    <a:pt x="875766" y="0"/>
                  </a:lnTo>
                  <a:close/>
                </a:path>
              </a:pathLst>
            </a:custGeom>
            <a:solidFill>
              <a:srgbClr val="01011C"/>
            </a:solidFill>
          </p:spPr>
          <p:txBody>
            <a:bodyPr wrap="square" lIns="0" tIns="0" rIns="0" bIns="0" rtlCol="0"/>
            <a:lstStyle/>
            <a:p>
              <a:endParaRPr/>
            </a:p>
          </p:txBody>
        </p:sp>
        <p:sp>
          <p:nvSpPr>
            <p:cNvPr id="80" name="object 80"/>
            <p:cNvSpPr/>
            <p:nvPr/>
          </p:nvSpPr>
          <p:spPr>
            <a:xfrm>
              <a:off x="2581718" y="4009293"/>
              <a:ext cx="123189" cy="687705"/>
            </a:xfrm>
            <a:custGeom>
              <a:avLst/>
              <a:gdLst/>
              <a:ahLst/>
              <a:cxnLst/>
              <a:rect l="l" t="t" r="r" b="b"/>
              <a:pathLst>
                <a:path w="123189" h="687704">
                  <a:moveTo>
                    <a:pt x="0" y="687407"/>
                  </a:moveTo>
                  <a:lnTo>
                    <a:pt x="123064" y="687407"/>
                  </a:lnTo>
                  <a:lnTo>
                    <a:pt x="123064" y="0"/>
                  </a:lnTo>
                  <a:lnTo>
                    <a:pt x="0" y="0"/>
                  </a:lnTo>
                  <a:lnTo>
                    <a:pt x="0" y="687407"/>
                  </a:lnTo>
                  <a:close/>
                </a:path>
              </a:pathLst>
            </a:custGeom>
            <a:solidFill>
              <a:srgbClr val="010120"/>
            </a:solidFill>
          </p:spPr>
          <p:txBody>
            <a:bodyPr wrap="square" lIns="0" tIns="0" rIns="0" bIns="0" rtlCol="0"/>
            <a:lstStyle/>
            <a:p>
              <a:endParaRPr/>
            </a:p>
          </p:txBody>
        </p:sp>
        <p:sp>
          <p:nvSpPr>
            <p:cNvPr id="81" name="object 81"/>
            <p:cNvSpPr/>
            <p:nvPr/>
          </p:nvSpPr>
          <p:spPr>
            <a:xfrm>
              <a:off x="1844484" y="4009293"/>
              <a:ext cx="832485" cy="687705"/>
            </a:xfrm>
            <a:custGeom>
              <a:avLst/>
              <a:gdLst/>
              <a:ahLst/>
              <a:cxnLst/>
              <a:rect l="l" t="t" r="r" b="b"/>
              <a:pathLst>
                <a:path w="832485" h="687704">
                  <a:moveTo>
                    <a:pt x="832359" y="0"/>
                  </a:moveTo>
                  <a:lnTo>
                    <a:pt x="0" y="0"/>
                  </a:lnTo>
                  <a:lnTo>
                    <a:pt x="0" y="687407"/>
                  </a:lnTo>
                  <a:lnTo>
                    <a:pt x="832359" y="687407"/>
                  </a:lnTo>
                  <a:lnTo>
                    <a:pt x="832359" y="0"/>
                  </a:lnTo>
                  <a:close/>
                </a:path>
              </a:pathLst>
            </a:custGeom>
            <a:solidFill>
              <a:srgbClr val="010125"/>
            </a:solidFill>
          </p:spPr>
          <p:txBody>
            <a:bodyPr wrap="square" lIns="0" tIns="0" rIns="0" bIns="0" rtlCol="0"/>
            <a:lstStyle/>
            <a:p>
              <a:endParaRPr/>
            </a:p>
          </p:txBody>
        </p:sp>
        <p:sp>
          <p:nvSpPr>
            <p:cNvPr id="82" name="object 82"/>
            <p:cNvSpPr/>
            <p:nvPr/>
          </p:nvSpPr>
          <p:spPr>
            <a:xfrm>
              <a:off x="1844484" y="4009293"/>
              <a:ext cx="812800" cy="687705"/>
            </a:xfrm>
            <a:custGeom>
              <a:avLst/>
              <a:gdLst/>
              <a:ahLst/>
              <a:cxnLst/>
              <a:rect l="l" t="t" r="r" b="b"/>
              <a:pathLst>
                <a:path w="812800" h="687704">
                  <a:moveTo>
                    <a:pt x="812501" y="0"/>
                  </a:moveTo>
                  <a:lnTo>
                    <a:pt x="0" y="0"/>
                  </a:lnTo>
                  <a:lnTo>
                    <a:pt x="0" y="687407"/>
                  </a:lnTo>
                  <a:lnTo>
                    <a:pt x="812501" y="687407"/>
                  </a:lnTo>
                  <a:lnTo>
                    <a:pt x="812501" y="0"/>
                  </a:lnTo>
                  <a:close/>
                </a:path>
              </a:pathLst>
            </a:custGeom>
            <a:solidFill>
              <a:srgbClr val="010128"/>
            </a:solidFill>
          </p:spPr>
          <p:txBody>
            <a:bodyPr wrap="square" lIns="0" tIns="0" rIns="0" bIns="0" rtlCol="0"/>
            <a:lstStyle/>
            <a:p>
              <a:endParaRPr/>
            </a:p>
          </p:txBody>
        </p:sp>
        <p:sp>
          <p:nvSpPr>
            <p:cNvPr id="83" name="object 83"/>
            <p:cNvSpPr/>
            <p:nvPr/>
          </p:nvSpPr>
          <p:spPr>
            <a:xfrm>
              <a:off x="1844484" y="4009293"/>
              <a:ext cx="785495" cy="687705"/>
            </a:xfrm>
            <a:custGeom>
              <a:avLst/>
              <a:gdLst/>
              <a:ahLst/>
              <a:cxnLst/>
              <a:rect l="l" t="t" r="r" b="b"/>
              <a:pathLst>
                <a:path w="785494" h="687704">
                  <a:moveTo>
                    <a:pt x="785026" y="0"/>
                  </a:moveTo>
                  <a:lnTo>
                    <a:pt x="0" y="0"/>
                  </a:lnTo>
                  <a:lnTo>
                    <a:pt x="0" y="687407"/>
                  </a:lnTo>
                  <a:lnTo>
                    <a:pt x="785026" y="687407"/>
                  </a:lnTo>
                  <a:lnTo>
                    <a:pt x="785026" y="0"/>
                  </a:lnTo>
                  <a:close/>
                </a:path>
              </a:pathLst>
            </a:custGeom>
            <a:solidFill>
              <a:srgbClr val="01012C"/>
            </a:solidFill>
          </p:spPr>
          <p:txBody>
            <a:bodyPr wrap="square" lIns="0" tIns="0" rIns="0" bIns="0" rtlCol="0"/>
            <a:lstStyle/>
            <a:p>
              <a:endParaRPr/>
            </a:p>
          </p:txBody>
        </p:sp>
        <p:sp>
          <p:nvSpPr>
            <p:cNvPr id="84" name="object 84"/>
            <p:cNvSpPr/>
            <p:nvPr/>
          </p:nvSpPr>
          <p:spPr>
            <a:xfrm>
              <a:off x="1844484" y="4009293"/>
              <a:ext cx="763270" cy="687705"/>
            </a:xfrm>
            <a:custGeom>
              <a:avLst/>
              <a:gdLst/>
              <a:ahLst/>
              <a:cxnLst/>
              <a:rect l="l" t="t" r="r" b="b"/>
              <a:pathLst>
                <a:path w="763269" h="687704">
                  <a:moveTo>
                    <a:pt x="763092" y="0"/>
                  </a:moveTo>
                  <a:lnTo>
                    <a:pt x="0" y="0"/>
                  </a:lnTo>
                  <a:lnTo>
                    <a:pt x="0" y="687407"/>
                  </a:lnTo>
                  <a:lnTo>
                    <a:pt x="763092" y="687407"/>
                  </a:lnTo>
                  <a:lnTo>
                    <a:pt x="763092" y="0"/>
                  </a:lnTo>
                  <a:close/>
                </a:path>
              </a:pathLst>
            </a:custGeom>
            <a:solidFill>
              <a:srgbClr val="01012F"/>
            </a:solidFill>
          </p:spPr>
          <p:txBody>
            <a:bodyPr wrap="square" lIns="0" tIns="0" rIns="0" bIns="0" rtlCol="0"/>
            <a:lstStyle/>
            <a:p>
              <a:endParaRPr/>
            </a:p>
          </p:txBody>
        </p:sp>
        <p:sp>
          <p:nvSpPr>
            <p:cNvPr id="85" name="object 85"/>
            <p:cNvSpPr/>
            <p:nvPr/>
          </p:nvSpPr>
          <p:spPr>
            <a:xfrm>
              <a:off x="1844484" y="4009293"/>
              <a:ext cx="737235" cy="687705"/>
            </a:xfrm>
            <a:custGeom>
              <a:avLst/>
              <a:gdLst/>
              <a:ahLst/>
              <a:cxnLst/>
              <a:rect l="l" t="t" r="r" b="b"/>
              <a:pathLst>
                <a:path w="737235" h="687704">
                  <a:moveTo>
                    <a:pt x="737233" y="0"/>
                  </a:moveTo>
                  <a:lnTo>
                    <a:pt x="0" y="0"/>
                  </a:lnTo>
                  <a:lnTo>
                    <a:pt x="0" y="687407"/>
                  </a:lnTo>
                  <a:lnTo>
                    <a:pt x="737233" y="687407"/>
                  </a:lnTo>
                  <a:lnTo>
                    <a:pt x="737233" y="0"/>
                  </a:lnTo>
                  <a:close/>
                </a:path>
              </a:pathLst>
            </a:custGeom>
            <a:solidFill>
              <a:srgbClr val="010135"/>
            </a:solidFill>
          </p:spPr>
          <p:txBody>
            <a:bodyPr wrap="square" lIns="0" tIns="0" rIns="0" bIns="0" rtlCol="0"/>
            <a:lstStyle/>
            <a:p>
              <a:endParaRPr/>
            </a:p>
          </p:txBody>
        </p:sp>
        <p:sp>
          <p:nvSpPr>
            <p:cNvPr id="86" name="object 86"/>
            <p:cNvSpPr/>
            <p:nvPr/>
          </p:nvSpPr>
          <p:spPr>
            <a:xfrm>
              <a:off x="1844484" y="4009293"/>
              <a:ext cx="713740" cy="671830"/>
            </a:xfrm>
            <a:custGeom>
              <a:avLst/>
              <a:gdLst/>
              <a:ahLst/>
              <a:cxnLst/>
              <a:rect l="l" t="t" r="r" b="b"/>
              <a:pathLst>
                <a:path w="713739" h="671829">
                  <a:moveTo>
                    <a:pt x="713680" y="0"/>
                  </a:moveTo>
                  <a:lnTo>
                    <a:pt x="0" y="0"/>
                  </a:lnTo>
                  <a:lnTo>
                    <a:pt x="0" y="671474"/>
                  </a:lnTo>
                  <a:lnTo>
                    <a:pt x="713680" y="671474"/>
                  </a:lnTo>
                  <a:lnTo>
                    <a:pt x="713680" y="0"/>
                  </a:lnTo>
                  <a:close/>
                </a:path>
              </a:pathLst>
            </a:custGeom>
            <a:solidFill>
              <a:srgbClr val="010138"/>
            </a:solidFill>
          </p:spPr>
          <p:txBody>
            <a:bodyPr wrap="square" lIns="0" tIns="0" rIns="0" bIns="0" rtlCol="0"/>
            <a:lstStyle/>
            <a:p>
              <a:endParaRPr/>
            </a:p>
          </p:txBody>
        </p:sp>
        <p:sp>
          <p:nvSpPr>
            <p:cNvPr id="87" name="object 87"/>
            <p:cNvSpPr/>
            <p:nvPr/>
          </p:nvSpPr>
          <p:spPr>
            <a:xfrm>
              <a:off x="1844484" y="4009293"/>
              <a:ext cx="688975" cy="646430"/>
            </a:xfrm>
            <a:custGeom>
              <a:avLst/>
              <a:gdLst/>
              <a:ahLst/>
              <a:cxnLst/>
              <a:rect l="l" t="t" r="r" b="b"/>
              <a:pathLst>
                <a:path w="688975" h="646429">
                  <a:moveTo>
                    <a:pt x="688514" y="0"/>
                  </a:moveTo>
                  <a:lnTo>
                    <a:pt x="0" y="0"/>
                  </a:lnTo>
                  <a:lnTo>
                    <a:pt x="0" y="645843"/>
                  </a:lnTo>
                  <a:lnTo>
                    <a:pt x="688514" y="645843"/>
                  </a:lnTo>
                  <a:lnTo>
                    <a:pt x="688514" y="0"/>
                  </a:lnTo>
                  <a:close/>
                </a:path>
              </a:pathLst>
            </a:custGeom>
            <a:solidFill>
              <a:srgbClr val="01013C"/>
            </a:solidFill>
          </p:spPr>
          <p:txBody>
            <a:bodyPr wrap="square" lIns="0" tIns="0" rIns="0" bIns="0" rtlCol="0"/>
            <a:lstStyle/>
            <a:p>
              <a:endParaRPr/>
            </a:p>
          </p:txBody>
        </p:sp>
        <p:sp>
          <p:nvSpPr>
            <p:cNvPr id="88" name="object 88"/>
            <p:cNvSpPr/>
            <p:nvPr/>
          </p:nvSpPr>
          <p:spPr>
            <a:xfrm>
              <a:off x="1844484" y="4009289"/>
              <a:ext cx="666750" cy="622300"/>
            </a:xfrm>
            <a:custGeom>
              <a:avLst/>
              <a:gdLst/>
              <a:ahLst/>
              <a:cxnLst/>
              <a:rect l="l" t="t" r="r" b="b"/>
              <a:pathLst>
                <a:path w="666750" h="622300">
                  <a:moveTo>
                    <a:pt x="666350" y="0"/>
                  </a:moveTo>
                  <a:lnTo>
                    <a:pt x="0" y="0"/>
                  </a:lnTo>
                  <a:lnTo>
                    <a:pt x="0" y="622062"/>
                  </a:lnTo>
                  <a:lnTo>
                    <a:pt x="666350" y="622062"/>
                  </a:lnTo>
                  <a:lnTo>
                    <a:pt x="666350" y="0"/>
                  </a:lnTo>
                  <a:close/>
                </a:path>
              </a:pathLst>
            </a:custGeom>
            <a:solidFill>
              <a:srgbClr val="010142"/>
            </a:solidFill>
          </p:spPr>
          <p:txBody>
            <a:bodyPr wrap="square" lIns="0" tIns="0" rIns="0" bIns="0" rtlCol="0"/>
            <a:lstStyle/>
            <a:p>
              <a:endParaRPr/>
            </a:p>
          </p:txBody>
        </p:sp>
        <p:sp>
          <p:nvSpPr>
            <p:cNvPr id="89" name="object 89"/>
            <p:cNvSpPr/>
            <p:nvPr/>
          </p:nvSpPr>
          <p:spPr>
            <a:xfrm>
              <a:off x="1844484" y="4009293"/>
              <a:ext cx="640715" cy="598805"/>
            </a:xfrm>
            <a:custGeom>
              <a:avLst/>
              <a:gdLst/>
              <a:ahLst/>
              <a:cxnLst/>
              <a:rect l="l" t="t" r="r" b="b"/>
              <a:pathLst>
                <a:path w="640714" h="598804">
                  <a:moveTo>
                    <a:pt x="640721" y="0"/>
                  </a:moveTo>
                  <a:lnTo>
                    <a:pt x="0" y="0"/>
                  </a:lnTo>
                  <a:lnTo>
                    <a:pt x="0" y="598507"/>
                  </a:lnTo>
                  <a:lnTo>
                    <a:pt x="640721" y="598507"/>
                  </a:lnTo>
                  <a:lnTo>
                    <a:pt x="640721" y="0"/>
                  </a:lnTo>
                  <a:close/>
                </a:path>
              </a:pathLst>
            </a:custGeom>
            <a:solidFill>
              <a:srgbClr val="010144"/>
            </a:solidFill>
          </p:spPr>
          <p:txBody>
            <a:bodyPr wrap="square" lIns="0" tIns="0" rIns="0" bIns="0" rtlCol="0"/>
            <a:lstStyle/>
            <a:p>
              <a:endParaRPr/>
            </a:p>
          </p:txBody>
        </p:sp>
        <p:sp>
          <p:nvSpPr>
            <p:cNvPr id="90" name="object 90"/>
            <p:cNvSpPr/>
            <p:nvPr/>
          </p:nvSpPr>
          <p:spPr>
            <a:xfrm>
              <a:off x="1844484" y="4009293"/>
              <a:ext cx="617220" cy="572770"/>
            </a:xfrm>
            <a:custGeom>
              <a:avLst/>
              <a:gdLst/>
              <a:ahLst/>
              <a:cxnLst/>
              <a:rect l="l" t="t" r="r" b="b"/>
              <a:pathLst>
                <a:path w="617219" h="572770">
                  <a:moveTo>
                    <a:pt x="616938" y="0"/>
                  </a:moveTo>
                  <a:lnTo>
                    <a:pt x="0" y="0"/>
                  </a:lnTo>
                  <a:lnTo>
                    <a:pt x="0" y="572646"/>
                  </a:lnTo>
                  <a:lnTo>
                    <a:pt x="616938" y="572646"/>
                  </a:lnTo>
                  <a:lnTo>
                    <a:pt x="616938" y="0"/>
                  </a:lnTo>
                  <a:close/>
                </a:path>
              </a:pathLst>
            </a:custGeom>
            <a:solidFill>
              <a:srgbClr val="010148"/>
            </a:solidFill>
          </p:spPr>
          <p:txBody>
            <a:bodyPr wrap="square" lIns="0" tIns="0" rIns="0" bIns="0" rtlCol="0"/>
            <a:lstStyle/>
            <a:p>
              <a:endParaRPr/>
            </a:p>
          </p:txBody>
        </p:sp>
        <p:sp>
          <p:nvSpPr>
            <p:cNvPr id="91" name="object 91"/>
            <p:cNvSpPr/>
            <p:nvPr/>
          </p:nvSpPr>
          <p:spPr>
            <a:xfrm>
              <a:off x="1844484" y="4009289"/>
              <a:ext cx="593725" cy="549275"/>
            </a:xfrm>
            <a:custGeom>
              <a:avLst/>
              <a:gdLst/>
              <a:ahLst/>
              <a:cxnLst/>
              <a:rect l="l" t="t" r="r" b="b"/>
              <a:pathLst>
                <a:path w="593725" h="549275">
                  <a:moveTo>
                    <a:pt x="593388" y="0"/>
                  </a:moveTo>
                  <a:lnTo>
                    <a:pt x="0" y="0"/>
                  </a:lnTo>
                  <a:lnTo>
                    <a:pt x="0" y="549094"/>
                  </a:lnTo>
                  <a:lnTo>
                    <a:pt x="593388" y="549094"/>
                  </a:lnTo>
                  <a:lnTo>
                    <a:pt x="593388" y="0"/>
                  </a:lnTo>
                  <a:close/>
                </a:path>
              </a:pathLst>
            </a:custGeom>
            <a:solidFill>
              <a:srgbClr val="01014B"/>
            </a:solidFill>
          </p:spPr>
          <p:txBody>
            <a:bodyPr wrap="square" lIns="0" tIns="0" rIns="0" bIns="0" rtlCol="0"/>
            <a:lstStyle/>
            <a:p>
              <a:endParaRPr/>
            </a:p>
          </p:txBody>
        </p:sp>
        <p:sp>
          <p:nvSpPr>
            <p:cNvPr id="92" name="object 92"/>
            <p:cNvSpPr/>
            <p:nvPr/>
          </p:nvSpPr>
          <p:spPr>
            <a:xfrm>
              <a:off x="1844484" y="4009289"/>
              <a:ext cx="570230" cy="523240"/>
            </a:xfrm>
            <a:custGeom>
              <a:avLst/>
              <a:gdLst/>
              <a:ahLst/>
              <a:cxnLst/>
              <a:rect l="l" t="t" r="r" b="b"/>
              <a:pathLst>
                <a:path w="570230" h="523239">
                  <a:moveTo>
                    <a:pt x="569838" y="0"/>
                  </a:moveTo>
                  <a:lnTo>
                    <a:pt x="0" y="0"/>
                  </a:lnTo>
                  <a:lnTo>
                    <a:pt x="0" y="523233"/>
                  </a:lnTo>
                  <a:lnTo>
                    <a:pt x="569838" y="523233"/>
                  </a:lnTo>
                  <a:lnTo>
                    <a:pt x="569838" y="0"/>
                  </a:lnTo>
                  <a:close/>
                </a:path>
              </a:pathLst>
            </a:custGeom>
            <a:solidFill>
              <a:srgbClr val="010151"/>
            </a:solidFill>
          </p:spPr>
          <p:txBody>
            <a:bodyPr wrap="square" lIns="0" tIns="0" rIns="0" bIns="0" rtlCol="0"/>
            <a:lstStyle/>
            <a:p>
              <a:endParaRPr/>
            </a:p>
          </p:txBody>
        </p:sp>
        <p:sp>
          <p:nvSpPr>
            <p:cNvPr id="93" name="object 93"/>
            <p:cNvSpPr/>
            <p:nvPr/>
          </p:nvSpPr>
          <p:spPr>
            <a:xfrm>
              <a:off x="1844484" y="4009293"/>
              <a:ext cx="544195" cy="499745"/>
            </a:xfrm>
            <a:custGeom>
              <a:avLst/>
              <a:gdLst/>
              <a:ahLst/>
              <a:cxnLst/>
              <a:rect l="l" t="t" r="r" b="b"/>
              <a:pathLst>
                <a:path w="544194" h="499745">
                  <a:moveTo>
                    <a:pt x="543975" y="0"/>
                  </a:moveTo>
                  <a:lnTo>
                    <a:pt x="0" y="0"/>
                  </a:lnTo>
                  <a:lnTo>
                    <a:pt x="0" y="499679"/>
                  </a:lnTo>
                  <a:lnTo>
                    <a:pt x="543975" y="499679"/>
                  </a:lnTo>
                  <a:lnTo>
                    <a:pt x="543975" y="0"/>
                  </a:lnTo>
                  <a:close/>
                </a:path>
              </a:pathLst>
            </a:custGeom>
            <a:solidFill>
              <a:srgbClr val="010153"/>
            </a:solidFill>
          </p:spPr>
          <p:txBody>
            <a:bodyPr wrap="square" lIns="0" tIns="0" rIns="0" bIns="0" rtlCol="0"/>
            <a:lstStyle/>
            <a:p>
              <a:endParaRPr/>
            </a:p>
          </p:txBody>
        </p:sp>
        <p:sp>
          <p:nvSpPr>
            <p:cNvPr id="94" name="object 94"/>
            <p:cNvSpPr/>
            <p:nvPr/>
          </p:nvSpPr>
          <p:spPr>
            <a:xfrm>
              <a:off x="1844484" y="4009293"/>
              <a:ext cx="520700" cy="476250"/>
            </a:xfrm>
            <a:custGeom>
              <a:avLst/>
              <a:gdLst/>
              <a:ahLst/>
              <a:cxnLst/>
              <a:rect l="l" t="t" r="r" b="b"/>
              <a:pathLst>
                <a:path w="520700" h="476250">
                  <a:moveTo>
                    <a:pt x="520196" y="0"/>
                  </a:moveTo>
                  <a:lnTo>
                    <a:pt x="0" y="0"/>
                  </a:lnTo>
                  <a:lnTo>
                    <a:pt x="0" y="476127"/>
                  </a:lnTo>
                  <a:lnTo>
                    <a:pt x="520196" y="476127"/>
                  </a:lnTo>
                  <a:lnTo>
                    <a:pt x="520196" y="0"/>
                  </a:lnTo>
                  <a:close/>
                </a:path>
              </a:pathLst>
            </a:custGeom>
            <a:solidFill>
              <a:srgbClr val="010158"/>
            </a:solidFill>
          </p:spPr>
          <p:txBody>
            <a:bodyPr wrap="square" lIns="0" tIns="0" rIns="0" bIns="0" rtlCol="0"/>
            <a:lstStyle/>
            <a:p>
              <a:endParaRPr/>
            </a:p>
          </p:txBody>
        </p:sp>
        <p:sp>
          <p:nvSpPr>
            <p:cNvPr id="95" name="object 95"/>
            <p:cNvSpPr/>
            <p:nvPr/>
          </p:nvSpPr>
          <p:spPr>
            <a:xfrm>
              <a:off x="1844484" y="4009293"/>
              <a:ext cx="494665" cy="450850"/>
            </a:xfrm>
            <a:custGeom>
              <a:avLst/>
              <a:gdLst/>
              <a:ahLst/>
              <a:cxnLst/>
              <a:rect l="l" t="t" r="r" b="b"/>
              <a:pathLst>
                <a:path w="494664" h="450850">
                  <a:moveTo>
                    <a:pt x="494336" y="0"/>
                  </a:moveTo>
                  <a:lnTo>
                    <a:pt x="0" y="0"/>
                  </a:lnTo>
                  <a:lnTo>
                    <a:pt x="0" y="450266"/>
                  </a:lnTo>
                  <a:lnTo>
                    <a:pt x="494336" y="450266"/>
                  </a:lnTo>
                  <a:lnTo>
                    <a:pt x="494336" y="0"/>
                  </a:lnTo>
                  <a:close/>
                </a:path>
              </a:pathLst>
            </a:custGeom>
            <a:solidFill>
              <a:srgbClr val="01015E"/>
            </a:solidFill>
          </p:spPr>
          <p:txBody>
            <a:bodyPr wrap="square" lIns="0" tIns="0" rIns="0" bIns="0" rtlCol="0"/>
            <a:lstStyle/>
            <a:p>
              <a:endParaRPr/>
            </a:p>
          </p:txBody>
        </p:sp>
        <p:sp>
          <p:nvSpPr>
            <p:cNvPr id="96" name="object 96"/>
            <p:cNvSpPr/>
            <p:nvPr/>
          </p:nvSpPr>
          <p:spPr>
            <a:xfrm>
              <a:off x="1844484" y="4009293"/>
              <a:ext cx="445134" cy="401320"/>
            </a:xfrm>
            <a:custGeom>
              <a:avLst/>
              <a:gdLst/>
              <a:ahLst/>
              <a:cxnLst/>
              <a:rect l="l" t="t" r="r" b="b"/>
              <a:pathLst>
                <a:path w="445135" h="401320">
                  <a:moveTo>
                    <a:pt x="444924" y="0"/>
                  </a:moveTo>
                  <a:lnTo>
                    <a:pt x="0" y="0"/>
                  </a:lnTo>
                  <a:lnTo>
                    <a:pt x="0" y="400851"/>
                  </a:lnTo>
                  <a:lnTo>
                    <a:pt x="444924" y="400851"/>
                  </a:lnTo>
                  <a:lnTo>
                    <a:pt x="444924" y="0"/>
                  </a:lnTo>
                  <a:close/>
                </a:path>
              </a:pathLst>
            </a:custGeom>
            <a:solidFill>
              <a:srgbClr val="010166"/>
            </a:solidFill>
          </p:spPr>
          <p:txBody>
            <a:bodyPr wrap="square" lIns="0" tIns="0" rIns="0" bIns="0" rtlCol="0"/>
            <a:lstStyle/>
            <a:p>
              <a:endParaRPr/>
            </a:p>
          </p:txBody>
        </p:sp>
        <p:sp>
          <p:nvSpPr>
            <p:cNvPr id="97" name="object 97"/>
            <p:cNvSpPr/>
            <p:nvPr/>
          </p:nvSpPr>
          <p:spPr>
            <a:xfrm>
              <a:off x="1868037" y="4009293"/>
              <a:ext cx="401955" cy="379095"/>
            </a:xfrm>
            <a:custGeom>
              <a:avLst/>
              <a:gdLst/>
              <a:ahLst/>
              <a:cxnLst/>
              <a:rect l="l" t="t" r="r" b="b"/>
              <a:pathLst>
                <a:path w="401955" h="379095">
                  <a:moveTo>
                    <a:pt x="401750" y="0"/>
                  </a:moveTo>
                  <a:lnTo>
                    <a:pt x="0" y="0"/>
                  </a:lnTo>
                  <a:lnTo>
                    <a:pt x="0" y="378915"/>
                  </a:lnTo>
                  <a:lnTo>
                    <a:pt x="401750" y="378915"/>
                  </a:lnTo>
                  <a:lnTo>
                    <a:pt x="401750" y="0"/>
                  </a:lnTo>
                  <a:close/>
                </a:path>
              </a:pathLst>
            </a:custGeom>
            <a:solidFill>
              <a:srgbClr val="010168"/>
            </a:solidFill>
          </p:spPr>
          <p:txBody>
            <a:bodyPr wrap="square" lIns="0" tIns="0" rIns="0" bIns="0" rtlCol="0"/>
            <a:lstStyle/>
            <a:p>
              <a:endParaRPr/>
            </a:p>
          </p:txBody>
        </p:sp>
        <p:sp>
          <p:nvSpPr>
            <p:cNvPr id="98" name="object 98"/>
            <p:cNvSpPr/>
            <p:nvPr/>
          </p:nvSpPr>
          <p:spPr>
            <a:xfrm>
              <a:off x="1889971" y="4010909"/>
              <a:ext cx="346710" cy="348615"/>
            </a:xfrm>
            <a:custGeom>
              <a:avLst/>
              <a:gdLst/>
              <a:ahLst/>
              <a:cxnLst/>
              <a:rect l="l" t="t" r="r" b="b"/>
              <a:pathLst>
                <a:path w="346710" h="348614">
                  <a:moveTo>
                    <a:pt x="346103" y="0"/>
                  </a:moveTo>
                  <a:lnTo>
                    <a:pt x="0" y="0"/>
                  </a:lnTo>
                  <a:lnTo>
                    <a:pt x="0" y="348206"/>
                  </a:lnTo>
                  <a:lnTo>
                    <a:pt x="346103" y="348206"/>
                  </a:lnTo>
                  <a:lnTo>
                    <a:pt x="346103" y="0"/>
                  </a:lnTo>
                  <a:close/>
                </a:path>
              </a:pathLst>
            </a:custGeom>
            <a:solidFill>
              <a:srgbClr val="01016C"/>
            </a:solidFill>
          </p:spPr>
          <p:txBody>
            <a:bodyPr wrap="square" lIns="0" tIns="0" rIns="0" bIns="0" rtlCol="0"/>
            <a:lstStyle/>
            <a:p>
              <a:endParaRPr/>
            </a:p>
          </p:txBody>
        </p:sp>
        <p:sp>
          <p:nvSpPr>
            <p:cNvPr id="99" name="object 99"/>
            <p:cNvSpPr/>
            <p:nvPr/>
          </p:nvSpPr>
          <p:spPr>
            <a:xfrm>
              <a:off x="1917446" y="4032844"/>
              <a:ext cx="295275" cy="300990"/>
            </a:xfrm>
            <a:custGeom>
              <a:avLst/>
              <a:gdLst/>
              <a:ahLst/>
              <a:cxnLst/>
              <a:rect l="l" t="t" r="r" b="b"/>
              <a:pathLst>
                <a:path w="295275" h="300989">
                  <a:moveTo>
                    <a:pt x="295077" y="0"/>
                  </a:moveTo>
                  <a:lnTo>
                    <a:pt x="0" y="0"/>
                  </a:lnTo>
                  <a:lnTo>
                    <a:pt x="0" y="300410"/>
                  </a:lnTo>
                  <a:lnTo>
                    <a:pt x="295077" y="300410"/>
                  </a:lnTo>
                  <a:lnTo>
                    <a:pt x="295077" y="0"/>
                  </a:lnTo>
                  <a:close/>
                </a:path>
              </a:pathLst>
            </a:custGeom>
            <a:solidFill>
              <a:srgbClr val="01016F"/>
            </a:solidFill>
          </p:spPr>
          <p:txBody>
            <a:bodyPr wrap="square" lIns="0" tIns="0" rIns="0" bIns="0" rtlCol="0"/>
            <a:lstStyle/>
            <a:p>
              <a:endParaRPr/>
            </a:p>
          </p:txBody>
        </p:sp>
        <p:pic>
          <p:nvPicPr>
            <p:cNvPr id="100" name="object 100"/>
            <p:cNvPicPr/>
            <p:nvPr/>
          </p:nvPicPr>
          <p:blipFill>
            <a:blip r:embed="rId2" cstate="print"/>
            <a:stretch>
              <a:fillRect/>
            </a:stretch>
          </p:blipFill>
          <p:spPr>
            <a:xfrm>
              <a:off x="1937304" y="4054319"/>
              <a:ext cx="250977" cy="250994"/>
            </a:xfrm>
            <a:prstGeom prst="rect">
              <a:avLst/>
            </a:prstGeom>
          </p:spPr>
        </p:pic>
        <p:sp>
          <p:nvSpPr>
            <p:cNvPr id="101" name="object 101"/>
            <p:cNvSpPr/>
            <p:nvPr/>
          </p:nvSpPr>
          <p:spPr>
            <a:xfrm>
              <a:off x="1700410" y="4009293"/>
              <a:ext cx="1153160" cy="925194"/>
            </a:xfrm>
            <a:custGeom>
              <a:avLst/>
              <a:gdLst/>
              <a:ahLst/>
              <a:cxnLst/>
              <a:rect l="l" t="t" r="r" b="b"/>
              <a:pathLst>
                <a:path w="1153160" h="925195">
                  <a:moveTo>
                    <a:pt x="144074" y="0"/>
                  </a:moveTo>
                  <a:lnTo>
                    <a:pt x="144074" y="683711"/>
                  </a:lnTo>
                  <a:lnTo>
                    <a:pt x="1015918" y="683711"/>
                  </a:lnTo>
                  <a:lnTo>
                    <a:pt x="1015918" y="0"/>
                  </a:lnTo>
                  <a:lnTo>
                    <a:pt x="144074" y="0"/>
                  </a:lnTo>
                </a:path>
                <a:path w="1153160" h="925195">
                  <a:moveTo>
                    <a:pt x="0" y="827566"/>
                  </a:moveTo>
                  <a:lnTo>
                    <a:pt x="1152835" y="827566"/>
                  </a:lnTo>
                </a:path>
                <a:path w="1153160" h="925195">
                  <a:moveTo>
                    <a:pt x="430841" y="827566"/>
                  </a:moveTo>
                  <a:lnTo>
                    <a:pt x="430841" y="924778"/>
                  </a:lnTo>
                </a:path>
                <a:path w="1153160" h="925195">
                  <a:moveTo>
                    <a:pt x="727535" y="827566"/>
                  </a:moveTo>
                  <a:lnTo>
                    <a:pt x="727535" y="924778"/>
                  </a:lnTo>
                </a:path>
                <a:path w="1153160" h="925195">
                  <a:moveTo>
                    <a:pt x="976433" y="853427"/>
                  </a:moveTo>
                  <a:lnTo>
                    <a:pt x="976433" y="902839"/>
                  </a:lnTo>
                  <a:lnTo>
                    <a:pt x="1022150" y="902839"/>
                  </a:lnTo>
                  <a:lnTo>
                    <a:pt x="1022150" y="853427"/>
                  </a:lnTo>
                  <a:lnTo>
                    <a:pt x="976433" y="853427"/>
                  </a:lnTo>
                </a:path>
              </a:pathLst>
            </a:custGeom>
            <a:ln w="3175">
              <a:solidFill>
                <a:srgbClr val="000000"/>
              </a:solidFill>
            </a:ln>
          </p:spPr>
          <p:txBody>
            <a:bodyPr wrap="square" lIns="0" tIns="0" rIns="0" bIns="0" rtlCol="0"/>
            <a:lstStyle/>
            <a:p>
              <a:endParaRPr/>
            </a:p>
          </p:txBody>
        </p:sp>
        <p:sp>
          <p:nvSpPr>
            <p:cNvPr id="102" name="object 102"/>
            <p:cNvSpPr/>
            <p:nvPr/>
          </p:nvSpPr>
          <p:spPr>
            <a:xfrm>
              <a:off x="6246883" y="4821451"/>
              <a:ext cx="788670" cy="375285"/>
            </a:xfrm>
            <a:custGeom>
              <a:avLst/>
              <a:gdLst/>
              <a:ahLst/>
              <a:cxnLst/>
              <a:rect l="l" t="t" r="r" b="b"/>
              <a:pathLst>
                <a:path w="788670" h="375285">
                  <a:moveTo>
                    <a:pt x="788487" y="0"/>
                  </a:moveTo>
                  <a:lnTo>
                    <a:pt x="81970" y="197937"/>
                  </a:lnTo>
                  <a:lnTo>
                    <a:pt x="70570" y="214644"/>
                  </a:lnTo>
                  <a:lnTo>
                    <a:pt x="32630" y="244203"/>
                  </a:lnTo>
                  <a:lnTo>
                    <a:pt x="9857" y="260888"/>
                  </a:lnTo>
                  <a:lnTo>
                    <a:pt x="0" y="272283"/>
                  </a:lnTo>
                  <a:lnTo>
                    <a:pt x="0" y="282896"/>
                  </a:lnTo>
                  <a:lnTo>
                    <a:pt x="47038" y="310188"/>
                  </a:lnTo>
                  <a:lnTo>
                    <a:pt x="497080" y="369344"/>
                  </a:lnTo>
                  <a:lnTo>
                    <a:pt x="539568" y="373893"/>
                  </a:lnTo>
                  <a:lnTo>
                    <a:pt x="575991" y="374677"/>
                  </a:lnTo>
                  <a:lnTo>
                    <a:pt x="599519" y="372377"/>
                  </a:lnTo>
                  <a:lnTo>
                    <a:pt x="616961" y="367070"/>
                  </a:lnTo>
                  <a:lnTo>
                    <a:pt x="630632" y="358731"/>
                  </a:lnTo>
                  <a:lnTo>
                    <a:pt x="645046" y="349634"/>
                  </a:lnTo>
                  <a:lnTo>
                    <a:pt x="655689" y="339021"/>
                  </a:lnTo>
                  <a:lnTo>
                    <a:pt x="788487" y="0"/>
                  </a:lnTo>
                  <a:close/>
                </a:path>
              </a:pathLst>
            </a:custGeom>
            <a:solidFill>
              <a:srgbClr val="DFDFDF"/>
            </a:solidFill>
          </p:spPr>
          <p:txBody>
            <a:bodyPr wrap="square" lIns="0" tIns="0" rIns="0" bIns="0" rtlCol="0"/>
            <a:lstStyle/>
            <a:p>
              <a:endParaRPr/>
            </a:p>
          </p:txBody>
        </p:sp>
        <p:sp>
          <p:nvSpPr>
            <p:cNvPr id="103" name="object 103"/>
            <p:cNvSpPr/>
            <p:nvPr/>
          </p:nvSpPr>
          <p:spPr>
            <a:xfrm>
              <a:off x="6797828" y="4819937"/>
              <a:ext cx="372110" cy="353695"/>
            </a:xfrm>
            <a:custGeom>
              <a:avLst/>
              <a:gdLst/>
              <a:ahLst/>
              <a:cxnLst/>
              <a:rect l="l" t="t" r="r" b="b"/>
              <a:pathLst>
                <a:path w="372109" h="353695">
                  <a:moveTo>
                    <a:pt x="251945" y="0"/>
                  </a:moveTo>
                  <a:lnTo>
                    <a:pt x="0" y="232081"/>
                  </a:lnTo>
                  <a:lnTo>
                    <a:pt x="2273" y="257850"/>
                  </a:lnTo>
                  <a:lnTo>
                    <a:pt x="4546" y="270766"/>
                  </a:lnTo>
                  <a:lnTo>
                    <a:pt x="9878" y="287443"/>
                  </a:lnTo>
                  <a:lnTo>
                    <a:pt x="14424" y="303363"/>
                  </a:lnTo>
                  <a:lnTo>
                    <a:pt x="48574" y="342809"/>
                  </a:lnTo>
                  <a:lnTo>
                    <a:pt x="77413" y="353422"/>
                  </a:lnTo>
                  <a:lnTo>
                    <a:pt x="94855" y="353422"/>
                  </a:lnTo>
                  <a:lnTo>
                    <a:pt x="110045" y="339019"/>
                  </a:lnTo>
                  <a:lnTo>
                    <a:pt x="371093" y="50034"/>
                  </a:lnTo>
                  <a:lnTo>
                    <a:pt x="371858" y="43206"/>
                  </a:lnTo>
                  <a:lnTo>
                    <a:pt x="370339" y="38664"/>
                  </a:lnTo>
                  <a:lnTo>
                    <a:pt x="368820" y="37139"/>
                  </a:lnTo>
                  <a:lnTo>
                    <a:pt x="365028" y="32597"/>
                  </a:lnTo>
                  <a:lnTo>
                    <a:pt x="359728" y="30321"/>
                  </a:lnTo>
                  <a:lnTo>
                    <a:pt x="353631" y="28045"/>
                  </a:lnTo>
                  <a:lnTo>
                    <a:pt x="251945" y="0"/>
                  </a:lnTo>
                  <a:close/>
                </a:path>
              </a:pathLst>
            </a:custGeom>
            <a:solidFill>
              <a:srgbClr val="C0C0C0"/>
            </a:solidFill>
          </p:spPr>
          <p:txBody>
            <a:bodyPr wrap="square" lIns="0" tIns="0" rIns="0" bIns="0" rtlCol="0"/>
            <a:lstStyle/>
            <a:p>
              <a:endParaRPr/>
            </a:p>
          </p:txBody>
        </p:sp>
        <p:sp>
          <p:nvSpPr>
            <p:cNvPr id="104" name="object 104"/>
            <p:cNvSpPr/>
            <p:nvPr/>
          </p:nvSpPr>
          <p:spPr>
            <a:xfrm>
              <a:off x="6332645" y="4825241"/>
              <a:ext cx="714375" cy="238760"/>
            </a:xfrm>
            <a:custGeom>
              <a:avLst/>
              <a:gdLst/>
              <a:ahLst/>
              <a:cxnLst/>
              <a:rect l="l" t="t" r="r" b="b"/>
              <a:pathLst>
                <a:path w="714375" h="238760">
                  <a:moveTo>
                    <a:pt x="714091" y="0"/>
                  </a:moveTo>
                  <a:lnTo>
                    <a:pt x="4549" y="153185"/>
                  </a:lnTo>
                  <a:lnTo>
                    <a:pt x="0" y="189594"/>
                  </a:lnTo>
                  <a:lnTo>
                    <a:pt x="412837" y="235871"/>
                  </a:lnTo>
                  <a:lnTo>
                    <a:pt x="439371" y="238147"/>
                  </a:lnTo>
                  <a:lnTo>
                    <a:pt x="456080" y="234357"/>
                  </a:lnTo>
                  <a:lnTo>
                    <a:pt x="466691" y="227528"/>
                  </a:lnTo>
                  <a:lnTo>
                    <a:pt x="474307" y="218434"/>
                  </a:lnTo>
                  <a:lnTo>
                    <a:pt x="714091" y="0"/>
                  </a:lnTo>
                  <a:close/>
                </a:path>
              </a:pathLst>
            </a:custGeom>
            <a:solidFill>
              <a:srgbClr val="5F5F5F"/>
            </a:solidFill>
          </p:spPr>
          <p:txBody>
            <a:bodyPr wrap="square" lIns="0" tIns="0" rIns="0" bIns="0" rtlCol="0"/>
            <a:lstStyle/>
            <a:p>
              <a:endParaRPr/>
            </a:p>
          </p:txBody>
        </p:sp>
        <p:sp>
          <p:nvSpPr>
            <p:cNvPr id="105" name="object 105"/>
            <p:cNvSpPr/>
            <p:nvPr/>
          </p:nvSpPr>
          <p:spPr>
            <a:xfrm>
              <a:off x="6332645" y="4825241"/>
              <a:ext cx="714375" cy="238760"/>
            </a:xfrm>
            <a:custGeom>
              <a:avLst/>
              <a:gdLst/>
              <a:ahLst/>
              <a:cxnLst/>
              <a:rect l="l" t="t" r="r" b="b"/>
              <a:pathLst>
                <a:path w="714375" h="238760">
                  <a:moveTo>
                    <a:pt x="714091" y="0"/>
                  </a:moveTo>
                  <a:lnTo>
                    <a:pt x="474307" y="218434"/>
                  </a:lnTo>
                  <a:lnTo>
                    <a:pt x="466691" y="227528"/>
                  </a:lnTo>
                  <a:lnTo>
                    <a:pt x="456080" y="234357"/>
                  </a:lnTo>
                  <a:lnTo>
                    <a:pt x="439371" y="238147"/>
                  </a:lnTo>
                  <a:lnTo>
                    <a:pt x="412837" y="235871"/>
                  </a:lnTo>
                  <a:lnTo>
                    <a:pt x="0" y="189594"/>
                  </a:lnTo>
                  <a:lnTo>
                    <a:pt x="4549" y="153185"/>
                  </a:lnTo>
                  <a:lnTo>
                    <a:pt x="714091" y="0"/>
                  </a:lnTo>
                </a:path>
              </a:pathLst>
            </a:custGeom>
            <a:ln w="12096">
              <a:solidFill>
                <a:srgbClr val="5F5F5F"/>
              </a:solidFill>
            </a:ln>
          </p:spPr>
          <p:txBody>
            <a:bodyPr wrap="square" lIns="0" tIns="0" rIns="0" bIns="0" rtlCol="0"/>
            <a:lstStyle/>
            <a:p>
              <a:endParaRPr/>
            </a:p>
          </p:txBody>
        </p:sp>
        <p:sp>
          <p:nvSpPr>
            <p:cNvPr id="106" name="object 106"/>
            <p:cNvSpPr/>
            <p:nvPr/>
          </p:nvSpPr>
          <p:spPr>
            <a:xfrm>
              <a:off x="6328095" y="3592746"/>
              <a:ext cx="715645" cy="1462405"/>
            </a:xfrm>
            <a:custGeom>
              <a:avLst/>
              <a:gdLst/>
              <a:ahLst/>
              <a:cxnLst/>
              <a:rect l="l" t="t" r="r" b="b"/>
              <a:pathLst>
                <a:path w="715645" h="1462404">
                  <a:moveTo>
                    <a:pt x="432544" y="0"/>
                  </a:moveTo>
                  <a:lnTo>
                    <a:pt x="1516" y="52332"/>
                  </a:lnTo>
                  <a:lnTo>
                    <a:pt x="0" y="1378861"/>
                  </a:lnTo>
                  <a:lnTo>
                    <a:pt x="758" y="1397833"/>
                  </a:lnTo>
                  <a:lnTo>
                    <a:pt x="418895" y="1460022"/>
                  </a:lnTo>
                  <a:lnTo>
                    <a:pt x="443921" y="1462299"/>
                  </a:lnTo>
                  <a:lnTo>
                    <a:pt x="458356" y="1457746"/>
                  </a:lnTo>
                  <a:lnTo>
                    <a:pt x="468968" y="1451690"/>
                  </a:lnTo>
                  <a:lnTo>
                    <a:pt x="475798" y="1444110"/>
                  </a:lnTo>
                  <a:lnTo>
                    <a:pt x="715613" y="1225676"/>
                  </a:lnTo>
                  <a:lnTo>
                    <a:pt x="715613" y="1513"/>
                  </a:lnTo>
                  <a:lnTo>
                    <a:pt x="432544" y="0"/>
                  </a:lnTo>
                  <a:close/>
                </a:path>
              </a:pathLst>
            </a:custGeom>
            <a:solidFill>
              <a:srgbClr val="DFDFDF"/>
            </a:solidFill>
          </p:spPr>
          <p:txBody>
            <a:bodyPr wrap="square" lIns="0" tIns="0" rIns="0" bIns="0" rtlCol="0"/>
            <a:lstStyle/>
            <a:p>
              <a:endParaRPr/>
            </a:p>
          </p:txBody>
        </p:sp>
        <p:sp>
          <p:nvSpPr>
            <p:cNvPr id="107" name="object 107"/>
            <p:cNvSpPr/>
            <p:nvPr/>
          </p:nvSpPr>
          <p:spPr>
            <a:xfrm>
              <a:off x="6328095" y="3592746"/>
              <a:ext cx="715645" cy="1462405"/>
            </a:xfrm>
            <a:custGeom>
              <a:avLst/>
              <a:gdLst/>
              <a:ahLst/>
              <a:cxnLst/>
              <a:rect l="l" t="t" r="r" b="b"/>
              <a:pathLst>
                <a:path w="715645" h="1462404">
                  <a:moveTo>
                    <a:pt x="715613" y="1513"/>
                  </a:moveTo>
                  <a:lnTo>
                    <a:pt x="715613" y="1225676"/>
                  </a:lnTo>
                  <a:lnTo>
                    <a:pt x="475798" y="1444110"/>
                  </a:lnTo>
                  <a:lnTo>
                    <a:pt x="468968" y="1451690"/>
                  </a:lnTo>
                  <a:lnTo>
                    <a:pt x="458356" y="1457746"/>
                  </a:lnTo>
                  <a:lnTo>
                    <a:pt x="443921" y="1462299"/>
                  </a:lnTo>
                  <a:lnTo>
                    <a:pt x="418895" y="1460022"/>
                  </a:lnTo>
                  <a:lnTo>
                    <a:pt x="25022" y="1417547"/>
                  </a:lnTo>
                  <a:lnTo>
                    <a:pt x="0" y="1378861"/>
                  </a:lnTo>
                  <a:lnTo>
                    <a:pt x="1516" y="52332"/>
                  </a:lnTo>
                  <a:lnTo>
                    <a:pt x="432544" y="0"/>
                  </a:lnTo>
                  <a:lnTo>
                    <a:pt x="715613" y="1513"/>
                  </a:lnTo>
                </a:path>
              </a:pathLst>
            </a:custGeom>
            <a:ln w="12124">
              <a:solidFill>
                <a:srgbClr val="DFDFDF"/>
              </a:solidFill>
            </a:ln>
          </p:spPr>
          <p:txBody>
            <a:bodyPr wrap="square" lIns="0" tIns="0" rIns="0" bIns="0" rtlCol="0"/>
            <a:lstStyle/>
            <a:p>
              <a:endParaRPr/>
            </a:p>
          </p:txBody>
        </p:sp>
        <p:sp>
          <p:nvSpPr>
            <p:cNvPr id="108" name="object 108"/>
            <p:cNvSpPr/>
            <p:nvPr/>
          </p:nvSpPr>
          <p:spPr>
            <a:xfrm>
              <a:off x="6325036" y="3582138"/>
              <a:ext cx="710565" cy="91440"/>
            </a:xfrm>
            <a:custGeom>
              <a:avLst/>
              <a:gdLst/>
              <a:ahLst/>
              <a:cxnLst/>
              <a:rect l="l" t="t" r="r" b="b"/>
              <a:pathLst>
                <a:path w="710565" h="91439">
                  <a:moveTo>
                    <a:pt x="407529" y="0"/>
                  </a:moveTo>
                  <a:lnTo>
                    <a:pt x="4576" y="59150"/>
                  </a:lnTo>
                  <a:lnTo>
                    <a:pt x="758" y="61426"/>
                  </a:lnTo>
                  <a:lnTo>
                    <a:pt x="0" y="66730"/>
                  </a:lnTo>
                  <a:lnTo>
                    <a:pt x="0" y="71283"/>
                  </a:lnTo>
                  <a:lnTo>
                    <a:pt x="432576" y="90996"/>
                  </a:lnTo>
                  <a:lnTo>
                    <a:pt x="710334" y="10608"/>
                  </a:lnTo>
                  <a:lnTo>
                    <a:pt x="407529" y="0"/>
                  </a:lnTo>
                  <a:close/>
                </a:path>
              </a:pathLst>
            </a:custGeom>
            <a:solidFill>
              <a:srgbClr val="C0C0C0"/>
            </a:solidFill>
          </p:spPr>
          <p:txBody>
            <a:bodyPr wrap="square" lIns="0" tIns="0" rIns="0" bIns="0" rtlCol="0"/>
            <a:lstStyle/>
            <a:p>
              <a:endParaRPr/>
            </a:p>
          </p:txBody>
        </p:sp>
        <p:sp>
          <p:nvSpPr>
            <p:cNvPr id="109" name="object 109"/>
            <p:cNvSpPr/>
            <p:nvPr/>
          </p:nvSpPr>
          <p:spPr>
            <a:xfrm>
              <a:off x="6316696" y="3639023"/>
              <a:ext cx="459740" cy="1362710"/>
            </a:xfrm>
            <a:custGeom>
              <a:avLst/>
              <a:gdLst/>
              <a:ahLst/>
              <a:cxnLst/>
              <a:rect l="l" t="t" r="r" b="b"/>
              <a:pathLst>
                <a:path w="459740" h="1362710">
                  <a:moveTo>
                    <a:pt x="53125" y="0"/>
                  </a:moveTo>
                  <a:lnTo>
                    <a:pt x="38700" y="0"/>
                  </a:lnTo>
                  <a:lnTo>
                    <a:pt x="26564" y="1513"/>
                  </a:lnTo>
                  <a:lnTo>
                    <a:pt x="758" y="52332"/>
                  </a:lnTo>
                  <a:lnTo>
                    <a:pt x="0" y="756929"/>
                  </a:lnTo>
                  <a:lnTo>
                    <a:pt x="7582" y="758443"/>
                  </a:lnTo>
                  <a:lnTo>
                    <a:pt x="10641" y="757691"/>
                  </a:lnTo>
                  <a:lnTo>
                    <a:pt x="10641" y="1316662"/>
                  </a:lnTo>
                  <a:lnTo>
                    <a:pt x="16707" y="1332585"/>
                  </a:lnTo>
                  <a:lnTo>
                    <a:pt x="27323" y="1334850"/>
                  </a:lnTo>
                  <a:lnTo>
                    <a:pt x="53125" y="1334850"/>
                  </a:lnTo>
                  <a:lnTo>
                    <a:pt x="459134" y="1362176"/>
                  </a:lnTo>
                  <a:lnTo>
                    <a:pt x="459134" y="52332"/>
                  </a:lnTo>
                  <a:lnTo>
                    <a:pt x="455320" y="37171"/>
                  </a:lnTo>
                  <a:lnTo>
                    <a:pt x="446982" y="29559"/>
                  </a:lnTo>
                  <a:lnTo>
                    <a:pt x="435606" y="24255"/>
                  </a:lnTo>
                  <a:lnTo>
                    <a:pt x="409794" y="24255"/>
                  </a:lnTo>
                  <a:lnTo>
                    <a:pt x="94859" y="3027"/>
                  </a:lnTo>
                  <a:lnTo>
                    <a:pt x="53125" y="0"/>
                  </a:lnTo>
                  <a:close/>
                </a:path>
              </a:pathLst>
            </a:custGeom>
            <a:solidFill>
              <a:srgbClr val="DFDFDF"/>
            </a:solidFill>
          </p:spPr>
          <p:txBody>
            <a:bodyPr wrap="square" lIns="0" tIns="0" rIns="0" bIns="0" rtlCol="0"/>
            <a:lstStyle/>
            <a:p>
              <a:endParaRPr/>
            </a:p>
          </p:txBody>
        </p:sp>
        <p:sp>
          <p:nvSpPr>
            <p:cNvPr id="110" name="object 110"/>
            <p:cNvSpPr/>
            <p:nvPr/>
          </p:nvSpPr>
          <p:spPr>
            <a:xfrm>
              <a:off x="6807707" y="3661754"/>
              <a:ext cx="1270" cy="1330960"/>
            </a:xfrm>
            <a:custGeom>
              <a:avLst/>
              <a:gdLst/>
              <a:ahLst/>
              <a:cxnLst/>
              <a:rect l="l" t="t" r="r" b="b"/>
              <a:pathLst>
                <a:path w="1270" h="1330960">
                  <a:moveTo>
                    <a:pt x="761" y="0"/>
                  </a:moveTo>
                  <a:lnTo>
                    <a:pt x="0" y="1330340"/>
                  </a:lnTo>
                </a:path>
              </a:pathLst>
            </a:custGeom>
            <a:ln w="6066">
              <a:solidFill>
                <a:srgbClr val="000000"/>
              </a:solidFill>
            </a:ln>
          </p:spPr>
          <p:txBody>
            <a:bodyPr wrap="square" lIns="0" tIns="0" rIns="0" bIns="0" rtlCol="0"/>
            <a:lstStyle/>
            <a:p>
              <a:endParaRPr/>
            </a:p>
          </p:txBody>
        </p:sp>
        <p:sp>
          <p:nvSpPr>
            <p:cNvPr id="111" name="object 111"/>
            <p:cNvSpPr/>
            <p:nvPr/>
          </p:nvSpPr>
          <p:spPr>
            <a:xfrm>
              <a:off x="6768224" y="3656449"/>
              <a:ext cx="38100" cy="1349375"/>
            </a:xfrm>
            <a:custGeom>
              <a:avLst/>
              <a:gdLst/>
              <a:ahLst/>
              <a:cxnLst/>
              <a:rect l="l" t="t" r="r" b="b"/>
              <a:pathLst>
                <a:path w="38100" h="1349375">
                  <a:moveTo>
                    <a:pt x="37963" y="0"/>
                  </a:moveTo>
                  <a:lnTo>
                    <a:pt x="0" y="14409"/>
                  </a:lnTo>
                  <a:lnTo>
                    <a:pt x="1518" y="1349291"/>
                  </a:lnTo>
                  <a:lnTo>
                    <a:pt x="37963" y="1328826"/>
                  </a:lnTo>
                  <a:lnTo>
                    <a:pt x="37963" y="0"/>
                  </a:lnTo>
                  <a:close/>
                </a:path>
              </a:pathLst>
            </a:custGeom>
            <a:solidFill>
              <a:srgbClr val="9F9F9F"/>
            </a:solidFill>
          </p:spPr>
          <p:txBody>
            <a:bodyPr wrap="square" lIns="0" tIns="0" rIns="0" bIns="0" rtlCol="0"/>
            <a:lstStyle/>
            <a:p>
              <a:endParaRPr/>
            </a:p>
          </p:txBody>
        </p:sp>
        <p:sp>
          <p:nvSpPr>
            <p:cNvPr id="112" name="object 112"/>
            <p:cNvSpPr/>
            <p:nvPr/>
          </p:nvSpPr>
          <p:spPr>
            <a:xfrm>
              <a:off x="6319728" y="4294309"/>
              <a:ext cx="452755" cy="32384"/>
            </a:xfrm>
            <a:custGeom>
              <a:avLst/>
              <a:gdLst/>
              <a:ahLst/>
              <a:cxnLst/>
              <a:rect l="l" t="t" r="r" b="b"/>
              <a:pathLst>
                <a:path w="452754" h="32385">
                  <a:moveTo>
                    <a:pt x="0" y="0"/>
                  </a:moveTo>
                  <a:lnTo>
                    <a:pt x="452289" y="32293"/>
                  </a:lnTo>
                </a:path>
              </a:pathLst>
            </a:custGeom>
            <a:ln w="6046">
              <a:solidFill>
                <a:srgbClr val="5F5F5F"/>
              </a:solidFill>
            </a:ln>
          </p:spPr>
          <p:txBody>
            <a:bodyPr wrap="square" lIns="0" tIns="0" rIns="0" bIns="0" rtlCol="0"/>
            <a:lstStyle/>
            <a:p>
              <a:endParaRPr/>
            </a:p>
          </p:txBody>
        </p:sp>
        <p:sp>
          <p:nvSpPr>
            <p:cNvPr id="113" name="object 113"/>
            <p:cNvSpPr/>
            <p:nvPr/>
          </p:nvSpPr>
          <p:spPr>
            <a:xfrm>
              <a:off x="6318969" y="4378512"/>
              <a:ext cx="453390" cy="37465"/>
            </a:xfrm>
            <a:custGeom>
              <a:avLst/>
              <a:gdLst/>
              <a:ahLst/>
              <a:cxnLst/>
              <a:rect l="l" t="t" r="r" b="b"/>
              <a:pathLst>
                <a:path w="453390" h="37464">
                  <a:moveTo>
                    <a:pt x="0" y="0"/>
                  </a:moveTo>
                  <a:lnTo>
                    <a:pt x="453043" y="36899"/>
                  </a:lnTo>
                </a:path>
              </a:pathLst>
            </a:custGeom>
            <a:ln w="6046">
              <a:solidFill>
                <a:srgbClr val="5F5F5F"/>
              </a:solidFill>
            </a:ln>
          </p:spPr>
          <p:txBody>
            <a:bodyPr wrap="square" lIns="0" tIns="0" rIns="0" bIns="0" rtlCol="0"/>
            <a:lstStyle/>
            <a:p>
              <a:endParaRPr/>
            </a:p>
          </p:txBody>
        </p:sp>
        <p:sp>
          <p:nvSpPr>
            <p:cNvPr id="114" name="object 114"/>
            <p:cNvSpPr/>
            <p:nvPr/>
          </p:nvSpPr>
          <p:spPr>
            <a:xfrm>
              <a:off x="6350085" y="4964024"/>
              <a:ext cx="422275" cy="45085"/>
            </a:xfrm>
            <a:custGeom>
              <a:avLst/>
              <a:gdLst/>
              <a:ahLst/>
              <a:cxnLst/>
              <a:rect l="l" t="t" r="r" b="b"/>
              <a:pathLst>
                <a:path w="422275" h="45085">
                  <a:moveTo>
                    <a:pt x="0" y="0"/>
                  </a:moveTo>
                  <a:lnTo>
                    <a:pt x="421931" y="44638"/>
                  </a:lnTo>
                </a:path>
              </a:pathLst>
            </a:custGeom>
            <a:ln w="6046">
              <a:solidFill>
                <a:srgbClr val="000000"/>
              </a:solidFill>
            </a:ln>
          </p:spPr>
          <p:txBody>
            <a:bodyPr wrap="square" lIns="0" tIns="0" rIns="0" bIns="0" rtlCol="0"/>
            <a:lstStyle/>
            <a:p>
              <a:endParaRPr/>
            </a:p>
          </p:txBody>
        </p:sp>
        <p:sp>
          <p:nvSpPr>
            <p:cNvPr id="115" name="object 115"/>
            <p:cNvSpPr/>
            <p:nvPr/>
          </p:nvSpPr>
          <p:spPr>
            <a:xfrm>
              <a:off x="6357683" y="4405058"/>
              <a:ext cx="369570" cy="603250"/>
            </a:xfrm>
            <a:custGeom>
              <a:avLst/>
              <a:gdLst/>
              <a:ahLst/>
              <a:cxnLst/>
              <a:rect l="l" t="t" r="r" b="b"/>
              <a:pathLst>
                <a:path w="369570" h="603250">
                  <a:moveTo>
                    <a:pt x="6070" y="0"/>
                  </a:moveTo>
                  <a:lnTo>
                    <a:pt x="0" y="0"/>
                  </a:lnTo>
                  <a:lnTo>
                    <a:pt x="0" y="568071"/>
                  </a:lnTo>
                  <a:lnTo>
                    <a:pt x="6070" y="568071"/>
                  </a:lnTo>
                  <a:lnTo>
                    <a:pt x="6070" y="0"/>
                  </a:lnTo>
                  <a:close/>
                </a:path>
                <a:path w="369570" h="603250">
                  <a:moveTo>
                    <a:pt x="20472" y="0"/>
                  </a:moveTo>
                  <a:lnTo>
                    <a:pt x="14414" y="0"/>
                  </a:lnTo>
                  <a:lnTo>
                    <a:pt x="14414" y="568071"/>
                  </a:lnTo>
                  <a:lnTo>
                    <a:pt x="20472" y="568071"/>
                  </a:lnTo>
                  <a:lnTo>
                    <a:pt x="20472" y="0"/>
                  </a:lnTo>
                  <a:close/>
                </a:path>
                <a:path w="369570" h="603250">
                  <a:moveTo>
                    <a:pt x="35661" y="2286"/>
                  </a:moveTo>
                  <a:lnTo>
                    <a:pt x="29603" y="2286"/>
                  </a:lnTo>
                  <a:lnTo>
                    <a:pt x="29603" y="570344"/>
                  </a:lnTo>
                  <a:lnTo>
                    <a:pt x="35661" y="570344"/>
                  </a:lnTo>
                  <a:lnTo>
                    <a:pt x="35661" y="2286"/>
                  </a:lnTo>
                  <a:close/>
                </a:path>
                <a:path w="369570" h="603250">
                  <a:moveTo>
                    <a:pt x="50076" y="2286"/>
                  </a:moveTo>
                  <a:lnTo>
                    <a:pt x="44018" y="2286"/>
                  </a:lnTo>
                  <a:lnTo>
                    <a:pt x="44018" y="570344"/>
                  </a:lnTo>
                  <a:lnTo>
                    <a:pt x="50076" y="570344"/>
                  </a:lnTo>
                  <a:lnTo>
                    <a:pt x="50076" y="2286"/>
                  </a:lnTo>
                  <a:close/>
                </a:path>
                <a:path w="369570" h="603250">
                  <a:moveTo>
                    <a:pt x="64477" y="3797"/>
                  </a:moveTo>
                  <a:lnTo>
                    <a:pt x="58420" y="3797"/>
                  </a:lnTo>
                  <a:lnTo>
                    <a:pt x="58420" y="571855"/>
                  </a:lnTo>
                  <a:lnTo>
                    <a:pt x="64477" y="571855"/>
                  </a:lnTo>
                  <a:lnTo>
                    <a:pt x="64477" y="3797"/>
                  </a:lnTo>
                  <a:close/>
                </a:path>
                <a:path w="369570" h="603250">
                  <a:moveTo>
                    <a:pt x="79667" y="4546"/>
                  </a:moveTo>
                  <a:lnTo>
                    <a:pt x="73609" y="4546"/>
                  </a:lnTo>
                  <a:lnTo>
                    <a:pt x="73609" y="572617"/>
                  </a:lnTo>
                  <a:lnTo>
                    <a:pt x="79667" y="572617"/>
                  </a:lnTo>
                  <a:lnTo>
                    <a:pt x="79667" y="4546"/>
                  </a:lnTo>
                  <a:close/>
                </a:path>
                <a:path w="369570" h="603250">
                  <a:moveTo>
                    <a:pt x="94081" y="6057"/>
                  </a:moveTo>
                  <a:lnTo>
                    <a:pt x="88011" y="6057"/>
                  </a:lnTo>
                  <a:lnTo>
                    <a:pt x="88011" y="573379"/>
                  </a:lnTo>
                  <a:lnTo>
                    <a:pt x="94081" y="573379"/>
                  </a:lnTo>
                  <a:lnTo>
                    <a:pt x="94081" y="6057"/>
                  </a:lnTo>
                  <a:close/>
                </a:path>
                <a:path w="369570" h="603250">
                  <a:moveTo>
                    <a:pt x="108508" y="7581"/>
                  </a:moveTo>
                  <a:lnTo>
                    <a:pt x="102450" y="7581"/>
                  </a:lnTo>
                  <a:lnTo>
                    <a:pt x="102450" y="574916"/>
                  </a:lnTo>
                  <a:lnTo>
                    <a:pt x="108508" y="574916"/>
                  </a:lnTo>
                  <a:lnTo>
                    <a:pt x="108508" y="7581"/>
                  </a:lnTo>
                  <a:close/>
                </a:path>
                <a:path w="369570" h="603250">
                  <a:moveTo>
                    <a:pt x="123685" y="7581"/>
                  </a:moveTo>
                  <a:lnTo>
                    <a:pt x="117614" y="7581"/>
                  </a:lnTo>
                  <a:lnTo>
                    <a:pt x="117614" y="574916"/>
                  </a:lnTo>
                  <a:lnTo>
                    <a:pt x="123685" y="574916"/>
                  </a:lnTo>
                  <a:lnTo>
                    <a:pt x="123685" y="7581"/>
                  </a:lnTo>
                  <a:close/>
                </a:path>
                <a:path w="369570" h="603250">
                  <a:moveTo>
                    <a:pt x="138112" y="11379"/>
                  </a:moveTo>
                  <a:lnTo>
                    <a:pt x="132054" y="11379"/>
                  </a:lnTo>
                  <a:lnTo>
                    <a:pt x="132054" y="578713"/>
                  </a:lnTo>
                  <a:lnTo>
                    <a:pt x="138112" y="578713"/>
                  </a:lnTo>
                  <a:lnTo>
                    <a:pt x="138112" y="11379"/>
                  </a:lnTo>
                  <a:close/>
                </a:path>
                <a:path w="369570" h="603250">
                  <a:moveTo>
                    <a:pt x="152514" y="12890"/>
                  </a:moveTo>
                  <a:lnTo>
                    <a:pt x="146456" y="12890"/>
                  </a:lnTo>
                  <a:lnTo>
                    <a:pt x="146456" y="580224"/>
                  </a:lnTo>
                  <a:lnTo>
                    <a:pt x="152514" y="580224"/>
                  </a:lnTo>
                  <a:lnTo>
                    <a:pt x="152514" y="12890"/>
                  </a:lnTo>
                  <a:close/>
                </a:path>
                <a:path w="369570" h="603250">
                  <a:moveTo>
                    <a:pt x="166954" y="14401"/>
                  </a:moveTo>
                  <a:lnTo>
                    <a:pt x="160883" y="14401"/>
                  </a:lnTo>
                  <a:lnTo>
                    <a:pt x="160883" y="581736"/>
                  </a:lnTo>
                  <a:lnTo>
                    <a:pt x="166954" y="581736"/>
                  </a:lnTo>
                  <a:lnTo>
                    <a:pt x="166954" y="14401"/>
                  </a:lnTo>
                  <a:close/>
                </a:path>
                <a:path w="369570" h="603250">
                  <a:moveTo>
                    <a:pt x="184391" y="15913"/>
                  </a:moveTo>
                  <a:lnTo>
                    <a:pt x="178333" y="15913"/>
                  </a:lnTo>
                  <a:lnTo>
                    <a:pt x="178333" y="584009"/>
                  </a:lnTo>
                  <a:lnTo>
                    <a:pt x="184391" y="584009"/>
                  </a:lnTo>
                  <a:lnTo>
                    <a:pt x="184391" y="15913"/>
                  </a:lnTo>
                  <a:close/>
                </a:path>
                <a:path w="369570" h="603250">
                  <a:moveTo>
                    <a:pt x="198818" y="15151"/>
                  </a:moveTo>
                  <a:lnTo>
                    <a:pt x="192760" y="15151"/>
                  </a:lnTo>
                  <a:lnTo>
                    <a:pt x="192760" y="583247"/>
                  </a:lnTo>
                  <a:lnTo>
                    <a:pt x="198818" y="583247"/>
                  </a:lnTo>
                  <a:lnTo>
                    <a:pt x="198818" y="15151"/>
                  </a:lnTo>
                  <a:close/>
                </a:path>
                <a:path w="369570" h="603250">
                  <a:moveTo>
                    <a:pt x="216268" y="18948"/>
                  </a:moveTo>
                  <a:lnTo>
                    <a:pt x="210197" y="18948"/>
                  </a:lnTo>
                  <a:lnTo>
                    <a:pt x="210197" y="587044"/>
                  </a:lnTo>
                  <a:lnTo>
                    <a:pt x="216268" y="587044"/>
                  </a:lnTo>
                  <a:lnTo>
                    <a:pt x="216268" y="18948"/>
                  </a:lnTo>
                  <a:close/>
                </a:path>
                <a:path w="369570" h="603250">
                  <a:moveTo>
                    <a:pt x="230695" y="18948"/>
                  </a:moveTo>
                  <a:lnTo>
                    <a:pt x="224637" y="18948"/>
                  </a:lnTo>
                  <a:lnTo>
                    <a:pt x="224637" y="587044"/>
                  </a:lnTo>
                  <a:lnTo>
                    <a:pt x="230695" y="587044"/>
                  </a:lnTo>
                  <a:lnTo>
                    <a:pt x="230695" y="18948"/>
                  </a:lnTo>
                  <a:close/>
                </a:path>
                <a:path w="369570" h="603250">
                  <a:moveTo>
                    <a:pt x="245097" y="22733"/>
                  </a:moveTo>
                  <a:lnTo>
                    <a:pt x="239039" y="22733"/>
                  </a:lnTo>
                  <a:lnTo>
                    <a:pt x="239039" y="590829"/>
                  </a:lnTo>
                  <a:lnTo>
                    <a:pt x="245097" y="590829"/>
                  </a:lnTo>
                  <a:lnTo>
                    <a:pt x="245097" y="22733"/>
                  </a:lnTo>
                  <a:close/>
                </a:path>
                <a:path w="369570" h="603250">
                  <a:moveTo>
                    <a:pt x="260286" y="17437"/>
                  </a:moveTo>
                  <a:lnTo>
                    <a:pt x="254228" y="17437"/>
                  </a:lnTo>
                  <a:lnTo>
                    <a:pt x="254228" y="590080"/>
                  </a:lnTo>
                  <a:lnTo>
                    <a:pt x="260286" y="590080"/>
                  </a:lnTo>
                  <a:lnTo>
                    <a:pt x="260286" y="17437"/>
                  </a:lnTo>
                  <a:close/>
                </a:path>
                <a:path w="369570" h="603250">
                  <a:moveTo>
                    <a:pt x="276974" y="25019"/>
                  </a:moveTo>
                  <a:lnTo>
                    <a:pt x="270916" y="25019"/>
                  </a:lnTo>
                  <a:lnTo>
                    <a:pt x="270916" y="592353"/>
                  </a:lnTo>
                  <a:lnTo>
                    <a:pt x="276974" y="592353"/>
                  </a:lnTo>
                  <a:lnTo>
                    <a:pt x="276974" y="25019"/>
                  </a:lnTo>
                  <a:close/>
                </a:path>
                <a:path w="369570" h="603250">
                  <a:moveTo>
                    <a:pt x="291414" y="25781"/>
                  </a:moveTo>
                  <a:lnTo>
                    <a:pt x="285343" y="25781"/>
                  </a:lnTo>
                  <a:lnTo>
                    <a:pt x="285343" y="593115"/>
                  </a:lnTo>
                  <a:lnTo>
                    <a:pt x="291414" y="593115"/>
                  </a:lnTo>
                  <a:lnTo>
                    <a:pt x="291414" y="25781"/>
                  </a:lnTo>
                  <a:close/>
                </a:path>
                <a:path w="369570" h="603250">
                  <a:moveTo>
                    <a:pt x="306565" y="28816"/>
                  </a:moveTo>
                  <a:lnTo>
                    <a:pt x="300507" y="28816"/>
                  </a:lnTo>
                  <a:lnTo>
                    <a:pt x="300507" y="596150"/>
                  </a:lnTo>
                  <a:lnTo>
                    <a:pt x="306565" y="596150"/>
                  </a:lnTo>
                  <a:lnTo>
                    <a:pt x="306565" y="28816"/>
                  </a:lnTo>
                  <a:close/>
                </a:path>
                <a:path w="369570" h="603250">
                  <a:moveTo>
                    <a:pt x="321005" y="28054"/>
                  </a:moveTo>
                  <a:lnTo>
                    <a:pt x="314934" y="28054"/>
                  </a:lnTo>
                  <a:lnTo>
                    <a:pt x="314934" y="595388"/>
                  </a:lnTo>
                  <a:lnTo>
                    <a:pt x="321005" y="595388"/>
                  </a:lnTo>
                  <a:lnTo>
                    <a:pt x="321005" y="28054"/>
                  </a:lnTo>
                  <a:close/>
                </a:path>
                <a:path w="369570" h="603250">
                  <a:moveTo>
                    <a:pt x="336169" y="27292"/>
                  </a:moveTo>
                  <a:lnTo>
                    <a:pt x="330111" y="27292"/>
                  </a:lnTo>
                  <a:lnTo>
                    <a:pt x="330111" y="599173"/>
                  </a:lnTo>
                  <a:lnTo>
                    <a:pt x="336169" y="599173"/>
                  </a:lnTo>
                  <a:lnTo>
                    <a:pt x="336169" y="27292"/>
                  </a:lnTo>
                  <a:close/>
                </a:path>
                <a:path w="369570" h="603250">
                  <a:moveTo>
                    <a:pt x="352882" y="33375"/>
                  </a:moveTo>
                  <a:lnTo>
                    <a:pt x="346811" y="33375"/>
                  </a:lnTo>
                  <a:lnTo>
                    <a:pt x="346811" y="600684"/>
                  </a:lnTo>
                  <a:lnTo>
                    <a:pt x="352882" y="600684"/>
                  </a:lnTo>
                  <a:lnTo>
                    <a:pt x="352882" y="33375"/>
                  </a:lnTo>
                  <a:close/>
                </a:path>
                <a:path w="369570" h="603250">
                  <a:moveTo>
                    <a:pt x="369557" y="33375"/>
                  </a:moveTo>
                  <a:lnTo>
                    <a:pt x="363499" y="33375"/>
                  </a:lnTo>
                  <a:lnTo>
                    <a:pt x="363499" y="602970"/>
                  </a:lnTo>
                  <a:lnTo>
                    <a:pt x="369557" y="602970"/>
                  </a:lnTo>
                  <a:lnTo>
                    <a:pt x="369557" y="33375"/>
                  </a:lnTo>
                  <a:close/>
                </a:path>
              </a:pathLst>
            </a:custGeom>
            <a:solidFill>
              <a:srgbClr val="000000"/>
            </a:solidFill>
          </p:spPr>
          <p:txBody>
            <a:bodyPr wrap="square" lIns="0" tIns="0" rIns="0" bIns="0" rtlCol="0"/>
            <a:lstStyle/>
            <a:p>
              <a:endParaRPr/>
            </a:p>
          </p:txBody>
        </p:sp>
        <p:sp>
          <p:nvSpPr>
            <p:cNvPr id="116" name="object 116"/>
            <p:cNvSpPr/>
            <p:nvPr/>
          </p:nvSpPr>
          <p:spPr>
            <a:xfrm>
              <a:off x="6318211" y="3770226"/>
              <a:ext cx="454025" cy="27940"/>
            </a:xfrm>
            <a:custGeom>
              <a:avLst/>
              <a:gdLst/>
              <a:ahLst/>
              <a:cxnLst/>
              <a:rect l="l" t="t" r="r" b="b"/>
              <a:pathLst>
                <a:path w="454025" h="27939">
                  <a:moveTo>
                    <a:pt x="0" y="0"/>
                  </a:moveTo>
                  <a:lnTo>
                    <a:pt x="453808" y="27671"/>
                  </a:lnTo>
                </a:path>
              </a:pathLst>
            </a:custGeom>
            <a:ln w="6046">
              <a:solidFill>
                <a:srgbClr val="5F5F5F"/>
              </a:solidFill>
            </a:ln>
          </p:spPr>
          <p:txBody>
            <a:bodyPr wrap="square" lIns="0" tIns="0" rIns="0" bIns="0" rtlCol="0"/>
            <a:lstStyle/>
            <a:p>
              <a:endParaRPr/>
            </a:p>
          </p:txBody>
        </p:sp>
        <p:sp>
          <p:nvSpPr>
            <p:cNvPr id="117" name="object 117"/>
            <p:cNvSpPr/>
            <p:nvPr/>
          </p:nvSpPr>
          <p:spPr>
            <a:xfrm>
              <a:off x="6318969" y="4400494"/>
              <a:ext cx="452120" cy="36195"/>
            </a:xfrm>
            <a:custGeom>
              <a:avLst/>
              <a:gdLst/>
              <a:ahLst/>
              <a:cxnLst/>
              <a:rect l="l" t="t" r="r" b="b"/>
              <a:pathLst>
                <a:path w="452120" h="36195">
                  <a:moveTo>
                    <a:pt x="0" y="0"/>
                  </a:moveTo>
                  <a:lnTo>
                    <a:pt x="451524" y="36131"/>
                  </a:lnTo>
                </a:path>
              </a:pathLst>
            </a:custGeom>
            <a:ln w="6046">
              <a:solidFill>
                <a:srgbClr val="000000"/>
              </a:solidFill>
            </a:ln>
          </p:spPr>
          <p:txBody>
            <a:bodyPr wrap="square" lIns="0" tIns="0" rIns="0" bIns="0" rtlCol="0"/>
            <a:lstStyle/>
            <a:p>
              <a:endParaRPr/>
            </a:p>
          </p:txBody>
        </p:sp>
        <p:sp>
          <p:nvSpPr>
            <p:cNvPr id="118" name="object 118"/>
            <p:cNvSpPr/>
            <p:nvPr/>
          </p:nvSpPr>
          <p:spPr>
            <a:xfrm>
              <a:off x="6359209" y="3684527"/>
              <a:ext cx="48260" cy="53340"/>
            </a:xfrm>
            <a:custGeom>
              <a:avLst/>
              <a:gdLst/>
              <a:ahLst/>
              <a:cxnLst/>
              <a:rect l="l" t="t" r="r" b="b"/>
              <a:pathLst>
                <a:path w="48260" h="53339">
                  <a:moveTo>
                    <a:pt x="24260" y="0"/>
                  </a:moveTo>
                  <a:lnTo>
                    <a:pt x="14711" y="2120"/>
                  </a:lnTo>
                  <a:lnTo>
                    <a:pt x="7011" y="7866"/>
                  </a:lnTo>
                  <a:lnTo>
                    <a:pt x="1871" y="16311"/>
                  </a:lnTo>
                  <a:lnTo>
                    <a:pt x="0" y="26531"/>
                  </a:lnTo>
                  <a:lnTo>
                    <a:pt x="1871" y="36760"/>
                  </a:lnTo>
                  <a:lnTo>
                    <a:pt x="7011" y="45216"/>
                  </a:lnTo>
                  <a:lnTo>
                    <a:pt x="14711" y="50970"/>
                  </a:lnTo>
                  <a:lnTo>
                    <a:pt x="24260" y="53094"/>
                  </a:lnTo>
                  <a:lnTo>
                    <a:pt x="33387" y="50970"/>
                  </a:lnTo>
                  <a:lnTo>
                    <a:pt x="40873" y="45216"/>
                  </a:lnTo>
                  <a:lnTo>
                    <a:pt x="45937" y="36760"/>
                  </a:lnTo>
                  <a:lnTo>
                    <a:pt x="47799" y="26531"/>
                  </a:lnTo>
                  <a:lnTo>
                    <a:pt x="45937" y="16311"/>
                  </a:lnTo>
                  <a:lnTo>
                    <a:pt x="40873" y="7866"/>
                  </a:lnTo>
                  <a:lnTo>
                    <a:pt x="33387" y="2120"/>
                  </a:lnTo>
                  <a:lnTo>
                    <a:pt x="24260" y="0"/>
                  </a:lnTo>
                  <a:close/>
                </a:path>
              </a:pathLst>
            </a:custGeom>
            <a:solidFill>
              <a:srgbClr val="000000"/>
            </a:solidFill>
          </p:spPr>
          <p:txBody>
            <a:bodyPr wrap="square" lIns="0" tIns="0" rIns="0" bIns="0" rtlCol="0"/>
            <a:lstStyle/>
            <a:p>
              <a:endParaRPr/>
            </a:p>
          </p:txBody>
        </p:sp>
        <p:sp>
          <p:nvSpPr>
            <p:cNvPr id="119" name="object 119"/>
            <p:cNvSpPr/>
            <p:nvPr/>
          </p:nvSpPr>
          <p:spPr>
            <a:xfrm>
              <a:off x="6359209" y="3684527"/>
              <a:ext cx="48260" cy="53340"/>
            </a:xfrm>
            <a:custGeom>
              <a:avLst/>
              <a:gdLst/>
              <a:ahLst/>
              <a:cxnLst/>
              <a:rect l="l" t="t" r="r" b="b"/>
              <a:pathLst>
                <a:path w="48260" h="53339">
                  <a:moveTo>
                    <a:pt x="0" y="26531"/>
                  </a:moveTo>
                  <a:lnTo>
                    <a:pt x="1871" y="36760"/>
                  </a:lnTo>
                  <a:lnTo>
                    <a:pt x="7011" y="45216"/>
                  </a:lnTo>
                  <a:lnTo>
                    <a:pt x="14711" y="50970"/>
                  </a:lnTo>
                  <a:lnTo>
                    <a:pt x="24260" y="53094"/>
                  </a:lnTo>
                  <a:lnTo>
                    <a:pt x="33387" y="50970"/>
                  </a:lnTo>
                  <a:lnTo>
                    <a:pt x="40873" y="45216"/>
                  </a:lnTo>
                  <a:lnTo>
                    <a:pt x="45937" y="36760"/>
                  </a:lnTo>
                  <a:lnTo>
                    <a:pt x="47799" y="26531"/>
                  </a:lnTo>
                  <a:lnTo>
                    <a:pt x="45937" y="16311"/>
                  </a:lnTo>
                  <a:lnTo>
                    <a:pt x="40873" y="7866"/>
                  </a:lnTo>
                  <a:lnTo>
                    <a:pt x="33387" y="2120"/>
                  </a:lnTo>
                  <a:lnTo>
                    <a:pt x="24260" y="0"/>
                  </a:lnTo>
                  <a:lnTo>
                    <a:pt x="14711" y="2120"/>
                  </a:lnTo>
                  <a:lnTo>
                    <a:pt x="7011" y="7866"/>
                  </a:lnTo>
                  <a:lnTo>
                    <a:pt x="1871" y="16311"/>
                  </a:lnTo>
                  <a:lnTo>
                    <a:pt x="0" y="26531"/>
                  </a:lnTo>
                </a:path>
              </a:pathLst>
            </a:custGeom>
            <a:ln w="12114">
              <a:solidFill>
                <a:srgbClr val="000000"/>
              </a:solidFill>
            </a:ln>
          </p:spPr>
          <p:txBody>
            <a:bodyPr wrap="square" lIns="0" tIns="0" rIns="0" bIns="0" rtlCol="0"/>
            <a:lstStyle/>
            <a:p>
              <a:endParaRPr/>
            </a:p>
          </p:txBody>
        </p:sp>
        <p:sp>
          <p:nvSpPr>
            <p:cNvPr id="120" name="object 120"/>
            <p:cNvSpPr/>
            <p:nvPr/>
          </p:nvSpPr>
          <p:spPr>
            <a:xfrm>
              <a:off x="6444940" y="3689079"/>
              <a:ext cx="48260" cy="53340"/>
            </a:xfrm>
            <a:custGeom>
              <a:avLst/>
              <a:gdLst/>
              <a:ahLst/>
              <a:cxnLst/>
              <a:rect l="l" t="t" r="r" b="b"/>
              <a:pathLst>
                <a:path w="48260" h="53339">
                  <a:moveTo>
                    <a:pt x="24292" y="0"/>
                  </a:moveTo>
                  <a:lnTo>
                    <a:pt x="14738" y="2120"/>
                  </a:lnTo>
                  <a:lnTo>
                    <a:pt x="7027" y="7866"/>
                  </a:lnTo>
                  <a:lnTo>
                    <a:pt x="1876" y="16311"/>
                  </a:lnTo>
                  <a:lnTo>
                    <a:pt x="0" y="26531"/>
                  </a:lnTo>
                  <a:lnTo>
                    <a:pt x="1876" y="36769"/>
                  </a:lnTo>
                  <a:lnTo>
                    <a:pt x="7027" y="45224"/>
                  </a:lnTo>
                  <a:lnTo>
                    <a:pt x="14738" y="50973"/>
                  </a:lnTo>
                  <a:lnTo>
                    <a:pt x="24292" y="53094"/>
                  </a:lnTo>
                  <a:lnTo>
                    <a:pt x="33410" y="50973"/>
                  </a:lnTo>
                  <a:lnTo>
                    <a:pt x="40897" y="45224"/>
                  </a:lnTo>
                  <a:lnTo>
                    <a:pt x="45966" y="36769"/>
                  </a:lnTo>
                  <a:lnTo>
                    <a:pt x="47831" y="26531"/>
                  </a:lnTo>
                  <a:lnTo>
                    <a:pt x="45966" y="16311"/>
                  </a:lnTo>
                  <a:lnTo>
                    <a:pt x="40897" y="7866"/>
                  </a:lnTo>
                  <a:lnTo>
                    <a:pt x="33410" y="2120"/>
                  </a:lnTo>
                  <a:lnTo>
                    <a:pt x="24292" y="0"/>
                  </a:lnTo>
                  <a:close/>
                </a:path>
              </a:pathLst>
            </a:custGeom>
            <a:solidFill>
              <a:srgbClr val="FFFFFF"/>
            </a:solidFill>
          </p:spPr>
          <p:txBody>
            <a:bodyPr wrap="square" lIns="0" tIns="0" rIns="0" bIns="0" rtlCol="0"/>
            <a:lstStyle/>
            <a:p>
              <a:endParaRPr/>
            </a:p>
          </p:txBody>
        </p:sp>
        <p:sp>
          <p:nvSpPr>
            <p:cNvPr id="121" name="object 121"/>
            <p:cNvSpPr/>
            <p:nvPr/>
          </p:nvSpPr>
          <p:spPr>
            <a:xfrm>
              <a:off x="6444940" y="3689079"/>
              <a:ext cx="48260" cy="53340"/>
            </a:xfrm>
            <a:custGeom>
              <a:avLst/>
              <a:gdLst/>
              <a:ahLst/>
              <a:cxnLst/>
              <a:rect l="l" t="t" r="r" b="b"/>
              <a:pathLst>
                <a:path w="48260" h="53339">
                  <a:moveTo>
                    <a:pt x="0" y="26531"/>
                  </a:moveTo>
                  <a:lnTo>
                    <a:pt x="1876" y="36769"/>
                  </a:lnTo>
                  <a:lnTo>
                    <a:pt x="7027" y="45224"/>
                  </a:lnTo>
                  <a:lnTo>
                    <a:pt x="14738" y="50973"/>
                  </a:lnTo>
                  <a:lnTo>
                    <a:pt x="24292" y="53094"/>
                  </a:lnTo>
                  <a:lnTo>
                    <a:pt x="33410" y="50973"/>
                  </a:lnTo>
                  <a:lnTo>
                    <a:pt x="40897" y="45224"/>
                  </a:lnTo>
                  <a:lnTo>
                    <a:pt x="45966" y="36769"/>
                  </a:lnTo>
                  <a:lnTo>
                    <a:pt x="47831" y="26531"/>
                  </a:lnTo>
                  <a:lnTo>
                    <a:pt x="45966" y="16311"/>
                  </a:lnTo>
                  <a:lnTo>
                    <a:pt x="40897" y="7866"/>
                  </a:lnTo>
                  <a:lnTo>
                    <a:pt x="33410" y="2120"/>
                  </a:lnTo>
                  <a:lnTo>
                    <a:pt x="24292" y="0"/>
                  </a:lnTo>
                  <a:lnTo>
                    <a:pt x="14738" y="2120"/>
                  </a:lnTo>
                  <a:lnTo>
                    <a:pt x="7027" y="7866"/>
                  </a:lnTo>
                  <a:lnTo>
                    <a:pt x="1876" y="16311"/>
                  </a:lnTo>
                  <a:lnTo>
                    <a:pt x="0" y="26531"/>
                  </a:lnTo>
                </a:path>
              </a:pathLst>
            </a:custGeom>
            <a:ln w="12114">
              <a:solidFill>
                <a:srgbClr val="000000"/>
              </a:solidFill>
            </a:ln>
          </p:spPr>
          <p:txBody>
            <a:bodyPr wrap="square" lIns="0" tIns="0" rIns="0" bIns="0" rtlCol="0"/>
            <a:lstStyle/>
            <a:p>
              <a:endParaRPr/>
            </a:p>
          </p:txBody>
        </p:sp>
        <p:sp>
          <p:nvSpPr>
            <p:cNvPr id="122" name="object 122"/>
            <p:cNvSpPr/>
            <p:nvPr/>
          </p:nvSpPr>
          <p:spPr>
            <a:xfrm>
              <a:off x="6529949" y="3695146"/>
              <a:ext cx="48895" cy="53340"/>
            </a:xfrm>
            <a:custGeom>
              <a:avLst/>
              <a:gdLst/>
              <a:ahLst/>
              <a:cxnLst/>
              <a:rect l="l" t="t" r="r" b="b"/>
              <a:pathLst>
                <a:path w="48895" h="53339">
                  <a:moveTo>
                    <a:pt x="24292" y="0"/>
                  </a:moveTo>
                  <a:lnTo>
                    <a:pt x="14725" y="2119"/>
                  </a:lnTo>
                  <a:lnTo>
                    <a:pt x="7015" y="7862"/>
                  </a:lnTo>
                  <a:lnTo>
                    <a:pt x="1871" y="16307"/>
                  </a:lnTo>
                  <a:lnTo>
                    <a:pt x="0" y="26531"/>
                  </a:lnTo>
                  <a:lnTo>
                    <a:pt x="1871" y="36768"/>
                  </a:lnTo>
                  <a:lnTo>
                    <a:pt x="7015" y="45219"/>
                  </a:lnTo>
                  <a:lnTo>
                    <a:pt x="14725" y="50964"/>
                  </a:lnTo>
                  <a:lnTo>
                    <a:pt x="24292" y="53084"/>
                  </a:lnTo>
                  <a:lnTo>
                    <a:pt x="33841" y="50964"/>
                  </a:lnTo>
                  <a:lnTo>
                    <a:pt x="41541" y="45219"/>
                  </a:lnTo>
                  <a:lnTo>
                    <a:pt x="46682" y="36768"/>
                  </a:lnTo>
                  <a:lnTo>
                    <a:pt x="48553" y="26531"/>
                  </a:lnTo>
                  <a:lnTo>
                    <a:pt x="46682" y="16307"/>
                  </a:lnTo>
                  <a:lnTo>
                    <a:pt x="41541" y="7862"/>
                  </a:lnTo>
                  <a:lnTo>
                    <a:pt x="33841" y="2119"/>
                  </a:lnTo>
                  <a:lnTo>
                    <a:pt x="24292" y="0"/>
                  </a:lnTo>
                  <a:close/>
                </a:path>
              </a:pathLst>
            </a:custGeom>
            <a:solidFill>
              <a:srgbClr val="FFFFFF"/>
            </a:solidFill>
          </p:spPr>
          <p:txBody>
            <a:bodyPr wrap="square" lIns="0" tIns="0" rIns="0" bIns="0" rtlCol="0"/>
            <a:lstStyle/>
            <a:p>
              <a:endParaRPr/>
            </a:p>
          </p:txBody>
        </p:sp>
        <p:sp>
          <p:nvSpPr>
            <p:cNvPr id="123" name="object 123"/>
            <p:cNvSpPr/>
            <p:nvPr/>
          </p:nvSpPr>
          <p:spPr>
            <a:xfrm>
              <a:off x="6529949" y="3695146"/>
              <a:ext cx="48895" cy="53340"/>
            </a:xfrm>
            <a:custGeom>
              <a:avLst/>
              <a:gdLst/>
              <a:ahLst/>
              <a:cxnLst/>
              <a:rect l="l" t="t" r="r" b="b"/>
              <a:pathLst>
                <a:path w="48895" h="53339">
                  <a:moveTo>
                    <a:pt x="0" y="26531"/>
                  </a:moveTo>
                  <a:lnTo>
                    <a:pt x="1871" y="36768"/>
                  </a:lnTo>
                  <a:lnTo>
                    <a:pt x="7015" y="45219"/>
                  </a:lnTo>
                  <a:lnTo>
                    <a:pt x="14725" y="50964"/>
                  </a:lnTo>
                  <a:lnTo>
                    <a:pt x="24292" y="53084"/>
                  </a:lnTo>
                  <a:lnTo>
                    <a:pt x="33841" y="50964"/>
                  </a:lnTo>
                  <a:lnTo>
                    <a:pt x="41541" y="45219"/>
                  </a:lnTo>
                  <a:lnTo>
                    <a:pt x="46682" y="36768"/>
                  </a:lnTo>
                  <a:lnTo>
                    <a:pt x="48553" y="26531"/>
                  </a:lnTo>
                  <a:lnTo>
                    <a:pt x="46682" y="16307"/>
                  </a:lnTo>
                  <a:lnTo>
                    <a:pt x="41541" y="7862"/>
                  </a:lnTo>
                  <a:lnTo>
                    <a:pt x="33841" y="2119"/>
                  </a:lnTo>
                  <a:lnTo>
                    <a:pt x="24292" y="0"/>
                  </a:lnTo>
                  <a:lnTo>
                    <a:pt x="14725" y="2119"/>
                  </a:lnTo>
                  <a:lnTo>
                    <a:pt x="7015" y="7862"/>
                  </a:lnTo>
                  <a:lnTo>
                    <a:pt x="1871" y="16307"/>
                  </a:lnTo>
                  <a:lnTo>
                    <a:pt x="0" y="26531"/>
                  </a:lnTo>
                </a:path>
              </a:pathLst>
            </a:custGeom>
            <a:ln w="12114">
              <a:solidFill>
                <a:srgbClr val="000000"/>
              </a:solidFill>
            </a:ln>
          </p:spPr>
          <p:txBody>
            <a:bodyPr wrap="square" lIns="0" tIns="0" rIns="0" bIns="0" rtlCol="0"/>
            <a:lstStyle/>
            <a:p>
              <a:endParaRPr/>
            </a:p>
          </p:txBody>
        </p:sp>
        <p:sp>
          <p:nvSpPr>
            <p:cNvPr id="124" name="object 124"/>
            <p:cNvSpPr/>
            <p:nvPr/>
          </p:nvSpPr>
          <p:spPr>
            <a:xfrm>
              <a:off x="6690067" y="3701964"/>
              <a:ext cx="42545" cy="67945"/>
            </a:xfrm>
            <a:custGeom>
              <a:avLst/>
              <a:gdLst/>
              <a:ahLst/>
              <a:cxnLst/>
              <a:rect l="l" t="t" r="r" b="b"/>
              <a:pathLst>
                <a:path w="42545" h="67945">
                  <a:moveTo>
                    <a:pt x="0" y="0"/>
                  </a:moveTo>
                  <a:lnTo>
                    <a:pt x="0" y="62951"/>
                  </a:lnTo>
                  <a:lnTo>
                    <a:pt x="42499" y="67493"/>
                  </a:lnTo>
                  <a:lnTo>
                    <a:pt x="42499" y="2276"/>
                  </a:lnTo>
                  <a:lnTo>
                    <a:pt x="0" y="0"/>
                  </a:lnTo>
                  <a:close/>
                </a:path>
              </a:pathLst>
            </a:custGeom>
            <a:solidFill>
              <a:srgbClr val="9F9F9F"/>
            </a:solidFill>
          </p:spPr>
          <p:txBody>
            <a:bodyPr wrap="square" lIns="0" tIns="0" rIns="0" bIns="0" rtlCol="0"/>
            <a:lstStyle/>
            <a:p>
              <a:endParaRPr/>
            </a:p>
          </p:txBody>
        </p:sp>
        <p:sp>
          <p:nvSpPr>
            <p:cNvPr id="125" name="object 125"/>
            <p:cNvSpPr/>
            <p:nvPr/>
          </p:nvSpPr>
          <p:spPr>
            <a:xfrm>
              <a:off x="6690067" y="3701964"/>
              <a:ext cx="42545" cy="67945"/>
            </a:xfrm>
            <a:custGeom>
              <a:avLst/>
              <a:gdLst/>
              <a:ahLst/>
              <a:cxnLst/>
              <a:rect l="l" t="t" r="r" b="b"/>
              <a:pathLst>
                <a:path w="42545" h="67945">
                  <a:moveTo>
                    <a:pt x="0" y="0"/>
                  </a:moveTo>
                  <a:lnTo>
                    <a:pt x="42499" y="2276"/>
                  </a:lnTo>
                  <a:lnTo>
                    <a:pt x="42499" y="67493"/>
                  </a:lnTo>
                  <a:lnTo>
                    <a:pt x="0" y="62951"/>
                  </a:lnTo>
                  <a:lnTo>
                    <a:pt x="0" y="0"/>
                  </a:lnTo>
                </a:path>
              </a:pathLst>
            </a:custGeom>
            <a:ln w="12121">
              <a:solidFill>
                <a:srgbClr val="808080"/>
              </a:solidFill>
            </a:ln>
          </p:spPr>
          <p:txBody>
            <a:bodyPr wrap="square" lIns="0" tIns="0" rIns="0" bIns="0" rtlCol="0"/>
            <a:lstStyle/>
            <a:p>
              <a:endParaRPr/>
            </a:p>
          </p:txBody>
        </p:sp>
        <p:sp>
          <p:nvSpPr>
            <p:cNvPr id="126" name="object 126"/>
            <p:cNvSpPr/>
            <p:nvPr/>
          </p:nvSpPr>
          <p:spPr>
            <a:xfrm>
              <a:off x="6319728" y="3858957"/>
              <a:ext cx="458470" cy="31115"/>
            </a:xfrm>
            <a:custGeom>
              <a:avLst/>
              <a:gdLst/>
              <a:ahLst/>
              <a:cxnLst/>
              <a:rect l="l" t="t" r="r" b="b"/>
              <a:pathLst>
                <a:path w="458470" h="31114">
                  <a:moveTo>
                    <a:pt x="0" y="0"/>
                  </a:moveTo>
                  <a:lnTo>
                    <a:pt x="458375" y="30747"/>
                  </a:lnTo>
                </a:path>
              </a:pathLst>
            </a:custGeom>
            <a:ln w="6046">
              <a:solidFill>
                <a:srgbClr val="5F5F5F"/>
              </a:solidFill>
            </a:ln>
          </p:spPr>
          <p:txBody>
            <a:bodyPr wrap="square" lIns="0" tIns="0" rIns="0" bIns="0" rtlCol="0"/>
            <a:lstStyle/>
            <a:p>
              <a:endParaRPr/>
            </a:p>
          </p:txBody>
        </p:sp>
        <p:sp>
          <p:nvSpPr>
            <p:cNvPr id="127" name="object 127"/>
            <p:cNvSpPr/>
            <p:nvPr/>
          </p:nvSpPr>
          <p:spPr>
            <a:xfrm>
              <a:off x="6318969" y="3946950"/>
              <a:ext cx="453390" cy="31115"/>
            </a:xfrm>
            <a:custGeom>
              <a:avLst/>
              <a:gdLst/>
              <a:ahLst/>
              <a:cxnLst/>
              <a:rect l="l" t="t" r="r" b="b"/>
              <a:pathLst>
                <a:path w="453390" h="31114">
                  <a:moveTo>
                    <a:pt x="0" y="0"/>
                  </a:moveTo>
                  <a:lnTo>
                    <a:pt x="453043" y="30754"/>
                  </a:lnTo>
                </a:path>
              </a:pathLst>
            </a:custGeom>
            <a:ln w="6046">
              <a:solidFill>
                <a:srgbClr val="5F5F5F"/>
              </a:solidFill>
            </a:ln>
          </p:spPr>
          <p:txBody>
            <a:bodyPr wrap="square" lIns="0" tIns="0" rIns="0" bIns="0" rtlCol="0"/>
            <a:lstStyle/>
            <a:p>
              <a:endParaRPr/>
            </a:p>
          </p:txBody>
        </p:sp>
        <p:sp>
          <p:nvSpPr>
            <p:cNvPr id="128" name="object 128"/>
            <p:cNvSpPr/>
            <p:nvPr/>
          </p:nvSpPr>
          <p:spPr>
            <a:xfrm>
              <a:off x="6318969" y="4117595"/>
              <a:ext cx="452755" cy="32384"/>
            </a:xfrm>
            <a:custGeom>
              <a:avLst/>
              <a:gdLst/>
              <a:ahLst/>
              <a:cxnLst/>
              <a:rect l="l" t="t" r="r" b="b"/>
              <a:pathLst>
                <a:path w="452754" h="32385">
                  <a:moveTo>
                    <a:pt x="0" y="0"/>
                  </a:moveTo>
                  <a:lnTo>
                    <a:pt x="452289" y="32290"/>
                  </a:lnTo>
                </a:path>
              </a:pathLst>
            </a:custGeom>
            <a:ln w="6046">
              <a:solidFill>
                <a:srgbClr val="5F5F5F"/>
              </a:solidFill>
            </a:ln>
          </p:spPr>
          <p:txBody>
            <a:bodyPr wrap="square" lIns="0" tIns="0" rIns="0" bIns="0" rtlCol="0"/>
            <a:lstStyle/>
            <a:p>
              <a:endParaRPr/>
            </a:p>
          </p:txBody>
        </p:sp>
        <p:sp>
          <p:nvSpPr>
            <p:cNvPr id="129" name="object 129"/>
            <p:cNvSpPr/>
            <p:nvPr/>
          </p:nvSpPr>
          <p:spPr>
            <a:xfrm>
              <a:off x="6317454" y="4204067"/>
              <a:ext cx="457834" cy="37465"/>
            </a:xfrm>
            <a:custGeom>
              <a:avLst/>
              <a:gdLst/>
              <a:ahLst/>
              <a:cxnLst/>
              <a:rect l="l" t="t" r="r" b="b"/>
              <a:pathLst>
                <a:path w="457834" h="37464">
                  <a:moveTo>
                    <a:pt x="0" y="0"/>
                  </a:moveTo>
                  <a:lnTo>
                    <a:pt x="457621" y="36896"/>
                  </a:lnTo>
                </a:path>
              </a:pathLst>
            </a:custGeom>
            <a:ln w="6046">
              <a:solidFill>
                <a:srgbClr val="5F5F5F"/>
              </a:solidFill>
            </a:ln>
          </p:spPr>
          <p:txBody>
            <a:bodyPr wrap="square" lIns="0" tIns="0" rIns="0" bIns="0" rtlCol="0"/>
            <a:lstStyle/>
            <a:p>
              <a:endParaRPr/>
            </a:p>
          </p:txBody>
        </p:sp>
        <p:sp>
          <p:nvSpPr>
            <p:cNvPr id="130" name="object 130"/>
            <p:cNvSpPr/>
            <p:nvPr/>
          </p:nvSpPr>
          <p:spPr>
            <a:xfrm>
              <a:off x="6318969" y="4029608"/>
              <a:ext cx="454659" cy="34290"/>
            </a:xfrm>
            <a:custGeom>
              <a:avLst/>
              <a:gdLst/>
              <a:ahLst/>
              <a:cxnLst/>
              <a:rect l="l" t="t" r="r" b="b"/>
              <a:pathLst>
                <a:path w="454659" h="34289">
                  <a:moveTo>
                    <a:pt x="0" y="0"/>
                  </a:moveTo>
                  <a:lnTo>
                    <a:pt x="454594" y="33827"/>
                  </a:lnTo>
                </a:path>
              </a:pathLst>
            </a:custGeom>
            <a:ln w="6046">
              <a:solidFill>
                <a:srgbClr val="5F5F5F"/>
              </a:solidFill>
            </a:ln>
          </p:spPr>
          <p:txBody>
            <a:bodyPr wrap="square" lIns="0" tIns="0" rIns="0" bIns="0" rtlCol="0"/>
            <a:lstStyle/>
            <a:p>
              <a:endParaRPr/>
            </a:p>
          </p:txBody>
        </p:sp>
        <p:sp>
          <p:nvSpPr>
            <p:cNvPr id="131" name="object 131"/>
            <p:cNvSpPr/>
            <p:nvPr/>
          </p:nvSpPr>
          <p:spPr>
            <a:xfrm>
              <a:off x="6355396" y="3861237"/>
              <a:ext cx="373380" cy="115570"/>
            </a:xfrm>
            <a:custGeom>
              <a:avLst/>
              <a:gdLst/>
              <a:ahLst/>
              <a:cxnLst/>
              <a:rect l="l" t="t" r="r" b="b"/>
              <a:pathLst>
                <a:path w="373379" h="115570">
                  <a:moveTo>
                    <a:pt x="0" y="0"/>
                  </a:moveTo>
                  <a:lnTo>
                    <a:pt x="0" y="88752"/>
                  </a:lnTo>
                  <a:lnTo>
                    <a:pt x="373377" y="115283"/>
                  </a:lnTo>
                  <a:lnTo>
                    <a:pt x="373377" y="26542"/>
                  </a:lnTo>
                  <a:lnTo>
                    <a:pt x="0" y="0"/>
                  </a:lnTo>
                  <a:close/>
                </a:path>
              </a:pathLst>
            </a:custGeom>
            <a:solidFill>
              <a:srgbClr val="DFDFDF"/>
            </a:solidFill>
          </p:spPr>
          <p:txBody>
            <a:bodyPr wrap="square" lIns="0" tIns="0" rIns="0" bIns="0" rtlCol="0"/>
            <a:lstStyle/>
            <a:p>
              <a:endParaRPr/>
            </a:p>
          </p:txBody>
        </p:sp>
        <p:sp>
          <p:nvSpPr>
            <p:cNvPr id="132" name="object 132"/>
            <p:cNvSpPr/>
            <p:nvPr/>
          </p:nvSpPr>
          <p:spPr>
            <a:xfrm>
              <a:off x="6355396" y="3861237"/>
              <a:ext cx="373380" cy="115570"/>
            </a:xfrm>
            <a:custGeom>
              <a:avLst/>
              <a:gdLst/>
              <a:ahLst/>
              <a:cxnLst/>
              <a:rect l="l" t="t" r="r" b="b"/>
              <a:pathLst>
                <a:path w="373379" h="115570">
                  <a:moveTo>
                    <a:pt x="0" y="0"/>
                  </a:moveTo>
                  <a:lnTo>
                    <a:pt x="0" y="88752"/>
                  </a:lnTo>
                  <a:lnTo>
                    <a:pt x="373377" y="115283"/>
                  </a:lnTo>
                  <a:lnTo>
                    <a:pt x="373377" y="26542"/>
                  </a:lnTo>
                  <a:lnTo>
                    <a:pt x="0" y="0"/>
                  </a:lnTo>
                </a:path>
              </a:pathLst>
            </a:custGeom>
            <a:ln w="12096">
              <a:solidFill>
                <a:srgbClr val="404040"/>
              </a:solidFill>
            </a:ln>
          </p:spPr>
          <p:txBody>
            <a:bodyPr wrap="square" lIns="0" tIns="0" rIns="0" bIns="0" rtlCol="0"/>
            <a:lstStyle/>
            <a:p>
              <a:endParaRPr/>
            </a:p>
          </p:txBody>
        </p:sp>
        <p:sp>
          <p:nvSpPr>
            <p:cNvPr id="133" name="object 133"/>
            <p:cNvSpPr/>
            <p:nvPr/>
          </p:nvSpPr>
          <p:spPr>
            <a:xfrm>
              <a:off x="6355396" y="3947713"/>
              <a:ext cx="373380" cy="115570"/>
            </a:xfrm>
            <a:custGeom>
              <a:avLst/>
              <a:gdLst/>
              <a:ahLst/>
              <a:cxnLst/>
              <a:rect l="l" t="t" r="r" b="b"/>
              <a:pathLst>
                <a:path w="373379" h="115570">
                  <a:moveTo>
                    <a:pt x="0" y="0"/>
                  </a:moveTo>
                  <a:lnTo>
                    <a:pt x="0" y="88720"/>
                  </a:lnTo>
                  <a:lnTo>
                    <a:pt x="373377" y="115283"/>
                  </a:lnTo>
                  <a:lnTo>
                    <a:pt x="373377" y="26531"/>
                  </a:lnTo>
                  <a:lnTo>
                    <a:pt x="0" y="0"/>
                  </a:lnTo>
                  <a:close/>
                </a:path>
              </a:pathLst>
            </a:custGeom>
            <a:solidFill>
              <a:srgbClr val="DFDFDF"/>
            </a:solidFill>
          </p:spPr>
          <p:txBody>
            <a:bodyPr wrap="square" lIns="0" tIns="0" rIns="0" bIns="0" rtlCol="0"/>
            <a:lstStyle/>
            <a:p>
              <a:endParaRPr/>
            </a:p>
          </p:txBody>
        </p:sp>
        <p:sp>
          <p:nvSpPr>
            <p:cNvPr id="134" name="object 134"/>
            <p:cNvSpPr/>
            <p:nvPr/>
          </p:nvSpPr>
          <p:spPr>
            <a:xfrm>
              <a:off x="6355396" y="3947713"/>
              <a:ext cx="373380" cy="115570"/>
            </a:xfrm>
            <a:custGeom>
              <a:avLst/>
              <a:gdLst/>
              <a:ahLst/>
              <a:cxnLst/>
              <a:rect l="l" t="t" r="r" b="b"/>
              <a:pathLst>
                <a:path w="373379" h="115570">
                  <a:moveTo>
                    <a:pt x="0" y="0"/>
                  </a:moveTo>
                  <a:lnTo>
                    <a:pt x="0" y="88720"/>
                  </a:lnTo>
                  <a:lnTo>
                    <a:pt x="373377" y="115283"/>
                  </a:lnTo>
                  <a:lnTo>
                    <a:pt x="373377" y="26531"/>
                  </a:lnTo>
                  <a:lnTo>
                    <a:pt x="0" y="0"/>
                  </a:lnTo>
                </a:path>
              </a:pathLst>
            </a:custGeom>
            <a:ln w="12096">
              <a:solidFill>
                <a:srgbClr val="404040"/>
              </a:solidFill>
            </a:ln>
          </p:spPr>
          <p:txBody>
            <a:bodyPr wrap="square" lIns="0" tIns="0" rIns="0" bIns="0" rtlCol="0"/>
            <a:lstStyle/>
            <a:p>
              <a:endParaRPr/>
            </a:p>
          </p:txBody>
        </p:sp>
        <p:sp>
          <p:nvSpPr>
            <p:cNvPr id="135" name="object 135"/>
            <p:cNvSpPr/>
            <p:nvPr/>
          </p:nvSpPr>
          <p:spPr>
            <a:xfrm>
              <a:off x="6355396" y="4031891"/>
              <a:ext cx="373380" cy="114935"/>
            </a:xfrm>
            <a:custGeom>
              <a:avLst/>
              <a:gdLst/>
              <a:ahLst/>
              <a:cxnLst/>
              <a:rect l="l" t="t" r="r" b="b"/>
              <a:pathLst>
                <a:path w="373379" h="114935">
                  <a:moveTo>
                    <a:pt x="0" y="0"/>
                  </a:moveTo>
                  <a:lnTo>
                    <a:pt x="0" y="88741"/>
                  </a:lnTo>
                  <a:lnTo>
                    <a:pt x="373377" y="114521"/>
                  </a:lnTo>
                  <a:lnTo>
                    <a:pt x="373377" y="26552"/>
                  </a:lnTo>
                  <a:lnTo>
                    <a:pt x="0" y="0"/>
                  </a:lnTo>
                  <a:close/>
                </a:path>
              </a:pathLst>
            </a:custGeom>
            <a:solidFill>
              <a:srgbClr val="DFDFDF"/>
            </a:solidFill>
          </p:spPr>
          <p:txBody>
            <a:bodyPr wrap="square" lIns="0" tIns="0" rIns="0" bIns="0" rtlCol="0"/>
            <a:lstStyle/>
            <a:p>
              <a:endParaRPr/>
            </a:p>
          </p:txBody>
        </p:sp>
        <p:sp>
          <p:nvSpPr>
            <p:cNvPr id="136" name="object 136"/>
            <p:cNvSpPr/>
            <p:nvPr/>
          </p:nvSpPr>
          <p:spPr>
            <a:xfrm>
              <a:off x="6355396" y="4031891"/>
              <a:ext cx="373380" cy="114935"/>
            </a:xfrm>
            <a:custGeom>
              <a:avLst/>
              <a:gdLst/>
              <a:ahLst/>
              <a:cxnLst/>
              <a:rect l="l" t="t" r="r" b="b"/>
              <a:pathLst>
                <a:path w="373379" h="114935">
                  <a:moveTo>
                    <a:pt x="0" y="0"/>
                  </a:moveTo>
                  <a:lnTo>
                    <a:pt x="0" y="88741"/>
                  </a:lnTo>
                  <a:lnTo>
                    <a:pt x="373377" y="114521"/>
                  </a:lnTo>
                  <a:lnTo>
                    <a:pt x="373377" y="26552"/>
                  </a:lnTo>
                  <a:lnTo>
                    <a:pt x="0" y="0"/>
                  </a:lnTo>
                </a:path>
              </a:pathLst>
            </a:custGeom>
            <a:ln w="12096">
              <a:solidFill>
                <a:srgbClr val="404040"/>
              </a:solidFill>
            </a:ln>
          </p:spPr>
          <p:txBody>
            <a:bodyPr wrap="square" lIns="0" tIns="0" rIns="0" bIns="0" rtlCol="0"/>
            <a:lstStyle/>
            <a:p>
              <a:endParaRPr/>
            </a:p>
          </p:txBody>
        </p:sp>
        <p:sp>
          <p:nvSpPr>
            <p:cNvPr id="137" name="object 137"/>
            <p:cNvSpPr/>
            <p:nvPr/>
          </p:nvSpPr>
          <p:spPr>
            <a:xfrm>
              <a:off x="6355396" y="4118367"/>
              <a:ext cx="374650" cy="119380"/>
            </a:xfrm>
            <a:custGeom>
              <a:avLst/>
              <a:gdLst/>
              <a:ahLst/>
              <a:cxnLst/>
              <a:rect l="l" t="t" r="r" b="b"/>
              <a:pathLst>
                <a:path w="374650" h="119379">
                  <a:moveTo>
                    <a:pt x="0" y="0"/>
                  </a:moveTo>
                  <a:lnTo>
                    <a:pt x="0" y="87206"/>
                  </a:lnTo>
                  <a:lnTo>
                    <a:pt x="374131" y="119063"/>
                  </a:lnTo>
                  <a:lnTo>
                    <a:pt x="374131" y="26531"/>
                  </a:lnTo>
                  <a:lnTo>
                    <a:pt x="0" y="0"/>
                  </a:lnTo>
                  <a:close/>
                </a:path>
              </a:pathLst>
            </a:custGeom>
            <a:solidFill>
              <a:srgbClr val="DFDFDF"/>
            </a:solidFill>
          </p:spPr>
          <p:txBody>
            <a:bodyPr wrap="square" lIns="0" tIns="0" rIns="0" bIns="0" rtlCol="0"/>
            <a:lstStyle/>
            <a:p>
              <a:endParaRPr/>
            </a:p>
          </p:txBody>
        </p:sp>
        <p:sp>
          <p:nvSpPr>
            <p:cNvPr id="138" name="object 138"/>
            <p:cNvSpPr/>
            <p:nvPr/>
          </p:nvSpPr>
          <p:spPr>
            <a:xfrm>
              <a:off x="6355396" y="4118367"/>
              <a:ext cx="374650" cy="119380"/>
            </a:xfrm>
            <a:custGeom>
              <a:avLst/>
              <a:gdLst/>
              <a:ahLst/>
              <a:cxnLst/>
              <a:rect l="l" t="t" r="r" b="b"/>
              <a:pathLst>
                <a:path w="374650" h="119379">
                  <a:moveTo>
                    <a:pt x="0" y="0"/>
                  </a:moveTo>
                  <a:lnTo>
                    <a:pt x="0" y="87206"/>
                  </a:lnTo>
                  <a:lnTo>
                    <a:pt x="374131" y="119063"/>
                  </a:lnTo>
                  <a:lnTo>
                    <a:pt x="374131" y="26531"/>
                  </a:lnTo>
                  <a:lnTo>
                    <a:pt x="0" y="0"/>
                  </a:lnTo>
                </a:path>
              </a:pathLst>
            </a:custGeom>
            <a:ln w="12096">
              <a:solidFill>
                <a:srgbClr val="404040"/>
              </a:solidFill>
            </a:ln>
          </p:spPr>
          <p:txBody>
            <a:bodyPr wrap="square" lIns="0" tIns="0" rIns="0" bIns="0" rtlCol="0"/>
            <a:lstStyle/>
            <a:p>
              <a:endParaRPr/>
            </a:p>
          </p:txBody>
        </p:sp>
        <p:pic>
          <p:nvPicPr>
            <p:cNvPr id="139" name="object 139"/>
            <p:cNvPicPr/>
            <p:nvPr/>
          </p:nvPicPr>
          <p:blipFill>
            <a:blip r:embed="rId3" cstate="print"/>
            <a:stretch>
              <a:fillRect/>
            </a:stretch>
          </p:blipFill>
          <p:spPr>
            <a:xfrm>
              <a:off x="6419929" y="3887017"/>
              <a:ext cx="235229" cy="152455"/>
            </a:xfrm>
            <a:prstGeom prst="rect">
              <a:avLst/>
            </a:prstGeom>
          </p:spPr>
        </p:pic>
        <p:sp>
          <p:nvSpPr>
            <p:cNvPr id="140" name="object 140"/>
            <p:cNvSpPr/>
            <p:nvPr/>
          </p:nvSpPr>
          <p:spPr>
            <a:xfrm>
              <a:off x="6390322" y="3901447"/>
              <a:ext cx="294640" cy="29845"/>
            </a:xfrm>
            <a:custGeom>
              <a:avLst/>
              <a:gdLst/>
              <a:ahLst/>
              <a:cxnLst/>
              <a:rect l="l" t="t" r="r" b="b"/>
              <a:pathLst>
                <a:path w="294640" h="29845">
                  <a:moveTo>
                    <a:pt x="9857" y="0"/>
                  </a:moveTo>
                  <a:lnTo>
                    <a:pt x="0" y="0"/>
                  </a:lnTo>
                  <a:lnTo>
                    <a:pt x="0" y="8342"/>
                  </a:lnTo>
                  <a:lnTo>
                    <a:pt x="4556" y="10608"/>
                  </a:lnTo>
                  <a:lnTo>
                    <a:pt x="9857" y="10608"/>
                  </a:lnTo>
                  <a:lnTo>
                    <a:pt x="288379" y="29569"/>
                  </a:lnTo>
                  <a:lnTo>
                    <a:pt x="293680" y="29569"/>
                  </a:lnTo>
                  <a:lnTo>
                    <a:pt x="294444" y="21978"/>
                  </a:lnTo>
                  <a:lnTo>
                    <a:pt x="289887" y="19713"/>
                  </a:lnTo>
                  <a:lnTo>
                    <a:pt x="278490" y="18951"/>
                  </a:lnTo>
                  <a:lnTo>
                    <a:pt x="9857" y="0"/>
                  </a:lnTo>
                  <a:close/>
                </a:path>
              </a:pathLst>
            </a:custGeom>
            <a:solidFill>
              <a:srgbClr val="000000"/>
            </a:solidFill>
          </p:spPr>
          <p:txBody>
            <a:bodyPr wrap="square" lIns="0" tIns="0" rIns="0" bIns="0" rtlCol="0"/>
            <a:lstStyle/>
            <a:p>
              <a:endParaRPr/>
            </a:p>
          </p:txBody>
        </p:sp>
        <p:pic>
          <p:nvPicPr>
            <p:cNvPr id="141" name="object 141"/>
            <p:cNvPicPr/>
            <p:nvPr/>
          </p:nvPicPr>
          <p:blipFill>
            <a:blip r:embed="rId4" cstate="print"/>
            <a:stretch>
              <a:fillRect/>
            </a:stretch>
          </p:blipFill>
          <p:spPr>
            <a:xfrm>
              <a:off x="2860547" y="3473196"/>
              <a:ext cx="3412236" cy="2237231"/>
            </a:xfrm>
            <a:prstGeom prst="rect">
              <a:avLst/>
            </a:prstGeom>
          </p:spPr>
        </p:pic>
        <p:pic>
          <p:nvPicPr>
            <p:cNvPr id="142" name="object 142"/>
            <p:cNvPicPr/>
            <p:nvPr/>
          </p:nvPicPr>
          <p:blipFill>
            <a:blip r:embed="rId5" cstate="print"/>
            <a:stretch>
              <a:fillRect/>
            </a:stretch>
          </p:blipFill>
          <p:spPr>
            <a:xfrm>
              <a:off x="3837432" y="5088636"/>
              <a:ext cx="1222248" cy="614197"/>
            </a:xfrm>
            <a:prstGeom prst="rect">
              <a:avLst/>
            </a:prstGeom>
          </p:spPr>
        </p:pic>
        <p:pic>
          <p:nvPicPr>
            <p:cNvPr id="143" name="object 143"/>
            <p:cNvPicPr/>
            <p:nvPr/>
          </p:nvPicPr>
          <p:blipFill>
            <a:blip r:embed="rId6" cstate="print"/>
            <a:stretch>
              <a:fillRect/>
            </a:stretch>
          </p:blipFill>
          <p:spPr>
            <a:xfrm>
              <a:off x="2908411" y="3496994"/>
              <a:ext cx="3321451" cy="2148229"/>
            </a:xfrm>
            <a:prstGeom prst="rect">
              <a:avLst/>
            </a:prstGeom>
          </p:spPr>
        </p:pic>
        <p:sp>
          <p:nvSpPr>
            <p:cNvPr id="144" name="object 144"/>
            <p:cNvSpPr/>
            <p:nvPr/>
          </p:nvSpPr>
          <p:spPr>
            <a:xfrm>
              <a:off x="2908411" y="3496994"/>
              <a:ext cx="3321685" cy="2148840"/>
            </a:xfrm>
            <a:custGeom>
              <a:avLst/>
              <a:gdLst/>
              <a:ahLst/>
              <a:cxnLst/>
              <a:rect l="l" t="t" r="r" b="b"/>
              <a:pathLst>
                <a:path w="3321685" h="2148840">
                  <a:moveTo>
                    <a:pt x="301894" y="707213"/>
                  </a:moveTo>
                  <a:lnTo>
                    <a:pt x="297515" y="663347"/>
                  </a:lnTo>
                  <a:lnTo>
                    <a:pt x="297881" y="620105"/>
                  </a:lnTo>
                  <a:lnTo>
                    <a:pt x="302804" y="577703"/>
                  </a:lnTo>
                  <a:lnTo>
                    <a:pt x="312098" y="536357"/>
                  </a:lnTo>
                  <a:lnTo>
                    <a:pt x="325577" y="496281"/>
                  </a:lnTo>
                  <a:lnTo>
                    <a:pt x="343054" y="457692"/>
                  </a:lnTo>
                  <a:lnTo>
                    <a:pt x="364344" y="420806"/>
                  </a:lnTo>
                  <a:lnTo>
                    <a:pt x="389259" y="385837"/>
                  </a:lnTo>
                  <a:lnTo>
                    <a:pt x="417613" y="353001"/>
                  </a:lnTo>
                  <a:lnTo>
                    <a:pt x="449221" y="322515"/>
                  </a:lnTo>
                  <a:lnTo>
                    <a:pt x="483894" y="294593"/>
                  </a:lnTo>
                  <a:lnTo>
                    <a:pt x="521447" y="269451"/>
                  </a:lnTo>
                  <a:lnTo>
                    <a:pt x="561694" y="247305"/>
                  </a:lnTo>
                  <a:lnTo>
                    <a:pt x="604447" y="228370"/>
                  </a:lnTo>
                  <a:lnTo>
                    <a:pt x="649522" y="212862"/>
                  </a:lnTo>
                  <a:lnTo>
                    <a:pt x="696730" y="200997"/>
                  </a:lnTo>
                  <a:lnTo>
                    <a:pt x="745886" y="192990"/>
                  </a:lnTo>
                  <a:lnTo>
                    <a:pt x="795260" y="189202"/>
                  </a:lnTo>
                  <a:lnTo>
                    <a:pt x="844539" y="189557"/>
                  </a:lnTo>
                  <a:lnTo>
                    <a:pt x="893393" y="194000"/>
                  </a:lnTo>
                  <a:lnTo>
                    <a:pt x="941494" y="202475"/>
                  </a:lnTo>
                  <a:lnTo>
                    <a:pt x="988514" y="214926"/>
                  </a:lnTo>
                  <a:lnTo>
                    <a:pt x="1034122" y="231299"/>
                  </a:lnTo>
                  <a:lnTo>
                    <a:pt x="1077991" y="251537"/>
                  </a:lnTo>
                  <a:lnTo>
                    <a:pt x="1104922" y="212849"/>
                  </a:lnTo>
                  <a:lnTo>
                    <a:pt x="1136366" y="178179"/>
                  </a:lnTo>
                  <a:lnTo>
                    <a:pt x="1171805" y="147666"/>
                  </a:lnTo>
                  <a:lnTo>
                    <a:pt x="1210721" y="121450"/>
                  </a:lnTo>
                  <a:lnTo>
                    <a:pt x="1252594" y="99670"/>
                  </a:lnTo>
                  <a:lnTo>
                    <a:pt x="1296906" y="82468"/>
                  </a:lnTo>
                  <a:lnTo>
                    <a:pt x="1343140" y="69981"/>
                  </a:lnTo>
                  <a:lnTo>
                    <a:pt x="1390775" y="62350"/>
                  </a:lnTo>
                  <a:lnTo>
                    <a:pt x="1439294" y="59716"/>
                  </a:lnTo>
                  <a:lnTo>
                    <a:pt x="1488179" y="62217"/>
                  </a:lnTo>
                  <a:lnTo>
                    <a:pt x="1536910" y="69993"/>
                  </a:lnTo>
                  <a:lnTo>
                    <a:pt x="1584969" y="83184"/>
                  </a:lnTo>
                  <a:lnTo>
                    <a:pt x="1631838" y="101931"/>
                  </a:lnTo>
                  <a:lnTo>
                    <a:pt x="1681987" y="129728"/>
                  </a:lnTo>
                  <a:lnTo>
                    <a:pt x="1727088" y="163526"/>
                  </a:lnTo>
                  <a:lnTo>
                    <a:pt x="1752430" y="125879"/>
                  </a:lnTo>
                  <a:lnTo>
                    <a:pt x="1782965" y="92738"/>
                  </a:lnTo>
                  <a:lnTo>
                    <a:pt x="1817996" y="64308"/>
                  </a:lnTo>
                  <a:lnTo>
                    <a:pt x="1856829" y="40794"/>
                  </a:lnTo>
                  <a:lnTo>
                    <a:pt x="1898767" y="22402"/>
                  </a:lnTo>
                  <a:lnTo>
                    <a:pt x="1943116" y="9335"/>
                  </a:lnTo>
                  <a:lnTo>
                    <a:pt x="1989180" y="1799"/>
                  </a:lnTo>
                  <a:lnTo>
                    <a:pt x="2036262" y="0"/>
                  </a:lnTo>
                  <a:lnTo>
                    <a:pt x="2083668" y="4141"/>
                  </a:lnTo>
                  <a:lnTo>
                    <a:pt x="2130702" y="14427"/>
                  </a:lnTo>
                  <a:lnTo>
                    <a:pt x="2176668" y="31065"/>
                  </a:lnTo>
                  <a:lnTo>
                    <a:pt x="2240676" y="67768"/>
                  </a:lnTo>
                  <a:lnTo>
                    <a:pt x="2293635" y="116282"/>
                  </a:lnTo>
                  <a:lnTo>
                    <a:pt x="2328964" y="84296"/>
                  </a:lnTo>
                  <a:lnTo>
                    <a:pt x="2367921" y="57394"/>
                  </a:lnTo>
                  <a:lnTo>
                    <a:pt x="2409880" y="35623"/>
                  </a:lnTo>
                  <a:lnTo>
                    <a:pt x="2454215" y="19028"/>
                  </a:lnTo>
                  <a:lnTo>
                    <a:pt x="2500300" y="7656"/>
                  </a:lnTo>
                  <a:lnTo>
                    <a:pt x="2547508" y="1553"/>
                  </a:lnTo>
                  <a:lnTo>
                    <a:pt x="2595214" y="766"/>
                  </a:lnTo>
                  <a:lnTo>
                    <a:pt x="2642791" y="5340"/>
                  </a:lnTo>
                  <a:lnTo>
                    <a:pt x="2689613" y="15323"/>
                  </a:lnTo>
                  <a:lnTo>
                    <a:pt x="2735054" y="30760"/>
                  </a:lnTo>
                  <a:lnTo>
                    <a:pt x="2778488" y="51697"/>
                  </a:lnTo>
                  <a:lnTo>
                    <a:pt x="2819288" y="78182"/>
                  </a:lnTo>
                  <a:lnTo>
                    <a:pt x="2856275" y="109831"/>
                  </a:lnTo>
                  <a:lnTo>
                    <a:pt x="2887738" y="145419"/>
                  </a:lnTo>
                  <a:lnTo>
                    <a:pt x="2913307" y="184371"/>
                  </a:lnTo>
                  <a:lnTo>
                    <a:pt x="2932609" y="226116"/>
                  </a:lnTo>
                  <a:lnTo>
                    <a:pt x="2945272" y="270079"/>
                  </a:lnTo>
                  <a:lnTo>
                    <a:pt x="2993991" y="284711"/>
                  </a:lnTo>
                  <a:lnTo>
                    <a:pt x="3039265" y="304121"/>
                  </a:lnTo>
                  <a:lnTo>
                    <a:pt x="3080826" y="327892"/>
                  </a:lnTo>
                  <a:lnTo>
                    <a:pt x="3118403" y="355609"/>
                  </a:lnTo>
                  <a:lnTo>
                    <a:pt x="3151726" y="386856"/>
                  </a:lnTo>
                  <a:lnTo>
                    <a:pt x="3180525" y="421216"/>
                  </a:lnTo>
                  <a:lnTo>
                    <a:pt x="3204532" y="458273"/>
                  </a:lnTo>
                  <a:lnTo>
                    <a:pt x="3223475" y="497611"/>
                  </a:lnTo>
                  <a:lnTo>
                    <a:pt x="3237085" y="538813"/>
                  </a:lnTo>
                  <a:lnTo>
                    <a:pt x="3245093" y="581464"/>
                  </a:lnTo>
                  <a:lnTo>
                    <a:pt x="3247228" y="625146"/>
                  </a:lnTo>
                  <a:lnTo>
                    <a:pt x="3243220" y="669445"/>
                  </a:lnTo>
                  <a:lnTo>
                    <a:pt x="3232800" y="713944"/>
                  </a:lnTo>
                  <a:lnTo>
                    <a:pt x="3219513" y="749752"/>
                  </a:lnTo>
                  <a:lnTo>
                    <a:pt x="3214131" y="761442"/>
                  </a:lnTo>
                  <a:lnTo>
                    <a:pt x="3244399" y="800033"/>
                  </a:lnTo>
                  <a:lnTo>
                    <a:pt x="3269608" y="840342"/>
                  </a:lnTo>
                  <a:lnTo>
                    <a:pt x="3289805" y="882047"/>
                  </a:lnTo>
                  <a:lnTo>
                    <a:pt x="3305040" y="924823"/>
                  </a:lnTo>
                  <a:lnTo>
                    <a:pt x="3315360" y="968349"/>
                  </a:lnTo>
                  <a:lnTo>
                    <a:pt x="3320814" y="1012299"/>
                  </a:lnTo>
                  <a:lnTo>
                    <a:pt x="3321451" y="1056352"/>
                  </a:lnTo>
                  <a:lnTo>
                    <a:pt x="3317319" y="1100183"/>
                  </a:lnTo>
                  <a:lnTo>
                    <a:pt x="3308466" y="1143469"/>
                  </a:lnTo>
                  <a:lnTo>
                    <a:pt x="3294940" y="1185887"/>
                  </a:lnTo>
                  <a:lnTo>
                    <a:pt x="3276790" y="1227114"/>
                  </a:lnTo>
                  <a:lnTo>
                    <a:pt x="3254065" y="1266826"/>
                  </a:lnTo>
                  <a:lnTo>
                    <a:pt x="3226812" y="1304701"/>
                  </a:lnTo>
                  <a:lnTo>
                    <a:pt x="3195080" y="1340414"/>
                  </a:lnTo>
                  <a:lnTo>
                    <a:pt x="3158918" y="1373642"/>
                  </a:lnTo>
                  <a:lnTo>
                    <a:pt x="3118373" y="1404062"/>
                  </a:lnTo>
                  <a:lnTo>
                    <a:pt x="3074303" y="1430801"/>
                  </a:lnTo>
                  <a:lnTo>
                    <a:pt x="3027545" y="1453322"/>
                  </a:lnTo>
                  <a:lnTo>
                    <a:pt x="2978488" y="1471490"/>
                  </a:lnTo>
                  <a:lnTo>
                    <a:pt x="2927524" y="1485171"/>
                  </a:lnTo>
                  <a:lnTo>
                    <a:pt x="2875041" y="1494232"/>
                  </a:lnTo>
                  <a:lnTo>
                    <a:pt x="2871649" y="1539826"/>
                  </a:lnTo>
                  <a:lnTo>
                    <a:pt x="2862512" y="1583830"/>
                  </a:lnTo>
                  <a:lnTo>
                    <a:pt x="2847968" y="1625955"/>
                  </a:lnTo>
                  <a:lnTo>
                    <a:pt x="2828352" y="1665908"/>
                  </a:lnTo>
                  <a:lnTo>
                    <a:pt x="2804001" y="1703401"/>
                  </a:lnTo>
                  <a:lnTo>
                    <a:pt x="2775250" y="1738141"/>
                  </a:lnTo>
                  <a:lnTo>
                    <a:pt x="2742437" y="1769838"/>
                  </a:lnTo>
                  <a:lnTo>
                    <a:pt x="2705898" y="1798201"/>
                  </a:lnTo>
                  <a:lnTo>
                    <a:pt x="2665969" y="1822940"/>
                  </a:lnTo>
                  <a:lnTo>
                    <a:pt x="2622985" y="1843763"/>
                  </a:lnTo>
                  <a:lnTo>
                    <a:pt x="2577284" y="1860381"/>
                  </a:lnTo>
                  <a:lnTo>
                    <a:pt x="2529202" y="1872502"/>
                  </a:lnTo>
                  <a:lnTo>
                    <a:pt x="2479075" y="1879835"/>
                  </a:lnTo>
                  <a:lnTo>
                    <a:pt x="2427239" y="1882090"/>
                  </a:lnTo>
                  <a:lnTo>
                    <a:pt x="2378312" y="1879396"/>
                  </a:lnTo>
                  <a:lnTo>
                    <a:pt x="2330256" y="1872003"/>
                  </a:lnTo>
                  <a:lnTo>
                    <a:pt x="2283487" y="1860025"/>
                  </a:lnTo>
                  <a:lnTo>
                    <a:pt x="2238418" y="1843579"/>
                  </a:lnTo>
                  <a:lnTo>
                    <a:pt x="2195464" y="1822781"/>
                  </a:lnTo>
                  <a:lnTo>
                    <a:pt x="2178731" y="1864405"/>
                  </a:lnTo>
                  <a:lnTo>
                    <a:pt x="2157981" y="1903713"/>
                  </a:lnTo>
                  <a:lnTo>
                    <a:pt x="2133486" y="1940578"/>
                  </a:lnTo>
                  <a:lnTo>
                    <a:pt x="2105515" y="1974872"/>
                  </a:lnTo>
                  <a:lnTo>
                    <a:pt x="2074341" y="2006466"/>
                  </a:lnTo>
                  <a:lnTo>
                    <a:pt x="2040234" y="2035233"/>
                  </a:lnTo>
                  <a:lnTo>
                    <a:pt x="2003464" y="2061044"/>
                  </a:lnTo>
                  <a:lnTo>
                    <a:pt x="1964302" y="2083772"/>
                  </a:lnTo>
                  <a:lnTo>
                    <a:pt x="1923020" y="2103289"/>
                  </a:lnTo>
                  <a:lnTo>
                    <a:pt x="1879887" y="2119467"/>
                  </a:lnTo>
                  <a:lnTo>
                    <a:pt x="1835176" y="2132178"/>
                  </a:lnTo>
                  <a:lnTo>
                    <a:pt x="1789156" y="2141294"/>
                  </a:lnTo>
                  <a:lnTo>
                    <a:pt x="1742098" y="2146687"/>
                  </a:lnTo>
                  <a:lnTo>
                    <a:pt x="1694274" y="2148229"/>
                  </a:lnTo>
                  <a:lnTo>
                    <a:pt x="1645953" y="2145792"/>
                  </a:lnTo>
                  <a:lnTo>
                    <a:pt x="1597407" y="2139248"/>
                  </a:lnTo>
                  <a:lnTo>
                    <a:pt x="1548907" y="2128470"/>
                  </a:lnTo>
                  <a:lnTo>
                    <a:pt x="1500703" y="2113242"/>
                  </a:lnTo>
                  <a:lnTo>
                    <a:pt x="1454695" y="2094020"/>
                  </a:lnTo>
                  <a:lnTo>
                    <a:pt x="1411184" y="2070995"/>
                  </a:lnTo>
                  <a:lnTo>
                    <a:pt x="1370470" y="2044359"/>
                  </a:lnTo>
                  <a:lnTo>
                    <a:pt x="1332854" y="2014304"/>
                  </a:lnTo>
                  <a:lnTo>
                    <a:pt x="1298634" y="1981020"/>
                  </a:lnTo>
                  <a:lnTo>
                    <a:pt x="1268110" y="1944701"/>
                  </a:lnTo>
                  <a:lnTo>
                    <a:pt x="1225418" y="1965348"/>
                  </a:lnTo>
                  <a:lnTo>
                    <a:pt x="1181682" y="1982602"/>
                  </a:lnTo>
                  <a:lnTo>
                    <a:pt x="1137110" y="1996509"/>
                  </a:lnTo>
                  <a:lnTo>
                    <a:pt x="1091914" y="2007114"/>
                  </a:lnTo>
                  <a:lnTo>
                    <a:pt x="1046301" y="2014465"/>
                  </a:lnTo>
                  <a:lnTo>
                    <a:pt x="1000481" y="2018608"/>
                  </a:lnTo>
                  <a:lnTo>
                    <a:pt x="954665" y="2019587"/>
                  </a:lnTo>
                  <a:lnTo>
                    <a:pt x="909060" y="2017450"/>
                  </a:lnTo>
                  <a:lnTo>
                    <a:pt x="863877" y="2012243"/>
                  </a:lnTo>
                  <a:lnTo>
                    <a:pt x="819324" y="2004011"/>
                  </a:lnTo>
                  <a:lnTo>
                    <a:pt x="775612" y="1992802"/>
                  </a:lnTo>
                  <a:lnTo>
                    <a:pt x="732949" y="1978660"/>
                  </a:lnTo>
                  <a:lnTo>
                    <a:pt x="691544" y="1961632"/>
                  </a:lnTo>
                  <a:lnTo>
                    <a:pt x="651608" y="1941764"/>
                  </a:lnTo>
                  <a:lnTo>
                    <a:pt x="613350" y="1919103"/>
                  </a:lnTo>
                  <a:lnTo>
                    <a:pt x="576978" y="1893694"/>
                  </a:lnTo>
                  <a:lnTo>
                    <a:pt x="542703" y="1865583"/>
                  </a:lnTo>
                  <a:lnTo>
                    <a:pt x="510733" y="1834818"/>
                  </a:lnTo>
                  <a:lnTo>
                    <a:pt x="481279" y="1801442"/>
                  </a:lnTo>
                  <a:lnTo>
                    <a:pt x="454548" y="1765504"/>
                  </a:lnTo>
                  <a:lnTo>
                    <a:pt x="450357" y="1759154"/>
                  </a:lnTo>
                  <a:lnTo>
                    <a:pt x="448198" y="1756106"/>
                  </a:lnTo>
                  <a:lnTo>
                    <a:pt x="398638" y="1758002"/>
                  </a:lnTo>
                  <a:lnTo>
                    <a:pt x="350509" y="1753633"/>
                  </a:lnTo>
                  <a:lnTo>
                    <a:pt x="304386" y="1743399"/>
                  </a:lnTo>
                  <a:lnTo>
                    <a:pt x="260844" y="1727697"/>
                  </a:lnTo>
                  <a:lnTo>
                    <a:pt x="220458" y="1706927"/>
                  </a:lnTo>
                  <a:lnTo>
                    <a:pt x="183802" y="1681485"/>
                  </a:lnTo>
                  <a:lnTo>
                    <a:pt x="151451" y="1651772"/>
                  </a:lnTo>
                  <a:lnTo>
                    <a:pt x="123981" y="1618186"/>
                  </a:lnTo>
                  <a:lnTo>
                    <a:pt x="101965" y="1581124"/>
                  </a:lnTo>
                  <a:lnTo>
                    <a:pt x="85978" y="1540985"/>
                  </a:lnTo>
                  <a:lnTo>
                    <a:pt x="76596" y="1498169"/>
                  </a:lnTo>
                  <a:lnTo>
                    <a:pt x="74912" y="1446750"/>
                  </a:lnTo>
                  <a:lnTo>
                    <a:pt x="83298" y="1396404"/>
                  </a:lnTo>
                  <a:lnTo>
                    <a:pt x="101340" y="1348235"/>
                  </a:lnTo>
                  <a:lnTo>
                    <a:pt x="128624" y="1303345"/>
                  </a:lnTo>
                  <a:lnTo>
                    <a:pt x="164734" y="1262838"/>
                  </a:lnTo>
                  <a:lnTo>
                    <a:pt x="124017" y="1238020"/>
                  </a:lnTo>
                  <a:lnTo>
                    <a:pt x="88719" y="1208940"/>
                  </a:lnTo>
                  <a:lnTo>
                    <a:pt x="59024" y="1176223"/>
                  </a:lnTo>
                  <a:lnTo>
                    <a:pt x="35120" y="1140495"/>
                  </a:lnTo>
                  <a:lnTo>
                    <a:pt x="17191" y="1102381"/>
                  </a:lnTo>
                  <a:lnTo>
                    <a:pt x="5422" y="1062506"/>
                  </a:lnTo>
                  <a:lnTo>
                    <a:pt x="0" y="1021495"/>
                  </a:lnTo>
                  <a:lnTo>
                    <a:pt x="1109" y="979974"/>
                  </a:lnTo>
                  <a:lnTo>
                    <a:pt x="8935" y="938567"/>
                  </a:lnTo>
                  <a:lnTo>
                    <a:pt x="23664" y="897899"/>
                  </a:lnTo>
                  <a:lnTo>
                    <a:pt x="45481" y="858597"/>
                  </a:lnTo>
                  <a:lnTo>
                    <a:pt x="75583" y="820330"/>
                  </a:lnTo>
                  <a:lnTo>
                    <a:pt x="111630" y="787115"/>
                  </a:lnTo>
                  <a:lnTo>
                    <a:pt x="152812" y="759410"/>
                  </a:lnTo>
                  <a:lnTo>
                    <a:pt x="198323" y="737674"/>
                  </a:lnTo>
                  <a:lnTo>
                    <a:pt x="247355" y="722366"/>
                  </a:lnTo>
                  <a:lnTo>
                    <a:pt x="299100" y="713944"/>
                  </a:lnTo>
                  <a:lnTo>
                    <a:pt x="301894" y="707213"/>
                  </a:lnTo>
                  <a:close/>
                </a:path>
                <a:path w="3321685" h="2148840">
                  <a:moveTo>
                    <a:pt x="362854" y="1294080"/>
                  </a:moveTo>
                  <a:lnTo>
                    <a:pt x="312058" y="1294157"/>
                  </a:lnTo>
                  <a:lnTo>
                    <a:pt x="262143" y="1287460"/>
                  </a:lnTo>
                  <a:lnTo>
                    <a:pt x="213943" y="1274167"/>
                  </a:lnTo>
                  <a:lnTo>
                    <a:pt x="168290" y="1254456"/>
                  </a:lnTo>
                </a:path>
                <a:path w="3321685" h="2148840">
                  <a:moveTo>
                    <a:pt x="534558" y="1727658"/>
                  </a:moveTo>
                  <a:lnTo>
                    <a:pt x="513832" y="1734222"/>
                  </a:lnTo>
                  <a:lnTo>
                    <a:pt x="492664" y="1739596"/>
                  </a:lnTo>
                  <a:lnTo>
                    <a:pt x="471140" y="1743731"/>
                  </a:lnTo>
                  <a:lnTo>
                    <a:pt x="449341" y="1746581"/>
                  </a:lnTo>
                </a:path>
                <a:path w="3321685" h="2148840">
                  <a:moveTo>
                    <a:pt x="1267983" y="1935938"/>
                  </a:moveTo>
                  <a:lnTo>
                    <a:pt x="1253198" y="1915281"/>
                  </a:lnTo>
                  <a:lnTo>
                    <a:pt x="1239710" y="1893933"/>
                  </a:lnTo>
                  <a:lnTo>
                    <a:pt x="1227532" y="1871966"/>
                  </a:lnTo>
                  <a:lnTo>
                    <a:pt x="1216675" y="1849451"/>
                  </a:lnTo>
                </a:path>
                <a:path w="3321685" h="2148840">
                  <a:moveTo>
                    <a:pt x="2216292" y="1720292"/>
                  </a:moveTo>
                  <a:lnTo>
                    <a:pt x="2213365" y="1744384"/>
                  </a:lnTo>
                  <a:lnTo>
                    <a:pt x="2208974" y="1768250"/>
                  </a:lnTo>
                  <a:lnTo>
                    <a:pt x="2203130" y="1791854"/>
                  </a:lnTo>
                  <a:lnTo>
                    <a:pt x="2195845" y="1815161"/>
                  </a:lnTo>
                </a:path>
                <a:path w="3321685" h="2148840">
                  <a:moveTo>
                    <a:pt x="2623581" y="1133933"/>
                  </a:moveTo>
                  <a:lnTo>
                    <a:pt x="2668014" y="1155842"/>
                  </a:lnTo>
                  <a:lnTo>
                    <a:pt x="2708789" y="1181710"/>
                  </a:lnTo>
                  <a:lnTo>
                    <a:pt x="2745657" y="1211183"/>
                  </a:lnTo>
                  <a:lnTo>
                    <a:pt x="2778367" y="1243905"/>
                  </a:lnTo>
                  <a:lnTo>
                    <a:pt x="2806668" y="1279523"/>
                  </a:lnTo>
                  <a:lnTo>
                    <a:pt x="2830309" y="1317682"/>
                  </a:lnTo>
                  <a:lnTo>
                    <a:pt x="2849040" y="1358028"/>
                  </a:lnTo>
                  <a:lnTo>
                    <a:pt x="2862610" y="1400206"/>
                  </a:lnTo>
                  <a:lnTo>
                    <a:pt x="2870768" y="1443863"/>
                  </a:lnTo>
                  <a:lnTo>
                    <a:pt x="2873263" y="1488644"/>
                  </a:lnTo>
                </a:path>
                <a:path w="3321685" h="2148840">
                  <a:moveTo>
                    <a:pt x="3212480" y="756108"/>
                  </a:moveTo>
                  <a:lnTo>
                    <a:pt x="3191384" y="793460"/>
                  </a:lnTo>
                  <a:lnTo>
                    <a:pt x="3165633" y="828323"/>
                  </a:lnTo>
                  <a:lnTo>
                    <a:pt x="3135524" y="860353"/>
                  </a:lnTo>
                  <a:lnTo>
                    <a:pt x="3101355" y="889204"/>
                  </a:lnTo>
                </a:path>
                <a:path w="3321685" h="2148840">
                  <a:moveTo>
                    <a:pt x="2945653" y="262713"/>
                  </a:moveTo>
                  <a:lnTo>
                    <a:pt x="2948443" y="278284"/>
                  </a:lnTo>
                  <a:lnTo>
                    <a:pt x="2950352" y="293939"/>
                  </a:lnTo>
                  <a:lnTo>
                    <a:pt x="2951404" y="309665"/>
                  </a:lnTo>
                  <a:lnTo>
                    <a:pt x="2951622" y="325451"/>
                  </a:lnTo>
                </a:path>
                <a:path w="3321685" h="2148840">
                  <a:moveTo>
                    <a:pt x="2235596" y="189434"/>
                  </a:moveTo>
                  <a:lnTo>
                    <a:pt x="2247328" y="168090"/>
                  </a:lnTo>
                  <a:lnTo>
                    <a:pt x="2260774" y="147556"/>
                  </a:lnTo>
                  <a:lnTo>
                    <a:pt x="2275887" y="127926"/>
                  </a:lnTo>
                  <a:lnTo>
                    <a:pt x="2292619" y="109297"/>
                  </a:lnTo>
                </a:path>
                <a:path w="3321685" h="2148840">
                  <a:moveTo>
                    <a:pt x="1702831" y="227534"/>
                  </a:moveTo>
                  <a:lnTo>
                    <a:pt x="1707923" y="209756"/>
                  </a:lnTo>
                  <a:lnTo>
                    <a:pt x="1714230" y="192276"/>
                  </a:lnTo>
                  <a:lnTo>
                    <a:pt x="1721727" y="175152"/>
                  </a:lnTo>
                  <a:lnTo>
                    <a:pt x="1730390" y="158446"/>
                  </a:lnTo>
                </a:path>
                <a:path w="3321685" h="2148840">
                  <a:moveTo>
                    <a:pt x="1077610" y="251029"/>
                  </a:moveTo>
                  <a:lnTo>
                    <a:pt x="1104245" y="265757"/>
                  </a:lnTo>
                  <a:lnTo>
                    <a:pt x="1129807" y="281890"/>
                  </a:lnTo>
                  <a:lnTo>
                    <a:pt x="1154227" y="299356"/>
                  </a:lnTo>
                  <a:lnTo>
                    <a:pt x="1177432" y="318085"/>
                  </a:lnTo>
                </a:path>
                <a:path w="3321685" h="2148840">
                  <a:moveTo>
                    <a:pt x="319420" y="777825"/>
                  </a:moveTo>
                  <a:lnTo>
                    <a:pt x="313844" y="760398"/>
                  </a:lnTo>
                  <a:lnTo>
                    <a:pt x="309102" y="742805"/>
                  </a:lnTo>
                  <a:lnTo>
                    <a:pt x="305169" y="725068"/>
                  </a:lnTo>
                  <a:lnTo>
                    <a:pt x="302021" y="707213"/>
                  </a:lnTo>
                </a:path>
              </a:pathLst>
            </a:custGeom>
            <a:ln w="9525">
              <a:solidFill>
                <a:srgbClr val="497DBA"/>
              </a:solidFill>
            </a:ln>
          </p:spPr>
          <p:txBody>
            <a:bodyPr wrap="square" lIns="0" tIns="0" rIns="0" bIns="0" rtlCol="0"/>
            <a:lstStyle/>
            <a:p>
              <a:endParaRPr/>
            </a:p>
          </p:txBody>
        </p:sp>
      </p:grpSp>
      <p:sp>
        <p:nvSpPr>
          <p:cNvPr id="145" name="object 145"/>
          <p:cNvSpPr txBox="1"/>
          <p:nvPr/>
        </p:nvSpPr>
        <p:spPr>
          <a:xfrm>
            <a:off x="3432429" y="5136337"/>
            <a:ext cx="753110" cy="331470"/>
          </a:xfrm>
          <a:prstGeom prst="rect">
            <a:avLst/>
          </a:prstGeom>
        </p:spPr>
        <p:txBody>
          <a:bodyPr vert="horz" wrap="square" lIns="0" tIns="13335" rIns="0" bIns="0" rtlCol="0">
            <a:spAutoFit/>
          </a:bodyPr>
          <a:lstStyle/>
          <a:p>
            <a:pPr marL="12700">
              <a:spcBef>
                <a:spcPts val="105"/>
              </a:spcBef>
            </a:pPr>
            <a:r>
              <a:rPr sz="2000" spc="-10" dirty="0">
                <a:latin typeface="Verdana"/>
                <a:cs typeface="Verdana"/>
              </a:rPr>
              <a:t>Client</a:t>
            </a:r>
            <a:endParaRPr sz="2000">
              <a:latin typeface="Verdana"/>
              <a:cs typeface="Verdana"/>
            </a:endParaRPr>
          </a:p>
        </p:txBody>
      </p:sp>
      <p:sp>
        <p:nvSpPr>
          <p:cNvPr id="146" name="object 146"/>
          <p:cNvSpPr txBox="1"/>
          <p:nvPr/>
        </p:nvSpPr>
        <p:spPr>
          <a:xfrm>
            <a:off x="5544692" y="5156073"/>
            <a:ext cx="862330" cy="330835"/>
          </a:xfrm>
          <a:prstGeom prst="rect">
            <a:avLst/>
          </a:prstGeom>
        </p:spPr>
        <p:txBody>
          <a:bodyPr vert="horz" wrap="square" lIns="0" tIns="12700" rIns="0" bIns="0" rtlCol="0">
            <a:spAutoFit/>
          </a:bodyPr>
          <a:lstStyle/>
          <a:p>
            <a:pPr marL="12700">
              <a:spcBef>
                <a:spcPts val="100"/>
              </a:spcBef>
            </a:pPr>
            <a:r>
              <a:rPr sz="2000" spc="-10" dirty="0">
                <a:solidFill>
                  <a:srgbClr val="FFFFFF"/>
                </a:solidFill>
                <a:latin typeface="Calibri"/>
                <a:cs typeface="Calibri"/>
              </a:rPr>
              <a:t>Internet</a:t>
            </a:r>
            <a:endParaRPr sz="2000">
              <a:latin typeface="Calibri"/>
              <a:cs typeface="Calibri"/>
            </a:endParaRPr>
          </a:p>
        </p:txBody>
      </p:sp>
      <p:sp>
        <p:nvSpPr>
          <p:cNvPr id="147" name="object 147"/>
          <p:cNvSpPr/>
          <p:nvPr/>
        </p:nvSpPr>
        <p:spPr>
          <a:xfrm>
            <a:off x="7620000" y="5105400"/>
            <a:ext cx="1219200" cy="396240"/>
          </a:xfrm>
          <a:custGeom>
            <a:avLst/>
            <a:gdLst/>
            <a:ahLst/>
            <a:cxnLst/>
            <a:rect l="l" t="t" r="r" b="b"/>
            <a:pathLst>
              <a:path w="1219200" h="396239">
                <a:moveTo>
                  <a:pt x="1219200" y="0"/>
                </a:moveTo>
                <a:lnTo>
                  <a:pt x="0" y="0"/>
                </a:lnTo>
                <a:lnTo>
                  <a:pt x="0" y="396240"/>
                </a:lnTo>
                <a:lnTo>
                  <a:pt x="1219200" y="396240"/>
                </a:lnTo>
                <a:lnTo>
                  <a:pt x="1219200" y="0"/>
                </a:lnTo>
                <a:close/>
              </a:path>
            </a:pathLst>
          </a:custGeom>
          <a:solidFill>
            <a:srgbClr val="FFFFFF"/>
          </a:solidFill>
        </p:spPr>
        <p:txBody>
          <a:bodyPr wrap="square" lIns="0" tIns="0" rIns="0" bIns="0" rtlCol="0"/>
          <a:lstStyle/>
          <a:p>
            <a:endParaRPr/>
          </a:p>
        </p:txBody>
      </p:sp>
      <p:sp>
        <p:nvSpPr>
          <p:cNvPr id="148" name="object 148"/>
          <p:cNvSpPr txBox="1"/>
          <p:nvPr/>
        </p:nvSpPr>
        <p:spPr>
          <a:xfrm>
            <a:off x="7796276" y="5136337"/>
            <a:ext cx="867410" cy="331470"/>
          </a:xfrm>
          <a:prstGeom prst="rect">
            <a:avLst/>
          </a:prstGeom>
        </p:spPr>
        <p:txBody>
          <a:bodyPr vert="horz" wrap="square" lIns="0" tIns="13335" rIns="0" bIns="0" rtlCol="0">
            <a:spAutoFit/>
          </a:bodyPr>
          <a:lstStyle/>
          <a:p>
            <a:pPr marL="12700">
              <a:spcBef>
                <a:spcPts val="105"/>
              </a:spcBef>
            </a:pPr>
            <a:r>
              <a:rPr sz="2000" spc="-10" dirty="0">
                <a:latin typeface="Verdana"/>
                <a:cs typeface="Verdana"/>
              </a:rPr>
              <a:t>Server</a:t>
            </a:r>
            <a:endParaRPr sz="2000">
              <a:latin typeface="Verdana"/>
              <a:cs typeface="Verdana"/>
            </a:endParaRPr>
          </a:p>
        </p:txBody>
      </p:sp>
      <p:sp>
        <p:nvSpPr>
          <p:cNvPr id="149" name="object 149"/>
          <p:cNvSpPr/>
          <p:nvPr/>
        </p:nvSpPr>
        <p:spPr>
          <a:xfrm>
            <a:off x="4420362" y="4229861"/>
            <a:ext cx="3429000" cy="381000"/>
          </a:xfrm>
          <a:custGeom>
            <a:avLst/>
            <a:gdLst/>
            <a:ahLst/>
            <a:cxnLst/>
            <a:rect l="l" t="t" r="r" b="b"/>
            <a:pathLst>
              <a:path w="3429000" h="381000">
                <a:moveTo>
                  <a:pt x="3429000" y="333375"/>
                </a:moveTo>
                <a:lnTo>
                  <a:pt x="76200" y="333375"/>
                </a:lnTo>
                <a:lnTo>
                  <a:pt x="76200" y="304800"/>
                </a:lnTo>
                <a:lnTo>
                  <a:pt x="0" y="342900"/>
                </a:lnTo>
                <a:lnTo>
                  <a:pt x="76200" y="381000"/>
                </a:lnTo>
                <a:lnTo>
                  <a:pt x="76200" y="352425"/>
                </a:lnTo>
                <a:lnTo>
                  <a:pt x="3429000" y="352425"/>
                </a:lnTo>
                <a:lnTo>
                  <a:pt x="3429000" y="333375"/>
                </a:lnTo>
                <a:close/>
              </a:path>
              <a:path w="3429000" h="381000">
                <a:moveTo>
                  <a:pt x="3429000" y="38100"/>
                </a:moveTo>
                <a:lnTo>
                  <a:pt x="3409950" y="28575"/>
                </a:lnTo>
                <a:lnTo>
                  <a:pt x="3352800" y="0"/>
                </a:lnTo>
                <a:lnTo>
                  <a:pt x="3352800" y="28575"/>
                </a:lnTo>
                <a:lnTo>
                  <a:pt x="0" y="28575"/>
                </a:lnTo>
                <a:lnTo>
                  <a:pt x="0" y="47625"/>
                </a:lnTo>
                <a:lnTo>
                  <a:pt x="3352800" y="47625"/>
                </a:lnTo>
                <a:lnTo>
                  <a:pt x="3352800" y="76200"/>
                </a:lnTo>
                <a:lnTo>
                  <a:pt x="3409950" y="47625"/>
                </a:lnTo>
                <a:lnTo>
                  <a:pt x="3429000" y="38100"/>
                </a:lnTo>
                <a:close/>
              </a:path>
            </a:pathLst>
          </a:custGeom>
          <a:solidFill>
            <a:srgbClr val="008000"/>
          </a:solidFill>
        </p:spPr>
        <p:txBody>
          <a:bodyPr wrap="square" lIns="0" tIns="0" rIns="0" bIns="0" rtlCol="0"/>
          <a:lstStyle/>
          <a:p>
            <a:endParaRPr/>
          </a:p>
        </p:txBody>
      </p:sp>
      <p:sp>
        <p:nvSpPr>
          <p:cNvPr id="150" name="object 150"/>
          <p:cNvSpPr txBox="1"/>
          <p:nvPr/>
        </p:nvSpPr>
        <p:spPr>
          <a:xfrm>
            <a:off x="4886326" y="3887470"/>
            <a:ext cx="2313305" cy="1000760"/>
          </a:xfrm>
          <a:prstGeom prst="rect">
            <a:avLst/>
          </a:prstGeom>
        </p:spPr>
        <p:txBody>
          <a:bodyPr vert="horz" wrap="square" lIns="0" tIns="12065" rIns="0" bIns="0" rtlCol="0">
            <a:spAutoFit/>
          </a:bodyPr>
          <a:lstStyle/>
          <a:p>
            <a:pPr marL="12700">
              <a:spcBef>
                <a:spcPts val="95"/>
              </a:spcBef>
            </a:pPr>
            <a:r>
              <a:rPr sz="1600" dirty="0">
                <a:latin typeface="Verdana"/>
                <a:cs typeface="Verdana"/>
              </a:rPr>
              <a:t>Request</a:t>
            </a:r>
            <a:r>
              <a:rPr sz="1600" spc="-95" dirty="0">
                <a:latin typeface="Verdana"/>
                <a:cs typeface="Verdana"/>
              </a:rPr>
              <a:t> </a:t>
            </a:r>
            <a:r>
              <a:rPr sz="1600" dirty="0">
                <a:latin typeface="Verdana"/>
                <a:cs typeface="Verdana"/>
              </a:rPr>
              <a:t>“document</a:t>
            </a:r>
            <a:r>
              <a:rPr sz="1600" spc="-75" dirty="0">
                <a:latin typeface="Verdana"/>
                <a:cs typeface="Verdana"/>
              </a:rPr>
              <a:t> </a:t>
            </a:r>
            <a:r>
              <a:rPr sz="1600" spc="-25" dirty="0">
                <a:latin typeface="Verdana"/>
                <a:cs typeface="Verdana"/>
              </a:rPr>
              <a:t>A”</a:t>
            </a:r>
            <a:endParaRPr sz="1600">
              <a:latin typeface="Verdana"/>
              <a:cs typeface="Verdana"/>
            </a:endParaRPr>
          </a:p>
          <a:p>
            <a:pPr>
              <a:spcBef>
                <a:spcPts val="1895"/>
              </a:spcBef>
            </a:pPr>
            <a:endParaRPr sz="1600">
              <a:latin typeface="Verdana"/>
              <a:cs typeface="Verdana"/>
            </a:endParaRPr>
          </a:p>
          <a:p>
            <a:pPr marL="387350"/>
            <a:r>
              <a:rPr sz="1600" dirty="0">
                <a:latin typeface="Verdana"/>
                <a:cs typeface="Verdana"/>
              </a:rPr>
              <a:t>document</a:t>
            </a:r>
            <a:r>
              <a:rPr sz="1600" spc="-65" dirty="0">
                <a:latin typeface="Verdana"/>
                <a:cs typeface="Verdana"/>
              </a:rPr>
              <a:t> </a:t>
            </a:r>
            <a:r>
              <a:rPr sz="1600" spc="-50" dirty="0">
                <a:latin typeface="Verdana"/>
                <a:cs typeface="Verdana"/>
              </a:rPr>
              <a:t>A</a:t>
            </a:r>
            <a:endParaRPr sz="160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67679" y="1778485"/>
            <a:ext cx="2432685" cy="3648710"/>
            <a:chOff x="743678" y="1778485"/>
            <a:chExt cx="2432685" cy="3648710"/>
          </a:xfrm>
        </p:grpSpPr>
        <p:pic>
          <p:nvPicPr>
            <p:cNvPr id="3" name="object 3"/>
            <p:cNvPicPr/>
            <p:nvPr/>
          </p:nvPicPr>
          <p:blipFill>
            <a:blip r:embed="rId2" cstate="print"/>
            <a:stretch>
              <a:fillRect/>
            </a:stretch>
          </p:blipFill>
          <p:spPr>
            <a:xfrm>
              <a:off x="743678" y="1778485"/>
              <a:ext cx="2432371" cy="3648501"/>
            </a:xfrm>
            <a:prstGeom prst="rect">
              <a:avLst/>
            </a:prstGeom>
          </p:spPr>
        </p:pic>
        <p:sp>
          <p:nvSpPr>
            <p:cNvPr id="4" name="object 4"/>
            <p:cNvSpPr/>
            <p:nvPr/>
          </p:nvSpPr>
          <p:spPr>
            <a:xfrm>
              <a:off x="781811" y="1793747"/>
              <a:ext cx="2360930" cy="3576954"/>
            </a:xfrm>
            <a:custGeom>
              <a:avLst/>
              <a:gdLst/>
              <a:ahLst/>
              <a:cxnLst/>
              <a:rect l="l" t="t" r="r" b="b"/>
              <a:pathLst>
                <a:path w="2360930" h="3576954">
                  <a:moveTo>
                    <a:pt x="1967230" y="0"/>
                  </a:moveTo>
                  <a:lnTo>
                    <a:pt x="393458" y="0"/>
                  </a:lnTo>
                  <a:lnTo>
                    <a:pt x="344104" y="3065"/>
                  </a:lnTo>
                  <a:lnTo>
                    <a:pt x="296580" y="12016"/>
                  </a:lnTo>
                  <a:lnTo>
                    <a:pt x="251253" y="26483"/>
                  </a:lnTo>
                  <a:lnTo>
                    <a:pt x="208493" y="46097"/>
                  </a:lnTo>
                  <a:lnTo>
                    <a:pt x="168669" y="70491"/>
                  </a:lnTo>
                  <a:lnTo>
                    <a:pt x="132148" y="99295"/>
                  </a:lnTo>
                  <a:lnTo>
                    <a:pt x="99301" y="132141"/>
                  </a:lnTo>
                  <a:lnTo>
                    <a:pt x="70495" y="168660"/>
                  </a:lnTo>
                  <a:lnTo>
                    <a:pt x="46100" y="208483"/>
                  </a:lnTo>
                  <a:lnTo>
                    <a:pt x="26484" y="251242"/>
                  </a:lnTo>
                  <a:lnTo>
                    <a:pt x="12016" y="296568"/>
                  </a:lnTo>
                  <a:lnTo>
                    <a:pt x="3065" y="344092"/>
                  </a:lnTo>
                  <a:lnTo>
                    <a:pt x="0" y="393446"/>
                  </a:lnTo>
                  <a:lnTo>
                    <a:pt x="0" y="3183382"/>
                  </a:lnTo>
                  <a:lnTo>
                    <a:pt x="3065" y="3232735"/>
                  </a:lnTo>
                  <a:lnTo>
                    <a:pt x="12016" y="3280259"/>
                  </a:lnTo>
                  <a:lnTo>
                    <a:pt x="26484" y="3325585"/>
                  </a:lnTo>
                  <a:lnTo>
                    <a:pt x="46100" y="3368344"/>
                  </a:lnTo>
                  <a:lnTo>
                    <a:pt x="70495" y="3408167"/>
                  </a:lnTo>
                  <a:lnTo>
                    <a:pt x="99301" y="3444686"/>
                  </a:lnTo>
                  <a:lnTo>
                    <a:pt x="132148" y="3477532"/>
                  </a:lnTo>
                  <a:lnTo>
                    <a:pt x="168669" y="3506336"/>
                  </a:lnTo>
                  <a:lnTo>
                    <a:pt x="208493" y="3530730"/>
                  </a:lnTo>
                  <a:lnTo>
                    <a:pt x="251253" y="3550344"/>
                  </a:lnTo>
                  <a:lnTo>
                    <a:pt x="296580" y="3564811"/>
                  </a:lnTo>
                  <a:lnTo>
                    <a:pt x="344104" y="3573762"/>
                  </a:lnTo>
                  <a:lnTo>
                    <a:pt x="393458" y="3576828"/>
                  </a:lnTo>
                  <a:lnTo>
                    <a:pt x="1967230" y="3576828"/>
                  </a:lnTo>
                  <a:lnTo>
                    <a:pt x="2016583" y="3573762"/>
                  </a:lnTo>
                  <a:lnTo>
                    <a:pt x="2064107" y="3564811"/>
                  </a:lnTo>
                  <a:lnTo>
                    <a:pt x="2109433" y="3550344"/>
                  </a:lnTo>
                  <a:lnTo>
                    <a:pt x="2152192" y="3530730"/>
                  </a:lnTo>
                  <a:lnTo>
                    <a:pt x="2192015" y="3506336"/>
                  </a:lnTo>
                  <a:lnTo>
                    <a:pt x="2228534" y="3477532"/>
                  </a:lnTo>
                  <a:lnTo>
                    <a:pt x="2261380" y="3444686"/>
                  </a:lnTo>
                  <a:lnTo>
                    <a:pt x="2290184" y="3408167"/>
                  </a:lnTo>
                  <a:lnTo>
                    <a:pt x="2314578" y="3368344"/>
                  </a:lnTo>
                  <a:lnTo>
                    <a:pt x="2334192" y="3325585"/>
                  </a:lnTo>
                  <a:lnTo>
                    <a:pt x="2348659" y="3280259"/>
                  </a:lnTo>
                  <a:lnTo>
                    <a:pt x="2357610" y="3232735"/>
                  </a:lnTo>
                  <a:lnTo>
                    <a:pt x="2360676" y="3183382"/>
                  </a:lnTo>
                  <a:lnTo>
                    <a:pt x="2360676" y="393446"/>
                  </a:lnTo>
                  <a:lnTo>
                    <a:pt x="2357610" y="344092"/>
                  </a:lnTo>
                  <a:lnTo>
                    <a:pt x="2348659" y="296568"/>
                  </a:lnTo>
                  <a:lnTo>
                    <a:pt x="2334192" y="251242"/>
                  </a:lnTo>
                  <a:lnTo>
                    <a:pt x="2314578" y="208483"/>
                  </a:lnTo>
                  <a:lnTo>
                    <a:pt x="2290184" y="168660"/>
                  </a:lnTo>
                  <a:lnTo>
                    <a:pt x="2261380" y="132141"/>
                  </a:lnTo>
                  <a:lnTo>
                    <a:pt x="2228534" y="99295"/>
                  </a:lnTo>
                  <a:lnTo>
                    <a:pt x="2192015" y="70491"/>
                  </a:lnTo>
                  <a:lnTo>
                    <a:pt x="2152192" y="46097"/>
                  </a:lnTo>
                  <a:lnTo>
                    <a:pt x="2109433" y="26483"/>
                  </a:lnTo>
                  <a:lnTo>
                    <a:pt x="2064107" y="12016"/>
                  </a:lnTo>
                  <a:lnTo>
                    <a:pt x="2016583" y="3065"/>
                  </a:lnTo>
                  <a:lnTo>
                    <a:pt x="1967230" y="0"/>
                  </a:lnTo>
                  <a:close/>
                </a:path>
              </a:pathLst>
            </a:custGeom>
            <a:solidFill>
              <a:srgbClr val="000000"/>
            </a:solidFill>
          </p:spPr>
          <p:txBody>
            <a:bodyPr wrap="square" lIns="0" tIns="0" rIns="0" bIns="0" rtlCol="0"/>
            <a:lstStyle/>
            <a:p>
              <a:endParaRPr/>
            </a:p>
          </p:txBody>
        </p:sp>
        <p:sp>
          <p:nvSpPr>
            <p:cNvPr id="5" name="object 5"/>
            <p:cNvSpPr/>
            <p:nvPr/>
          </p:nvSpPr>
          <p:spPr>
            <a:xfrm>
              <a:off x="781811" y="1793747"/>
              <a:ext cx="2360930" cy="3576954"/>
            </a:xfrm>
            <a:custGeom>
              <a:avLst/>
              <a:gdLst/>
              <a:ahLst/>
              <a:cxnLst/>
              <a:rect l="l" t="t" r="r" b="b"/>
              <a:pathLst>
                <a:path w="2360930" h="3576954">
                  <a:moveTo>
                    <a:pt x="0" y="393446"/>
                  </a:moveTo>
                  <a:lnTo>
                    <a:pt x="3065" y="344092"/>
                  </a:lnTo>
                  <a:lnTo>
                    <a:pt x="12016" y="296568"/>
                  </a:lnTo>
                  <a:lnTo>
                    <a:pt x="26484" y="251242"/>
                  </a:lnTo>
                  <a:lnTo>
                    <a:pt x="46100" y="208483"/>
                  </a:lnTo>
                  <a:lnTo>
                    <a:pt x="70495" y="168660"/>
                  </a:lnTo>
                  <a:lnTo>
                    <a:pt x="99301" y="132141"/>
                  </a:lnTo>
                  <a:lnTo>
                    <a:pt x="132148" y="99295"/>
                  </a:lnTo>
                  <a:lnTo>
                    <a:pt x="168669" y="70491"/>
                  </a:lnTo>
                  <a:lnTo>
                    <a:pt x="208493" y="46097"/>
                  </a:lnTo>
                  <a:lnTo>
                    <a:pt x="251253" y="26483"/>
                  </a:lnTo>
                  <a:lnTo>
                    <a:pt x="296580" y="12016"/>
                  </a:lnTo>
                  <a:lnTo>
                    <a:pt x="344104" y="3065"/>
                  </a:lnTo>
                  <a:lnTo>
                    <a:pt x="393458" y="0"/>
                  </a:lnTo>
                  <a:lnTo>
                    <a:pt x="1967230" y="0"/>
                  </a:lnTo>
                  <a:lnTo>
                    <a:pt x="2016583" y="3065"/>
                  </a:lnTo>
                  <a:lnTo>
                    <a:pt x="2064107" y="12016"/>
                  </a:lnTo>
                  <a:lnTo>
                    <a:pt x="2109433" y="26483"/>
                  </a:lnTo>
                  <a:lnTo>
                    <a:pt x="2152192" y="46097"/>
                  </a:lnTo>
                  <a:lnTo>
                    <a:pt x="2192015" y="70491"/>
                  </a:lnTo>
                  <a:lnTo>
                    <a:pt x="2228534" y="99295"/>
                  </a:lnTo>
                  <a:lnTo>
                    <a:pt x="2261380" y="132141"/>
                  </a:lnTo>
                  <a:lnTo>
                    <a:pt x="2290184" y="168660"/>
                  </a:lnTo>
                  <a:lnTo>
                    <a:pt x="2314578" y="208483"/>
                  </a:lnTo>
                  <a:lnTo>
                    <a:pt x="2334192" y="251242"/>
                  </a:lnTo>
                  <a:lnTo>
                    <a:pt x="2348659" y="296568"/>
                  </a:lnTo>
                  <a:lnTo>
                    <a:pt x="2357610" y="344092"/>
                  </a:lnTo>
                  <a:lnTo>
                    <a:pt x="2360676" y="393446"/>
                  </a:lnTo>
                  <a:lnTo>
                    <a:pt x="2360676" y="3183382"/>
                  </a:lnTo>
                  <a:lnTo>
                    <a:pt x="2357610" y="3232735"/>
                  </a:lnTo>
                  <a:lnTo>
                    <a:pt x="2348659" y="3280259"/>
                  </a:lnTo>
                  <a:lnTo>
                    <a:pt x="2334192" y="3325585"/>
                  </a:lnTo>
                  <a:lnTo>
                    <a:pt x="2314578" y="3368344"/>
                  </a:lnTo>
                  <a:lnTo>
                    <a:pt x="2290184" y="3408167"/>
                  </a:lnTo>
                  <a:lnTo>
                    <a:pt x="2261380" y="3444686"/>
                  </a:lnTo>
                  <a:lnTo>
                    <a:pt x="2228534" y="3477532"/>
                  </a:lnTo>
                  <a:lnTo>
                    <a:pt x="2192015" y="3506336"/>
                  </a:lnTo>
                  <a:lnTo>
                    <a:pt x="2152192" y="3530730"/>
                  </a:lnTo>
                  <a:lnTo>
                    <a:pt x="2109433" y="3550344"/>
                  </a:lnTo>
                  <a:lnTo>
                    <a:pt x="2064107" y="3564811"/>
                  </a:lnTo>
                  <a:lnTo>
                    <a:pt x="2016583" y="3573762"/>
                  </a:lnTo>
                  <a:lnTo>
                    <a:pt x="1967230" y="3576828"/>
                  </a:lnTo>
                  <a:lnTo>
                    <a:pt x="393458" y="3576828"/>
                  </a:lnTo>
                  <a:lnTo>
                    <a:pt x="344104" y="3573762"/>
                  </a:lnTo>
                  <a:lnTo>
                    <a:pt x="296580" y="3564811"/>
                  </a:lnTo>
                  <a:lnTo>
                    <a:pt x="251253" y="3550344"/>
                  </a:lnTo>
                  <a:lnTo>
                    <a:pt x="208493" y="3530730"/>
                  </a:lnTo>
                  <a:lnTo>
                    <a:pt x="168669" y="3506336"/>
                  </a:lnTo>
                  <a:lnTo>
                    <a:pt x="132148" y="3477532"/>
                  </a:lnTo>
                  <a:lnTo>
                    <a:pt x="99301" y="3444686"/>
                  </a:lnTo>
                  <a:lnTo>
                    <a:pt x="70495" y="3408167"/>
                  </a:lnTo>
                  <a:lnTo>
                    <a:pt x="46100" y="3368344"/>
                  </a:lnTo>
                  <a:lnTo>
                    <a:pt x="26484" y="3325585"/>
                  </a:lnTo>
                  <a:lnTo>
                    <a:pt x="12016" y="3280259"/>
                  </a:lnTo>
                  <a:lnTo>
                    <a:pt x="3065" y="3232735"/>
                  </a:lnTo>
                  <a:lnTo>
                    <a:pt x="0" y="3183382"/>
                  </a:lnTo>
                  <a:lnTo>
                    <a:pt x="0" y="393446"/>
                  </a:lnTo>
                  <a:close/>
                </a:path>
              </a:pathLst>
            </a:custGeom>
            <a:ln w="9525">
              <a:solidFill>
                <a:srgbClr val="497DBA"/>
              </a:solidFill>
            </a:ln>
          </p:spPr>
          <p:txBody>
            <a:bodyPr wrap="square" lIns="0" tIns="0" rIns="0" bIns="0" rtlCol="0"/>
            <a:lstStyle/>
            <a:p>
              <a:endParaRPr/>
            </a:p>
          </p:txBody>
        </p:sp>
      </p:grpSp>
      <p:sp>
        <p:nvSpPr>
          <p:cNvPr id="6" name="object 6"/>
          <p:cNvSpPr/>
          <p:nvPr/>
        </p:nvSpPr>
        <p:spPr>
          <a:xfrm>
            <a:off x="5420106" y="555499"/>
            <a:ext cx="4886325" cy="1856739"/>
          </a:xfrm>
          <a:custGeom>
            <a:avLst/>
            <a:gdLst/>
            <a:ahLst/>
            <a:cxnLst/>
            <a:rect l="l" t="t" r="r" b="b"/>
            <a:pathLst>
              <a:path w="4886325" h="1856739">
                <a:moveTo>
                  <a:pt x="4576572" y="0"/>
                </a:moveTo>
                <a:lnTo>
                  <a:pt x="309372" y="0"/>
                </a:lnTo>
                <a:lnTo>
                  <a:pt x="263665" y="3355"/>
                </a:lnTo>
                <a:lnTo>
                  <a:pt x="220038" y="13102"/>
                </a:lnTo>
                <a:lnTo>
                  <a:pt x="178968" y="28761"/>
                </a:lnTo>
                <a:lnTo>
                  <a:pt x="140936" y="49853"/>
                </a:lnTo>
                <a:lnTo>
                  <a:pt x="106420" y="75899"/>
                </a:lnTo>
                <a:lnTo>
                  <a:pt x="75899" y="106420"/>
                </a:lnTo>
                <a:lnTo>
                  <a:pt x="49853" y="140936"/>
                </a:lnTo>
                <a:lnTo>
                  <a:pt x="28761" y="178968"/>
                </a:lnTo>
                <a:lnTo>
                  <a:pt x="13102" y="220038"/>
                </a:lnTo>
                <a:lnTo>
                  <a:pt x="3355" y="263665"/>
                </a:lnTo>
                <a:lnTo>
                  <a:pt x="0" y="309372"/>
                </a:lnTo>
                <a:lnTo>
                  <a:pt x="0" y="1546860"/>
                </a:lnTo>
                <a:lnTo>
                  <a:pt x="3355" y="1592566"/>
                </a:lnTo>
                <a:lnTo>
                  <a:pt x="13102" y="1636193"/>
                </a:lnTo>
                <a:lnTo>
                  <a:pt x="28761" y="1677263"/>
                </a:lnTo>
                <a:lnTo>
                  <a:pt x="49853" y="1715295"/>
                </a:lnTo>
                <a:lnTo>
                  <a:pt x="75899" y="1749811"/>
                </a:lnTo>
                <a:lnTo>
                  <a:pt x="106420" y="1780332"/>
                </a:lnTo>
                <a:lnTo>
                  <a:pt x="140936" y="1806378"/>
                </a:lnTo>
                <a:lnTo>
                  <a:pt x="178968" y="1827470"/>
                </a:lnTo>
                <a:lnTo>
                  <a:pt x="220038" y="1843129"/>
                </a:lnTo>
                <a:lnTo>
                  <a:pt x="263665" y="1852876"/>
                </a:lnTo>
                <a:lnTo>
                  <a:pt x="309372" y="1856231"/>
                </a:lnTo>
                <a:lnTo>
                  <a:pt x="4576572" y="1856231"/>
                </a:lnTo>
                <a:lnTo>
                  <a:pt x="4622278" y="1852876"/>
                </a:lnTo>
                <a:lnTo>
                  <a:pt x="4665905" y="1843129"/>
                </a:lnTo>
                <a:lnTo>
                  <a:pt x="4706975" y="1827470"/>
                </a:lnTo>
                <a:lnTo>
                  <a:pt x="4745007" y="1806378"/>
                </a:lnTo>
                <a:lnTo>
                  <a:pt x="4779523" y="1780332"/>
                </a:lnTo>
                <a:lnTo>
                  <a:pt x="4810044" y="1749811"/>
                </a:lnTo>
                <a:lnTo>
                  <a:pt x="4836090" y="1715295"/>
                </a:lnTo>
                <a:lnTo>
                  <a:pt x="4857182" y="1677263"/>
                </a:lnTo>
                <a:lnTo>
                  <a:pt x="4872841" y="1636193"/>
                </a:lnTo>
                <a:lnTo>
                  <a:pt x="4882588" y="1592566"/>
                </a:lnTo>
                <a:lnTo>
                  <a:pt x="4885944" y="1546860"/>
                </a:lnTo>
                <a:lnTo>
                  <a:pt x="4885944" y="309372"/>
                </a:lnTo>
                <a:lnTo>
                  <a:pt x="4882588" y="263665"/>
                </a:lnTo>
                <a:lnTo>
                  <a:pt x="4872841" y="220038"/>
                </a:lnTo>
                <a:lnTo>
                  <a:pt x="4857182" y="178968"/>
                </a:lnTo>
                <a:lnTo>
                  <a:pt x="4836090" y="140936"/>
                </a:lnTo>
                <a:lnTo>
                  <a:pt x="4810044" y="106420"/>
                </a:lnTo>
                <a:lnTo>
                  <a:pt x="4779523" y="75899"/>
                </a:lnTo>
                <a:lnTo>
                  <a:pt x="4745007" y="49853"/>
                </a:lnTo>
                <a:lnTo>
                  <a:pt x="4706975" y="28761"/>
                </a:lnTo>
                <a:lnTo>
                  <a:pt x="4665905" y="13102"/>
                </a:lnTo>
                <a:lnTo>
                  <a:pt x="4622278" y="3355"/>
                </a:lnTo>
                <a:lnTo>
                  <a:pt x="4576572" y="0"/>
                </a:lnTo>
                <a:close/>
              </a:path>
            </a:pathLst>
          </a:custGeom>
          <a:solidFill>
            <a:srgbClr val="4AACC5"/>
          </a:solidFill>
        </p:spPr>
        <p:txBody>
          <a:bodyPr wrap="square" lIns="0" tIns="0" rIns="0" bIns="0" rtlCol="0"/>
          <a:lstStyle/>
          <a:p>
            <a:endParaRPr/>
          </a:p>
        </p:txBody>
      </p:sp>
      <p:sp>
        <p:nvSpPr>
          <p:cNvPr id="7" name="object 7"/>
          <p:cNvSpPr txBox="1"/>
          <p:nvPr/>
        </p:nvSpPr>
        <p:spPr>
          <a:xfrm>
            <a:off x="5597398" y="688976"/>
            <a:ext cx="4261485" cy="1510665"/>
          </a:xfrm>
          <a:prstGeom prst="rect">
            <a:avLst/>
          </a:prstGeom>
        </p:spPr>
        <p:txBody>
          <a:bodyPr vert="horz" wrap="square" lIns="0" tIns="46355" rIns="0" bIns="0" rtlCol="0">
            <a:spAutoFit/>
          </a:bodyPr>
          <a:lstStyle/>
          <a:p>
            <a:pPr marL="12700" marR="5080">
              <a:lnSpc>
                <a:spcPct val="91600"/>
              </a:lnSpc>
              <a:spcBef>
                <a:spcPts val="365"/>
              </a:spcBef>
            </a:pPr>
            <a:r>
              <a:rPr sz="2600" b="1" dirty="0">
                <a:solidFill>
                  <a:srgbClr val="FFFFFF"/>
                </a:solidFill>
                <a:latin typeface="Calibri"/>
                <a:cs typeface="Calibri"/>
              </a:rPr>
              <a:t>The</a:t>
            </a:r>
            <a:r>
              <a:rPr sz="2600" b="1" spc="-30" dirty="0">
                <a:solidFill>
                  <a:srgbClr val="FFFFFF"/>
                </a:solidFill>
                <a:latin typeface="Calibri"/>
                <a:cs typeface="Calibri"/>
              </a:rPr>
              <a:t> </a:t>
            </a:r>
            <a:r>
              <a:rPr sz="2600" b="1" spc="-10" dirty="0">
                <a:solidFill>
                  <a:srgbClr val="FFFFFF"/>
                </a:solidFill>
                <a:latin typeface="Calibri"/>
                <a:cs typeface="Calibri"/>
              </a:rPr>
              <a:t>Internet</a:t>
            </a:r>
            <a:r>
              <a:rPr sz="2600" spc="-10" dirty="0">
                <a:solidFill>
                  <a:srgbClr val="FFFFFF"/>
                </a:solidFill>
                <a:latin typeface="Calibri"/>
                <a:cs typeface="Calibri"/>
              </a:rPr>
              <a:t>:</a:t>
            </a:r>
            <a:r>
              <a:rPr sz="2600" spc="-30" dirty="0">
                <a:solidFill>
                  <a:srgbClr val="FFFFFF"/>
                </a:solidFill>
                <a:latin typeface="Calibri"/>
                <a:cs typeface="Calibri"/>
              </a:rPr>
              <a:t> </a:t>
            </a:r>
            <a:r>
              <a:rPr sz="2600" dirty="0">
                <a:solidFill>
                  <a:srgbClr val="FFFFFF"/>
                </a:solidFill>
                <a:latin typeface="Calibri"/>
                <a:cs typeface="Calibri"/>
              </a:rPr>
              <a:t>a</a:t>
            </a:r>
            <a:r>
              <a:rPr sz="2600" spc="-35" dirty="0">
                <a:solidFill>
                  <a:srgbClr val="FFFFFF"/>
                </a:solidFill>
                <a:latin typeface="Calibri"/>
                <a:cs typeface="Calibri"/>
              </a:rPr>
              <a:t> </a:t>
            </a:r>
            <a:r>
              <a:rPr sz="2600" spc="-20" dirty="0">
                <a:solidFill>
                  <a:srgbClr val="FFFFFF"/>
                </a:solidFill>
                <a:latin typeface="Calibri"/>
                <a:cs typeface="Calibri"/>
              </a:rPr>
              <a:t>inter-</a:t>
            </a:r>
            <a:r>
              <a:rPr sz="2600" spc="-10" dirty="0">
                <a:solidFill>
                  <a:srgbClr val="FFFFFF"/>
                </a:solidFill>
                <a:latin typeface="Calibri"/>
                <a:cs typeface="Calibri"/>
              </a:rPr>
              <a:t>connected </a:t>
            </a:r>
            <a:r>
              <a:rPr sz="2600" dirty="0">
                <a:solidFill>
                  <a:srgbClr val="FFFFFF"/>
                </a:solidFill>
                <a:latin typeface="Calibri"/>
                <a:cs typeface="Calibri"/>
              </a:rPr>
              <a:t>computer</a:t>
            </a:r>
            <a:r>
              <a:rPr sz="2600" spc="-90" dirty="0">
                <a:solidFill>
                  <a:srgbClr val="FFFFFF"/>
                </a:solidFill>
                <a:latin typeface="Calibri"/>
                <a:cs typeface="Calibri"/>
              </a:rPr>
              <a:t> </a:t>
            </a:r>
            <a:r>
              <a:rPr sz="2600" spc="-10" dirty="0">
                <a:solidFill>
                  <a:srgbClr val="FFFFFF"/>
                </a:solidFill>
                <a:latin typeface="Calibri"/>
                <a:cs typeface="Calibri"/>
              </a:rPr>
              <a:t>networks,</a:t>
            </a:r>
            <a:r>
              <a:rPr sz="2600" spc="-95" dirty="0">
                <a:solidFill>
                  <a:srgbClr val="FFFFFF"/>
                </a:solidFill>
                <a:latin typeface="Calibri"/>
                <a:cs typeface="Calibri"/>
              </a:rPr>
              <a:t> </a:t>
            </a:r>
            <a:r>
              <a:rPr sz="2600" dirty="0">
                <a:solidFill>
                  <a:srgbClr val="FFFFFF"/>
                </a:solidFill>
                <a:latin typeface="Calibri"/>
                <a:cs typeface="Calibri"/>
              </a:rPr>
              <a:t>linked</a:t>
            </a:r>
            <a:r>
              <a:rPr sz="2600" spc="-85" dirty="0">
                <a:solidFill>
                  <a:srgbClr val="FFFFFF"/>
                </a:solidFill>
                <a:latin typeface="Calibri"/>
                <a:cs typeface="Calibri"/>
              </a:rPr>
              <a:t> </a:t>
            </a:r>
            <a:r>
              <a:rPr sz="2600" spc="-25" dirty="0">
                <a:solidFill>
                  <a:srgbClr val="FFFFFF"/>
                </a:solidFill>
                <a:latin typeface="Calibri"/>
                <a:cs typeface="Calibri"/>
              </a:rPr>
              <a:t>by </a:t>
            </a:r>
            <a:r>
              <a:rPr sz="2600" dirty="0">
                <a:solidFill>
                  <a:srgbClr val="FFFFFF"/>
                </a:solidFill>
                <a:latin typeface="Calibri"/>
                <a:cs typeface="Calibri"/>
              </a:rPr>
              <a:t>wires,</a:t>
            </a:r>
            <a:r>
              <a:rPr sz="2600" spc="-70" dirty="0">
                <a:solidFill>
                  <a:srgbClr val="FFFFFF"/>
                </a:solidFill>
                <a:latin typeface="Calibri"/>
                <a:cs typeface="Calibri"/>
              </a:rPr>
              <a:t> </a:t>
            </a:r>
            <a:r>
              <a:rPr sz="2600" dirty="0">
                <a:solidFill>
                  <a:srgbClr val="FFFFFF"/>
                </a:solidFill>
                <a:latin typeface="Calibri"/>
                <a:cs typeface="Calibri"/>
              </a:rPr>
              <a:t>cables,</a:t>
            </a:r>
            <a:r>
              <a:rPr sz="2600" spc="-70" dirty="0">
                <a:solidFill>
                  <a:srgbClr val="FFFFFF"/>
                </a:solidFill>
                <a:latin typeface="Calibri"/>
                <a:cs typeface="Calibri"/>
              </a:rPr>
              <a:t> </a:t>
            </a:r>
            <a:r>
              <a:rPr sz="2600" spc="-10" dirty="0">
                <a:solidFill>
                  <a:srgbClr val="FFFFFF"/>
                </a:solidFill>
                <a:latin typeface="Calibri"/>
                <a:cs typeface="Calibri"/>
              </a:rPr>
              <a:t>wireless </a:t>
            </a:r>
            <a:r>
              <a:rPr sz="2600" dirty="0">
                <a:solidFill>
                  <a:srgbClr val="FFFFFF"/>
                </a:solidFill>
                <a:latin typeface="Calibri"/>
                <a:cs typeface="Calibri"/>
              </a:rPr>
              <a:t>connections,</a:t>
            </a:r>
            <a:r>
              <a:rPr sz="2600" spc="-50" dirty="0">
                <a:solidFill>
                  <a:srgbClr val="FFFFFF"/>
                </a:solidFill>
                <a:latin typeface="Calibri"/>
                <a:cs typeface="Calibri"/>
              </a:rPr>
              <a:t> </a:t>
            </a:r>
            <a:r>
              <a:rPr sz="2600" spc="-20" dirty="0">
                <a:solidFill>
                  <a:srgbClr val="FFFFFF"/>
                </a:solidFill>
                <a:latin typeface="Calibri"/>
                <a:cs typeface="Calibri"/>
              </a:rPr>
              <a:t>etc.</a:t>
            </a:r>
            <a:endParaRPr sz="2600">
              <a:latin typeface="Calibri"/>
              <a:cs typeface="Calibri"/>
            </a:endParaRPr>
          </a:p>
        </p:txBody>
      </p:sp>
      <p:sp>
        <p:nvSpPr>
          <p:cNvPr id="8" name="object 8"/>
          <p:cNvSpPr/>
          <p:nvPr/>
        </p:nvSpPr>
        <p:spPr>
          <a:xfrm>
            <a:off x="5420106" y="2486406"/>
            <a:ext cx="4886325" cy="1856739"/>
          </a:xfrm>
          <a:custGeom>
            <a:avLst/>
            <a:gdLst/>
            <a:ahLst/>
            <a:cxnLst/>
            <a:rect l="l" t="t" r="r" b="b"/>
            <a:pathLst>
              <a:path w="4886325" h="1856739">
                <a:moveTo>
                  <a:pt x="4576572" y="0"/>
                </a:moveTo>
                <a:lnTo>
                  <a:pt x="309372" y="0"/>
                </a:lnTo>
                <a:lnTo>
                  <a:pt x="263665" y="3355"/>
                </a:lnTo>
                <a:lnTo>
                  <a:pt x="220038" y="13102"/>
                </a:lnTo>
                <a:lnTo>
                  <a:pt x="178968" y="28761"/>
                </a:lnTo>
                <a:lnTo>
                  <a:pt x="140936" y="49853"/>
                </a:lnTo>
                <a:lnTo>
                  <a:pt x="106420" y="75899"/>
                </a:lnTo>
                <a:lnTo>
                  <a:pt x="75899" y="106420"/>
                </a:lnTo>
                <a:lnTo>
                  <a:pt x="49853" y="140936"/>
                </a:lnTo>
                <a:lnTo>
                  <a:pt x="28761" y="178968"/>
                </a:lnTo>
                <a:lnTo>
                  <a:pt x="13102" y="220038"/>
                </a:lnTo>
                <a:lnTo>
                  <a:pt x="3355" y="263665"/>
                </a:lnTo>
                <a:lnTo>
                  <a:pt x="0" y="309372"/>
                </a:lnTo>
                <a:lnTo>
                  <a:pt x="0" y="1546860"/>
                </a:lnTo>
                <a:lnTo>
                  <a:pt x="3355" y="1592566"/>
                </a:lnTo>
                <a:lnTo>
                  <a:pt x="13102" y="1636193"/>
                </a:lnTo>
                <a:lnTo>
                  <a:pt x="28761" y="1677263"/>
                </a:lnTo>
                <a:lnTo>
                  <a:pt x="49853" y="1715295"/>
                </a:lnTo>
                <a:lnTo>
                  <a:pt x="75899" y="1749811"/>
                </a:lnTo>
                <a:lnTo>
                  <a:pt x="106420" y="1780332"/>
                </a:lnTo>
                <a:lnTo>
                  <a:pt x="140936" y="1806378"/>
                </a:lnTo>
                <a:lnTo>
                  <a:pt x="178968" y="1827470"/>
                </a:lnTo>
                <a:lnTo>
                  <a:pt x="220038" y="1843129"/>
                </a:lnTo>
                <a:lnTo>
                  <a:pt x="263665" y="1852876"/>
                </a:lnTo>
                <a:lnTo>
                  <a:pt x="309372" y="1856232"/>
                </a:lnTo>
                <a:lnTo>
                  <a:pt x="4576572" y="1856232"/>
                </a:lnTo>
                <a:lnTo>
                  <a:pt x="4622278" y="1852876"/>
                </a:lnTo>
                <a:lnTo>
                  <a:pt x="4665905" y="1843129"/>
                </a:lnTo>
                <a:lnTo>
                  <a:pt x="4706975" y="1827470"/>
                </a:lnTo>
                <a:lnTo>
                  <a:pt x="4745007" y="1806378"/>
                </a:lnTo>
                <a:lnTo>
                  <a:pt x="4779523" y="1780332"/>
                </a:lnTo>
                <a:lnTo>
                  <a:pt x="4810044" y="1749811"/>
                </a:lnTo>
                <a:lnTo>
                  <a:pt x="4836090" y="1715295"/>
                </a:lnTo>
                <a:lnTo>
                  <a:pt x="4857182" y="1677263"/>
                </a:lnTo>
                <a:lnTo>
                  <a:pt x="4872841" y="1636193"/>
                </a:lnTo>
                <a:lnTo>
                  <a:pt x="4882588" y="1592566"/>
                </a:lnTo>
                <a:lnTo>
                  <a:pt x="4885944" y="1546860"/>
                </a:lnTo>
                <a:lnTo>
                  <a:pt x="4885944" y="309372"/>
                </a:lnTo>
                <a:lnTo>
                  <a:pt x="4882588" y="263665"/>
                </a:lnTo>
                <a:lnTo>
                  <a:pt x="4872841" y="220038"/>
                </a:lnTo>
                <a:lnTo>
                  <a:pt x="4857182" y="178968"/>
                </a:lnTo>
                <a:lnTo>
                  <a:pt x="4836090" y="140936"/>
                </a:lnTo>
                <a:lnTo>
                  <a:pt x="4810044" y="106420"/>
                </a:lnTo>
                <a:lnTo>
                  <a:pt x="4779523" y="75899"/>
                </a:lnTo>
                <a:lnTo>
                  <a:pt x="4745007" y="49853"/>
                </a:lnTo>
                <a:lnTo>
                  <a:pt x="4706975" y="28761"/>
                </a:lnTo>
                <a:lnTo>
                  <a:pt x="4665905" y="13102"/>
                </a:lnTo>
                <a:lnTo>
                  <a:pt x="4622278" y="3355"/>
                </a:lnTo>
                <a:lnTo>
                  <a:pt x="4576572" y="0"/>
                </a:lnTo>
                <a:close/>
              </a:path>
            </a:pathLst>
          </a:custGeom>
          <a:solidFill>
            <a:srgbClr val="5FE046"/>
          </a:solidFill>
        </p:spPr>
        <p:txBody>
          <a:bodyPr wrap="square" lIns="0" tIns="0" rIns="0" bIns="0" rtlCol="0"/>
          <a:lstStyle/>
          <a:p>
            <a:endParaRPr/>
          </a:p>
        </p:txBody>
      </p:sp>
      <p:sp>
        <p:nvSpPr>
          <p:cNvPr id="9" name="object 9"/>
          <p:cNvSpPr txBox="1"/>
          <p:nvPr/>
        </p:nvSpPr>
        <p:spPr>
          <a:xfrm>
            <a:off x="5597398" y="2801238"/>
            <a:ext cx="4215765" cy="1168910"/>
          </a:xfrm>
          <a:prstGeom prst="rect">
            <a:avLst/>
          </a:prstGeom>
        </p:spPr>
        <p:txBody>
          <a:bodyPr vert="horz" wrap="square" lIns="0" tIns="52705" rIns="0" bIns="0" rtlCol="0">
            <a:spAutoFit/>
          </a:bodyPr>
          <a:lstStyle/>
          <a:p>
            <a:pPr marL="12700" marR="5080">
              <a:lnSpc>
                <a:spcPts val="2860"/>
              </a:lnSpc>
              <a:spcBef>
                <a:spcPts val="415"/>
              </a:spcBef>
            </a:pPr>
            <a:r>
              <a:rPr sz="2600" b="1" spc="-10" dirty="0">
                <a:solidFill>
                  <a:srgbClr val="FFFFFF"/>
                </a:solidFill>
                <a:latin typeface="Calibri"/>
                <a:cs typeface="Calibri"/>
              </a:rPr>
              <a:t>Web</a:t>
            </a:r>
            <a:r>
              <a:rPr sz="2600" spc="-10" dirty="0">
                <a:solidFill>
                  <a:srgbClr val="FFFFFF"/>
                </a:solidFill>
                <a:latin typeface="Calibri"/>
                <a:cs typeface="Calibri"/>
              </a:rPr>
              <a:t>:</a:t>
            </a:r>
            <a:r>
              <a:rPr sz="2600" spc="-70" dirty="0">
                <a:solidFill>
                  <a:srgbClr val="FFFFFF"/>
                </a:solidFill>
                <a:latin typeface="Calibri"/>
                <a:cs typeface="Calibri"/>
              </a:rPr>
              <a:t> </a:t>
            </a:r>
            <a:r>
              <a:rPr sz="2600" dirty="0">
                <a:solidFill>
                  <a:srgbClr val="FFFFFF"/>
                </a:solidFill>
                <a:latin typeface="Calibri"/>
                <a:cs typeface="Calibri"/>
              </a:rPr>
              <a:t>a</a:t>
            </a:r>
            <a:r>
              <a:rPr sz="2600" spc="-70" dirty="0">
                <a:solidFill>
                  <a:srgbClr val="FFFFFF"/>
                </a:solidFill>
                <a:latin typeface="Calibri"/>
                <a:cs typeface="Calibri"/>
              </a:rPr>
              <a:t> </a:t>
            </a:r>
            <a:r>
              <a:rPr sz="2600" dirty="0">
                <a:solidFill>
                  <a:srgbClr val="FFFFFF"/>
                </a:solidFill>
                <a:latin typeface="Calibri"/>
                <a:cs typeface="Calibri"/>
              </a:rPr>
              <a:t>collection</a:t>
            </a:r>
            <a:r>
              <a:rPr sz="2600" spc="-90" dirty="0">
                <a:solidFill>
                  <a:srgbClr val="FFFFFF"/>
                </a:solidFill>
                <a:latin typeface="Calibri"/>
                <a:cs typeface="Calibri"/>
              </a:rPr>
              <a:t> </a:t>
            </a:r>
            <a:r>
              <a:rPr sz="2600" spc="-25" dirty="0">
                <a:solidFill>
                  <a:srgbClr val="FFFFFF"/>
                </a:solidFill>
                <a:latin typeface="Calibri"/>
                <a:cs typeface="Calibri"/>
              </a:rPr>
              <a:t>of </a:t>
            </a:r>
            <a:r>
              <a:rPr sz="2600" spc="-10" dirty="0">
                <a:solidFill>
                  <a:srgbClr val="FFFFFF"/>
                </a:solidFill>
                <a:latin typeface="Calibri"/>
                <a:cs typeface="Calibri"/>
              </a:rPr>
              <a:t>interconnected</a:t>
            </a:r>
            <a:r>
              <a:rPr sz="2600" spc="-85" dirty="0">
                <a:solidFill>
                  <a:srgbClr val="FFFFFF"/>
                </a:solidFill>
                <a:latin typeface="Calibri"/>
                <a:cs typeface="Calibri"/>
              </a:rPr>
              <a:t> </a:t>
            </a:r>
            <a:r>
              <a:rPr sz="2600" dirty="0">
                <a:solidFill>
                  <a:srgbClr val="FFFFFF"/>
                </a:solidFill>
                <a:latin typeface="Calibri"/>
                <a:cs typeface="Calibri"/>
              </a:rPr>
              <a:t>documents</a:t>
            </a:r>
            <a:r>
              <a:rPr sz="2600" spc="-55" dirty="0">
                <a:solidFill>
                  <a:srgbClr val="FFFFFF"/>
                </a:solidFill>
                <a:latin typeface="Calibri"/>
                <a:cs typeface="Calibri"/>
              </a:rPr>
              <a:t> </a:t>
            </a:r>
            <a:r>
              <a:rPr sz="2600" spc="-25" dirty="0">
                <a:solidFill>
                  <a:srgbClr val="FFFFFF"/>
                </a:solidFill>
                <a:latin typeface="Calibri"/>
                <a:cs typeface="Calibri"/>
              </a:rPr>
              <a:t>and </a:t>
            </a:r>
            <a:r>
              <a:rPr sz="2600" dirty="0">
                <a:solidFill>
                  <a:srgbClr val="FFFFFF"/>
                </a:solidFill>
                <a:latin typeface="Calibri"/>
                <a:cs typeface="Calibri"/>
              </a:rPr>
              <a:t>other</a:t>
            </a:r>
            <a:r>
              <a:rPr sz="2600" spc="-10" dirty="0">
                <a:solidFill>
                  <a:srgbClr val="FFFFFF"/>
                </a:solidFill>
                <a:latin typeface="Calibri"/>
                <a:cs typeface="Calibri"/>
              </a:rPr>
              <a:t> resources.</a:t>
            </a:r>
            <a:endParaRPr sz="2600">
              <a:latin typeface="Calibri"/>
              <a:cs typeface="Calibri"/>
            </a:endParaRPr>
          </a:p>
        </p:txBody>
      </p:sp>
      <p:sp>
        <p:nvSpPr>
          <p:cNvPr id="10" name="object 10"/>
          <p:cNvSpPr/>
          <p:nvPr/>
        </p:nvSpPr>
        <p:spPr>
          <a:xfrm>
            <a:off x="5420106" y="4417315"/>
            <a:ext cx="4886325" cy="1854835"/>
          </a:xfrm>
          <a:custGeom>
            <a:avLst/>
            <a:gdLst/>
            <a:ahLst/>
            <a:cxnLst/>
            <a:rect l="l" t="t" r="r" b="b"/>
            <a:pathLst>
              <a:path w="4886325" h="1854835">
                <a:moveTo>
                  <a:pt x="4576826" y="0"/>
                </a:moveTo>
                <a:lnTo>
                  <a:pt x="309118" y="0"/>
                </a:lnTo>
                <a:lnTo>
                  <a:pt x="263446" y="3352"/>
                </a:lnTo>
                <a:lnTo>
                  <a:pt x="219852" y="13090"/>
                </a:lnTo>
                <a:lnTo>
                  <a:pt x="178816" y="28735"/>
                </a:lnTo>
                <a:lnTo>
                  <a:pt x="140814" y="49809"/>
                </a:lnTo>
                <a:lnTo>
                  <a:pt x="106327" y="75832"/>
                </a:lnTo>
                <a:lnTo>
                  <a:pt x="75832" y="106327"/>
                </a:lnTo>
                <a:lnTo>
                  <a:pt x="49809" y="140814"/>
                </a:lnTo>
                <a:lnTo>
                  <a:pt x="28735" y="178816"/>
                </a:lnTo>
                <a:lnTo>
                  <a:pt x="13090" y="219852"/>
                </a:lnTo>
                <a:lnTo>
                  <a:pt x="3352" y="263446"/>
                </a:lnTo>
                <a:lnTo>
                  <a:pt x="0" y="309118"/>
                </a:lnTo>
                <a:lnTo>
                  <a:pt x="0" y="1545590"/>
                </a:lnTo>
                <a:lnTo>
                  <a:pt x="3352" y="1591267"/>
                </a:lnTo>
                <a:lnTo>
                  <a:pt x="13090" y="1634864"/>
                </a:lnTo>
                <a:lnTo>
                  <a:pt x="28735" y="1675902"/>
                </a:lnTo>
                <a:lnTo>
                  <a:pt x="49809" y="1713904"/>
                </a:lnTo>
                <a:lnTo>
                  <a:pt x="75832" y="1748390"/>
                </a:lnTo>
                <a:lnTo>
                  <a:pt x="106327" y="1778883"/>
                </a:lnTo>
                <a:lnTo>
                  <a:pt x="140814" y="1804905"/>
                </a:lnTo>
                <a:lnTo>
                  <a:pt x="178816" y="1825976"/>
                </a:lnTo>
                <a:lnTo>
                  <a:pt x="219852" y="1841619"/>
                </a:lnTo>
                <a:lnTo>
                  <a:pt x="263446" y="1851356"/>
                </a:lnTo>
                <a:lnTo>
                  <a:pt x="309118" y="1854708"/>
                </a:lnTo>
                <a:lnTo>
                  <a:pt x="4576826" y="1854708"/>
                </a:lnTo>
                <a:lnTo>
                  <a:pt x="4622497" y="1851356"/>
                </a:lnTo>
                <a:lnTo>
                  <a:pt x="4666091" y="1841619"/>
                </a:lnTo>
                <a:lnTo>
                  <a:pt x="4707128" y="1825976"/>
                </a:lnTo>
                <a:lnTo>
                  <a:pt x="4745129" y="1804905"/>
                </a:lnTo>
                <a:lnTo>
                  <a:pt x="4779616" y="1778883"/>
                </a:lnTo>
                <a:lnTo>
                  <a:pt x="4810111" y="1748390"/>
                </a:lnTo>
                <a:lnTo>
                  <a:pt x="4836134" y="1713904"/>
                </a:lnTo>
                <a:lnTo>
                  <a:pt x="4857208" y="1675902"/>
                </a:lnTo>
                <a:lnTo>
                  <a:pt x="4872853" y="1634864"/>
                </a:lnTo>
                <a:lnTo>
                  <a:pt x="4882591" y="1591267"/>
                </a:lnTo>
                <a:lnTo>
                  <a:pt x="4885944" y="1545590"/>
                </a:lnTo>
                <a:lnTo>
                  <a:pt x="4885944" y="309118"/>
                </a:lnTo>
                <a:lnTo>
                  <a:pt x="4882591" y="263446"/>
                </a:lnTo>
                <a:lnTo>
                  <a:pt x="4872853" y="219852"/>
                </a:lnTo>
                <a:lnTo>
                  <a:pt x="4857208" y="178816"/>
                </a:lnTo>
                <a:lnTo>
                  <a:pt x="4836134" y="140814"/>
                </a:lnTo>
                <a:lnTo>
                  <a:pt x="4810111" y="106327"/>
                </a:lnTo>
                <a:lnTo>
                  <a:pt x="4779616" y="75832"/>
                </a:lnTo>
                <a:lnTo>
                  <a:pt x="4745129" y="49809"/>
                </a:lnTo>
                <a:lnTo>
                  <a:pt x="4707128" y="28735"/>
                </a:lnTo>
                <a:lnTo>
                  <a:pt x="4666091" y="13090"/>
                </a:lnTo>
                <a:lnTo>
                  <a:pt x="4622497" y="3352"/>
                </a:lnTo>
                <a:lnTo>
                  <a:pt x="4576826" y="0"/>
                </a:lnTo>
                <a:close/>
              </a:path>
            </a:pathLst>
          </a:custGeom>
          <a:solidFill>
            <a:srgbClr val="F79546"/>
          </a:solidFill>
        </p:spPr>
        <p:txBody>
          <a:bodyPr wrap="square" lIns="0" tIns="0" rIns="0" bIns="0" rtlCol="0"/>
          <a:lstStyle/>
          <a:p>
            <a:endParaRPr/>
          </a:p>
        </p:txBody>
      </p:sp>
      <p:sp>
        <p:nvSpPr>
          <p:cNvPr id="11" name="object 11"/>
          <p:cNvSpPr txBox="1"/>
          <p:nvPr/>
        </p:nvSpPr>
        <p:spPr>
          <a:xfrm>
            <a:off x="5597398" y="4550791"/>
            <a:ext cx="4471035" cy="1510665"/>
          </a:xfrm>
          <a:prstGeom prst="rect">
            <a:avLst/>
          </a:prstGeom>
        </p:spPr>
        <p:txBody>
          <a:bodyPr vert="horz" wrap="square" lIns="0" tIns="46355" rIns="0" bIns="0" rtlCol="0">
            <a:spAutoFit/>
          </a:bodyPr>
          <a:lstStyle/>
          <a:p>
            <a:pPr marL="12700" marR="5080">
              <a:lnSpc>
                <a:spcPct val="91600"/>
              </a:lnSpc>
              <a:spcBef>
                <a:spcPts val="365"/>
              </a:spcBef>
            </a:pPr>
            <a:r>
              <a:rPr sz="2600" dirty="0">
                <a:solidFill>
                  <a:srgbClr val="FFFFFF"/>
                </a:solidFill>
                <a:latin typeface="Calibri"/>
                <a:cs typeface="Calibri"/>
              </a:rPr>
              <a:t>The</a:t>
            </a:r>
            <a:r>
              <a:rPr sz="2600" spc="-60" dirty="0">
                <a:solidFill>
                  <a:srgbClr val="FFFFFF"/>
                </a:solidFill>
                <a:latin typeface="Calibri"/>
                <a:cs typeface="Calibri"/>
              </a:rPr>
              <a:t> </a:t>
            </a:r>
            <a:r>
              <a:rPr sz="2600" dirty="0">
                <a:solidFill>
                  <a:srgbClr val="FFFFFF"/>
                </a:solidFill>
                <a:latin typeface="Calibri"/>
                <a:cs typeface="Calibri"/>
              </a:rPr>
              <a:t>world</a:t>
            </a:r>
            <a:r>
              <a:rPr sz="2600" spc="-60" dirty="0">
                <a:solidFill>
                  <a:srgbClr val="FFFFFF"/>
                </a:solidFill>
                <a:latin typeface="Calibri"/>
                <a:cs typeface="Calibri"/>
              </a:rPr>
              <a:t> </a:t>
            </a:r>
            <a:r>
              <a:rPr sz="2600" dirty="0">
                <a:solidFill>
                  <a:srgbClr val="FFFFFF"/>
                </a:solidFill>
                <a:latin typeface="Calibri"/>
                <a:cs typeface="Calibri"/>
              </a:rPr>
              <a:t>wide</a:t>
            </a:r>
            <a:r>
              <a:rPr sz="2600" spc="-45" dirty="0">
                <a:solidFill>
                  <a:srgbClr val="FFFFFF"/>
                </a:solidFill>
                <a:latin typeface="Calibri"/>
                <a:cs typeface="Calibri"/>
              </a:rPr>
              <a:t> </a:t>
            </a:r>
            <a:r>
              <a:rPr sz="2600" dirty="0">
                <a:solidFill>
                  <a:srgbClr val="FFFFFF"/>
                </a:solidFill>
                <a:latin typeface="Calibri"/>
                <a:cs typeface="Calibri"/>
              </a:rPr>
              <a:t>web</a:t>
            </a:r>
            <a:r>
              <a:rPr sz="2600" spc="-65" dirty="0">
                <a:solidFill>
                  <a:srgbClr val="FFFFFF"/>
                </a:solidFill>
                <a:latin typeface="Calibri"/>
                <a:cs typeface="Calibri"/>
              </a:rPr>
              <a:t> </a:t>
            </a:r>
            <a:r>
              <a:rPr sz="2600" dirty="0">
                <a:solidFill>
                  <a:srgbClr val="FFFFFF"/>
                </a:solidFill>
                <a:latin typeface="Calibri"/>
                <a:cs typeface="Calibri"/>
              </a:rPr>
              <a:t>(</a:t>
            </a:r>
            <a:r>
              <a:rPr sz="2600" b="1" dirty="0">
                <a:solidFill>
                  <a:srgbClr val="FFFFFF"/>
                </a:solidFill>
                <a:latin typeface="Calibri"/>
                <a:cs typeface="Calibri"/>
              </a:rPr>
              <a:t>WWW</a:t>
            </a:r>
            <a:r>
              <a:rPr sz="2600" dirty="0">
                <a:solidFill>
                  <a:srgbClr val="FFFFFF"/>
                </a:solidFill>
                <a:latin typeface="Calibri"/>
                <a:cs typeface="Calibri"/>
              </a:rPr>
              <a:t>)</a:t>
            </a:r>
            <a:r>
              <a:rPr sz="2600" spc="-70" dirty="0">
                <a:solidFill>
                  <a:srgbClr val="FFFFFF"/>
                </a:solidFill>
                <a:latin typeface="Calibri"/>
                <a:cs typeface="Calibri"/>
              </a:rPr>
              <a:t> </a:t>
            </a:r>
            <a:r>
              <a:rPr sz="2600" spc="-25" dirty="0">
                <a:solidFill>
                  <a:srgbClr val="FFFFFF"/>
                </a:solidFill>
                <a:latin typeface="Calibri"/>
                <a:cs typeface="Calibri"/>
              </a:rPr>
              <a:t>is </a:t>
            </a:r>
            <a:r>
              <a:rPr sz="2600" dirty="0">
                <a:solidFill>
                  <a:srgbClr val="FFFFFF"/>
                </a:solidFill>
                <a:latin typeface="Calibri"/>
                <a:cs typeface="Calibri"/>
              </a:rPr>
              <a:t>accessible</a:t>
            </a:r>
            <a:r>
              <a:rPr sz="2600" spc="-65" dirty="0">
                <a:solidFill>
                  <a:srgbClr val="FFFFFF"/>
                </a:solidFill>
                <a:latin typeface="Calibri"/>
                <a:cs typeface="Calibri"/>
              </a:rPr>
              <a:t> </a:t>
            </a:r>
            <a:r>
              <a:rPr sz="2600" dirty="0">
                <a:solidFill>
                  <a:srgbClr val="FFFFFF"/>
                </a:solidFill>
                <a:latin typeface="Calibri"/>
                <a:cs typeface="Calibri"/>
              </a:rPr>
              <a:t>via</a:t>
            </a:r>
            <a:r>
              <a:rPr sz="2600" spc="-30" dirty="0">
                <a:solidFill>
                  <a:srgbClr val="FFFFFF"/>
                </a:solidFill>
                <a:latin typeface="Calibri"/>
                <a:cs typeface="Calibri"/>
              </a:rPr>
              <a:t> </a:t>
            </a:r>
            <a:r>
              <a:rPr sz="2600" dirty="0">
                <a:solidFill>
                  <a:srgbClr val="FFFFFF"/>
                </a:solidFill>
                <a:latin typeface="Calibri"/>
                <a:cs typeface="Calibri"/>
              </a:rPr>
              <a:t>the</a:t>
            </a:r>
            <a:r>
              <a:rPr sz="2600" spc="-40" dirty="0">
                <a:solidFill>
                  <a:srgbClr val="FFFFFF"/>
                </a:solidFill>
                <a:latin typeface="Calibri"/>
                <a:cs typeface="Calibri"/>
              </a:rPr>
              <a:t> </a:t>
            </a:r>
            <a:r>
              <a:rPr sz="2600" dirty="0">
                <a:solidFill>
                  <a:srgbClr val="FFFFFF"/>
                </a:solidFill>
                <a:latin typeface="Calibri"/>
                <a:cs typeface="Calibri"/>
              </a:rPr>
              <a:t>Internet,</a:t>
            </a:r>
            <a:r>
              <a:rPr sz="2600" spc="-60" dirty="0">
                <a:solidFill>
                  <a:srgbClr val="FFFFFF"/>
                </a:solidFill>
                <a:latin typeface="Calibri"/>
                <a:cs typeface="Calibri"/>
              </a:rPr>
              <a:t> </a:t>
            </a:r>
            <a:r>
              <a:rPr sz="2600" dirty="0">
                <a:solidFill>
                  <a:srgbClr val="FFFFFF"/>
                </a:solidFill>
                <a:latin typeface="Calibri"/>
                <a:cs typeface="Calibri"/>
              </a:rPr>
              <a:t>as</a:t>
            </a:r>
            <a:r>
              <a:rPr sz="2600" spc="-30" dirty="0">
                <a:solidFill>
                  <a:srgbClr val="FFFFFF"/>
                </a:solidFill>
                <a:latin typeface="Calibri"/>
                <a:cs typeface="Calibri"/>
              </a:rPr>
              <a:t> </a:t>
            </a:r>
            <a:r>
              <a:rPr sz="2600" spc="-25" dirty="0">
                <a:solidFill>
                  <a:srgbClr val="FFFFFF"/>
                </a:solidFill>
                <a:latin typeface="Calibri"/>
                <a:cs typeface="Calibri"/>
              </a:rPr>
              <a:t>are </a:t>
            </a:r>
            <a:r>
              <a:rPr sz="2600" dirty="0">
                <a:solidFill>
                  <a:srgbClr val="FFFFFF"/>
                </a:solidFill>
                <a:latin typeface="Calibri"/>
                <a:cs typeface="Calibri"/>
              </a:rPr>
              <a:t>many</a:t>
            </a:r>
            <a:r>
              <a:rPr sz="2600" spc="-30" dirty="0">
                <a:solidFill>
                  <a:srgbClr val="FFFFFF"/>
                </a:solidFill>
                <a:latin typeface="Calibri"/>
                <a:cs typeface="Calibri"/>
              </a:rPr>
              <a:t> </a:t>
            </a:r>
            <a:r>
              <a:rPr sz="2600" dirty="0">
                <a:solidFill>
                  <a:srgbClr val="FFFFFF"/>
                </a:solidFill>
                <a:latin typeface="Calibri"/>
                <a:cs typeface="Calibri"/>
              </a:rPr>
              <a:t>other</a:t>
            </a:r>
            <a:r>
              <a:rPr sz="2600" spc="-30" dirty="0">
                <a:solidFill>
                  <a:srgbClr val="FFFFFF"/>
                </a:solidFill>
                <a:latin typeface="Calibri"/>
                <a:cs typeface="Calibri"/>
              </a:rPr>
              <a:t> </a:t>
            </a:r>
            <a:r>
              <a:rPr sz="2600" dirty="0">
                <a:solidFill>
                  <a:srgbClr val="FFFFFF"/>
                </a:solidFill>
                <a:latin typeface="Calibri"/>
                <a:cs typeface="Calibri"/>
              </a:rPr>
              <a:t>services</a:t>
            </a:r>
            <a:r>
              <a:rPr sz="2600" spc="-55" dirty="0">
                <a:solidFill>
                  <a:srgbClr val="FFFFFF"/>
                </a:solidFill>
                <a:latin typeface="Calibri"/>
                <a:cs typeface="Calibri"/>
              </a:rPr>
              <a:t> </a:t>
            </a:r>
            <a:r>
              <a:rPr sz="2600" spc="-10" dirty="0">
                <a:solidFill>
                  <a:srgbClr val="FFFFFF"/>
                </a:solidFill>
                <a:latin typeface="Calibri"/>
                <a:cs typeface="Calibri"/>
              </a:rPr>
              <a:t>including </a:t>
            </a:r>
            <a:r>
              <a:rPr sz="2600" dirty="0">
                <a:solidFill>
                  <a:srgbClr val="FFFFFF"/>
                </a:solidFill>
                <a:latin typeface="Calibri"/>
                <a:cs typeface="Calibri"/>
              </a:rPr>
              <a:t>email,</a:t>
            </a:r>
            <a:r>
              <a:rPr sz="2600" spc="-30" dirty="0">
                <a:solidFill>
                  <a:srgbClr val="FFFFFF"/>
                </a:solidFill>
                <a:latin typeface="Calibri"/>
                <a:cs typeface="Calibri"/>
              </a:rPr>
              <a:t> </a:t>
            </a:r>
            <a:r>
              <a:rPr sz="2600" dirty="0">
                <a:solidFill>
                  <a:srgbClr val="FFFFFF"/>
                </a:solidFill>
                <a:latin typeface="Calibri"/>
                <a:cs typeface="Calibri"/>
              </a:rPr>
              <a:t>file</a:t>
            </a:r>
            <a:r>
              <a:rPr sz="2600" spc="-20" dirty="0">
                <a:solidFill>
                  <a:srgbClr val="FFFFFF"/>
                </a:solidFill>
                <a:latin typeface="Calibri"/>
                <a:cs typeface="Calibri"/>
              </a:rPr>
              <a:t> </a:t>
            </a:r>
            <a:r>
              <a:rPr sz="2600" dirty="0">
                <a:solidFill>
                  <a:srgbClr val="FFFFFF"/>
                </a:solidFill>
                <a:latin typeface="Calibri"/>
                <a:cs typeface="Calibri"/>
              </a:rPr>
              <a:t>sharing,</a:t>
            </a:r>
            <a:r>
              <a:rPr sz="2600" spc="-20" dirty="0">
                <a:solidFill>
                  <a:srgbClr val="FFFFFF"/>
                </a:solidFill>
                <a:latin typeface="Calibri"/>
                <a:cs typeface="Calibri"/>
              </a:rPr>
              <a:t> etc.</a:t>
            </a:r>
            <a:endParaRPr sz="2600">
              <a:latin typeface="Calibri"/>
              <a:cs typeface="Calibri"/>
            </a:endParaRPr>
          </a:p>
        </p:txBody>
      </p:sp>
      <p:sp>
        <p:nvSpPr>
          <p:cNvPr id="12" name="object 12"/>
          <p:cNvSpPr txBox="1">
            <a:spLocks noGrp="1"/>
          </p:cNvSpPr>
          <p:nvPr>
            <p:ph type="title"/>
          </p:nvPr>
        </p:nvSpPr>
        <p:spPr>
          <a:xfrm>
            <a:off x="2517444" y="2694254"/>
            <a:ext cx="1868170" cy="697230"/>
          </a:xfrm>
          <a:prstGeom prst="rect">
            <a:avLst/>
          </a:prstGeom>
        </p:spPr>
        <p:txBody>
          <a:bodyPr vert="horz" wrap="square" lIns="0" tIns="13335" rIns="0" bIns="0" rtlCol="0" anchor="ctr">
            <a:spAutoFit/>
          </a:bodyPr>
          <a:lstStyle/>
          <a:p>
            <a:pPr marL="12700">
              <a:lnSpc>
                <a:spcPct val="100000"/>
              </a:lnSpc>
              <a:spcBef>
                <a:spcPts val="105"/>
              </a:spcBef>
            </a:pPr>
            <a:r>
              <a:rPr spc="-10" dirty="0">
                <a:solidFill>
                  <a:srgbClr val="FFFFFF"/>
                </a:solidFill>
              </a:rPr>
              <a:t>Internet</a:t>
            </a:r>
          </a:p>
        </p:txBody>
      </p:sp>
      <p:sp>
        <p:nvSpPr>
          <p:cNvPr id="14" name="object 1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3</a:t>
            </a:fld>
            <a:endParaRPr spc="-25" dirty="0"/>
          </a:p>
        </p:txBody>
      </p:sp>
      <p:sp>
        <p:nvSpPr>
          <p:cNvPr id="13" name="object 13"/>
          <p:cNvSpPr txBox="1"/>
          <p:nvPr/>
        </p:nvSpPr>
        <p:spPr>
          <a:xfrm>
            <a:off x="2496108" y="3365373"/>
            <a:ext cx="1911350" cy="696595"/>
          </a:xfrm>
          <a:prstGeom prst="rect">
            <a:avLst/>
          </a:prstGeom>
        </p:spPr>
        <p:txBody>
          <a:bodyPr vert="horz" wrap="square" lIns="0" tIns="13335" rIns="0" bIns="0" rtlCol="0">
            <a:spAutoFit/>
          </a:bodyPr>
          <a:lstStyle/>
          <a:p>
            <a:pPr marL="12700">
              <a:spcBef>
                <a:spcPts val="105"/>
              </a:spcBef>
            </a:pPr>
            <a:r>
              <a:rPr sz="4400" spc="-55" dirty="0">
                <a:solidFill>
                  <a:srgbClr val="FFFFFF"/>
                </a:solidFill>
                <a:latin typeface="Calibri"/>
                <a:cs typeface="Calibri"/>
              </a:rPr>
              <a:t>v.s.</a:t>
            </a:r>
            <a:r>
              <a:rPr sz="4400" spc="-185" dirty="0">
                <a:solidFill>
                  <a:srgbClr val="FFFFFF"/>
                </a:solidFill>
                <a:latin typeface="Calibri"/>
                <a:cs typeface="Calibri"/>
              </a:rPr>
              <a:t> </a:t>
            </a:r>
            <a:r>
              <a:rPr sz="4400" spc="-25" dirty="0">
                <a:solidFill>
                  <a:srgbClr val="FFFFFF"/>
                </a:solidFill>
                <a:latin typeface="Calibri"/>
                <a:cs typeface="Calibri"/>
              </a:rPr>
              <a:t>Web</a:t>
            </a:r>
            <a:endParaRPr sz="44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628642" y="2204467"/>
          <a:ext cx="5398134" cy="4164965"/>
        </p:xfrm>
        <a:graphic>
          <a:graphicData uri="http://schemas.openxmlformats.org/drawingml/2006/table">
            <a:tbl>
              <a:tblPr firstRow="1" bandRow="1">
                <a:tableStyleId>{2D5ABB26-0587-4C30-8999-92F81FD0307C}</a:tableStyleId>
              </a:tblPr>
              <a:tblGrid>
                <a:gridCol w="1814195">
                  <a:extLst>
                    <a:ext uri="{9D8B030D-6E8A-4147-A177-3AD203B41FA5}">
                      <a16:colId xmlns:a16="http://schemas.microsoft.com/office/drawing/2014/main" val="20000"/>
                    </a:ext>
                  </a:extLst>
                </a:gridCol>
                <a:gridCol w="1785620">
                  <a:extLst>
                    <a:ext uri="{9D8B030D-6E8A-4147-A177-3AD203B41FA5}">
                      <a16:colId xmlns:a16="http://schemas.microsoft.com/office/drawing/2014/main" val="20001"/>
                    </a:ext>
                  </a:extLst>
                </a:gridCol>
                <a:gridCol w="1798319">
                  <a:extLst>
                    <a:ext uri="{9D8B030D-6E8A-4147-A177-3AD203B41FA5}">
                      <a16:colId xmlns:a16="http://schemas.microsoft.com/office/drawing/2014/main" val="20002"/>
                    </a:ext>
                  </a:extLst>
                </a:gridCol>
              </a:tblGrid>
              <a:tr h="2153920">
                <a:tc gridSpan="3">
                  <a:txBody>
                    <a:bodyPr/>
                    <a:lstStyle/>
                    <a:p>
                      <a:pPr marL="550545" marR="540385" algn="ctr">
                        <a:lnSpc>
                          <a:spcPct val="91500"/>
                        </a:lnSpc>
                        <a:spcBef>
                          <a:spcPts val="2745"/>
                        </a:spcBef>
                      </a:pPr>
                      <a:r>
                        <a:rPr sz="2700" dirty="0">
                          <a:solidFill>
                            <a:srgbClr val="FFFFFF"/>
                          </a:solidFill>
                          <a:latin typeface="Calibri"/>
                          <a:cs typeface="Calibri"/>
                        </a:rPr>
                        <a:t>A</a:t>
                      </a:r>
                      <a:r>
                        <a:rPr sz="2700" spc="-60" dirty="0">
                          <a:solidFill>
                            <a:srgbClr val="FFFFFF"/>
                          </a:solidFill>
                          <a:latin typeface="Calibri"/>
                          <a:cs typeface="Calibri"/>
                        </a:rPr>
                        <a:t> </a:t>
                      </a:r>
                      <a:r>
                        <a:rPr sz="2700" b="1" spc="-10" dirty="0">
                          <a:solidFill>
                            <a:srgbClr val="FFFFFF"/>
                          </a:solidFill>
                          <a:latin typeface="Calibri"/>
                          <a:cs typeface="Calibri"/>
                        </a:rPr>
                        <a:t>communication</a:t>
                      </a:r>
                      <a:r>
                        <a:rPr sz="2700" b="1" spc="-50" dirty="0">
                          <a:solidFill>
                            <a:srgbClr val="FFFFFF"/>
                          </a:solidFill>
                          <a:latin typeface="Calibri"/>
                          <a:cs typeface="Calibri"/>
                        </a:rPr>
                        <a:t> </a:t>
                      </a:r>
                      <a:r>
                        <a:rPr sz="2700" b="1" dirty="0">
                          <a:solidFill>
                            <a:srgbClr val="FFFFFF"/>
                          </a:solidFill>
                          <a:latin typeface="Calibri"/>
                          <a:cs typeface="Calibri"/>
                        </a:rPr>
                        <a:t>protocol</a:t>
                      </a:r>
                      <a:r>
                        <a:rPr sz="2700" b="1" spc="-65" dirty="0">
                          <a:solidFill>
                            <a:srgbClr val="FFFFFF"/>
                          </a:solidFill>
                          <a:latin typeface="Calibri"/>
                          <a:cs typeface="Calibri"/>
                        </a:rPr>
                        <a:t> </a:t>
                      </a:r>
                      <a:r>
                        <a:rPr sz="2700" dirty="0">
                          <a:solidFill>
                            <a:srgbClr val="FFFFFF"/>
                          </a:solidFill>
                          <a:latin typeface="Calibri"/>
                          <a:cs typeface="Calibri"/>
                        </a:rPr>
                        <a:t>is</a:t>
                      </a:r>
                      <a:r>
                        <a:rPr sz="2700" spc="-55" dirty="0">
                          <a:solidFill>
                            <a:srgbClr val="FFFFFF"/>
                          </a:solidFill>
                          <a:latin typeface="Calibri"/>
                          <a:cs typeface="Calibri"/>
                        </a:rPr>
                        <a:t> </a:t>
                      </a:r>
                      <a:r>
                        <a:rPr sz="2700" spc="-50" dirty="0">
                          <a:solidFill>
                            <a:srgbClr val="FFFFFF"/>
                          </a:solidFill>
                          <a:latin typeface="Calibri"/>
                          <a:cs typeface="Calibri"/>
                        </a:rPr>
                        <a:t>a </a:t>
                      </a:r>
                      <a:r>
                        <a:rPr sz="2700" dirty="0">
                          <a:solidFill>
                            <a:srgbClr val="FFFFFF"/>
                          </a:solidFill>
                          <a:latin typeface="Calibri"/>
                          <a:cs typeface="Calibri"/>
                        </a:rPr>
                        <a:t>specification</a:t>
                      </a:r>
                      <a:r>
                        <a:rPr sz="2700" spc="-65" dirty="0">
                          <a:solidFill>
                            <a:srgbClr val="FFFFFF"/>
                          </a:solidFill>
                          <a:latin typeface="Calibri"/>
                          <a:cs typeface="Calibri"/>
                        </a:rPr>
                        <a:t> </a:t>
                      </a:r>
                      <a:r>
                        <a:rPr sz="2700" dirty="0">
                          <a:solidFill>
                            <a:srgbClr val="FFFFFF"/>
                          </a:solidFill>
                          <a:latin typeface="Calibri"/>
                          <a:cs typeface="Calibri"/>
                        </a:rPr>
                        <a:t>of</a:t>
                      </a:r>
                      <a:r>
                        <a:rPr sz="2700" spc="-60" dirty="0">
                          <a:solidFill>
                            <a:srgbClr val="FFFFFF"/>
                          </a:solidFill>
                          <a:latin typeface="Calibri"/>
                          <a:cs typeface="Calibri"/>
                        </a:rPr>
                        <a:t> </a:t>
                      </a:r>
                      <a:r>
                        <a:rPr sz="2700" spc="-25" dirty="0">
                          <a:solidFill>
                            <a:srgbClr val="FFFFFF"/>
                          </a:solidFill>
                          <a:latin typeface="Calibri"/>
                          <a:cs typeface="Calibri"/>
                        </a:rPr>
                        <a:t>how </a:t>
                      </a:r>
                      <a:r>
                        <a:rPr sz="2700" dirty="0">
                          <a:solidFill>
                            <a:srgbClr val="FFFFFF"/>
                          </a:solidFill>
                          <a:latin typeface="Calibri"/>
                          <a:cs typeface="Calibri"/>
                        </a:rPr>
                        <a:t>communication</a:t>
                      </a:r>
                      <a:r>
                        <a:rPr sz="2700" spc="-105" dirty="0">
                          <a:solidFill>
                            <a:srgbClr val="FFFFFF"/>
                          </a:solidFill>
                          <a:latin typeface="Calibri"/>
                          <a:cs typeface="Calibri"/>
                        </a:rPr>
                        <a:t> </a:t>
                      </a:r>
                      <a:r>
                        <a:rPr sz="2700" dirty="0">
                          <a:solidFill>
                            <a:srgbClr val="FFFFFF"/>
                          </a:solidFill>
                          <a:latin typeface="Calibri"/>
                          <a:cs typeface="Calibri"/>
                        </a:rPr>
                        <a:t>between</a:t>
                      </a:r>
                      <a:r>
                        <a:rPr sz="2700" spc="-105" dirty="0">
                          <a:solidFill>
                            <a:srgbClr val="FFFFFF"/>
                          </a:solidFill>
                          <a:latin typeface="Calibri"/>
                          <a:cs typeface="Calibri"/>
                        </a:rPr>
                        <a:t> </a:t>
                      </a:r>
                      <a:r>
                        <a:rPr sz="2700" spc="-25" dirty="0">
                          <a:solidFill>
                            <a:srgbClr val="FFFFFF"/>
                          </a:solidFill>
                          <a:latin typeface="Calibri"/>
                          <a:cs typeface="Calibri"/>
                        </a:rPr>
                        <a:t>two </a:t>
                      </a:r>
                      <a:r>
                        <a:rPr sz="2700" dirty="0">
                          <a:solidFill>
                            <a:srgbClr val="FFFFFF"/>
                          </a:solidFill>
                          <a:latin typeface="Calibri"/>
                          <a:cs typeface="Calibri"/>
                        </a:rPr>
                        <a:t>computers</a:t>
                      </a:r>
                      <a:r>
                        <a:rPr sz="2700" spc="-50" dirty="0">
                          <a:solidFill>
                            <a:srgbClr val="FFFFFF"/>
                          </a:solidFill>
                          <a:latin typeface="Calibri"/>
                          <a:cs typeface="Calibri"/>
                        </a:rPr>
                        <a:t> </a:t>
                      </a:r>
                      <a:r>
                        <a:rPr sz="2700" dirty="0">
                          <a:solidFill>
                            <a:srgbClr val="FFFFFF"/>
                          </a:solidFill>
                          <a:latin typeface="Calibri"/>
                          <a:cs typeface="Calibri"/>
                        </a:rPr>
                        <a:t>will</a:t>
                      </a:r>
                      <a:r>
                        <a:rPr sz="2700" spc="-80" dirty="0">
                          <a:solidFill>
                            <a:srgbClr val="FFFFFF"/>
                          </a:solidFill>
                          <a:latin typeface="Calibri"/>
                          <a:cs typeface="Calibri"/>
                        </a:rPr>
                        <a:t> </a:t>
                      </a:r>
                      <a:r>
                        <a:rPr sz="2700" dirty="0">
                          <a:solidFill>
                            <a:srgbClr val="FFFFFF"/>
                          </a:solidFill>
                          <a:latin typeface="Calibri"/>
                          <a:cs typeface="Calibri"/>
                        </a:rPr>
                        <a:t>be</a:t>
                      </a:r>
                      <a:r>
                        <a:rPr sz="2700" spc="-55" dirty="0">
                          <a:solidFill>
                            <a:srgbClr val="FFFFFF"/>
                          </a:solidFill>
                          <a:latin typeface="Calibri"/>
                          <a:cs typeface="Calibri"/>
                        </a:rPr>
                        <a:t> </a:t>
                      </a:r>
                      <a:r>
                        <a:rPr sz="2700" dirty="0">
                          <a:solidFill>
                            <a:srgbClr val="FFFFFF"/>
                          </a:solidFill>
                          <a:latin typeface="Calibri"/>
                          <a:cs typeface="Calibri"/>
                        </a:rPr>
                        <a:t>carried</a:t>
                      </a:r>
                      <a:r>
                        <a:rPr sz="2700" spc="-55" dirty="0">
                          <a:solidFill>
                            <a:srgbClr val="FFFFFF"/>
                          </a:solidFill>
                          <a:latin typeface="Calibri"/>
                          <a:cs typeface="Calibri"/>
                        </a:rPr>
                        <a:t> </a:t>
                      </a:r>
                      <a:r>
                        <a:rPr sz="2700" spc="-25" dirty="0">
                          <a:solidFill>
                            <a:srgbClr val="FFFFFF"/>
                          </a:solidFill>
                          <a:latin typeface="Calibri"/>
                          <a:cs typeface="Calibri"/>
                        </a:rPr>
                        <a:t>out</a:t>
                      </a:r>
                      <a:endParaRPr sz="2700">
                        <a:latin typeface="Calibri"/>
                        <a:cs typeface="Calibri"/>
                      </a:endParaRPr>
                    </a:p>
                  </a:txBody>
                  <a:tcPr marL="0" marR="0" marT="348615" marB="0">
                    <a:solidFill>
                      <a:srgbClr val="C0504D"/>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08610">
                <a:tc>
                  <a:txBody>
                    <a:bodyPr/>
                    <a:lstStyle/>
                    <a:p>
                      <a:pPr>
                        <a:lnSpc>
                          <a:spcPct val="100000"/>
                        </a:lnSpc>
                      </a:pPr>
                      <a:endParaRPr sz="1900">
                        <a:latin typeface="Times New Roman"/>
                        <a:cs typeface="Times New Roman"/>
                      </a:endParaRPr>
                    </a:p>
                  </a:txBody>
                  <a:tcPr marL="0" marR="0" marT="0" marB="0">
                    <a:solidFill>
                      <a:srgbClr val="E8D0D0">
                        <a:alpha val="90194"/>
                      </a:srgbClr>
                    </a:solidFill>
                  </a:tcPr>
                </a:tc>
                <a:tc>
                  <a:txBody>
                    <a:bodyPr/>
                    <a:lstStyle/>
                    <a:p>
                      <a:pPr marR="6350" algn="ctr">
                        <a:lnSpc>
                          <a:spcPct val="100000"/>
                        </a:lnSpc>
                        <a:spcBef>
                          <a:spcPts val="350"/>
                        </a:spcBef>
                      </a:pPr>
                      <a:r>
                        <a:rPr sz="1600" b="1" dirty="0">
                          <a:latin typeface="Calibri"/>
                          <a:cs typeface="Calibri"/>
                        </a:rPr>
                        <a:t>TCP</a:t>
                      </a:r>
                      <a:r>
                        <a:rPr sz="1600" b="1" spc="-50" dirty="0">
                          <a:latin typeface="Calibri"/>
                          <a:cs typeface="Calibri"/>
                        </a:rPr>
                        <a:t> </a:t>
                      </a:r>
                      <a:r>
                        <a:rPr sz="1600" spc="-10" dirty="0">
                          <a:latin typeface="Calibri"/>
                          <a:cs typeface="Calibri"/>
                        </a:rPr>
                        <a:t>(Transmission</a:t>
                      </a:r>
                      <a:endParaRPr sz="1600">
                        <a:latin typeface="Calibri"/>
                        <a:cs typeface="Calibri"/>
                      </a:endParaRPr>
                    </a:p>
                  </a:txBody>
                  <a:tcPr marL="0" marR="0" marT="44450" marB="0">
                    <a:lnR w="28575">
                      <a:solidFill>
                        <a:srgbClr val="D7D2DF"/>
                      </a:solidFill>
                      <a:prstDash val="solid"/>
                    </a:lnR>
                    <a:solidFill>
                      <a:srgbClr val="DEE7D1">
                        <a:alpha val="90194"/>
                      </a:srgbClr>
                    </a:solidFill>
                  </a:tcPr>
                </a:tc>
                <a:tc>
                  <a:txBody>
                    <a:bodyPr/>
                    <a:lstStyle/>
                    <a:p>
                      <a:pPr algn="ctr">
                        <a:lnSpc>
                          <a:spcPct val="100000"/>
                        </a:lnSpc>
                        <a:spcBef>
                          <a:spcPts val="350"/>
                        </a:spcBef>
                      </a:pPr>
                      <a:r>
                        <a:rPr sz="1600" dirty="0">
                          <a:latin typeface="Calibri"/>
                          <a:cs typeface="Calibri"/>
                        </a:rPr>
                        <a:t>Other</a:t>
                      </a:r>
                      <a:r>
                        <a:rPr sz="1600" spc="-40" dirty="0">
                          <a:latin typeface="Calibri"/>
                          <a:cs typeface="Calibri"/>
                        </a:rPr>
                        <a:t> </a:t>
                      </a:r>
                      <a:r>
                        <a:rPr sz="1600" spc="-10" dirty="0">
                          <a:latin typeface="Calibri"/>
                          <a:cs typeface="Calibri"/>
                        </a:rPr>
                        <a:t>application</a:t>
                      </a:r>
                      <a:endParaRPr sz="1600">
                        <a:latin typeface="Calibri"/>
                        <a:cs typeface="Calibri"/>
                      </a:endParaRPr>
                    </a:p>
                  </a:txBody>
                  <a:tcPr marL="0" marR="0" marT="44450" marB="0">
                    <a:lnL w="28575">
                      <a:solidFill>
                        <a:srgbClr val="D7D2DF"/>
                      </a:solidFill>
                      <a:prstDash val="solid"/>
                    </a:lnL>
                    <a:lnR w="28575">
                      <a:solidFill>
                        <a:srgbClr val="D7D2DF"/>
                      </a:solidFill>
                      <a:prstDash val="solid"/>
                    </a:lnR>
                    <a:solidFill>
                      <a:srgbClr val="D7D2DF">
                        <a:alpha val="90194"/>
                      </a:srgbClr>
                    </a:solidFill>
                  </a:tcPr>
                </a:tc>
                <a:extLst>
                  <a:ext uri="{0D108BD9-81ED-4DB2-BD59-A6C34878D82A}">
                    <a16:rowId xmlns:a16="http://schemas.microsoft.com/office/drawing/2014/main" val="10001"/>
                  </a:ext>
                </a:extLst>
              </a:tr>
              <a:tr h="222885">
                <a:tc>
                  <a:txBody>
                    <a:bodyPr/>
                    <a:lstStyle/>
                    <a:p>
                      <a:pPr marR="5715" algn="ctr">
                        <a:lnSpc>
                          <a:spcPts val="1600"/>
                        </a:lnSpc>
                      </a:pPr>
                      <a:r>
                        <a:rPr sz="1600" b="1" dirty="0">
                          <a:latin typeface="Calibri"/>
                          <a:cs typeface="Calibri"/>
                        </a:rPr>
                        <a:t>IP</a:t>
                      </a:r>
                      <a:r>
                        <a:rPr sz="1600" b="1" spc="-20" dirty="0">
                          <a:latin typeface="Calibri"/>
                          <a:cs typeface="Calibri"/>
                        </a:rPr>
                        <a:t> </a:t>
                      </a:r>
                      <a:r>
                        <a:rPr sz="1600" spc="-10" dirty="0">
                          <a:latin typeface="Calibri"/>
                          <a:cs typeface="Calibri"/>
                        </a:rPr>
                        <a:t>(Internet</a:t>
                      </a:r>
                      <a:endParaRPr sz="1600">
                        <a:latin typeface="Calibri"/>
                        <a:cs typeface="Calibri"/>
                      </a:endParaRPr>
                    </a:p>
                  </a:txBody>
                  <a:tcPr marL="0" marR="0" marT="0" marB="0">
                    <a:solidFill>
                      <a:srgbClr val="E8D0D0">
                        <a:alpha val="90194"/>
                      </a:srgbClr>
                    </a:solidFill>
                  </a:tcPr>
                </a:tc>
                <a:tc>
                  <a:txBody>
                    <a:bodyPr/>
                    <a:lstStyle/>
                    <a:p>
                      <a:pPr marR="5715" algn="ctr">
                        <a:lnSpc>
                          <a:spcPts val="1595"/>
                        </a:lnSpc>
                      </a:pPr>
                      <a:r>
                        <a:rPr sz="1600" spc="-10" dirty="0">
                          <a:latin typeface="Calibri"/>
                          <a:cs typeface="Calibri"/>
                        </a:rPr>
                        <a:t>Control</a:t>
                      </a:r>
                      <a:r>
                        <a:rPr sz="1600" spc="-45" dirty="0">
                          <a:latin typeface="Calibri"/>
                          <a:cs typeface="Calibri"/>
                        </a:rPr>
                        <a:t> </a:t>
                      </a:r>
                      <a:r>
                        <a:rPr sz="1600" spc="-10" dirty="0">
                          <a:latin typeface="Calibri"/>
                          <a:cs typeface="Calibri"/>
                        </a:rPr>
                        <a:t>Protocol)</a:t>
                      </a:r>
                      <a:endParaRPr sz="1600">
                        <a:latin typeface="Calibri"/>
                        <a:cs typeface="Calibri"/>
                      </a:endParaRPr>
                    </a:p>
                  </a:txBody>
                  <a:tcPr marL="0" marR="0" marT="0" marB="0">
                    <a:lnR w="28575">
                      <a:solidFill>
                        <a:srgbClr val="D7D2DF"/>
                      </a:solidFill>
                      <a:prstDash val="solid"/>
                    </a:lnR>
                    <a:solidFill>
                      <a:srgbClr val="DEE7D1">
                        <a:alpha val="90194"/>
                      </a:srgbClr>
                    </a:solidFill>
                  </a:tcPr>
                </a:tc>
                <a:tc>
                  <a:txBody>
                    <a:bodyPr/>
                    <a:lstStyle/>
                    <a:p>
                      <a:pPr algn="ctr">
                        <a:lnSpc>
                          <a:spcPts val="1595"/>
                        </a:lnSpc>
                      </a:pPr>
                      <a:r>
                        <a:rPr sz="1600" spc="-10" dirty="0">
                          <a:latin typeface="Calibri"/>
                          <a:cs typeface="Calibri"/>
                        </a:rPr>
                        <a:t>protocols:</a:t>
                      </a:r>
                      <a:r>
                        <a:rPr sz="1600" spc="-20" dirty="0">
                          <a:latin typeface="Calibri"/>
                          <a:cs typeface="Calibri"/>
                        </a:rPr>
                        <a:t> </a:t>
                      </a:r>
                      <a:r>
                        <a:rPr sz="1600" b="1" spc="-25" dirty="0">
                          <a:latin typeface="Calibri"/>
                          <a:cs typeface="Calibri"/>
                        </a:rPr>
                        <a:t>DNS</a:t>
                      </a:r>
                      <a:endParaRPr sz="1600">
                        <a:latin typeface="Calibri"/>
                        <a:cs typeface="Calibri"/>
                      </a:endParaRPr>
                    </a:p>
                  </a:txBody>
                  <a:tcPr marL="0" marR="0" marT="0" marB="0">
                    <a:lnL w="28575">
                      <a:solidFill>
                        <a:srgbClr val="D7D2DF"/>
                      </a:solidFill>
                      <a:prstDash val="solid"/>
                    </a:lnL>
                    <a:lnR w="28575">
                      <a:solidFill>
                        <a:srgbClr val="D7D2DF"/>
                      </a:solidFill>
                      <a:prstDash val="solid"/>
                    </a:lnR>
                    <a:solidFill>
                      <a:srgbClr val="D7D2DF">
                        <a:alpha val="90194"/>
                      </a:srgbClr>
                    </a:solidFill>
                  </a:tcPr>
                </a:tc>
                <a:extLst>
                  <a:ext uri="{0D108BD9-81ED-4DB2-BD59-A6C34878D82A}">
                    <a16:rowId xmlns:a16="http://schemas.microsoft.com/office/drawing/2014/main" val="10002"/>
                  </a:ext>
                </a:extLst>
              </a:tr>
              <a:tr h="222885">
                <a:tc>
                  <a:txBody>
                    <a:bodyPr/>
                    <a:lstStyle/>
                    <a:p>
                      <a:pPr marR="3175" algn="ctr">
                        <a:lnSpc>
                          <a:spcPts val="1595"/>
                        </a:lnSpc>
                      </a:pPr>
                      <a:r>
                        <a:rPr sz="1600" spc="-10" dirty="0">
                          <a:latin typeface="Calibri"/>
                          <a:cs typeface="Calibri"/>
                        </a:rPr>
                        <a:t>Protocol): defines</a:t>
                      </a:r>
                      <a:endParaRPr sz="1600">
                        <a:latin typeface="Calibri"/>
                        <a:cs typeface="Calibri"/>
                      </a:endParaRPr>
                    </a:p>
                  </a:txBody>
                  <a:tcPr marL="0" marR="0" marT="0" marB="0">
                    <a:solidFill>
                      <a:srgbClr val="E8D0D0">
                        <a:alpha val="90194"/>
                      </a:srgbClr>
                    </a:solidFill>
                  </a:tcPr>
                </a:tc>
                <a:tc>
                  <a:txBody>
                    <a:bodyPr/>
                    <a:lstStyle/>
                    <a:p>
                      <a:pPr marR="3810" algn="ctr">
                        <a:lnSpc>
                          <a:spcPts val="1600"/>
                        </a:lnSpc>
                      </a:pPr>
                      <a:r>
                        <a:rPr sz="1600" dirty="0">
                          <a:latin typeface="Calibri"/>
                          <a:cs typeface="Calibri"/>
                        </a:rPr>
                        <a:t>and</a:t>
                      </a:r>
                      <a:r>
                        <a:rPr sz="1600" spc="-20" dirty="0">
                          <a:latin typeface="Calibri"/>
                          <a:cs typeface="Calibri"/>
                        </a:rPr>
                        <a:t> </a:t>
                      </a:r>
                      <a:r>
                        <a:rPr sz="1600" b="1" dirty="0">
                          <a:latin typeface="Calibri"/>
                          <a:cs typeface="Calibri"/>
                        </a:rPr>
                        <a:t>UDP</a:t>
                      </a:r>
                      <a:r>
                        <a:rPr sz="1600" b="1" spc="-15" dirty="0">
                          <a:latin typeface="Calibri"/>
                          <a:cs typeface="Calibri"/>
                        </a:rPr>
                        <a:t> </a:t>
                      </a:r>
                      <a:r>
                        <a:rPr sz="1600" spc="-20" dirty="0">
                          <a:latin typeface="Calibri"/>
                          <a:cs typeface="Calibri"/>
                        </a:rPr>
                        <a:t>(User</a:t>
                      </a:r>
                      <a:endParaRPr sz="1600">
                        <a:latin typeface="Calibri"/>
                        <a:cs typeface="Calibri"/>
                      </a:endParaRPr>
                    </a:p>
                  </a:txBody>
                  <a:tcPr marL="0" marR="0" marT="0" marB="0">
                    <a:lnR w="28575">
                      <a:solidFill>
                        <a:srgbClr val="D7D2DF"/>
                      </a:solidFill>
                      <a:prstDash val="solid"/>
                    </a:lnR>
                    <a:solidFill>
                      <a:srgbClr val="DEE7D1">
                        <a:alpha val="90194"/>
                      </a:srgbClr>
                    </a:solidFill>
                  </a:tcPr>
                </a:tc>
                <a:tc>
                  <a:txBody>
                    <a:bodyPr/>
                    <a:lstStyle/>
                    <a:p>
                      <a:pPr algn="ctr">
                        <a:lnSpc>
                          <a:spcPts val="1600"/>
                        </a:lnSpc>
                      </a:pPr>
                      <a:r>
                        <a:rPr sz="1600" dirty="0">
                          <a:latin typeface="Calibri"/>
                          <a:cs typeface="Calibri"/>
                        </a:rPr>
                        <a:t>(Domain</a:t>
                      </a:r>
                      <a:r>
                        <a:rPr sz="1600" spc="-35" dirty="0">
                          <a:latin typeface="Calibri"/>
                          <a:cs typeface="Calibri"/>
                        </a:rPr>
                        <a:t> </a:t>
                      </a:r>
                      <a:r>
                        <a:rPr sz="1600" spc="-20" dirty="0">
                          <a:latin typeface="Calibri"/>
                          <a:cs typeface="Calibri"/>
                        </a:rPr>
                        <a:t>Name</a:t>
                      </a:r>
                      <a:endParaRPr sz="1600">
                        <a:latin typeface="Calibri"/>
                        <a:cs typeface="Calibri"/>
                      </a:endParaRPr>
                    </a:p>
                  </a:txBody>
                  <a:tcPr marL="0" marR="0" marT="0" marB="0">
                    <a:lnL w="28575">
                      <a:solidFill>
                        <a:srgbClr val="D7D2DF"/>
                      </a:solidFill>
                      <a:prstDash val="solid"/>
                    </a:lnL>
                    <a:lnR w="28575">
                      <a:solidFill>
                        <a:srgbClr val="D7D2DF"/>
                      </a:solidFill>
                      <a:prstDash val="solid"/>
                    </a:lnR>
                    <a:solidFill>
                      <a:srgbClr val="D7D2DF">
                        <a:alpha val="90194"/>
                      </a:srgbClr>
                    </a:solidFill>
                  </a:tcPr>
                </a:tc>
                <a:extLst>
                  <a:ext uri="{0D108BD9-81ED-4DB2-BD59-A6C34878D82A}">
                    <a16:rowId xmlns:a16="http://schemas.microsoft.com/office/drawing/2014/main" val="10003"/>
                  </a:ext>
                </a:extLst>
              </a:tr>
              <a:tr h="222885">
                <a:tc>
                  <a:txBody>
                    <a:bodyPr/>
                    <a:lstStyle/>
                    <a:p>
                      <a:pPr marR="4445" algn="ctr">
                        <a:lnSpc>
                          <a:spcPts val="1600"/>
                        </a:lnSpc>
                      </a:pPr>
                      <a:r>
                        <a:rPr sz="1600" dirty="0">
                          <a:latin typeface="Calibri"/>
                          <a:cs typeface="Calibri"/>
                        </a:rPr>
                        <a:t>the</a:t>
                      </a:r>
                      <a:r>
                        <a:rPr sz="1600" spc="-60" dirty="0">
                          <a:latin typeface="Calibri"/>
                          <a:cs typeface="Calibri"/>
                        </a:rPr>
                        <a:t> </a:t>
                      </a:r>
                      <a:r>
                        <a:rPr sz="1600" dirty="0">
                          <a:latin typeface="Calibri"/>
                          <a:cs typeface="Calibri"/>
                        </a:rPr>
                        <a:t>packets</a:t>
                      </a:r>
                      <a:r>
                        <a:rPr sz="1600" spc="-55" dirty="0">
                          <a:latin typeface="Calibri"/>
                          <a:cs typeface="Calibri"/>
                        </a:rPr>
                        <a:t> </a:t>
                      </a:r>
                      <a:r>
                        <a:rPr sz="1600" spc="-20" dirty="0">
                          <a:latin typeface="Calibri"/>
                          <a:cs typeface="Calibri"/>
                        </a:rPr>
                        <a:t>that</a:t>
                      </a:r>
                      <a:endParaRPr sz="1600">
                        <a:latin typeface="Calibri"/>
                        <a:cs typeface="Calibri"/>
                      </a:endParaRPr>
                    </a:p>
                  </a:txBody>
                  <a:tcPr marL="0" marR="0" marT="0" marB="0">
                    <a:solidFill>
                      <a:srgbClr val="E8D0D0">
                        <a:alpha val="90194"/>
                      </a:srgbClr>
                    </a:solidFill>
                  </a:tcPr>
                </a:tc>
                <a:tc>
                  <a:txBody>
                    <a:bodyPr/>
                    <a:lstStyle/>
                    <a:p>
                      <a:pPr marR="6350" algn="ctr">
                        <a:lnSpc>
                          <a:spcPts val="1595"/>
                        </a:lnSpc>
                      </a:pPr>
                      <a:r>
                        <a:rPr sz="1600" spc="-10" dirty="0">
                          <a:latin typeface="Calibri"/>
                          <a:cs typeface="Calibri"/>
                        </a:rPr>
                        <a:t>Datagram</a:t>
                      </a:r>
                      <a:endParaRPr sz="1600">
                        <a:latin typeface="Calibri"/>
                        <a:cs typeface="Calibri"/>
                      </a:endParaRPr>
                    </a:p>
                  </a:txBody>
                  <a:tcPr marL="0" marR="0" marT="0" marB="0">
                    <a:lnR w="28575">
                      <a:solidFill>
                        <a:srgbClr val="D7D2DF"/>
                      </a:solidFill>
                      <a:prstDash val="solid"/>
                    </a:lnR>
                    <a:solidFill>
                      <a:srgbClr val="DEE7D1">
                        <a:alpha val="90194"/>
                      </a:srgbClr>
                    </a:solidFill>
                  </a:tcPr>
                </a:tc>
                <a:tc>
                  <a:txBody>
                    <a:bodyPr/>
                    <a:lstStyle/>
                    <a:p>
                      <a:pPr marL="635" algn="ctr">
                        <a:lnSpc>
                          <a:spcPts val="1595"/>
                        </a:lnSpc>
                      </a:pPr>
                      <a:r>
                        <a:rPr sz="1600" dirty="0">
                          <a:latin typeface="Calibri"/>
                          <a:cs typeface="Calibri"/>
                        </a:rPr>
                        <a:t>Service),</a:t>
                      </a:r>
                      <a:r>
                        <a:rPr sz="1600" spc="-40" dirty="0">
                          <a:latin typeface="Calibri"/>
                          <a:cs typeface="Calibri"/>
                        </a:rPr>
                        <a:t> </a:t>
                      </a:r>
                      <a:r>
                        <a:rPr sz="1600" b="1" spc="-20" dirty="0">
                          <a:latin typeface="Calibri"/>
                          <a:cs typeface="Calibri"/>
                        </a:rPr>
                        <a:t>SMTP</a:t>
                      </a:r>
                      <a:endParaRPr sz="1600">
                        <a:latin typeface="Calibri"/>
                        <a:cs typeface="Calibri"/>
                      </a:endParaRPr>
                    </a:p>
                  </a:txBody>
                  <a:tcPr marL="0" marR="0" marT="0" marB="0">
                    <a:lnL w="28575">
                      <a:solidFill>
                        <a:srgbClr val="D7D2DF"/>
                      </a:solidFill>
                      <a:prstDash val="solid"/>
                    </a:lnL>
                    <a:lnR w="28575">
                      <a:solidFill>
                        <a:srgbClr val="D7D2DF"/>
                      </a:solidFill>
                      <a:prstDash val="solid"/>
                    </a:lnR>
                    <a:solidFill>
                      <a:srgbClr val="D7D2DF">
                        <a:alpha val="90194"/>
                      </a:srgbClr>
                    </a:solidFill>
                  </a:tcPr>
                </a:tc>
                <a:extLst>
                  <a:ext uri="{0D108BD9-81ED-4DB2-BD59-A6C34878D82A}">
                    <a16:rowId xmlns:a16="http://schemas.microsoft.com/office/drawing/2014/main" val="10004"/>
                  </a:ext>
                </a:extLst>
              </a:tr>
              <a:tr h="223520">
                <a:tc>
                  <a:txBody>
                    <a:bodyPr/>
                    <a:lstStyle/>
                    <a:p>
                      <a:pPr marR="3810" algn="ctr">
                        <a:lnSpc>
                          <a:spcPts val="1595"/>
                        </a:lnSpc>
                      </a:pPr>
                      <a:r>
                        <a:rPr sz="1600" dirty="0">
                          <a:latin typeface="Calibri"/>
                          <a:cs typeface="Calibri"/>
                        </a:rPr>
                        <a:t>carry</a:t>
                      </a:r>
                      <a:r>
                        <a:rPr sz="1600" spc="-45" dirty="0">
                          <a:latin typeface="Calibri"/>
                          <a:cs typeface="Calibri"/>
                        </a:rPr>
                        <a:t> </a:t>
                      </a:r>
                      <a:r>
                        <a:rPr sz="1600" dirty="0">
                          <a:latin typeface="Calibri"/>
                          <a:cs typeface="Calibri"/>
                        </a:rPr>
                        <a:t>blocks</a:t>
                      </a:r>
                      <a:r>
                        <a:rPr sz="1600" spc="-40" dirty="0">
                          <a:latin typeface="Calibri"/>
                          <a:cs typeface="Calibri"/>
                        </a:rPr>
                        <a:t> </a:t>
                      </a:r>
                      <a:r>
                        <a:rPr sz="1600" spc="-25" dirty="0">
                          <a:latin typeface="Calibri"/>
                          <a:cs typeface="Calibri"/>
                        </a:rPr>
                        <a:t>of</a:t>
                      </a:r>
                      <a:endParaRPr sz="1600">
                        <a:latin typeface="Calibri"/>
                        <a:cs typeface="Calibri"/>
                      </a:endParaRPr>
                    </a:p>
                  </a:txBody>
                  <a:tcPr marL="0" marR="0" marT="0" marB="0">
                    <a:solidFill>
                      <a:srgbClr val="E8D0D0">
                        <a:alpha val="90194"/>
                      </a:srgbClr>
                    </a:solidFill>
                  </a:tcPr>
                </a:tc>
                <a:tc>
                  <a:txBody>
                    <a:bodyPr/>
                    <a:lstStyle/>
                    <a:p>
                      <a:pPr marR="4445" algn="ctr">
                        <a:lnSpc>
                          <a:spcPts val="1605"/>
                        </a:lnSpc>
                      </a:pPr>
                      <a:r>
                        <a:rPr sz="1600" spc="-10" dirty="0">
                          <a:latin typeface="Calibri"/>
                          <a:cs typeface="Calibri"/>
                        </a:rPr>
                        <a:t>Protocol): </a:t>
                      </a:r>
                      <a:r>
                        <a:rPr sz="1600" spc="-25" dirty="0">
                          <a:latin typeface="Calibri"/>
                          <a:cs typeface="Calibri"/>
                        </a:rPr>
                        <a:t>the</a:t>
                      </a:r>
                      <a:endParaRPr sz="1600">
                        <a:latin typeface="Calibri"/>
                        <a:cs typeface="Calibri"/>
                      </a:endParaRPr>
                    </a:p>
                  </a:txBody>
                  <a:tcPr marL="0" marR="0" marT="0" marB="0">
                    <a:lnR w="28575">
                      <a:solidFill>
                        <a:srgbClr val="D7D2DF"/>
                      </a:solidFill>
                      <a:prstDash val="solid"/>
                    </a:lnR>
                    <a:solidFill>
                      <a:srgbClr val="DEE7D1">
                        <a:alpha val="90194"/>
                      </a:srgbClr>
                    </a:solidFill>
                  </a:tcPr>
                </a:tc>
                <a:tc>
                  <a:txBody>
                    <a:bodyPr/>
                    <a:lstStyle/>
                    <a:p>
                      <a:pPr algn="ctr">
                        <a:lnSpc>
                          <a:spcPts val="1605"/>
                        </a:lnSpc>
                      </a:pPr>
                      <a:r>
                        <a:rPr sz="1600" dirty="0">
                          <a:latin typeface="Calibri"/>
                          <a:cs typeface="Calibri"/>
                        </a:rPr>
                        <a:t>(Simple</a:t>
                      </a:r>
                      <a:r>
                        <a:rPr sz="1600" spc="-40" dirty="0">
                          <a:latin typeface="Calibri"/>
                          <a:cs typeface="Calibri"/>
                        </a:rPr>
                        <a:t> </a:t>
                      </a:r>
                      <a:r>
                        <a:rPr sz="1600" spc="-20" dirty="0">
                          <a:latin typeface="Calibri"/>
                          <a:cs typeface="Calibri"/>
                        </a:rPr>
                        <a:t>Mail</a:t>
                      </a:r>
                      <a:endParaRPr sz="1600">
                        <a:latin typeface="Calibri"/>
                        <a:cs typeface="Calibri"/>
                      </a:endParaRPr>
                    </a:p>
                  </a:txBody>
                  <a:tcPr marL="0" marR="0" marT="0" marB="0">
                    <a:lnL w="28575">
                      <a:solidFill>
                        <a:srgbClr val="D7D2DF"/>
                      </a:solidFill>
                      <a:prstDash val="solid"/>
                    </a:lnL>
                    <a:lnR w="28575">
                      <a:solidFill>
                        <a:srgbClr val="D7D2DF"/>
                      </a:solidFill>
                      <a:prstDash val="solid"/>
                    </a:lnR>
                    <a:solidFill>
                      <a:srgbClr val="D7D2DF">
                        <a:alpha val="90194"/>
                      </a:srgbClr>
                    </a:solidFill>
                  </a:tcPr>
                </a:tc>
                <a:extLst>
                  <a:ext uri="{0D108BD9-81ED-4DB2-BD59-A6C34878D82A}">
                    <a16:rowId xmlns:a16="http://schemas.microsoft.com/office/drawing/2014/main" val="10005"/>
                  </a:ext>
                </a:extLst>
              </a:tr>
              <a:tr h="222250">
                <a:tc>
                  <a:txBody>
                    <a:bodyPr/>
                    <a:lstStyle/>
                    <a:p>
                      <a:pPr marR="5080" algn="ctr">
                        <a:lnSpc>
                          <a:spcPts val="1600"/>
                        </a:lnSpc>
                      </a:pPr>
                      <a:r>
                        <a:rPr sz="1600" dirty="0">
                          <a:latin typeface="Calibri"/>
                          <a:cs typeface="Calibri"/>
                        </a:rPr>
                        <a:t>data</a:t>
                      </a:r>
                      <a:r>
                        <a:rPr sz="1600" spc="-55" dirty="0">
                          <a:latin typeface="Calibri"/>
                          <a:cs typeface="Calibri"/>
                        </a:rPr>
                        <a:t> </a:t>
                      </a:r>
                      <a:r>
                        <a:rPr sz="1600" dirty="0">
                          <a:latin typeface="Calibri"/>
                          <a:cs typeface="Calibri"/>
                        </a:rPr>
                        <a:t>from</a:t>
                      </a:r>
                      <a:r>
                        <a:rPr sz="1600" spc="-50" dirty="0">
                          <a:latin typeface="Calibri"/>
                          <a:cs typeface="Calibri"/>
                        </a:rPr>
                        <a:t> </a:t>
                      </a:r>
                      <a:r>
                        <a:rPr sz="1600" spc="-25" dirty="0">
                          <a:latin typeface="Calibri"/>
                          <a:cs typeface="Calibri"/>
                        </a:rPr>
                        <a:t>one</a:t>
                      </a:r>
                      <a:endParaRPr sz="1600">
                        <a:latin typeface="Calibri"/>
                        <a:cs typeface="Calibri"/>
                      </a:endParaRPr>
                    </a:p>
                  </a:txBody>
                  <a:tcPr marL="0" marR="0" marT="0" marB="0">
                    <a:solidFill>
                      <a:srgbClr val="E8D0D0">
                        <a:alpha val="90194"/>
                      </a:srgbClr>
                    </a:solidFill>
                  </a:tcPr>
                </a:tc>
                <a:tc>
                  <a:txBody>
                    <a:bodyPr/>
                    <a:lstStyle/>
                    <a:p>
                      <a:pPr marR="5080" algn="ctr">
                        <a:lnSpc>
                          <a:spcPts val="1595"/>
                        </a:lnSpc>
                      </a:pPr>
                      <a:r>
                        <a:rPr sz="1600" spc="-10" dirty="0">
                          <a:latin typeface="Calibri"/>
                          <a:cs typeface="Calibri"/>
                        </a:rPr>
                        <a:t>protocols</a:t>
                      </a:r>
                      <a:r>
                        <a:rPr sz="1600" spc="-25" dirty="0">
                          <a:latin typeface="Calibri"/>
                          <a:cs typeface="Calibri"/>
                        </a:rPr>
                        <a:t> </a:t>
                      </a:r>
                      <a:r>
                        <a:rPr sz="1600" dirty="0">
                          <a:latin typeface="Calibri"/>
                          <a:cs typeface="Calibri"/>
                        </a:rPr>
                        <a:t>by</a:t>
                      </a:r>
                      <a:r>
                        <a:rPr sz="1600" spc="-25" dirty="0">
                          <a:latin typeface="Calibri"/>
                          <a:cs typeface="Calibri"/>
                        </a:rPr>
                        <a:t> </a:t>
                      </a:r>
                      <a:r>
                        <a:rPr sz="1600" spc="-10" dirty="0">
                          <a:latin typeface="Calibri"/>
                          <a:cs typeface="Calibri"/>
                        </a:rPr>
                        <a:t>which</a:t>
                      </a:r>
                      <a:endParaRPr sz="1600">
                        <a:latin typeface="Calibri"/>
                        <a:cs typeface="Calibri"/>
                      </a:endParaRPr>
                    </a:p>
                  </a:txBody>
                  <a:tcPr marL="0" marR="0" marT="0" marB="0">
                    <a:lnR w="28575">
                      <a:solidFill>
                        <a:srgbClr val="D7D2DF"/>
                      </a:solidFill>
                      <a:prstDash val="solid"/>
                    </a:lnR>
                    <a:solidFill>
                      <a:srgbClr val="DEE7D1">
                        <a:alpha val="90194"/>
                      </a:srgbClr>
                    </a:solidFill>
                  </a:tcPr>
                </a:tc>
                <a:tc>
                  <a:txBody>
                    <a:bodyPr/>
                    <a:lstStyle/>
                    <a:p>
                      <a:pPr algn="ctr">
                        <a:lnSpc>
                          <a:spcPts val="1595"/>
                        </a:lnSpc>
                      </a:pPr>
                      <a:r>
                        <a:rPr sz="1600" spc="-25" dirty="0">
                          <a:latin typeface="Calibri"/>
                          <a:cs typeface="Calibri"/>
                        </a:rPr>
                        <a:t>Transfer</a:t>
                      </a:r>
                      <a:r>
                        <a:rPr sz="1600" spc="-35" dirty="0">
                          <a:latin typeface="Calibri"/>
                          <a:cs typeface="Calibri"/>
                        </a:rPr>
                        <a:t> </a:t>
                      </a:r>
                      <a:r>
                        <a:rPr sz="1600" spc="-10" dirty="0">
                          <a:latin typeface="Calibri"/>
                          <a:cs typeface="Calibri"/>
                        </a:rPr>
                        <a:t>Protocol),</a:t>
                      </a:r>
                      <a:endParaRPr sz="1600">
                        <a:latin typeface="Calibri"/>
                        <a:cs typeface="Calibri"/>
                      </a:endParaRPr>
                    </a:p>
                  </a:txBody>
                  <a:tcPr marL="0" marR="0" marT="0" marB="0">
                    <a:lnL w="28575">
                      <a:solidFill>
                        <a:srgbClr val="D7D2DF"/>
                      </a:solidFill>
                      <a:prstDash val="solid"/>
                    </a:lnL>
                    <a:lnR w="28575">
                      <a:solidFill>
                        <a:srgbClr val="D7D2DF"/>
                      </a:solidFill>
                      <a:prstDash val="solid"/>
                    </a:lnR>
                    <a:solidFill>
                      <a:srgbClr val="D7D2DF">
                        <a:alpha val="90194"/>
                      </a:srgbClr>
                    </a:solidFill>
                  </a:tcPr>
                </a:tc>
                <a:extLst>
                  <a:ext uri="{0D108BD9-81ED-4DB2-BD59-A6C34878D82A}">
                    <a16:rowId xmlns:a16="http://schemas.microsoft.com/office/drawing/2014/main" val="10006"/>
                  </a:ext>
                </a:extLst>
              </a:tr>
              <a:tr h="223520">
                <a:tc>
                  <a:txBody>
                    <a:bodyPr/>
                    <a:lstStyle/>
                    <a:p>
                      <a:pPr marR="3810" algn="ctr">
                        <a:lnSpc>
                          <a:spcPts val="1600"/>
                        </a:lnSpc>
                      </a:pPr>
                      <a:r>
                        <a:rPr sz="1600" dirty="0">
                          <a:latin typeface="Calibri"/>
                          <a:cs typeface="Calibri"/>
                        </a:rPr>
                        <a:t>node</a:t>
                      </a:r>
                      <a:r>
                        <a:rPr sz="1600" spc="-25" dirty="0">
                          <a:latin typeface="Calibri"/>
                          <a:cs typeface="Calibri"/>
                        </a:rPr>
                        <a:t> </a:t>
                      </a:r>
                      <a:r>
                        <a:rPr sz="1600" dirty="0">
                          <a:latin typeface="Calibri"/>
                          <a:cs typeface="Calibri"/>
                        </a:rPr>
                        <a:t>to</a:t>
                      </a:r>
                      <a:r>
                        <a:rPr sz="1600" spc="-35" dirty="0">
                          <a:latin typeface="Calibri"/>
                          <a:cs typeface="Calibri"/>
                        </a:rPr>
                        <a:t> </a:t>
                      </a:r>
                      <a:r>
                        <a:rPr sz="1600" spc="-10" dirty="0">
                          <a:latin typeface="Calibri"/>
                          <a:cs typeface="Calibri"/>
                        </a:rPr>
                        <a:t>another</a:t>
                      </a:r>
                      <a:endParaRPr sz="1600">
                        <a:latin typeface="Calibri"/>
                        <a:cs typeface="Calibri"/>
                      </a:endParaRPr>
                    </a:p>
                  </a:txBody>
                  <a:tcPr marL="0" marR="0" marT="0" marB="0">
                    <a:solidFill>
                      <a:srgbClr val="E8D0D0">
                        <a:alpha val="90194"/>
                      </a:srgbClr>
                    </a:solidFill>
                  </a:tcPr>
                </a:tc>
                <a:tc>
                  <a:txBody>
                    <a:bodyPr/>
                    <a:lstStyle/>
                    <a:p>
                      <a:pPr marR="4445" algn="ctr">
                        <a:lnSpc>
                          <a:spcPts val="1590"/>
                        </a:lnSpc>
                      </a:pPr>
                      <a:r>
                        <a:rPr sz="1600" dirty="0">
                          <a:latin typeface="Calibri"/>
                          <a:cs typeface="Calibri"/>
                        </a:rPr>
                        <a:t>one</a:t>
                      </a:r>
                      <a:r>
                        <a:rPr sz="1600" spc="-35" dirty="0">
                          <a:latin typeface="Calibri"/>
                          <a:cs typeface="Calibri"/>
                        </a:rPr>
                        <a:t> </a:t>
                      </a:r>
                      <a:r>
                        <a:rPr sz="1600" dirty="0">
                          <a:latin typeface="Calibri"/>
                          <a:cs typeface="Calibri"/>
                        </a:rPr>
                        <a:t>host</a:t>
                      </a:r>
                      <a:r>
                        <a:rPr sz="1600" spc="-45" dirty="0">
                          <a:latin typeface="Calibri"/>
                          <a:cs typeface="Calibri"/>
                        </a:rPr>
                        <a:t> </a:t>
                      </a:r>
                      <a:r>
                        <a:rPr sz="1600" spc="-10" dirty="0">
                          <a:latin typeface="Calibri"/>
                          <a:cs typeface="Calibri"/>
                        </a:rPr>
                        <a:t>sends</a:t>
                      </a:r>
                      <a:endParaRPr sz="1600">
                        <a:latin typeface="Calibri"/>
                        <a:cs typeface="Calibri"/>
                      </a:endParaRPr>
                    </a:p>
                  </a:txBody>
                  <a:tcPr marL="0" marR="0" marT="0" marB="0">
                    <a:lnR w="28575">
                      <a:solidFill>
                        <a:srgbClr val="D7D2DF"/>
                      </a:solidFill>
                      <a:prstDash val="solid"/>
                    </a:lnR>
                    <a:solidFill>
                      <a:srgbClr val="DEE7D1">
                        <a:alpha val="90194"/>
                      </a:srgbClr>
                    </a:solidFill>
                  </a:tcPr>
                </a:tc>
                <a:tc>
                  <a:txBody>
                    <a:bodyPr/>
                    <a:lstStyle/>
                    <a:p>
                      <a:pPr marL="1270" algn="ctr">
                        <a:lnSpc>
                          <a:spcPts val="1590"/>
                        </a:lnSpc>
                      </a:pPr>
                      <a:r>
                        <a:rPr sz="1600" dirty="0">
                          <a:latin typeface="Calibri"/>
                          <a:cs typeface="Calibri"/>
                        </a:rPr>
                        <a:t>and</a:t>
                      </a:r>
                      <a:r>
                        <a:rPr sz="1600" spc="-15" dirty="0">
                          <a:latin typeface="Calibri"/>
                          <a:cs typeface="Calibri"/>
                        </a:rPr>
                        <a:t> </a:t>
                      </a:r>
                      <a:r>
                        <a:rPr sz="1600" b="1" dirty="0">
                          <a:latin typeface="Calibri"/>
                          <a:cs typeface="Calibri"/>
                        </a:rPr>
                        <a:t>FTP</a:t>
                      </a:r>
                      <a:r>
                        <a:rPr sz="1600" b="1" spc="-10" dirty="0">
                          <a:latin typeface="Calibri"/>
                          <a:cs typeface="Calibri"/>
                        </a:rPr>
                        <a:t> </a:t>
                      </a:r>
                      <a:r>
                        <a:rPr sz="1600" spc="-20" dirty="0">
                          <a:latin typeface="Calibri"/>
                          <a:cs typeface="Calibri"/>
                        </a:rPr>
                        <a:t>(File</a:t>
                      </a:r>
                      <a:endParaRPr sz="1600">
                        <a:latin typeface="Calibri"/>
                        <a:cs typeface="Calibri"/>
                      </a:endParaRPr>
                    </a:p>
                  </a:txBody>
                  <a:tcPr marL="0" marR="0" marT="0" marB="0">
                    <a:lnL w="28575">
                      <a:solidFill>
                        <a:srgbClr val="D7D2DF"/>
                      </a:solidFill>
                      <a:prstDash val="solid"/>
                    </a:lnL>
                    <a:lnR w="28575">
                      <a:solidFill>
                        <a:srgbClr val="D7D2DF"/>
                      </a:solidFill>
                      <a:prstDash val="solid"/>
                    </a:lnR>
                    <a:solidFill>
                      <a:srgbClr val="D7D2DF">
                        <a:alpha val="90194"/>
                      </a:srgbClr>
                    </a:solidFill>
                  </a:tcPr>
                </a:tc>
                <a:extLst>
                  <a:ext uri="{0D108BD9-81ED-4DB2-BD59-A6C34878D82A}">
                    <a16:rowId xmlns:a16="http://schemas.microsoft.com/office/drawing/2014/main" val="10007"/>
                  </a:ext>
                </a:extLst>
              </a:tr>
              <a:tr h="294005">
                <a:tc>
                  <a:txBody>
                    <a:bodyPr/>
                    <a:lstStyle/>
                    <a:p>
                      <a:pPr>
                        <a:lnSpc>
                          <a:spcPct val="100000"/>
                        </a:lnSpc>
                      </a:pPr>
                      <a:endParaRPr sz="1800">
                        <a:latin typeface="Times New Roman"/>
                        <a:cs typeface="Times New Roman"/>
                      </a:endParaRPr>
                    </a:p>
                  </a:txBody>
                  <a:tcPr marL="0" marR="0" marT="0" marB="0">
                    <a:solidFill>
                      <a:srgbClr val="E8D0D0">
                        <a:alpha val="90194"/>
                      </a:srgbClr>
                    </a:solidFill>
                  </a:tcPr>
                </a:tc>
                <a:tc>
                  <a:txBody>
                    <a:bodyPr/>
                    <a:lstStyle/>
                    <a:p>
                      <a:pPr marR="7620" algn="ctr">
                        <a:lnSpc>
                          <a:spcPts val="1600"/>
                        </a:lnSpc>
                      </a:pPr>
                      <a:r>
                        <a:rPr sz="1600" dirty="0">
                          <a:latin typeface="Calibri"/>
                          <a:cs typeface="Calibri"/>
                        </a:rPr>
                        <a:t>data</a:t>
                      </a:r>
                      <a:r>
                        <a:rPr sz="1600" spc="-35" dirty="0">
                          <a:latin typeface="Calibri"/>
                          <a:cs typeface="Calibri"/>
                        </a:rPr>
                        <a:t> </a:t>
                      </a:r>
                      <a:r>
                        <a:rPr sz="1600" dirty="0">
                          <a:latin typeface="Calibri"/>
                          <a:cs typeface="Calibri"/>
                        </a:rPr>
                        <a:t>to</a:t>
                      </a:r>
                      <a:r>
                        <a:rPr sz="1600" spc="-35" dirty="0">
                          <a:latin typeface="Calibri"/>
                          <a:cs typeface="Calibri"/>
                        </a:rPr>
                        <a:t> </a:t>
                      </a:r>
                      <a:r>
                        <a:rPr sz="1600" spc="-10" dirty="0">
                          <a:latin typeface="Calibri"/>
                          <a:cs typeface="Calibri"/>
                        </a:rPr>
                        <a:t>another.</a:t>
                      </a:r>
                      <a:endParaRPr sz="1600">
                        <a:latin typeface="Calibri"/>
                        <a:cs typeface="Calibri"/>
                      </a:endParaRPr>
                    </a:p>
                  </a:txBody>
                  <a:tcPr marL="0" marR="0" marT="0" marB="0">
                    <a:lnR w="28575">
                      <a:solidFill>
                        <a:srgbClr val="D7D2DF"/>
                      </a:solidFill>
                      <a:prstDash val="solid"/>
                    </a:lnR>
                    <a:solidFill>
                      <a:srgbClr val="DEE7D1">
                        <a:alpha val="90194"/>
                      </a:srgbClr>
                    </a:solidFill>
                  </a:tcPr>
                </a:tc>
                <a:tc>
                  <a:txBody>
                    <a:bodyPr/>
                    <a:lstStyle/>
                    <a:p>
                      <a:pPr marL="635" algn="ctr">
                        <a:lnSpc>
                          <a:spcPts val="1600"/>
                        </a:lnSpc>
                      </a:pPr>
                      <a:r>
                        <a:rPr sz="1600" spc="-25" dirty="0">
                          <a:latin typeface="Calibri"/>
                          <a:cs typeface="Calibri"/>
                        </a:rPr>
                        <a:t>Transfer</a:t>
                      </a:r>
                      <a:r>
                        <a:rPr sz="1600" spc="-35" dirty="0">
                          <a:latin typeface="Calibri"/>
                          <a:cs typeface="Calibri"/>
                        </a:rPr>
                        <a:t> </a:t>
                      </a:r>
                      <a:r>
                        <a:rPr sz="1600" spc="-10" dirty="0">
                          <a:latin typeface="Calibri"/>
                          <a:cs typeface="Calibri"/>
                        </a:rPr>
                        <a:t>Protocol)</a:t>
                      </a:r>
                      <a:endParaRPr sz="1600">
                        <a:latin typeface="Calibri"/>
                        <a:cs typeface="Calibri"/>
                      </a:endParaRPr>
                    </a:p>
                  </a:txBody>
                  <a:tcPr marL="0" marR="0" marT="0" marB="0">
                    <a:lnL w="28575">
                      <a:solidFill>
                        <a:srgbClr val="D7D2DF"/>
                      </a:solidFill>
                      <a:prstDash val="solid"/>
                    </a:lnL>
                    <a:lnR w="28575">
                      <a:solidFill>
                        <a:srgbClr val="D7D2DF"/>
                      </a:solidFill>
                      <a:prstDash val="solid"/>
                    </a:lnR>
                    <a:solidFill>
                      <a:srgbClr val="D7D2DF">
                        <a:alpha val="90194"/>
                      </a:srgbClr>
                    </a:solidFill>
                  </a:tcPr>
                </a:tc>
                <a:extLst>
                  <a:ext uri="{0D108BD9-81ED-4DB2-BD59-A6C34878D82A}">
                    <a16:rowId xmlns:a16="http://schemas.microsoft.com/office/drawing/2014/main" val="10008"/>
                  </a:ext>
                </a:extLst>
              </a:tr>
              <a:tr h="70485">
                <a:tc>
                  <a:txBody>
                    <a:bodyPr/>
                    <a:lstStyle/>
                    <a:p>
                      <a:pPr>
                        <a:lnSpc>
                          <a:spcPct val="100000"/>
                        </a:lnSpc>
                      </a:pPr>
                      <a:endParaRPr sz="300">
                        <a:latin typeface="Times New Roman"/>
                        <a:cs typeface="Times New Roman"/>
                      </a:endParaRPr>
                    </a:p>
                  </a:txBody>
                  <a:tcPr marL="0" marR="0" marT="0" marB="0">
                    <a:solidFill>
                      <a:srgbClr val="C0504D"/>
                    </a:solidFill>
                  </a:tcPr>
                </a:tc>
                <a:tc>
                  <a:txBody>
                    <a:bodyPr/>
                    <a:lstStyle/>
                    <a:p>
                      <a:pPr>
                        <a:lnSpc>
                          <a:spcPct val="100000"/>
                        </a:lnSpc>
                      </a:pPr>
                      <a:endParaRPr sz="300">
                        <a:latin typeface="Times New Roman"/>
                        <a:cs typeface="Times New Roman"/>
                      </a:endParaRPr>
                    </a:p>
                  </a:txBody>
                  <a:tcPr marL="0" marR="0" marT="0" marB="0">
                    <a:solidFill>
                      <a:srgbClr val="C0504D"/>
                    </a:solidFill>
                  </a:tcPr>
                </a:tc>
                <a:tc>
                  <a:txBody>
                    <a:bodyPr/>
                    <a:lstStyle/>
                    <a:p>
                      <a:pPr>
                        <a:lnSpc>
                          <a:spcPct val="100000"/>
                        </a:lnSpc>
                      </a:pPr>
                      <a:endParaRPr sz="300">
                        <a:latin typeface="Times New Roman"/>
                        <a:cs typeface="Times New Roman"/>
                      </a:endParaRPr>
                    </a:p>
                  </a:txBody>
                  <a:tcPr marL="0" marR="0" marT="0" marB="0">
                    <a:solidFill>
                      <a:srgbClr val="C0504D"/>
                    </a:solidFill>
                  </a:tcPr>
                </a:tc>
                <a:extLst>
                  <a:ext uri="{0D108BD9-81ED-4DB2-BD59-A6C34878D82A}">
                    <a16:rowId xmlns:a16="http://schemas.microsoft.com/office/drawing/2014/main" val="10009"/>
                  </a:ext>
                </a:extLst>
              </a:tr>
            </a:tbl>
          </a:graphicData>
        </a:graphic>
      </p:graphicFrame>
      <p:grpSp>
        <p:nvGrpSpPr>
          <p:cNvPr id="3" name="object 3"/>
          <p:cNvGrpSpPr/>
          <p:nvPr/>
        </p:nvGrpSpPr>
        <p:grpSpPr>
          <a:xfrm>
            <a:off x="5244338" y="512901"/>
            <a:ext cx="5398134" cy="1776730"/>
            <a:chOff x="3720338" y="503173"/>
            <a:chExt cx="4193540" cy="1776730"/>
          </a:xfrm>
        </p:grpSpPr>
        <p:sp>
          <p:nvSpPr>
            <p:cNvPr id="4" name="object 4"/>
            <p:cNvSpPr/>
            <p:nvPr/>
          </p:nvSpPr>
          <p:spPr>
            <a:xfrm>
              <a:off x="3733038" y="515873"/>
              <a:ext cx="4168140" cy="1751330"/>
            </a:xfrm>
            <a:custGeom>
              <a:avLst/>
              <a:gdLst/>
              <a:ahLst/>
              <a:cxnLst/>
              <a:rect l="l" t="t" r="r" b="b"/>
              <a:pathLst>
                <a:path w="4168140" h="1751330">
                  <a:moveTo>
                    <a:pt x="4168140" y="0"/>
                  </a:moveTo>
                  <a:lnTo>
                    <a:pt x="0" y="0"/>
                  </a:lnTo>
                  <a:lnTo>
                    <a:pt x="0" y="1137792"/>
                  </a:lnTo>
                  <a:lnTo>
                    <a:pt x="1865122" y="1137792"/>
                  </a:lnTo>
                  <a:lnTo>
                    <a:pt x="1865122" y="1313306"/>
                  </a:lnTo>
                  <a:lnTo>
                    <a:pt x="1646301" y="1313306"/>
                  </a:lnTo>
                  <a:lnTo>
                    <a:pt x="2084070" y="1751076"/>
                  </a:lnTo>
                  <a:lnTo>
                    <a:pt x="2521839" y="1313306"/>
                  </a:lnTo>
                  <a:lnTo>
                    <a:pt x="2302891" y="1313306"/>
                  </a:lnTo>
                  <a:lnTo>
                    <a:pt x="2302891" y="1137792"/>
                  </a:lnTo>
                  <a:lnTo>
                    <a:pt x="4168140" y="1137792"/>
                  </a:lnTo>
                  <a:lnTo>
                    <a:pt x="4168140" y="0"/>
                  </a:lnTo>
                  <a:close/>
                </a:path>
              </a:pathLst>
            </a:custGeom>
            <a:solidFill>
              <a:srgbClr val="9BBA58"/>
            </a:solidFill>
          </p:spPr>
          <p:txBody>
            <a:bodyPr wrap="square" lIns="0" tIns="0" rIns="0" bIns="0" rtlCol="0"/>
            <a:lstStyle/>
            <a:p>
              <a:endParaRPr/>
            </a:p>
          </p:txBody>
        </p:sp>
        <p:sp>
          <p:nvSpPr>
            <p:cNvPr id="5" name="object 5"/>
            <p:cNvSpPr/>
            <p:nvPr/>
          </p:nvSpPr>
          <p:spPr>
            <a:xfrm>
              <a:off x="3733038" y="515873"/>
              <a:ext cx="4168140" cy="1751330"/>
            </a:xfrm>
            <a:custGeom>
              <a:avLst/>
              <a:gdLst/>
              <a:ahLst/>
              <a:cxnLst/>
              <a:rect l="l" t="t" r="r" b="b"/>
              <a:pathLst>
                <a:path w="4168140" h="1751330">
                  <a:moveTo>
                    <a:pt x="4168140" y="1137792"/>
                  </a:moveTo>
                  <a:lnTo>
                    <a:pt x="2302891" y="1137792"/>
                  </a:lnTo>
                  <a:lnTo>
                    <a:pt x="2302891" y="1313306"/>
                  </a:lnTo>
                  <a:lnTo>
                    <a:pt x="2521839" y="1313306"/>
                  </a:lnTo>
                  <a:lnTo>
                    <a:pt x="2084070" y="1751076"/>
                  </a:lnTo>
                  <a:lnTo>
                    <a:pt x="1646301" y="1313306"/>
                  </a:lnTo>
                  <a:lnTo>
                    <a:pt x="1865122" y="1313306"/>
                  </a:lnTo>
                  <a:lnTo>
                    <a:pt x="1865122" y="1137792"/>
                  </a:lnTo>
                  <a:lnTo>
                    <a:pt x="0" y="1137792"/>
                  </a:lnTo>
                  <a:lnTo>
                    <a:pt x="0" y="0"/>
                  </a:lnTo>
                  <a:lnTo>
                    <a:pt x="4168140" y="0"/>
                  </a:lnTo>
                  <a:lnTo>
                    <a:pt x="4168140" y="1137792"/>
                  </a:lnTo>
                  <a:close/>
                </a:path>
              </a:pathLst>
            </a:custGeom>
            <a:ln w="25400">
              <a:solidFill>
                <a:srgbClr val="FFFFFF"/>
              </a:solidFill>
            </a:ln>
          </p:spPr>
          <p:txBody>
            <a:bodyPr wrap="square" lIns="0" tIns="0" rIns="0" bIns="0" rtlCol="0"/>
            <a:lstStyle/>
            <a:p>
              <a:endParaRPr/>
            </a:p>
          </p:txBody>
        </p:sp>
      </p:grpSp>
      <p:sp>
        <p:nvSpPr>
          <p:cNvPr id="6" name="object 6"/>
          <p:cNvSpPr txBox="1">
            <a:spLocks noGrp="1"/>
          </p:cNvSpPr>
          <p:nvPr>
            <p:ph type="title"/>
          </p:nvPr>
        </p:nvSpPr>
        <p:spPr>
          <a:xfrm>
            <a:off x="2362200" y="583491"/>
            <a:ext cx="10515600" cy="888833"/>
          </a:xfrm>
          <a:prstGeom prst="rect">
            <a:avLst/>
          </a:prstGeom>
        </p:spPr>
        <p:txBody>
          <a:bodyPr vert="horz" wrap="square" lIns="0" tIns="499237" rIns="0" bIns="0" rtlCol="0" anchor="ctr">
            <a:spAutoFit/>
          </a:bodyPr>
          <a:lstStyle/>
          <a:p>
            <a:pPr marL="4378325" marR="5080" indent="-1055370">
              <a:lnSpc>
                <a:spcPts val="2960"/>
              </a:lnSpc>
              <a:spcBef>
                <a:spcPts val="430"/>
              </a:spcBef>
            </a:pPr>
            <a:r>
              <a:rPr sz="2700" dirty="0">
                <a:solidFill>
                  <a:srgbClr val="FFFFFF"/>
                </a:solidFill>
              </a:rPr>
              <a:t>Through</a:t>
            </a:r>
            <a:r>
              <a:rPr sz="2700" spc="-60" dirty="0">
                <a:solidFill>
                  <a:srgbClr val="FFFFFF"/>
                </a:solidFill>
              </a:rPr>
              <a:t> </a:t>
            </a:r>
            <a:r>
              <a:rPr sz="2700" spc="-10" dirty="0">
                <a:solidFill>
                  <a:srgbClr val="FFFFFF"/>
                </a:solidFill>
              </a:rPr>
              <a:t>communication protocols</a:t>
            </a:r>
            <a:endParaRPr sz="2700" dirty="0"/>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4</a:t>
            </a:fld>
            <a:endParaRPr spc="-25" dirty="0"/>
          </a:p>
        </p:txBody>
      </p:sp>
      <p:sp>
        <p:nvSpPr>
          <p:cNvPr id="7" name="object 7"/>
          <p:cNvSpPr txBox="1"/>
          <p:nvPr/>
        </p:nvSpPr>
        <p:spPr>
          <a:xfrm>
            <a:off x="2261413" y="2763392"/>
            <a:ext cx="2022475" cy="1305560"/>
          </a:xfrm>
          <a:prstGeom prst="rect">
            <a:avLst/>
          </a:prstGeom>
        </p:spPr>
        <p:txBody>
          <a:bodyPr vert="horz" wrap="square" lIns="0" tIns="12065" rIns="0" bIns="0" rtlCol="0">
            <a:spAutoFit/>
          </a:bodyPr>
          <a:lstStyle/>
          <a:p>
            <a:pPr marL="12700" marR="5080" algn="ctr">
              <a:spcBef>
                <a:spcPts val="95"/>
              </a:spcBef>
            </a:pPr>
            <a:r>
              <a:rPr sz="2800" dirty="0">
                <a:latin typeface="Calibri"/>
                <a:cs typeface="Calibri"/>
              </a:rPr>
              <a:t>How</a:t>
            </a:r>
            <a:r>
              <a:rPr sz="2800" spc="-60" dirty="0">
                <a:latin typeface="Calibri"/>
                <a:cs typeface="Calibri"/>
              </a:rPr>
              <a:t> </a:t>
            </a:r>
            <a:r>
              <a:rPr sz="2800" dirty="0">
                <a:latin typeface="Calibri"/>
                <a:cs typeface="Calibri"/>
              </a:rPr>
              <a:t>does</a:t>
            </a:r>
            <a:r>
              <a:rPr sz="2800" spc="-65" dirty="0">
                <a:latin typeface="Calibri"/>
                <a:cs typeface="Calibri"/>
              </a:rPr>
              <a:t> </a:t>
            </a:r>
            <a:r>
              <a:rPr sz="2800" spc="-25" dirty="0">
                <a:latin typeface="Calibri"/>
                <a:cs typeface="Calibri"/>
              </a:rPr>
              <a:t>the </a:t>
            </a:r>
            <a:r>
              <a:rPr sz="2800" spc="-10" dirty="0">
                <a:latin typeface="Calibri"/>
                <a:cs typeface="Calibri"/>
              </a:rPr>
              <a:t>Internet Work?</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376555">
              <a:lnSpc>
                <a:spcPct val="100000"/>
              </a:lnSpc>
              <a:spcBef>
                <a:spcPts val="105"/>
              </a:spcBef>
            </a:pPr>
            <a:r>
              <a:rPr dirty="0"/>
              <a:t>The</a:t>
            </a:r>
            <a:r>
              <a:rPr spc="-100" dirty="0"/>
              <a:t> </a:t>
            </a:r>
            <a:r>
              <a:rPr spc="-10" dirty="0"/>
              <a:t>World</a:t>
            </a:r>
            <a:r>
              <a:rPr spc="-100" dirty="0"/>
              <a:t> </a:t>
            </a:r>
            <a:r>
              <a:rPr dirty="0"/>
              <a:t>Wide</a:t>
            </a:r>
            <a:r>
              <a:rPr spc="-95" dirty="0"/>
              <a:t> </a:t>
            </a:r>
            <a:r>
              <a:rPr dirty="0"/>
              <a:t>Web</a:t>
            </a:r>
            <a:r>
              <a:rPr spc="-114" dirty="0"/>
              <a:t> </a:t>
            </a:r>
            <a:r>
              <a:rPr spc="-10" dirty="0"/>
              <a:t>(WWW)</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5</a:t>
            </a:fld>
            <a:endParaRPr spc="-25" dirty="0"/>
          </a:p>
        </p:txBody>
      </p:sp>
      <p:sp>
        <p:nvSpPr>
          <p:cNvPr id="3" name="object 3"/>
          <p:cNvSpPr txBox="1"/>
          <p:nvPr/>
        </p:nvSpPr>
        <p:spPr>
          <a:xfrm>
            <a:off x="2030758" y="2054836"/>
            <a:ext cx="8650212" cy="3130985"/>
          </a:xfrm>
          <a:prstGeom prst="rect">
            <a:avLst/>
          </a:prstGeom>
        </p:spPr>
        <p:txBody>
          <a:bodyPr vert="horz" wrap="square" lIns="0" tIns="12065" rIns="0" bIns="0" rtlCol="0">
            <a:spAutoFit/>
          </a:bodyPr>
          <a:lstStyle/>
          <a:p>
            <a:pPr marL="355600" marR="5080" indent="-342900">
              <a:spcBef>
                <a:spcPts val="95"/>
              </a:spcBef>
              <a:buFont typeface="Arial"/>
              <a:buChar char="•"/>
              <a:tabLst>
                <a:tab pos="355600" algn="l"/>
              </a:tabLst>
            </a:pPr>
            <a:r>
              <a:rPr sz="2200" dirty="0">
                <a:solidFill>
                  <a:srgbClr val="E36C09"/>
                </a:solidFill>
                <a:latin typeface="Calibri"/>
                <a:cs typeface="Calibri"/>
              </a:rPr>
              <a:t>WWW</a:t>
            </a:r>
            <a:r>
              <a:rPr sz="2200" spc="-40" dirty="0">
                <a:solidFill>
                  <a:srgbClr val="E36C09"/>
                </a:solidFill>
                <a:latin typeface="Calibri"/>
                <a:cs typeface="Calibri"/>
              </a:rPr>
              <a:t> </a:t>
            </a:r>
            <a:r>
              <a:rPr sz="2200" dirty="0">
                <a:latin typeface="Calibri"/>
                <a:cs typeface="Calibri"/>
              </a:rPr>
              <a:t>is</a:t>
            </a:r>
            <a:r>
              <a:rPr sz="2200" spc="-50" dirty="0">
                <a:latin typeface="Calibri"/>
                <a:cs typeface="Calibri"/>
              </a:rPr>
              <a:t> </a:t>
            </a:r>
            <a:r>
              <a:rPr sz="2200" dirty="0">
                <a:latin typeface="Calibri"/>
                <a:cs typeface="Calibri"/>
              </a:rPr>
              <a:t>a</a:t>
            </a:r>
            <a:r>
              <a:rPr sz="2200" spc="-45" dirty="0">
                <a:latin typeface="Calibri"/>
                <a:cs typeface="Calibri"/>
              </a:rPr>
              <a:t> </a:t>
            </a:r>
            <a:r>
              <a:rPr sz="2200" spc="-10" dirty="0">
                <a:latin typeface="Calibri"/>
                <a:cs typeface="Calibri"/>
              </a:rPr>
              <a:t>system</a:t>
            </a:r>
            <a:r>
              <a:rPr sz="2200" spc="-40" dirty="0">
                <a:latin typeface="Calibri"/>
                <a:cs typeface="Calibri"/>
              </a:rPr>
              <a:t> </a:t>
            </a:r>
            <a:r>
              <a:rPr sz="2200" dirty="0">
                <a:latin typeface="Calibri"/>
                <a:cs typeface="Calibri"/>
              </a:rPr>
              <a:t>of</a:t>
            </a:r>
            <a:r>
              <a:rPr sz="2200" spc="-45" dirty="0">
                <a:latin typeface="Calibri"/>
                <a:cs typeface="Calibri"/>
              </a:rPr>
              <a:t> </a:t>
            </a:r>
            <a:r>
              <a:rPr sz="2200" spc="-10" dirty="0">
                <a:latin typeface="Calibri"/>
                <a:cs typeface="Calibri"/>
              </a:rPr>
              <a:t>interlinked,</a:t>
            </a:r>
            <a:r>
              <a:rPr sz="2200" spc="-45" dirty="0">
                <a:latin typeface="Calibri"/>
                <a:cs typeface="Calibri"/>
              </a:rPr>
              <a:t> </a:t>
            </a:r>
            <a:r>
              <a:rPr sz="2200" spc="-10" dirty="0">
                <a:latin typeface="Calibri"/>
                <a:cs typeface="Calibri"/>
              </a:rPr>
              <a:t>hypertext</a:t>
            </a:r>
            <a:r>
              <a:rPr sz="2200" spc="-35" dirty="0">
                <a:latin typeface="Calibri"/>
                <a:cs typeface="Calibri"/>
              </a:rPr>
              <a:t> </a:t>
            </a:r>
            <a:r>
              <a:rPr sz="2200" spc="-10" dirty="0">
                <a:latin typeface="Calibri"/>
                <a:cs typeface="Calibri"/>
              </a:rPr>
              <a:t>documents</a:t>
            </a:r>
            <a:r>
              <a:rPr sz="2200" spc="-30" dirty="0">
                <a:latin typeface="Calibri"/>
                <a:cs typeface="Calibri"/>
              </a:rPr>
              <a:t> </a:t>
            </a:r>
            <a:r>
              <a:rPr sz="2200" dirty="0">
                <a:latin typeface="Calibri"/>
                <a:cs typeface="Calibri"/>
              </a:rPr>
              <a:t>that</a:t>
            </a:r>
            <a:r>
              <a:rPr sz="2200" spc="-50" dirty="0">
                <a:latin typeface="Calibri"/>
                <a:cs typeface="Calibri"/>
              </a:rPr>
              <a:t> </a:t>
            </a:r>
            <a:r>
              <a:rPr sz="2200" spc="-20" dirty="0">
                <a:latin typeface="Calibri"/>
                <a:cs typeface="Calibri"/>
              </a:rPr>
              <a:t>runs </a:t>
            </a:r>
            <a:r>
              <a:rPr sz="2200" dirty="0">
                <a:latin typeface="Calibri"/>
                <a:cs typeface="Calibri"/>
              </a:rPr>
              <a:t>over</a:t>
            </a:r>
            <a:r>
              <a:rPr sz="2200" spc="-55" dirty="0">
                <a:latin typeface="Calibri"/>
                <a:cs typeface="Calibri"/>
              </a:rPr>
              <a:t> </a:t>
            </a:r>
            <a:r>
              <a:rPr sz="2200" dirty="0">
                <a:latin typeface="Calibri"/>
                <a:cs typeface="Calibri"/>
              </a:rPr>
              <a:t>the</a:t>
            </a:r>
            <a:r>
              <a:rPr sz="2200" spc="-35" dirty="0">
                <a:latin typeface="Calibri"/>
                <a:cs typeface="Calibri"/>
              </a:rPr>
              <a:t> </a:t>
            </a:r>
            <a:r>
              <a:rPr sz="2200" spc="-10" dirty="0">
                <a:latin typeface="Calibri"/>
                <a:cs typeface="Calibri"/>
              </a:rPr>
              <a:t>Internet</a:t>
            </a:r>
            <a:endParaRPr sz="2200" dirty="0">
              <a:latin typeface="Calibri"/>
              <a:cs typeface="Calibri"/>
            </a:endParaRPr>
          </a:p>
          <a:p>
            <a:pPr marL="354965" indent="-342265">
              <a:spcBef>
                <a:spcPts val="525"/>
              </a:spcBef>
              <a:buFont typeface="Arial"/>
              <a:buChar char="•"/>
              <a:tabLst>
                <a:tab pos="354965" algn="l"/>
              </a:tabLst>
            </a:pPr>
            <a:r>
              <a:rPr sz="2200" spc="-10" dirty="0">
                <a:latin typeface="Calibri"/>
                <a:cs typeface="Calibri"/>
              </a:rPr>
              <a:t>Two</a:t>
            </a:r>
            <a:r>
              <a:rPr sz="2200" spc="-55" dirty="0">
                <a:latin typeface="Calibri"/>
                <a:cs typeface="Calibri"/>
              </a:rPr>
              <a:t> </a:t>
            </a:r>
            <a:r>
              <a:rPr sz="2200" dirty="0">
                <a:latin typeface="Calibri"/>
                <a:cs typeface="Calibri"/>
              </a:rPr>
              <a:t>types</a:t>
            </a:r>
            <a:r>
              <a:rPr sz="2200" spc="-50" dirty="0">
                <a:latin typeface="Calibri"/>
                <a:cs typeface="Calibri"/>
              </a:rPr>
              <a:t> </a:t>
            </a:r>
            <a:r>
              <a:rPr sz="2200" dirty="0">
                <a:latin typeface="Calibri"/>
                <a:cs typeface="Calibri"/>
              </a:rPr>
              <a:t>of</a:t>
            </a:r>
            <a:r>
              <a:rPr sz="2200" spc="-60" dirty="0">
                <a:latin typeface="Calibri"/>
                <a:cs typeface="Calibri"/>
              </a:rPr>
              <a:t> </a:t>
            </a:r>
            <a:r>
              <a:rPr sz="2200" spc="-10" dirty="0">
                <a:latin typeface="Calibri"/>
                <a:cs typeface="Calibri"/>
              </a:rPr>
              <a:t>software:</a:t>
            </a:r>
            <a:endParaRPr sz="2200" dirty="0">
              <a:latin typeface="Calibri"/>
              <a:cs typeface="Calibri"/>
            </a:endParaRPr>
          </a:p>
          <a:p>
            <a:pPr marL="756285" lvl="1" indent="-286385">
              <a:spcBef>
                <a:spcPts val="490"/>
              </a:spcBef>
              <a:buFont typeface="Arial"/>
              <a:buChar char="–"/>
              <a:tabLst>
                <a:tab pos="756285" algn="l"/>
              </a:tabLst>
            </a:pPr>
            <a:r>
              <a:rPr sz="2000" b="1" dirty="0">
                <a:solidFill>
                  <a:srgbClr val="E36C09"/>
                </a:solidFill>
                <a:latin typeface="Calibri"/>
                <a:cs typeface="Calibri"/>
              </a:rPr>
              <a:t>Client</a:t>
            </a:r>
            <a:r>
              <a:rPr sz="2000" dirty="0">
                <a:latin typeface="Calibri"/>
                <a:cs typeface="Calibri"/>
              </a:rPr>
              <a:t>:</a:t>
            </a:r>
            <a:r>
              <a:rPr sz="2000" spc="-55" dirty="0">
                <a:latin typeface="Calibri"/>
                <a:cs typeface="Calibri"/>
              </a:rPr>
              <a:t> </a:t>
            </a:r>
            <a:r>
              <a:rPr sz="2000" dirty="0">
                <a:latin typeface="Calibri"/>
                <a:cs typeface="Calibri"/>
              </a:rPr>
              <a:t>a</a:t>
            </a:r>
            <a:r>
              <a:rPr sz="2000" spc="-55" dirty="0">
                <a:latin typeface="Calibri"/>
                <a:cs typeface="Calibri"/>
              </a:rPr>
              <a:t> </a:t>
            </a:r>
            <a:r>
              <a:rPr sz="2000" spc="-10" dirty="0">
                <a:latin typeface="Calibri"/>
                <a:cs typeface="Calibri"/>
              </a:rPr>
              <a:t>system</a:t>
            </a:r>
            <a:r>
              <a:rPr sz="2000" spc="-35" dirty="0">
                <a:latin typeface="Calibri"/>
                <a:cs typeface="Calibri"/>
              </a:rPr>
              <a:t> </a:t>
            </a:r>
            <a:r>
              <a:rPr sz="2000" dirty="0">
                <a:latin typeface="Calibri"/>
                <a:cs typeface="Calibri"/>
              </a:rPr>
              <a:t>that</a:t>
            </a:r>
            <a:r>
              <a:rPr sz="2000" spc="-45" dirty="0">
                <a:latin typeface="Calibri"/>
                <a:cs typeface="Calibri"/>
              </a:rPr>
              <a:t> </a:t>
            </a:r>
            <a:r>
              <a:rPr sz="2000" dirty="0">
                <a:latin typeface="Calibri"/>
                <a:cs typeface="Calibri"/>
              </a:rPr>
              <a:t>wishes</a:t>
            </a:r>
            <a:r>
              <a:rPr sz="2000" spc="-45" dirty="0">
                <a:latin typeface="Calibri"/>
                <a:cs typeface="Calibri"/>
              </a:rPr>
              <a:t> </a:t>
            </a:r>
            <a:r>
              <a:rPr sz="2000" dirty="0">
                <a:latin typeface="Calibri"/>
                <a:cs typeface="Calibri"/>
              </a:rPr>
              <a:t>to</a:t>
            </a:r>
            <a:r>
              <a:rPr sz="2000" spc="-45" dirty="0">
                <a:latin typeface="Calibri"/>
                <a:cs typeface="Calibri"/>
              </a:rPr>
              <a:t> </a:t>
            </a:r>
            <a:r>
              <a:rPr sz="2000" dirty="0">
                <a:latin typeface="Calibri"/>
                <a:cs typeface="Calibri"/>
              </a:rPr>
              <a:t>access</a:t>
            </a:r>
            <a:r>
              <a:rPr sz="2000" spc="-40" dirty="0">
                <a:latin typeface="Calibri"/>
                <a:cs typeface="Calibri"/>
              </a:rPr>
              <a:t> </a:t>
            </a:r>
            <a:r>
              <a:rPr sz="2000" dirty="0">
                <a:latin typeface="Calibri"/>
                <a:cs typeface="Calibri"/>
              </a:rPr>
              <a:t>the</a:t>
            </a:r>
            <a:r>
              <a:rPr sz="2000" spc="-55" dirty="0">
                <a:latin typeface="Calibri"/>
                <a:cs typeface="Calibri"/>
              </a:rPr>
              <a:t> </a:t>
            </a:r>
            <a:r>
              <a:rPr sz="2000" spc="-10" dirty="0">
                <a:latin typeface="Calibri"/>
                <a:cs typeface="Calibri"/>
              </a:rPr>
              <a:t>information</a:t>
            </a:r>
            <a:r>
              <a:rPr sz="2000" spc="-45" dirty="0">
                <a:latin typeface="Calibri"/>
                <a:cs typeface="Calibri"/>
              </a:rPr>
              <a:t> </a:t>
            </a:r>
            <a:r>
              <a:rPr sz="2000" dirty="0">
                <a:latin typeface="Calibri"/>
                <a:cs typeface="Calibri"/>
              </a:rPr>
              <a:t>provided</a:t>
            </a:r>
            <a:r>
              <a:rPr sz="2000" spc="-55" dirty="0">
                <a:latin typeface="Calibri"/>
                <a:cs typeface="Calibri"/>
              </a:rPr>
              <a:t> </a:t>
            </a:r>
            <a:r>
              <a:rPr sz="2000" spc="-25" dirty="0">
                <a:latin typeface="Calibri"/>
                <a:cs typeface="Calibri"/>
              </a:rPr>
              <a:t>by</a:t>
            </a:r>
            <a:endParaRPr sz="2000" dirty="0">
              <a:latin typeface="Calibri"/>
              <a:cs typeface="Calibri"/>
            </a:endParaRPr>
          </a:p>
          <a:p>
            <a:pPr marL="756285">
              <a:spcBef>
                <a:spcPts val="5"/>
              </a:spcBef>
            </a:pPr>
            <a:r>
              <a:rPr sz="2000" dirty="0">
                <a:latin typeface="Calibri"/>
                <a:cs typeface="Calibri"/>
              </a:rPr>
              <a:t>servers</a:t>
            </a:r>
            <a:r>
              <a:rPr sz="2000" spc="-35" dirty="0">
                <a:latin typeface="Calibri"/>
                <a:cs typeface="Calibri"/>
              </a:rPr>
              <a:t> </a:t>
            </a:r>
            <a:r>
              <a:rPr sz="2000" dirty="0">
                <a:latin typeface="Calibri"/>
                <a:cs typeface="Calibri"/>
              </a:rPr>
              <a:t>must</a:t>
            </a:r>
            <a:r>
              <a:rPr sz="2000" spc="-55" dirty="0">
                <a:latin typeface="Calibri"/>
                <a:cs typeface="Calibri"/>
              </a:rPr>
              <a:t> </a:t>
            </a:r>
            <a:r>
              <a:rPr sz="2000" dirty="0">
                <a:latin typeface="Calibri"/>
                <a:cs typeface="Calibri"/>
              </a:rPr>
              <a:t>run</a:t>
            </a:r>
            <a:r>
              <a:rPr sz="2000" spc="-55" dirty="0">
                <a:latin typeface="Calibri"/>
                <a:cs typeface="Calibri"/>
              </a:rPr>
              <a:t> </a:t>
            </a:r>
            <a:r>
              <a:rPr sz="2000" dirty="0">
                <a:latin typeface="Calibri"/>
                <a:cs typeface="Calibri"/>
              </a:rPr>
              <a:t>client</a:t>
            </a:r>
            <a:r>
              <a:rPr sz="2000" spc="-45" dirty="0">
                <a:latin typeface="Calibri"/>
                <a:cs typeface="Calibri"/>
              </a:rPr>
              <a:t> </a:t>
            </a:r>
            <a:r>
              <a:rPr sz="2000" dirty="0">
                <a:latin typeface="Calibri"/>
                <a:cs typeface="Calibri"/>
              </a:rPr>
              <a:t>software</a:t>
            </a:r>
            <a:r>
              <a:rPr sz="2000" spc="-45" dirty="0">
                <a:latin typeface="Calibri"/>
                <a:cs typeface="Calibri"/>
              </a:rPr>
              <a:t> </a:t>
            </a:r>
            <a:r>
              <a:rPr sz="2000" dirty="0">
                <a:latin typeface="Calibri"/>
                <a:cs typeface="Calibri"/>
              </a:rPr>
              <a:t>(e.g.,</a:t>
            </a:r>
            <a:r>
              <a:rPr sz="2000" spc="-65" dirty="0">
                <a:latin typeface="Calibri"/>
                <a:cs typeface="Calibri"/>
              </a:rPr>
              <a:t> </a:t>
            </a:r>
            <a:r>
              <a:rPr sz="2000" dirty="0">
                <a:latin typeface="Calibri"/>
                <a:cs typeface="Calibri"/>
              </a:rPr>
              <a:t>web</a:t>
            </a:r>
            <a:r>
              <a:rPr sz="2000" spc="-70" dirty="0">
                <a:latin typeface="Calibri"/>
                <a:cs typeface="Calibri"/>
              </a:rPr>
              <a:t> </a:t>
            </a:r>
            <a:r>
              <a:rPr sz="2000" spc="-10" dirty="0">
                <a:latin typeface="Calibri"/>
                <a:cs typeface="Calibri"/>
              </a:rPr>
              <a:t>browser)</a:t>
            </a:r>
            <a:endParaRPr sz="2000" dirty="0">
              <a:latin typeface="Calibri"/>
              <a:cs typeface="Calibri"/>
            </a:endParaRPr>
          </a:p>
          <a:p>
            <a:pPr marL="756285" marR="321310" lvl="1" indent="-287020">
              <a:spcBef>
                <a:spcPts val="475"/>
              </a:spcBef>
              <a:buFont typeface="Arial"/>
              <a:buChar char="–"/>
              <a:tabLst>
                <a:tab pos="756285" algn="l"/>
              </a:tabLst>
            </a:pPr>
            <a:r>
              <a:rPr sz="2000" b="1" dirty="0">
                <a:solidFill>
                  <a:srgbClr val="E36C09"/>
                </a:solidFill>
                <a:latin typeface="Calibri"/>
                <a:cs typeface="Calibri"/>
              </a:rPr>
              <a:t>Server</a:t>
            </a:r>
            <a:r>
              <a:rPr sz="2000" dirty="0">
                <a:latin typeface="Calibri"/>
                <a:cs typeface="Calibri"/>
              </a:rPr>
              <a:t>:</a:t>
            </a:r>
            <a:r>
              <a:rPr sz="2000" spc="-20" dirty="0">
                <a:latin typeface="Calibri"/>
                <a:cs typeface="Calibri"/>
              </a:rPr>
              <a:t> </a:t>
            </a:r>
            <a:r>
              <a:rPr sz="2000" dirty="0">
                <a:latin typeface="Calibri"/>
                <a:cs typeface="Calibri"/>
              </a:rPr>
              <a:t>an</a:t>
            </a:r>
            <a:r>
              <a:rPr sz="2000" spc="-40" dirty="0">
                <a:latin typeface="Calibri"/>
                <a:cs typeface="Calibri"/>
              </a:rPr>
              <a:t> </a:t>
            </a:r>
            <a:r>
              <a:rPr sz="2000" spc="-25" dirty="0">
                <a:latin typeface="Calibri"/>
                <a:cs typeface="Calibri"/>
              </a:rPr>
              <a:t>internet-</a:t>
            </a:r>
            <a:r>
              <a:rPr sz="2000" dirty="0">
                <a:latin typeface="Calibri"/>
                <a:cs typeface="Calibri"/>
              </a:rPr>
              <a:t>connected</a:t>
            </a:r>
            <a:r>
              <a:rPr sz="2000" spc="-40" dirty="0">
                <a:latin typeface="Calibri"/>
                <a:cs typeface="Calibri"/>
              </a:rPr>
              <a:t> </a:t>
            </a:r>
            <a:r>
              <a:rPr sz="2000" dirty="0">
                <a:latin typeface="Calibri"/>
                <a:cs typeface="Calibri"/>
              </a:rPr>
              <a:t>computer</a:t>
            </a:r>
            <a:r>
              <a:rPr sz="2000" spc="-55" dirty="0">
                <a:latin typeface="Calibri"/>
                <a:cs typeface="Calibri"/>
              </a:rPr>
              <a:t> </a:t>
            </a:r>
            <a:r>
              <a:rPr sz="2000" dirty="0">
                <a:latin typeface="Calibri"/>
                <a:cs typeface="Calibri"/>
              </a:rPr>
              <a:t>that</a:t>
            </a:r>
            <a:r>
              <a:rPr sz="2000" spc="-40" dirty="0">
                <a:latin typeface="Calibri"/>
                <a:cs typeface="Calibri"/>
              </a:rPr>
              <a:t> </a:t>
            </a:r>
            <a:r>
              <a:rPr sz="2000" dirty="0">
                <a:latin typeface="Calibri"/>
                <a:cs typeface="Calibri"/>
              </a:rPr>
              <a:t>wishes</a:t>
            </a:r>
            <a:r>
              <a:rPr sz="2000" spc="-35" dirty="0">
                <a:latin typeface="Calibri"/>
                <a:cs typeface="Calibri"/>
              </a:rPr>
              <a:t> </a:t>
            </a:r>
            <a:r>
              <a:rPr sz="2000" dirty="0">
                <a:latin typeface="Calibri"/>
                <a:cs typeface="Calibri"/>
              </a:rPr>
              <a:t>to</a:t>
            </a:r>
            <a:r>
              <a:rPr sz="2000" spc="-40" dirty="0">
                <a:latin typeface="Calibri"/>
                <a:cs typeface="Calibri"/>
              </a:rPr>
              <a:t> </a:t>
            </a:r>
            <a:r>
              <a:rPr sz="2000" spc="-10" dirty="0">
                <a:latin typeface="Calibri"/>
                <a:cs typeface="Calibri"/>
              </a:rPr>
              <a:t>provide information</a:t>
            </a:r>
            <a:r>
              <a:rPr sz="2000" spc="-35" dirty="0">
                <a:latin typeface="Calibri"/>
                <a:cs typeface="Calibri"/>
              </a:rPr>
              <a:t> </a:t>
            </a:r>
            <a:r>
              <a:rPr sz="2000" dirty="0">
                <a:latin typeface="Calibri"/>
                <a:cs typeface="Calibri"/>
              </a:rPr>
              <a:t>to</a:t>
            </a:r>
            <a:r>
              <a:rPr sz="2000" spc="-45" dirty="0">
                <a:latin typeface="Calibri"/>
                <a:cs typeface="Calibri"/>
              </a:rPr>
              <a:t> </a:t>
            </a:r>
            <a:r>
              <a:rPr sz="2000" dirty="0">
                <a:latin typeface="Calibri"/>
                <a:cs typeface="Calibri"/>
              </a:rPr>
              <a:t>others</a:t>
            </a:r>
            <a:r>
              <a:rPr sz="2000" spc="-25" dirty="0">
                <a:latin typeface="Calibri"/>
                <a:cs typeface="Calibri"/>
              </a:rPr>
              <a:t> </a:t>
            </a:r>
            <a:r>
              <a:rPr sz="2000" dirty="0">
                <a:latin typeface="Calibri"/>
                <a:cs typeface="Calibri"/>
              </a:rPr>
              <a:t>must</a:t>
            </a:r>
            <a:r>
              <a:rPr sz="2000" spc="-35" dirty="0">
                <a:latin typeface="Calibri"/>
                <a:cs typeface="Calibri"/>
              </a:rPr>
              <a:t> </a:t>
            </a:r>
            <a:r>
              <a:rPr sz="2000" dirty="0">
                <a:latin typeface="Calibri"/>
                <a:cs typeface="Calibri"/>
              </a:rPr>
              <a:t>run</a:t>
            </a:r>
            <a:r>
              <a:rPr sz="2000" spc="-40" dirty="0">
                <a:latin typeface="Calibri"/>
                <a:cs typeface="Calibri"/>
              </a:rPr>
              <a:t> </a:t>
            </a:r>
            <a:r>
              <a:rPr sz="2000" dirty="0">
                <a:latin typeface="Calibri"/>
                <a:cs typeface="Calibri"/>
              </a:rPr>
              <a:t>server</a:t>
            </a:r>
            <a:r>
              <a:rPr sz="2000" spc="-30" dirty="0">
                <a:latin typeface="Calibri"/>
                <a:cs typeface="Calibri"/>
              </a:rPr>
              <a:t> </a:t>
            </a:r>
            <a:r>
              <a:rPr sz="2000" spc="-10" dirty="0">
                <a:latin typeface="Calibri"/>
                <a:cs typeface="Calibri"/>
              </a:rPr>
              <a:t>software</a:t>
            </a:r>
            <a:endParaRPr sz="2000" dirty="0">
              <a:latin typeface="Calibri"/>
              <a:cs typeface="Calibri"/>
            </a:endParaRPr>
          </a:p>
          <a:p>
            <a:pPr marL="756285" marR="222250" lvl="1" indent="-287020">
              <a:spcBef>
                <a:spcPts val="484"/>
              </a:spcBef>
              <a:buFont typeface="Arial"/>
              <a:buChar char="–"/>
              <a:tabLst>
                <a:tab pos="756285" algn="l"/>
              </a:tabLst>
            </a:pPr>
            <a:r>
              <a:rPr sz="2000" dirty="0">
                <a:latin typeface="Calibri"/>
                <a:cs typeface="Calibri"/>
              </a:rPr>
              <a:t>Client</a:t>
            </a:r>
            <a:r>
              <a:rPr sz="2000" spc="-30" dirty="0">
                <a:latin typeface="Calibri"/>
                <a:cs typeface="Calibri"/>
              </a:rPr>
              <a:t> </a:t>
            </a:r>
            <a:r>
              <a:rPr sz="2000" dirty="0">
                <a:latin typeface="Calibri"/>
                <a:cs typeface="Calibri"/>
              </a:rPr>
              <a:t>and</a:t>
            </a:r>
            <a:r>
              <a:rPr sz="2000" spc="-50" dirty="0">
                <a:latin typeface="Calibri"/>
                <a:cs typeface="Calibri"/>
              </a:rPr>
              <a:t> </a:t>
            </a:r>
            <a:r>
              <a:rPr sz="2000" dirty="0">
                <a:latin typeface="Calibri"/>
                <a:cs typeface="Calibri"/>
              </a:rPr>
              <a:t>server</a:t>
            </a:r>
            <a:r>
              <a:rPr sz="2000" spc="-15" dirty="0">
                <a:latin typeface="Calibri"/>
                <a:cs typeface="Calibri"/>
              </a:rPr>
              <a:t> </a:t>
            </a:r>
            <a:r>
              <a:rPr sz="2000" spc="-10" dirty="0">
                <a:latin typeface="Calibri"/>
                <a:cs typeface="Calibri"/>
              </a:rPr>
              <a:t>applications</a:t>
            </a:r>
            <a:r>
              <a:rPr sz="2000" spc="-40" dirty="0">
                <a:latin typeface="Calibri"/>
                <a:cs typeface="Calibri"/>
              </a:rPr>
              <a:t> </a:t>
            </a:r>
            <a:r>
              <a:rPr sz="2000" spc="-10" dirty="0">
                <a:latin typeface="Calibri"/>
                <a:cs typeface="Calibri"/>
              </a:rPr>
              <a:t>communicate</a:t>
            </a:r>
            <a:r>
              <a:rPr sz="2000" spc="-40" dirty="0">
                <a:latin typeface="Calibri"/>
                <a:cs typeface="Calibri"/>
              </a:rPr>
              <a:t> </a:t>
            </a:r>
            <a:r>
              <a:rPr sz="2000" dirty="0">
                <a:latin typeface="Calibri"/>
                <a:cs typeface="Calibri"/>
              </a:rPr>
              <a:t>over</a:t>
            </a:r>
            <a:r>
              <a:rPr sz="2000" spc="-35" dirty="0">
                <a:latin typeface="Calibri"/>
                <a:cs typeface="Calibri"/>
              </a:rPr>
              <a:t> </a:t>
            </a:r>
            <a:r>
              <a:rPr sz="2000" dirty="0">
                <a:latin typeface="Calibri"/>
                <a:cs typeface="Calibri"/>
              </a:rPr>
              <a:t>the</a:t>
            </a:r>
            <a:r>
              <a:rPr sz="2000" spc="-35" dirty="0">
                <a:latin typeface="Calibri"/>
                <a:cs typeface="Calibri"/>
              </a:rPr>
              <a:t> </a:t>
            </a:r>
            <a:r>
              <a:rPr sz="2000" spc="-10" dirty="0">
                <a:latin typeface="Calibri"/>
                <a:cs typeface="Calibri"/>
              </a:rPr>
              <a:t>Internet</a:t>
            </a:r>
            <a:r>
              <a:rPr sz="2000" spc="-35" dirty="0">
                <a:latin typeface="Calibri"/>
                <a:cs typeface="Calibri"/>
              </a:rPr>
              <a:t> by </a:t>
            </a:r>
            <a:r>
              <a:rPr sz="2000" dirty="0">
                <a:latin typeface="Calibri"/>
                <a:cs typeface="Calibri"/>
              </a:rPr>
              <a:t>following</a:t>
            </a:r>
            <a:r>
              <a:rPr sz="2000" spc="-50"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protocol</a:t>
            </a:r>
            <a:r>
              <a:rPr sz="2000" spc="-50" dirty="0">
                <a:latin typeface="Calibri"/>
                <a:cs typeface="Calibri"/>
              </a:rPr>
              <a:t> </a:t>
            </a:r>
            <a:r>
              <a:rPr sz="2000" dirty="0">
                <a:latin typeface="Calibri"/>
                <a:cs typeface="Calibri"/>
              </a:rPr>
              <a:t>built</a:t>
            </a:r>
            <a:r>
              <a:rPr sz="2000" spc="-35" dirty="0">
                <a:latin typeface="Calibri"/>
                <a:cs typeface="Calibri"/>
              </a:rPr>
              <a:t> </a:t>
            </a:r>
            <a:r>
              <a:rPr sz="2000" dirty="0">
                <a:latin typeface="Calibri"/>
                <a:cs typeface="Calibri"/>
              </a:rPr>
              <a:t>on</a:t>
            </a:r>
            <a:r>
              <a:rPr sz="2000" spc="-50" dirty="0">
                <a:latin typeface="Calibri"/>
                <a:cs typeface="Calibri"/>
              </a:rPr>
              <a:t> </a:t>
            </a:r>
            <a:r>
              <a:rPr sz="2000" dirty="0">
                <a:latin typeface="Calibri"/>
                <a:cs typeface="Calibri"/>
              </a:rPr>
              <a:t>top</a:t>
            </a:r>
            <a:r>
              <a:rPr sz="2000" spc="-35" dirty="0">
                <a:latin typeface="Calibri"/>
                <a:cs typeface="Calibri"/>
              </a:rPr>
              <a:t> </a:t>
            </a:r>
            <a:r>
              <a:rPr sz="2000" dirty="0">
                <a:latin typeface="Calibri"/>
                <a:cs typeface="Calibri"/>
              </a:rPr>
              <a:t>of</a:t>
            </a:r>
            <a:r>
              <a:rPr sz="2000" spc="-50" dirty="0">
                <a:latin typeface="Calibri"/>
                <a:cs typeface="Calibri"/>
              </a:rPr>
              <a:t> </a:t>
            </a:r>
            <a:r>
              <a:rPr sz="2000" spc="-20" dirty="0">
                <a:latin typeface="Calibri"/>
                <a:cs typeface="Calibri"/>
              </a:rPr>
              <a:t>TCP/IP</a:t>
            </a:r>
            <a:r>
              <a:rPr sz="2000" spc="-30" dirty="0">
                <a:latin typeface="Calibri"/>
                <a:cs typeface="Calibri"/>
              </a:rPr>
              <a:t> </a:t>
            </a:r>
            <a:r>
              <a:rPr sz="2000" dirty="0">
                <a:latin typeface="Calibri"/>
                <a:cs typeface="Calibri"/>
              </a:rPr>
              <a:t>–</a:t>
            </a:r>
            <a:r>
              <a:rPr sz="2000" spc="-50" dirty="0">
                <a:latin typeface="Calibri"/>
                <a:cs typeface="Calibri"/>
              </a:rPr>
              <a:t> </a:t>
            </a:r>
            <a:r>
              <a:rPr sz="2000" spc="-25" dirty="0">
                <a:solidFill>
                  <a:srgbClr val="E36C09"/>
                </a:solidFill>
                <a:latin typeface="Calibri"/>
                <a:cs typeface="Calibri"/>
              </a:rPr>
              <a:t>HyperText</a:t>
            </a:r>
            <a:r>
              <a:rPr sz="2000" spc="-20" dirty="0">
                <a:solidFill>
                  <a:srgbClr val="E36C09"/>
                </a:solidFill>
                <a:latin typeface="Calibri"/>
                <a:cs typeface="Calibri"/>
              </a:rPr>
              <a:t> </a:t>
            </a:r>
            <a:r>
              <a:rPr sz="2000" spc="-10" dirty="0">
                <a:solidFill>
                  <a:srgbClr val="E36C09"/>
                </a:solidFill>
                <a:latin typeface="Calibri"/>
                <a:cs typeface="Calibri"/>
              </a:rPr>
              <a:t>Transfer </a:t>
            </a:r>
            <a:r>
              <a:rPr sz="2000" dirty="0">
                <a:solidFill>
                  <a:srgbClr val="E36C09"/>
                </a:solidFill>
                <a:latin typeface="Calibri"/>
                <a:cs typeface="Calibri"/>
              </a:rPr>
              <a:t>Protocol</a:t>
            </a:r>
            <a:r>
              <a:rPr sz="2000" spc="-100" dirty="0">
                <a:solidFill>
                  <a:srgbClr val="E36C09"/>
                </a:solidFill>
                <a:latin typeface="Calibri"/>
                <a:cs typeface="Calibri"/>
              </a:rPr>
              <a:t> </a:t>
            </a:r>
            <a:r>
              <a:rPr sz="2000" spc="-10" dirty="0">
                <a:solidFill>
                  <a:srgbClr val="E36C09"/>
                </a:solidFill>
                <a:latin typeface="Calibri"/>
                <a:cs typeface="Calibri"/>
              </a:rPr>
              <a:t>(HTTP)</a:t>
            </a:r>
            <a:endParaRPr sz="2000" dirty="0">
              <a:latin typeface="Calibri"/>
              <a:cs typeface="Calibri"/>
            </a:endParaRPr>
          </a:p>
        </p:txBody>
      </p:sp>
      <p:pic>
        <p:nvPicPr>
          <p:cNvPr id="4" name="object 4"/>
          <p:cNvPicPr/>
          <p:nvPr/>
        </p:nvPicPr>
        <p:blipFill>
          <a:blip r:embed="rId2" cstate="print"/>
          <a:stretch>
            <a:fillRect/>
          </a:stretch>
        </p:blipFill>
        <p:spPr>
          <a:xfrm>
            <a:off x="4223561" y="5424478"/>
            <a:ext cx="3076711" cy="14004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546860">
              <a:lnSpc>
                <a:spcPct val="100000"/>
              </a:lnSpc>
              <a:spcBef>
                <a:spcPts val="105"/>
              </a:spcBef>
            </a:pPr>
            <a:r>
              <a:rPr dirty="0"/>
              <a:t>Basics</a:t>
            </a:r>
            <a:r>
              <a:rPr spc="-50" dirty="0"/>
              <a:t> </a:t>
            </a:r>
            <a:r>
              <a:rPr dirty="0"/>
              <a:t>of</a:t>
            </a:r>
            <a:r>
              <a:rPr spc="-50" dirty="0"/>
              <a:t> </a:t>
            </a:r>
            <a:r>
              <a:rPr dirty="0"/>
              <a:t>the</a:t>
            </a:r>
            <a:r>
              <a:rPr spc="-30" dirty="0"/>
              <a:t> </a:t>
            </a:r>
            <a:r>
              <a:rPr spc="-25" dirty="0"/>
              <a:t>WWW</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6</a:t>
            </a:fld>
            <a:endParaRPr spc="-25" dirty="0"/>
          </a:p>
        </p:txBody>
      </p:sp>
      <p:sp>
        <p:nvSpPr>
          <p:cNvPr id="3" name="object 3"/>
          <p:cNvSpPr txBox="1"/>
          <p:nvPr/>
        </p:nvSpPr>
        <p:spPr>
          <a:xfrm>
            <a:off x="1962664" y="2175827"/>
            <a:ext cx="8062595" cy="2506345"/>
          </a:xfrm>
          <a:prstGeom prst="rect">
            <a:avLst/>
          </a:prstGeom>
        </p:spPr>
        <p:txBody>
          <a:bodyPr vert="horz" wrap="square" lIns="0" tIns="12065" rIns="0" bIns="0" rtlCol="0">
            <a:spAutoFit/>
          </a:bodyPr>
          <a:lstStyle/>
          <a:p>
            <a:pPr marL="355600" marR="120650" indent="-342900">
              <a:spcBef>
                <a:spcPts val="95"/>
              </a:spcBef>
              <a:buFont typeface="Arial"/>
              <a:buChar char="•"/>
              <a:tabLst>
                <a:tab pos="355600" algn="l"/>
              </a:tabLst>
            </a:pPr>
            <a:r>
              <a:rPr sz="2200" b="1" spc="-10" dirty="0">
                <a:solidFill>
                  <a:srgbClr val="E36C09"/>
                </a:solidFill>
                <a:latin typeface="Calibri"/>
                <a:cs typeface="Calibri"/>
              </a:rPr>
              <a:t>Hypertext</a:t>
            </a:r>
            <a:r>
              <a:rPr sz="2200" spc="-10" dirty="0">
                <a:latin typeface="Calibri"/>
                <a:cs typeface="Calibri"/>
              </a:rPr>
              <a:t>: </a:t>
            </a:r>
            <a:r>
              <a:rPr sz="2200" dirty="0">
                <a:latin typeface="Calibri"/>
                <a:cs typeface="Calibri"/>
              </a:rPr>
              <a:t>a</a:t>
            </a:r>
            <a:r>
              <a:rPr sz="2200" spc="-55" dirty="0">
                <a:latin typeface="Calibri"/>
                <a:cs typeface="Calibri"/>
              </a:rPr>
              <a:t> </a:t>
            </a:r>
            <a:r>
              <a:rPr sz="2200" spc="-10" dirty="0">
                <a:latin typeface="Calibri"/>
                <a:cs typeface="Calibri"/>
              </a:rPr>
              <a:t>format</a:t>
            </a:r>
            <a:r>
              <a:rPr sz="2200" spc="-35" dirty="0">
                <a:latin typeface="Calibri"/>
                <a:cs typeface="Calibri"/>
              </a:rPr>
              <a:t> </a:t>
            </a:r>
            <a:r>
              <a:rPr sz="2200" dirty="0">
                <a:latin typeface="Calibri"/>
                <a:cs typeface="Calibri"/>
              </a:rPr>
              <a:t>of</a:t>
            </a:r>
            <a:r>
              <a:rPr sz="2200" spc="-40" dirty="0">
                <a:latin typeface="Calibri"/>
                <a:cs typeface="Calibri"/>
              </a:rPr>
              <a:t> </a:t>
            </a:r>
            <a:r>
              <a:rPr sz="2200" spc="-10" dirty="0">
                <a:latin typeface="Calibri"/>
                <a:cs typeface="Calibri"/>
              </a:rPr>
              <a:t>information</a:t>
            </a:r>
            <a:r>
              <a:rPr sz="2200" spc="-55" dirty="0">
                <a:latin typeface="Calibri"/>
                <a:cs typeface="Calibri"/>
              </a:rPr>
              <a:t> </a:t>
            </a:r>
            <a:r>
              <a:rPr sz="2200" dirty="0">
                <a:latin typeface="Calibri"/>
                <a:cs typeface="Calibri"/>
              </a:rPr>
              <a:t>which</a:t>
            </a:r>
            <a:r>
              <a:rPr sz="2200" spc="-50" dirty="0">
                <a:latin typeface="Calibri"/>
                <a:cs typeface="Calibri"/>
              </a:rPr>
              <a:t> </a:t>
            </a:r>
            <a:r>
              <a:rPr sz="2200" dirty="0">
                <a:latin typeface="Calibri"/>
                <a:cs typeface="Calibri"/>
              </a:rPr>
              <a:t>allows</a:t>
            </a:r>
            <a:r>
              <a:rPr sz="2200" spc="-40" dirty="0">
                <a:latin typeface="Calibri"/>
                <a:cs typeface="Calibri"/>
              </a:rPr>
              <a:t> </a:t>
            </a:r>
            <a:r>
              <a:rPr sz="2200" dirty="0">
                <a:latin typeface="Calibri"/>
                <a:cs typeface="Calibri"/>
              </a:rPr>
              <a:t>one</a:t>
            </a:r>
            <a:r>
              <a:rPr sz="2200" spc="-50" dirty="0">
                <a:latin typeface="Calibri"/>
                <a:cs typeface="Calibri"/>
              </a:rPr>
              <a:t> </a:t>
            </a:r>
            <a:r>
              <a:rPr sz="2200" dirty="0">
                <a:latin typeface="Calibri"/>
                <a:cs typeface="Calibri"/>
              </a:rPr>
              <a:t>to</a:t>
            </a:r>
            <a:r>
              <a:rPr sz="2200" spc="-45" dirty="0">
                <a:latin typeface="Calibri"/>
                <a:cs typeface="Calibri"/>
              </a:rPr>
              <a:t> </a:t>
            </a:r>
            <a:r>
              <a:rPr sz="2200" dirty="0">
                <a:latin typeface="Calibri"/>
                <a:cs typeface="Calibri"/>
              </a:rPr>
              <a:t>move</a:t>
            </a:r>
            <a:r>
              <a:rPr sz="2200" spc="-30" dirty="0">
                <a:latin typeface="Calibri"/>
                <a:cs typeface="Calibri"/>
              </a:rPr>
              <a:t> </a:t>
            </a:r>
            <a:r>
              <a:rPr sz="2200" spc="-20" dirty="0">
                <a:latin typeface="Calibri"/>
                <a:cs typeface="Calibri"/>
              </a:rPr>
              <a:t>from </a:t>
            </a:r>
            <a:r>
              <a:rPr sz="2200" dirty="0">
                <a:latin typeface="Calibri"/>
                <a:cs typeface="Calibri"/>
              </a:rPr>
              <a:t>one</a:t>
            </a:r>
            <a:r>
              <a:rPr sz="2200" spc="-40" dirty="0">
                <a:latin typeface="Calibri"/>
                <a:cs typeface="Calibri"/>
              </a:rPr>
              <a:t> </a:t>
            </a:r>
            <a:r>
              <a:rPr sz="2200" dirty="0">
                <a:latin typeface="Calibri"/>
                <a:cs typeface="Calibri"/>
              </a:rPr>
              <a:t>part</a:t>
            </a:r>
            <a:r>
              <a:rPr sz="2200" spc="-45" dirty="0">
                <a:latin typeface="Calibri"/>
                <a:cs typeface="Calibri"/>
              </a:rPr>
              <a:t> </a:t>
            </a:r>
            <a:r>
              <a:rPr sz="2200" dirty="0">
                <a:latin typeface="Calibri"/>
                <a:cs typeface="Calibri"/>
              </a:rPr>
              <a:t>of</a:t>
            </a:r>
            <a:r>
              <a:rPr sz="2200" spc="-40" dirty="0">
                <a:latin typeface="Calibri"/>
                <a:cs typeface="Calibri"/>
              </a:rPr>
              <a:t> </a:t>
            </a:r>
            <a:r>
              <a:rPr sz="2200" dirty="0">
                <a:latin typeface="Calibri"/>
                <a:cs typeface="Calibri"/>
              </a:rPr>
              <a:t>a</a:t>
            </a:r>
            <a:r>
              <a:rPr sz="2200" spc="-45" dirty="0">
                <a:latin typeface="Calibri"/>
                <a:cs typeface="Calibri"/>
              </a:rPr>
              <a:t> </a:t>
            </a:r>
            <a:r>
              <a:rPr sz="2200" spc="-10" dirty="0">
                <a:latin typeface="Calibri"/>
                <a:cs typeface="Calibri"/>
              </a:rPr>
              <a:t>document</a:t>
            </a:r>
            <a:r>
              <a:rPr sz="2200" spc="-35" dirty="0">
                <a:latin typeface="Calibri"/>
                <a:cs typeface="Calibri"/>
              </a:rPr>
              <a:t> </a:t>
            </a:r>
            <a:r>
              <a:rPr sz="2200" dirty="0">
                <a:latin typeface="Calibri"/>
                <a:cs typeface="Calibri"/>
              </a:rPr>
              <a:t>to</a:t>
            </a:r>
            <a:r>
              <a:rPr sz="2200" spc="-20" dirty="0">
                <a:latin typeface="Calibri"/>
                <a:cs typeface="Calibri"/>
              </a:rPr>
              <a:t> </a:t>
            </a:r>
            <a:r>
              <a:rPr sz="2200" dirty="0">
                <a:latin typeface="Calibri"/>
                <a:cs typeface="Calibri"/>
              </a:rPr>
              <a:t>another</a:t>
            </a:r>
            <a:r>
              <a:rPr sz="2200" spc="-50" dirty="0">
                <a:latin typeface="Calibri"/>
                <a:cs typeface="Calibri"/>
              </a:rPr>
              <a:t> </a:t>
            </a:r>
            <a:r>
              <a:rPr sz="2200" dirty="0">
                <a:latin typeface="Calibri"/>
                <a:cs typeface="Calibri"/>
              </a:rPr>
              <a:t>or</a:t>
            </a:r>
            <a:r>
              <a:rPr sz="2200" spc="-40" dirty="0">
                <a:latin typeface="Calibri"/>
                <a:cs typeface="Calibri"/>
              </a:rPr>
              <a:t> </a:t>
            </a:r>
            <a:r>
              <a:rPr sz="2200" dirty="0">
                <a:latin typeface="Calibri"/>
                <a:cs typeface="Calibri"/>
              </a:rPr>
              <a:t>from</a:t>
            </a:r>
            <a:r>
              <a:rPr sz="2200" spc="-40" dirty="0">
                <a:latin typeface="Calibri"/>
                <a:cs typeface="Calibri"/>
              </a:rPr>
              <a:t> </a:t>
            </a:r>
            <a:r>
              <a:rPr sz="2200" dirty="0">
                <a:latin typeface="Calibri"/>
                <a:cs typeface="Calibri"/>
              </a:rPr>
              <a:t>one</a:t>
            </a:r>
            <a:r>
              <a:rPr sz="2200" spc="-40" dirty="0">
                <a:latin typeface="Calibri"/>
                <a:cs typeface="Calibri"/>
              </a:rPr>
              <a:t> </a:t>
            </a:r>
            <a:r>
              <a:rPr sz="2200" dirty="0">
                <a:latin typeface="Calibri"/>
                <a:cs typeface="Calibri"/>
              </a:rPr>
              <a:t>document</a:t>
            </a:r>
            <a:r>
              <a:rPr sz="2200" spc="-20" dirty="0">
                <a:latin typeface="Calibri"/>
                <a:cs typeface="Calibri"/>
              </a:rPr>
              <a:t> </a:t>
            </a:r>
            <a:r>
              <a:rPr sz="2200" spc="-25" dirty="0">
                <a:latin typeface="Calibri"/>
                <a:cs typeface="Calibri"/>
              </a:rPr>
              <a:t>to </a:t>
            </a:r>
            <a:r>
              <a:rPr sz="2200" dirty="0">
                <a:latin typeface="Calibri"/>
                <a:cs typeface="Calibri"/>
              </a:rPr>
              <a:t>another</a:t>
            </a:r>
            <a:r>
              <a:rPr sz="2200" spc="-65" dirty="0">
                <a:latin typeface="Calibri"/>
                <a:cs typeface="Calibri"/>
              </a:rPr>
              <a:t> </a:t>
            </a:r>
            <a:r>
              <a:rPr sz="2200" dirty="0">
                <a:latin typeface="Calibri"/>
                <a:cs typeface="Calibri"/>
              </a:rPr>
              <a:t>through</a:t>
            </a:r>
            <a:r>
              <a:rPr sz="2200" spc="-50" dirty="0">
                <a:latin typeface="Calibri"/>
                <a:cs typeface="Calibri"/>
              </a:rPr>
              <a:t> </a:t>
            </a:r>
            <a:r>
              <a:rPr sz="2200" spc="-10" dirty="0">
                <a:latin typeface="Calibri"/>
                <a:cs typeface="Calibri"/>
              </a:rPr>
              <a:t>hyperlinks</a:t>
            </a:r>
            <a:endParaRPr sz="2200" dirty="0">
              <a:latin typeface="Calibri"/>
              <a:cs typeface="Calibri"/>
            </a:endParaRPr>
          </a:p>
          <a:p>
            <a:pPr marL="354965" indent="-342265">
              <a:spcBef>
                <a:spcPts val="525"/>
              </a:spcBef>
              <a:buFont typeface="Arial"/>
              <a:buChar char="•"/>
              <a:tabLst>
                <a:tab pos="354965" algn="l"/>
              </a:tabLst>
            </a:pPr>
            <a:r>
              <a:rPr sz="2200" b="1" dirty="0">
                <a:solidFill>
                  <a:srgbClr val="E36C09"/>
                </a:solidFill>
                <a:latin typeface="Calibri"/>
                <a:cs typeface="Calibri"/>
              </a:rPr>
              <a:t>Uniform</a:t>
            </a:r>
            <a:r>
              <a:rPr sz="2200" b="1" spc="-75" dirty="0">
                <a:solidFill>
                  <a:srgbClr val="E36C09"/>
                </a:solidFill>
                <a:latin typeface="Calibri"/>
                <a:cs typeface="Calibri"/>
              </a:rPr>
              <a:t> </a:t>
            </a:r>
            <a:r>
              <a:rPr sz="2200" b="1" dirty="0">
                <a:solidFill>
                  <a:srgbClr val="E36C09"/>
                </a:solidFill>
                <a:latin typeface="Calibri"/>
                <a:cs typeface="Calibri"/>
              </a:rPr>
              <a:t>Resource</a:t>
            </a:r>
            <a:r>
              <a:rPr sz="2200" b="1" spc="-50" dirty="0">
                <a:solidFill>
                  <a:srgbClr val="E36C09"/>
                </a:solidFill>
                <a:latin typeface="Calibri"/>
                <a:cs typeface="Calibri"/>
              </a:rPr>
              <a:t> </a:t>
            </a:r>
            <a:r>
              <a:rPr sz="2200" b="1" dirty="0">
                <a:solidFill>
                  <a:srgbClr val="E36C09"/>
                </a:solidFill>
                <a:latin typeface="Calibri"/>
                <a:cs typeface="Calibri"/>
              </a:rPr>
              <a:t>Locator</a:t>
            </a:r>
            <a:r>
              <a:rPr sz="2200" b="1" spc="-55" dirty="0">
                <a:solidFill>
                  <a:srgbClr val="E36C09"/>
                </a:solidFill>
                <a:latin typeface="Calibri"/>
                <a:cs typeface="Calibri"/>
              </a:rPr>
              <a:t> </a:t>
            </a:r>
            <a:r>
              <a:rPr sz="2200" b="1" dirty="0">
                <a:solidFill>
                  <a:srgbClr val="E36C09"/>
                </a:solidFill>
                <a:latin typeface="Calibri"/>
                <a:cs typeface="Calibri"/>
              </a:rPr>
              <a:t>(URL)</a:t>
            </a:r>
            <a:r>
              <a:rPr sz="2200" dirty="0">
                <a:latin typeface="Calibri"/>
                <a:cs typeface="Calibri"/>
              </a:rPr>
              <a:t>:</a:t>
            </a:r>
            <a:r>
              <a:rPr sz="2200" spc="-75" dirty="0">
                <a:latin typeface="Calibri"/>
                <a:cs typeface="Calibri"/>
              </a:rPr>
              <a:t> </a:t>
            </a:r>
            <a:r>
              <a:rPr sz="2200" dirty="0">
                <a:latin typeface="Calibri"/>
                <a:cs typeface="Calibri"/>
              </a:rPr>
              <a:t>unique</a:t>
            </a:r>
            <a:r>
              <a:rPr sz="2200" spc="-100" dirty="0">
                <a:latin typeface="Calibri"/>
                <a:cs typeface="Calibri"/>
              </a:rPr>
              <a:t> </a:t>
            </a:r>
            <a:r>
              <a:rPr sz="2200" dirty="0">
                <a:latin typeface="Calibri"/>
                <a:cs typeface="Calibri"/>
              </a:rPr>
              <a:t>identifiers</a:t>
            </a:r>
            <a:r>
              <a:rPr sz="2200" spc="-90" dirty="0">
                <a:latin typeface="Calibri"/>
                <a:cs typeface="Calibri"/>
              </a:rPr>
              <a:t> </a:t>
            </a:r>
            <a:r>
              <a:rPr sz="2200" dirty="0">
                <a:latin typeface="Calibri"/>
                <a:cs typeface="Calibri"/>
              </a:rPr>
              <a:t>used</a:t>
            </a:r>
            <a:r>
              <a:rPr sz="2200" spc="-95" dirty="0">
                <a:latin typeface="Calibri"/>
                <a:cs typeface="Calibri"/>
              </a:rPr>
              <a:t> </a:t>
            </a:r>
            <a:r>
              <a:rPr sz="2200" dirty="0">
                <a:latin typeface="Calibri"/>
                <a:cs typeface="Calibri"/>
              </a:rPr>
              <a:t>to</a:t>
            </a:r>
            <a:r>
              <a:rPr sz="2200" spc="-85" dirty="0">
                <a:latin typeface="Calibri"/>
                <a:cs typeface="Calibri"/>
              </a:rPr>
              <a:t> </a:t>
            </a:r>
            <a:r>
              <a:rPr sz="2200" dirty="0">
                <a:latin typeface="Calibri"/>
                <a:cs typeface="Calibri"/>
              </a:rPr>
              <a:t>locate</a:t>
            </a:r>
            <a:r>
              <a:rPr sz="2200" spc="-85" dirty="0">
                <a:latin typeface="Calibri"/>
                <a:cs typeface="Calibri"/>
              </a:rPr>
              <a:t> </a:t>
            </a:r>
            <a:r>
              <a:rPr sz="2200" spc="-50" dirty="0">
                <a:latin typeface="Calibri"/>
                <a:cs typeface="Calibri"/>
              </a:rPr>
              <a:t>a</a:t>
            </a:r>
            <a:endParaRPr sz="2200" dirty="0">
              <a:latin typeface="Calibri"/>
              <a:cs typeface="Calibri"/>
            </a:endParaRPr>
          </a:p>
          <a:p>
            <a:pPr marL="355600">
              <a:spcBef>
                <a:spcPts val="5"/>
              </a:spcBef>
            </a:pPr>
            <a:r>
              <a:rPr sz="2200" dirty="0">
                <a:latin typeface="Calibri"/>
                <a:cs typeface="Calibri"/>
              </a:rPr>
              <a:t>particular</a:t>
            </a:r>
            <a:r>
              <a:rPr sz="2200" spc="-70" dirty="0">
                <a:latin typeface="Calibri"/>
                <a:cs typeface="Calibri"/>
              </a:rPr>
              <a:t> </a:t>
            </a:r>
            <a:r>
              <a:rPr sz="2200" dirty="0">
                <a:latin typeface="Calibri"/>
                <a:cs typeface="Calibri"/>
              </a:rPr>
              <a:t>resource</a:t>
            </a:r>
            <a:r>
              <a:rPr sz="2200" spc="-40" dirty="0">
                <a:latin typeface="Calibri"/>
                <a:cs typeface="Calibri"/>
              </a:rPr>
              <a:t> </a:t>
            </a:r>
            <a:r>
              <a:rPr sz="2200" dirty="0">
                <a:latin typeface="Calibri"/>
                <a:cs typeface="Calibri"/>
              </a:rPr>
              <a:t>on</a:t>
            </a:r>
            <a:r>
              <a:rPr sz="2200" spc="-40" dirty="0">
                <a:latin typeface="Calibri"/>
                <a:cs typeface="Calibri"/>
              </a:rPr>
              <a:t> </a:t>
            </a:r>
            <a:r>
              <a:rPr sz="2200" dirty="0">
                <a:latin typeface="Calibri"/>
                <a:cs typeface="Calibri"/>
              </a:rPr>
              <a:t>the</a:t>
            </a:r>
            <a:r>
              <a:rPr sz="2200" spc="-30" dirty="0">
                <a:latin typeface="Calibri"/>
                <a:cs typeface="Calibri"/>
              </a:rPr>
              <a:t> </a:t>
            </a:r>
            <a:r>
              <a:rPr sz="2200" spc="-10" dirty="0">
                <a:latin typeface="Calibri"/>
                <a:cs typeface="Calibri"/>
              </a:rPr>
              <a:t>network</a:t>
            </a:r>
            <a:endParaRPr sz="2200" dirty="0">
              <a:latin typeface="Calibri"/>
              <a:cs typeface="Calibri"/>
            </a:endParaRPr>
          </a:p>
          <a:p>
            <a:pPr marL="355600" marR="298450" indent="-342900">
              <a:spcBef>
                <a:spcPts val="525"/>
              </a:spcBef>
              <a:buFont typeface="Arial"/>
              <a:buChar char="•"/>
              <a:tabLst>
                <a:tab pos="355600" algn="l"/>
              </a:tabLst>
            </a:pPr>
            <a:r>
              <a:rPr sz="2200" b="1" dirty="0">
                <a:solidFill>
                  <a:srgbClr val="E36C09"/>
                </a:solidFill>
                <a:latin typeface="Calibri"/>
                <a:cs typeface="Calibri"/>
              </a:rPr>
              <a:t>Markup</a:t>
            </a:r>
            <a:r>
              <a:rPr sz="2200" b="1" spc="-65" dirty="0">
                <a:solidFill>
                  <a:srgbClr val="E36C09"/>
                </a:solidFill>
                <a:latin typeface="Calibri"/>
                <a:cs typeface="Calibri"/>
              </a:rPr>
              <a:t> </a:t>
            </a:r>
            <a:r>
              <a:rPr sz="2200" b="1" dirty="0">
                <a:solidFill>
                  <a:srgbClr val="E36C09"/>
                </a:solidFill>
                <a:latin typeface="Calibri"/>
                <a:cs typeface="Calibri"/>
              </a:rPr>
              <a:t>language</a:t>
            </a:r>
            <a:r>
              <a:rPr sz="2200" dirty="0">
                <a:latin typeface="Calibri"/>
                <a:cs typeface="Calibri"/>
              </a:rPr>
              <a:t>:</a:t>
            </a:r>
            <a:r>
              <a:rPr sz="2200" spc="-50" dirty="0">
                <a:latin typeface="Calibri"/>
                <a:cs typeface="Calibri"/>
              </a:rPr>
              <a:t> </a:t>
            </a:r>
            <a:r>
              <a:rPr sz="2200" dirty="0">
                <a:latin typeface="Calibri"/>
                <a:cs typeface="Calibri"/>
              </a:rPr>
              <a:t>defines</a:t>
            </a:r>
            <a:r>
              <a:rPr sz="2200" spc="-55" dirty="0">
                <a:latin typeface="Calibri"/>
                <a:cs typeface="Calibri"/>
              </a:rPr>
              <a:t> </a:t>
            </a:r>
            <a:r>
              <a:rPr sz="2200" dirty="0">
                <a:latin typeface="Calibri"/>
                <a:cs typeface="Calibri"/>
              </a:rPr>
              <a:t>the</a:t>
            </a:r>
            <a:r>
              <a:rPr sz="2200" spc="-50" dirty="0">
                <a:latin typeface="Calibri"/>
                <a:cs typeface="Calibri"/>
              </a:rPr>
              <a:t> </a:t>
            </a:r>
            <a:r>
              <a:rPr sz="2200" dirty="0">
                <a:latin typeface="Calibri"/>
                <a:cs typeface="Calibri"/>
              </a:rPr>
              <a:t>structure</a:t>
            </a:r>
            <a:r>
              <a:rPr sz="2200" spc="-65" dirty="0">
                <a:latin typeface="Calibri"/>
                <a:cs typeface="Calibri"/>
              </a:rPr>
              <a:t> </a:t>
            </a:r>
            <a:r>
              <a:rPr sz="2200" dirty="0">
                <a:latin typeface="Calibri"/>
                <a:cs typeface="Calibri"/>
              </a:rPr>
              <a:t>and</a:t>
            </a:r>
            <a:r>
              <a:rPr sz="2200" spc="-80" dirty="0">
                <a:latin typeface="Calibri"/>
                <a:cs typeface="Calibri"/>
              </a:rPr>
              <a:t> </a:t>
            </a:r>
            <a:r>
              <a:rPr sz="2200" spc="-10" dirty="0">
                <a:latin typeface="Calibri"/>
                <a:cs typeface="Calibri"/>
              </a:rPr>
              <a:t>content</a:t>
            </a:r>
            <a:r>
              <a:rPr sz="2200" spc="-40" dirty="0">
                <a:latin typeface="Calibri"/>
                <a:cs typeface="Calibri"/>
              </a:rPr>
              <a:t> </a:t>
            </a:r>
            <a:r>
              <a:rPr sz="2200" dirty="0">
                <a:latin typeface="Calibri"/>
                <a:cs typeface="Calibri"/>
              </a:rPr>
              <a:t>of</a:t>
            </a:r>
            <a:r>
              <a:rPr sz="2200" spc="-55" dirty="0">
                <a:latin typeface="Calibri"/>
                <a:cs typeface="Calibri"/>
              </a:rPr>
              <a:t> </a:t>
            </a:r>
            <a:r>
              <a:rPr sz="2200" spc="-10" dirty="0">
                <a:latin typeface="Calibri"/>
                <a:cs typeface="Calibri"/>
              </a:rPr>
              <a:t>hypertext documents</a:t>
            </a:r>
            <a:endParaRPr sz="22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6186" y="442896"/>
            <a:ext cx="6311669" cy="752129"/>
          </a:xfrm>
          <a:prstGeom prst="rect">
            <a:avLst/>
          </a:prstGeom>
        </p:spPr>
        <p:txBody>
          <a:bodyPr vert="horz" wrap="square" lIns="0" tIns="13335" rIns="0" bIns="0" rtlCol="0" anchor="ctr">
            <a:spAutoFit/>
          </a:bodyPr>
          <a:lstStyle/>
          <a:p>
            <a:pPr marL="12700">
              <a:lnSpc>
                <a:spcPct val="100000"/>
              </a:lnSpc>
              <a:spcBef>
                <a:spcPts val="105"/>
              </a:spcBef>
            </a:pPr>
            <a:r>
              <a:rPr dirty="0"/>
              <a:t>Web</a:t>
            </a:r>
            <a:r>
              <a:rPr spc="-130" dirty="0"/>
              <a:t> </a:t>
            </a:r>
            <a:r>
              <a:rPr dirty="0"/>
              <a:t>Client:</a:t>
            </a:r>
            <a:r>
              <a:rPr spc="-120" dirty="0"/>
              <a:t> </a:t>
            </a:r>
            <a:r>
              <a:rPr spc="-10" dirty="0"/>
              <a:t>Browser</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7</a:t>
            </a:fld>
            <a:endParaRPr spc="-25" dirty="0"/>
          </a:p>
        </p:txBody>
      </p:sp>
      <p:sp>
        <p:nvSpPr>
          <p:cNvPr id="3" name="object 3"/>
          <p:cNvSpPr txBox="1"/>
          <p:nvPr/>
        </p:nvSpPr>
        <p:spPr>
          <a:xfrm>
            <a:off x="2088197" y="1977640"/>
            <a:ext cx="8865147" cy="3278462"/>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dirty="0">
                <a:latin typeface="Calibri"/>
                <a:cs typeface="Calibri"/>
              </a:rPr>
              <a:t>Makes</a:t>
            </a:r>
            <a:r>
              <a:rPr sz="2200" spc="-40" dirty="0">
                <a:latin typeface="Calibri"/>
                <a:cs typeface="Calibri"/>
              </a:rPr>
              <a:t> </a:t>
            </a:r>
            <a:r>
              <a:rPr sz="2200" dirty="0">
                <a:solidFill>
                  <a:srgbClr val="E36C09"/>
                </a:solidFill>
                <a:latin typeface="Calibri"/>
                <a:cs typeface="Calibri"/>
              </a:rPr>
              <a:t>HTTP</a:t>
            </a:r>
            <a:r>
              <a:rPr sz="2200" spc="-15" dirty="0">
                <a:solidFill>
                  <a:srgbClr val="E36C09"/>
                </a:solidFill>
                <a:latin typeface="Calibri"/>
                <a:cs typeface="Calibri"/>
              </a:rPr>
              <a:t> </a:t>
            </a:r>
            <a:r>
              <a:rPr sz="2200" spc="-10" dirty="0">
                <a:solidFill>
                  <a:srgbClr val="E36C09"/>
                </a:solidFill>
                <a:latin typeface="Calibri"/>
                <a:cs typeface="Calibri"/>
              </a:rPr>
              <a:t>requests</a:t>
            </a:r>
            <a:r>
              <a:rPr sz="2200" spc="-30" dirty="0">
                <a:solidFill>
                  <a:srgbClr val="E36C09"/>
                </a:solidFill>
                <a:latin typeface="Calibri"/>
                <a:cs typeface="Calibri"/>
              </a:rPr>
              <a:t> </a:t>
            </a:r>
            <a:r>
              <a:rPr sz="2200" dirty="0">
                <a:latin typeface="Calibri"/>
                <a:cs typeface="Calibri"/>
              </a:rPr>
              <a:t>on</a:t>
            </a:r>
            <a:r>
              <a:rPr sz="2200" spc="-50" dirty="0">
                <a:latin typeface="Calibri"/>
                <a:cs typeface="Calibri"/>
              </a:rPr>
              <a:t> </a:t>
            </a:r>
            <a:r>
              <a:rPr sz="2200" dirty="0">
                <a:latin typeface="Calibri"/>
                <a:cs typeface="Calibri"/>
              </a:rPr>
              <a:t>behalf</a:t>
            </a:r>
            <a:r>
              <a:rPr sz="2200" spc="-40" dirty="0">
                <a:latin typeface="Calibri"/>
                <a:cs typeface="Calibri"/>
              </a:rPr>
              <a:t> </a:t>
            </a:r>
            <a:r>
              <a:rPr sz="2200" dirty="0">
                <a:latin typeface="Calibri"/>
                <a:cs typeface="Calibri"/>
              </a:rPr>
              <a:t>of</a:t>
            </a:r>
            <a:r>
              <a:rPr sz="2200" spc="-40" dirty="0">
                <a:latin typeface="Calibri"/>
                <a:cs typeface="Calibri"/>
              </a:rPr>
              <a:t> </a:t>
            </a:r>
            <a:r>
              <a:rPr sz="2200" dirty="0">
                <a:latin typeface="Calibri"/>
                <a:cs typeface="Calibri"/>
              </a:rPr>
              <a:t>the</a:t>
            </a:r>
            <a:r>
              <a:rPr sz="2200" spc="-45" dirty="0">
                <a:latin typeface="Calibri"/>
                <a:cs typeface="Calibri"/>
              </a:rPr>
              <a:t> </a:t>
            </a:r>
            <a:r>
              <a:rPr sz="2200" spc="-20" dirty="0">
                <a:latin typeface="Calibri"/>
                <a:cs typeface="Calibri"/>
              </a:rPr>
              <a:t>user</a:t>
            </a:r>
            <a:endParaRPr sz="2200" dirty="0">
              <a:latin typeface="Calibri"/>
              <a:cs typeface="Calibri"/>
            </a:endParaRPr>
          </a:p>
          <a:p>
            <a:pPr marL="756285" lvl="1" indent="-286385">
              <a:spcBef>
                <a:spcPts val="490"/>
              </a:spcBef>
              <a:buFont typeface="Arial"/>
              <a:buChar char="–"/>
              <a:tabLst>
                <a:tab pos="756285" algn="l"/>
              </a:tabLst>
            </a:pPr>
            <a:r>
              <a:rPr sz="2000" spc="-10" dirty="0">
                <a:latin typeface="Calibri"/>
                <a:cs typeface="Calibri"/>
              </a:rPr>
              <a:t>Reformat</a:t>
            </a:r>
            <a:r>
              <a:rPr sz="2000" spc="-35"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URL</a:t>
            </a:r>
            <a:r>
              <a:rPr sz="2000" spc="-40" dirty="0">
                <a:latin typeface="Calibri"/>
                <a:cs typeface="Calibri"/>
              </a:rPr>
              <a:t> </a:t>
            </a:r>
            <a:r>
              <a:rPr sz="2000" spc="-10" dirty="0">
                <a:latin typeface="Calibri"/>
                <a:cs typeface="Calibri"/>
              </a:rPr>
              <a:t>entered</a:t>
            </a:r>
            <a:r>
              <a:rPr sz="2000" spc="-30" dirty="0">
                <a:latin typeface="Calibri"/>
                <a:cs typeface="Calibri"/>
              </a:rPr>
              <a:t> </a:t>
            </a:r>
            <a:r>
              <a:rPr sz="2000" dirty="0">
                <a:latin typeface="Calibri"/>
                <a:cs typeface="Calibri"/>
              </a:rPr>
              <a:t>as</a:t>
            </a:r>
            <a:r>
              <a:rPr sz="2000" spc="-35" dirty="0">
                <a:latin typeface="Calibri"/>
                <a:cs typeface="Calibri"/>
              </a:rPr>
              <a:t> </a:t>
            </a:r>
            <a:r>
              <a:rPr sz="2000" dirty="0">
                <a:latin typeface="Calibri"/>
                <a:cs typeface="Calibri"/>
              </a:rPr>
              <a:t>a</a:t>
            </a:r>
            <a:r>
              <a:rPr sz="2000" spc="-25" dirty="0">
                <a:latin typeface="Calibri"/>
                <a:cs typeface="Calibri"/>
              </a:rPr>
              <a:t> </a:t>
            </a:r>
            <a:r>
              <a:rPr sz="2000" dirty="0">
                <a:latin typeface="Calibri"/>
                <a:cs typeface="Calibri"/>
              </a:rPr>
              <a:t>valid</a:t>
            </a:r>
            <a:r>
              <a:rPr sz="2000" spc="-15" dirty="0">
                <a:latin typeface="Calibri"/>
                <a:cs typeface="Calibri"/>
              </a:rPr>
              <a:t> </a:t>
            </a:r>
            <a:r>
              <a:rPr sz="2000" dirty="0">
                <a:solidFill>
                  <a:srgbClr val="E36C09"/>
                </a:solidFill>
                <a:latin typeface="Calibri"/>
                <a:cs typeface="Calibri"/>
              </a:rPr>
              <a:t>HTTP</a:t>
            </a:r>
            <a:r>
              <a:rPr sz="2000" spc="-25" dirty="0">
                <a:solidFill>
                  <a:srgbClr val="E36C09"/>
                </a:solidFill>
                <a:latin typeface="Calibri"/>
                <a:cs typeface="Calibri"/>
              </a:rPr>
              <a:t> </a:t>
            </a:r>
            <a:r>
              <a:rPr sz="2000" spc="-10" dirty="0">
                <a:solidFill>
                  <a:srgbClr val="E36C09"/>
                </a:solidFill>
                <a:latin typeface="Calibri"/>
                <a:cs typeface="Calibri"/>
              </a:rPr>
              <a:t>request</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Use</a:t>
            </a:r>
            <a:r>
              <a:rPr sz="2000" spc="-40" dirty="0">
                <a:latin typeface="Calibri"/>
                <a:cs typeface="Calibri"/>
              </a:rPr>
              <a:t> </a:t>
            </a:r>
            <a:r>
              <a:rPr sz="2000" dirty="0">
                <a:solidFill>
                  <a:srgbClr val="E36C09"/>
                </a:solidFill>
                <a:latin typeface="Calibri"/>
                <a:cs typeface="Calibri"/>
              </a:rPr>
              <a:t>DNS</a:t>
            </a:r>
            <a:r>
              <a:rPr sz="2000" spc="-50" dirty="0">
                <a:solidFill>
                  <a:srgbClr val="E36C09"/>
                </a:solidFill>
                <a:latin typeface="Calibri"/>
                <a:cs typeface="Calibri"/>
              </a:rPr>
              <a:t> </a:t>
            </a:r>
            <a:r>
              <a:rPr sz="2000" dirty="0">
                <a:latin typeface="Calibri"/>
                <a:cs typeface="Calibri"/>
              </a:rPr>
              <a:t>to</a:t>
            </a:r>
            <a:r>
              <a:rPr sz="2000" spc="-55" dirty="0">
                <a:latin typeface="Calibri"/>
                <a:cs typeface="Calibri"/>
              </a:rPr>
              <a:t> </a:t>
            </a:r>
            <a:r>
              <a:rPr sz="2000" dirty="0">
                <a:latin typeface="Calibri"/>
                <a:cs typeface="Calibri"/>
              </a:rPr>
              <a:t>convert</a:t>
            </a:r>
            <a:r>
              <a:rPr sz="2000" spc="-45" dirty="0">
                <a:latin typeface="Calibri"/>
                <a:cs typeface="Calibri"/>
              </a:rPr>
              <a:t> </a:t>
            </a:r>
            <a:r>
              <a:rPr sz="2000" dirty="0">
                <a:latin typeface="Calibri"/>
                <a:cs typeface="Calibri"/>
              </a:rPr>
              <a:t>server’s</a:t>
            </a:r>
            <a:r>
              <a:rPr sz="2000" spc="-25" dirty="0">
                <a:latin typeface="Calibri"/>
                <a:cs typeface="Calibri"/>
              </a:rPr>
              <a:t> </a:t>
            </a:r>
            <a:r>
              <a:rPr sz="2000" dirty="0">
                <a:latin typeface="Calibri"/>
                <a:cs typeface="Calibri"/>
              </a:rPr>
              <a:t>host</a:t>
            </a:r>
            <a:r>
              <a:rPr sz="2000" spc="-50" dirty="0">
                <a:latin typeface="Calibri"/>
                <a:cs typeface="Calibri"/>
              </a:rPr>
              <a:t> </a:t>
            </a:r>
            <a:r>
              <a:rPr sz="2000" dirty="0">
                <a:latin typeface="Calibri"/>
                <a:cs typeface="Calibri"/>
              </a:rPr>
              <a:t>name</a:t>
            </a:r>
            <a:r>
              <a:rPr sz="2000" spc="-45" dirty="0">
                <a:latin typeface="Calibri"/>
                <a:cs typeface="Calibri"/>
              </a:rPr>
              <a:t> </a:t>
            </a:r>
            <a:r>
              <a:rPr sz="2000" dirty="0">
                <a:latin typeface="Calibri"/>
                <a:cs typeface="Calibri"/>
              </a:rPr>
              <a:t>to</a:t>
            </a:r>
            <a:r>
              <a:rPr sz="2000" spc="-45" dirty="0">
                <a:latin typeface="Calibri"/>
                <a:cs typeface="Calibri"/>
              </a:rPr>
              <a:t> </a:t>
            </a:r>
            <a:r>
              <a:rPr sz="2000" spc="-10" dirty="0">
                <a:latin typeface="Calibri"/>
                <a:cs typeface="Calibri"/>
              </a:rPr>
              <a:t>appropriate</a:t>
            </a:r>
            <a:r>
              <a:rPr sz="2000" spc="-45" dirty="0">
                <a:latin typeface="Calibri"/>
                <a:cs typeface="Calibri"/>
              </a:rPr>
              <a:t> </a:t>
            </a:r>
            <a:r>
              <a:rPr sz="2000" dirty="0">
                <a:latin typeface="Calibri"/>
                <a:cs typeface="Calibri"/>
              </a:rPr>
              <a:t>IP</a:t>
            </a:r>
            <a:r>
              <a:rPr sz="2000" spc="-45" dirty="0">
                <a:latin typeface="Calibri"/>
                <a:cs typeface="Calibri"/>
              </a:rPr>
              <a:t> </a:t>
            </a:r>
            <a:r>
              <a:rPr sz="2000" spc="-10" dirty="0">
                <a:latin typeface="Calibri"/>
                <a:cs typeface="Calibri"/>
              </a:rPr>
              <a:t>address</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Establish</a:t>
            </a:r>
            <a:r>
              <a:rPr sz="2000" spc="-35" dirty="0">
                <a:latin typeface="Calibri"/>
                <a:cs typeface="Calibri"/>
              </a:rPr>
              <a:t> </a:t>
            </a:r>
            <a:r>
              <a:rPr sz="2000" dirty="0">
                <a:latin typeface="Calibri"/>
                <a:cs typeface="Calibri"/>
              </a:rPr>
              <a:t>a</a:t>
            </a:r>
            <a:r>
              <a:rPr sz="2000" spc="-50" dirty="0">
                <a:latin typeface="Calibri"/>
                <a:cs typeface="Calibri"/>
              </a:rPr>
              <a:t> </a:t>
            </a:r>
            <a:r>
              <a:rPr sz="2000" dirty="0">
                <a:solidFill>
                  <a:srgbClr val="E36C09"/>
                </a:solidFill>
                <a:latin typeface="Calibri"/>
                <a:cs typeface="Calibri"/>
              </a:rPr>
              <a:t>TCP</a:t>
            </a:r>
            <a:r>
              <a:rPr sz="2000" spc="-45" dirty="0">
                <a:solidFill>
                  <a:srgbClr val="E36C09"/>
                </a:solidFill>
                <a:latin typeface="Calibri"/>
                <a:cs typeface="Calibri"/>
              </a:rPr>
              <a:t> </a:t>
            </a:r>
            <a:r>
              <a:rPr sz="2000" dirty="0">
                <a:solidFill>
                  <a:srgbClr val="E36C09"/>
                </a:solidFill>
                <a:latin typeface="Calibri"/>
                <a:cs typeface="Calibri"/>
              </a:rPr>
              <a:t>connection</a:t>
            </a:r>
            <a:r>
              <a:rPr sz="2000" spc="-70" dirty="0">
                <a:solidFill>
                  <a:srgbClr val="E36C09"/>
                </a:solidFill>
                <a:latin typeface="Calibri"/>
                <a:cs typeface="Calibri"/>
              </a:rPr>
              <a:t> </a:t>
            </a:r>
            <a:r>
              <a:rPr sz="2000" dirty="0">
                <a:solidFill>
                  <a:srgbClr val="E36C09"/>
                </a:solidFill>
                <a:latin typeface="Calibri"/>
                <a:cs typeface="Calibri"/>
              </a:rPr>
              <a:t>using</a:t>
            </a:r>
            <a:r>
              <a:rPr sz="2000" spc="-40" dirty="0">
                <a:solidFill>
                  <a:srgbClr val="E36C09"/>
                </a:solidFill>
                <a:latin typeface="Calibri"/>
                <a:cs typeface="Calibri"/>
              </a:rPr>
              <a:t> </a:t>
            </a:r>
            <a:r>
              <a:rPr sz="2000" dirty="0">
                <a:solidFill>
                  <a:srgbClr val="E36C09"/>
                </a:solidFill>
                <a:latin typeface="Calibri"/>
                <a:cs typeface="Calibri"/>
              </a:rPr>
              <a:t>the</a:t>
            </a:r>
            <a:r>
              <a:rPr sz="2000" spc="-55" dirty="0">
                <a:solidFill>
                  <a:srgbClr val="E36C09"/>
                </a:solidFill>
                <a:latin typeface="Calibri"/>
                <a:cs typeface="Calibri"/>
              </a:rPr>
              <a:t> </a:t>
            </a:r>
            <a:r>
              <a:rPr sz="2000" dirty="0">
                <a:solidFill>
                  <a:srgbClr val="E36C09"/>
                </a:solidFill>
                <a:latin typeface="Calibri"/>
                <a:cs typeface="Calibri"/>
              </a:rPr>
              <a:t>IP</a:t>
            </a:r>
            <a:r>
              <a:rPr sz="2000" spc="-45" dirty="0">
                <a:solidFill>
                  <a:srgbClr val="E36C09"/>
                </a:solidFill>
                <a:latin typeface="Calibri"/>
                <a:cs typeface="Calibri"/>
              </a:rPr>
              <a:t> </a:t>
            </a:r>
            <a:r>
              <a:rPr sz="2000" spc="-10" dirty="0">
                <a:solidFill>
                  <a:srgbClr val="E36C09"/>
                </a:solidFill>
                <a:latin typeface="Calibri"/>
                <a:cs typeface="Calibri"/>
              </a:rPr>
              <a:t>address</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Send</a:t>
            </a:r>
            <a:r>
              <a:rPr sz="2000" spc="-45" dirty="0">
                <a:latin typeface="Calibri"/>
                <a:cs typeface="Calibri"/>
              </a:rPr>
              <a:t> </a:t>
            </a:r>
            <a:r>
              <a:rPr sz="2000" dirty="0">
                <a:latin typeface="Calibri"/>
                <a:cs typeface="Calibri"/>
              </a:rPr>
              <a:t>HTTP</a:t>
            </a:r>
            <a:r>
              <a:rPr sz="2000" spc="-40" dirty="0">
                <a:latin typeface="Calibri"/>
                <a:cs typeface="Calibri"/>
              </a:rPr>
              <a:t> </a:t>
            </a:r>
            <a:r>
              <a:rPr sz="2000" spc="-10" dirty="0">
                <a:latin typeface="Calibri"/>
                <a:cs typeface="Calibri"/>
              </a:rPr>
              <a:t>request</a:t>
            </a:r>
            <a:r>
              <a:rPr sz="2000" spc="-45" dirty="0">
                <a:latin typeface="Calibri"/>
                <a:cs typeface="Calibri"/>
              </a:rPr>
              <a:t> </a:t>
            </a:r>
            <a:r>
              <a:rPr sz="2000" dirty="0">
                <a:latin typeface="Calibri"/>
                <a:cs typeface="Calibri"/>
              </a:rPr>
              <a:t>over</a:t>
            </a:r>
            <a:r>
              <a:rPr sz="2000" spc="-45"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connection</a:t>
            </a:r>
            <a:r>
              <a:rPr sz="2000" spc="-75" dirty="0">
                <a:latin typeface="Calibri"/>
                <a:cs typeface="Calibri"/>
              </a:rPr>
              <a:t> </a:t>
            </a:r>
            <a:r>
              <a:rPr sz="2000" dirty="0">
                <a:latin typeface="Calibri"/>
                <a:cs typeface="Calibri"/>
              </a:rPr>
              <a:t>and</a:t>
            </a:r>
            <a:r>
              <a:rPr sz="2000" spc="-50" dirty="0">
                <a:latin typeface="Calibri"/>
                <a:cs typeface="Calibri"/>
              </a:rPr>
              <a:t> </a:t>
            </a:r>
            <a:r>
              <a:rPr sz="2000" dirty="0">
                <a:latin typeface="Calibri"/>
                <a:cs typeface="Calibri"/>
              </a:rPr>
              <a:t>wait</a:t>
            </a:r>
            <a:r>
              <a:rPr sz="2000" spc="-40" dirty="0">
                <a:latin typeface="Calibri"/>
                <a:cs typeface="Calibri"/>
              </a:rPr>
              <a:t> </a:t>
            </a:r>
            <a:r>
              <a:rPr sz="2000" dirty="0">
                <a:latin typeface="Calibri"/>
                <a:cs typeface="Calibri"/>
              </a:rPr>
              <a:t>for</a:t>
            </a:r>
            <a:r>
              <a:rPr sz="2000" spc="-65" dirty="0">
                <a:latin typeface="Calibri"/>
                <a:cs typeface="Calibri"/>
              </a:rPr>
              <a:t> </a:t>
            </a:r>
            <a:r>
              <a:rPr sz="2000" dirty="0">
                <a:latin typeface="Calibri"/>
                <a:cs typeface="Calibri"/>
              </a:rPr>
              <a:t>server’s</a:t>
            </a:r>
            <a:r>
              <a:rPr sz="2000" spc="-25" dirty="0">
                <a:latin typeface="Calibri"/>
                <a:cs typeface="Calibri"/>
              </a:rPr>
              <a:t> </a:t>
            </a:r>
            <a:r>
              <a:rPr sz="2000" spc="-10" dirty="0">
                <a:latin typeface="Calibri"/>
                <a:cs typeface="Calibri"/>
              </a:rPr>
              <a:t>response</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Display</a:t>
            </a:r>
            <a:r>
              <a:rPr sz="2000" spc="-45" dirty="0">
                <a:latin typeface="Calibri"/>
                <a:cs typeface="Calibri"/>
              </a:rPr>
              <a:t> </a:t>
            </a:r>
            <a:r>
              <a:rPr sz="2000" dirty="0">
                <a:latin typeface="Calibri"/>
                <a:cs typeface="Calibri"/>
              </a:rPr>
              <a:t>the</a:t>
            </a:r>
            <a:r>
              <a:rPr sz="2000" spc="-55" dirty="0">
                <a:latin typeface="Calibri"/>
                <a:cs typeface="Calibri"/>
              </a:rPr>
              <a:t> </a:t>
            </a:r>
            <a:r>
              <a:rPr sz="2000" dirty="0">
                <a:latin typeface="Calibri"/>
                <a:cs typeface="Calibri"/>
              </a:rPr>
              <a:t>document</a:t>
            </a:r>
            <a:r>
              <a:rPr sz="2000" spc="-55" dirty="0">
                <a:latin typeface="Calibri"/>
                <a:cs typeface="Calibri"/>
              </a:rPr>
              <a:t> </a:t>
            </a:r>
            <a:r>
              <a:rPr sz="2000" spc="-10" dirty="0">
                <a:latin typeface="Calibri"/>
                <a:cs typeface="Calibri"/>
              </a:rPr>
              <a:t>contained</a:t>
            </a:r>
            <a:r>
              <a:rPr sz="2000" spc="-50" dirty="0">
                <a:latin typeface="Calibri"/>
                <a:cs typeface="Calibri"/>
              </a:rPr>
              <a:t> </a:t>
            </a:r>
            <a:r>
              <a:rPr sz="2000" dirty="0">
                <a:latin typeface="Calibri"/>
                <a:cs typeface="Calibri"/>
              </a:rPr>
              <a:t>in</a:t>
            </a:r>
            <a:r>
              <a:rPr sz="2000" spc="-50" dirty="0">
                <a:latin typeface="Calibri"/>
                <a:cs typeface="Calibri"/>
              </a:rPr>
              <a:t> </a:t>
            </a:r>
            <a:r>
              <a:rPr sz="2000" dirty="0">
                <a:latin typeface="Calibri"/>
                <a:cs typeface="Calibri"/>
              </a:rPr>
              <a:t>the</a:t>
            </a:r>
            <a:r>
              <a:rPr sz="2000" spc="-45" dirty="0">
                <a:latin typeface="Calibri"/>
                <a:cs typeface="Calibri"/>
              </a:rPr>
              <a:t> </a:t>
            </a:r>
            <a:r>
              <a:rPr sz="2000" spc="-10" dirty="0">
                <a:latin typeface="Calibri"/>
                <a:cs typeface="Calibri"/>
              </a:rPr>
              <a:t>response</a:t>
            </a:r>
            <a:endParaRPr sz="2000" dirty="0">
              <a:latin typeface="Calibri"/>
              <a:cs typeface="Calibri"/>
            </a:endParaRPr>
          </a:p>
          <a:p>
            <a:pPr marL="1154430" marR="200025" lvl="2" indent="-227329">
              <a:spcBef>
                <a:spcPts val="550"/>
              </a:spcBef>
              <a:buFont typeface="Arial"/>
              <a:buChar char="•"/>
              <a:tabLst>
                <a:tab pos="1155700" algn="l"/>
              </a:tabLst>
            </a:pPr>
            <a:r>
              <a:rPr sz="2000" dirty="0">
                <a:latin typeface="Calibri"/>
                <a:cs typeface="Calibri"/>
              </a:rPr>
              <a:t>If</a:t>
            </a:r>
            <a:r>
              <a:rPr sz="2000" spc="-35" dirty="0">
                <a:latin typeface="Calibri"/>
                <a:cs typeface="Calibri"/>
              </a:rPr>
              <a:t> </a:t>
            </a:r>
            <a:r>
              <a:rPr sz="2000" dirty="0">
                <a:latin typeface="Calibri"/>
                <a:cs typeface="Calibri"/>
              </a:rPr>
              <a:t>the</a:t>
            </a:r>
            <a:r>
              <a:rPr sz="2000" spc="-25" dirty="0">
                <a:latin typeface="Calibri"/>
                <a:cs typeface="Calibri"/>
              </a:rPr>
              <a:t> </a:t>
            </a:r>
            <a:r>
              <a:rPr sz="2000" dirty="0">
                <a:latin typeface="Calibri"/>
                <a:cs typeface="Calibri"/>
              </a:rPr>
              <a:t>document</a:t>
            </a:r>
            <a:r>
              <a:rPr sz="2000" spc="-40" dirty="0">
                <a:latin typeface="Calibri"/>
                <a:cs typeface="Calibri"/>
              </a:rPr>
              <a:t> </a:t>
            </a:r>
            <a:r>
              <a:rPr sz="2000" dirty="0">
                <a:latin typeface="Calibri"/>
                <a:cs typeface="Calibri"/>
              </a:rPr>
              <a:t>is</a:t>
            </a:r>
            <a:r>
              <a:rPr sz="2000" spc="-25" dirty="0">
                <a:latin typeface="Calibri"/>
                <a:cs typeface="Calibri"/>
              </a:rPr>
              <a:t> </a:t>
            </a:r>
            <a:r>
              <a:rPr sz="2000" dirty="0">
                <a:latin typeface="Calibri"/>
                <a:cs typeface="Calibri"/>
              </a:rPr>
              <a:t>not</a:t>
            </a:r>
            <a:r>
              <a:rPr sz="2000" spc="-30" dirty="0">
                <a:latin typeface="Calibri"/>
                <a:cs typeface="Calibri"/>
              </a:rPr>
              <a:t> </a:t>
            </a:r>
            <a:r>
              <a:rPr sz="2000" dirty="0">
                <a:latin typeface="Calibri"/>
                <a:cs typeface="Calibri"/>
              </a:rPr>
              <a:t>a</a:t>
            </a:r>
            <a:r>
              <a:rPr sz="2000" spc="-40" dirty="0">
                <a:latin typeface="Calibri"/>
                <a:cs typeface="Calibri"/>
              </a:rPr>
              <a:t> </a:t>
            </a:r>
            <a:r>
              <a:rPr sz="2000" spc="-10" dirty="0">
                <a:latin typeface="Calibri"/>
                <a:cs typeface="Calibri"/>
              </a:rPr>
              <a:t>plain-</a:t>
            </a:r>
            <a:r>
              <a:rPr sz="2000" dirty="0">
                <a:latin typeface="Calibri"/>
                <a:cs typeface="Calibri"/>
              </a:rPr>
              <a:t>text</a:t>
            </a:r>
            <a:r>
              <a:rPr sz="2000" spc="-40" dirty="0">
                <a:latin typeface="Calibri"/>
                <a:cs typeface="Calibri"/>
              </a:rPr>
              <a:t> </a:t>
            </a:r>
            <a:r>
              <a:rPr sz="2000" dirty="0">
                <a:latin typeface="Calibri"/>
                <a:cs typeface="Calibri"/>
              </a:rPr>
              <a:t>document</a:t>
            </a:r>
            <a:r>
              <a:rPr sz="2000" spc="-45" dirty="0">
                <a:latin typeface="Calibri"/>
                <a:cs typeface="Calibri"/>
              </a:rPr>
              <a:t> </a:t>
            </a:r>
            <a:r>
              <a:rPr sz="2000" spc="-25" dirty="0">
                <a:latin typeface="Calibri"/>
                <a:cs typeface="Calibri"/>
              </a:rPr>
              <a:t>but </a:t>
            </a:r>
            <a:r>
              <a:rPr sz="2000" dirty="0">
                <a:latin typeface="Calibri"/>
                <a:cs typeface="Calibri"/>
              </a:rPr>
              <a:t>instead</a:t>
            </a:r>
            <a:r>
              <a:rPr sz="2000" spc="-80" dirty="0">
                <a:latin typeface="Calibri"/>
                <a:cs typeface="Calibri"/>
              </a:rPr>
              <a:t> </a:t>
            </a:r>
            <a:r>
              <a:rPr sz="2000" dirty="0">
                <a:latin typeface="Calibri"/>
                <a:cs typeface="Calibri"/>
              </a:rPr>
              <a:t>is</a:t>
            </a:r>
            <a:r>
              <a:rPr sz="2000" spc="-60" dirty="0">
                <a:latin typeface="Calibri"/>
                <a:cs typeface="Calibri"/>
              </a:rPr>
              <a:t> </a:t>
            </a:r>
            <a:r>
              <a:rPr sz="2000" dirty="0">
                <a:latin typeface="Calibri"/>
                <a:cs typeface="Calibri"/>
              </a:rPr>
              <a:t>written</a:t>
            </a:r>
            <a:r>
              <a:rPr sz="2000" spc="-75" dirty="0">
                <a:latin typeface="Calibri"/>
                <a:cs typeface="Calibri"/>
              </a:rPr>
              <a:t> </a:t>
            </a:r>
            <a:r>
              <a:rPr sz="2000" dirty="0">
                <a:latin typeface="Calibri"/>
                <a:cs typeface="Calibri"/>
              </a:rPr>
              <a:t>in</a:t>
            </a:r>
            <a:r>
              <a:rPr sz="2000" spc="-50" dirty="0">
                <a:latin typeface="Calibri"/>
                <a:cs typeface="Calibri"/>
              </a:rPr>
              <a:t> </a:t>
            </a:r>
            <a:r>
              <a:rPr sz="2000" dirty="0">
                <a:solidFill>
                  <a:srgbClr val="E36C09"/>
                </a:solidFill>
                <a:latin typeface="Calibri"/>
                <a:cs typeface="Calibri"/>
              </a:rPr>
              <a:t>HTML</a:t>
            </a:r>
            <a:r>
              <a:rPr sz="2000" dirty="0">
                <a:latin typeface="Calibri"/>
                <a:cs typeface="Calibri"/>
              </a:rPr>
              <a:t>,</a:t>
            </a:r>
            <a:r>
              <a:rPr sz="2000" spc="-55" dirty="0">
                <a:latin typeface="Calibri"/>
                <a:cs typeface="Calibri"/>
              </a:rPr>
              <a:t> </a:t>
            </a:r>
            <a:r>
              <a:rPr sz="2000" dirty="0">
                <a:latin typeface="Calibri"/>
                <a:cs typeface="Calibri"/>
              </a:rPr>
              <a:t>this</a:t>
            </a:r>
            <a:r>
              <a:rPr sz="2000" spc="-70" dirty="0">
                <a:latin typeface="Calibri"/>
                <a:cs typeface="Calibri"/>
              </a:rPr>
              <a:t> </a:t>
            </a:r>
            <a:r>
              <a:rPr sz="2000" spc="-10" dirty="0">
                <a:latin typeface="Calibri"/>
                <a:cs typeface="Calibri"/>
              </a:rPr>
              <a:t>involves</a:t>
            </a:r>
            <a:r>
              <a:rPr sz="2000" spc="-55" dirty="0">
                <a:latin typeface="Calibri"/>
                <a:cs typeface="Calibri"/>
              </a:rPr>
              <a:t> </a:t>
            </a:r>
            <a:r>
              <a:rPr sz="2000" dirty="0">
                <a:latin typeface="Calibri"/>
                <a:cs typeface="Calibri"/>
              </a:rPr>
              <a:t>rendering</a:t>
            </a:r>
            <a:r>
              <a:rPr sz="2000" spc="-60" dirty="0">
                <a:latin typeface="Calibri"/>
                <a:cs typeface="Calibri"/>
              </a:rPr>
              <a:t> </a:t>
            </a:r>
            <a:r>
              <a:rPr sz="2000" spc="-25" dirty="0">
                <a:latin typeface="Calibri"/>
                <a:cs typeface="Calibri"/>
              </a:rPr>
              <a:t>the </a:t>
            </a:r>
            <a:r>
              <a:rPr sz="2000" dirty="0">
                <a:latin typeface="Calibri"/>
                <a:cs typeface="Calibri"/>
              </a:rPr>
              <a:t>document</a:t>
            </a:r>
            <a:r>
              <a:rPr sz="2000" spc="-65" dirty="0">
                <a:latin typeface="Calibri"/>
                <a:cs typeface="Calibri"/>
              </a:rPr>
              <a:t> </a:t>
            </a:r>
            <a:r>
              <a:rPr sz="2000" dirty="0">
                <a:latin typeface="Calibri"/>
                <a:cs typeface="Calibri"/>
              </a:rPr>
              <a:t>(positioning</a:t>
            </a:r>
            <a:r>
              <a:rPr sz="2000" spc="-65" dirty="0">
                <a:latin typeface="Calibri"/>
                <a:cs typeface="Calibri"/>
              </a:rPr>
              <a:t> </a:t>
            </a:r>
            <a:r>
              <a:rPr sz="2000" dirty="0">
                <a:latin typeface="Calibri"/>
                <a:cs typeface="Calibri"/>
              </a:rPr>
              <a:t>text,</a:t>
            </a:r>
            <a:r>
              <a:rPr sz="2000" spc="-75" dirty="0">
                <a:latin typeface="Calibri"/>
                <a:cs typeface="Calibri"/>
              </a:rPr>
              <a:t> </a:t>
            </a:r>
            <a:r>
              <a:rPr sz="2000" spc="-10" dirty="0">
                <a:latin typeface="Calibri"/>
                <a:cs typeface="Calibri"/>
              </a:rPr>
              <a:t>graphics,</a:t>
            </a:r>
            <a:r>
              <a:rPr sz="2000" spc="-75" dirty="0">
                <a:latin typeface="Calibri"/>
                <a:cs typeface="Calibri"/>
              </a:rPr>
              <a:t> </a:t>
            </a:r>
            <a:r>
              <a:rPr sz="2000" dirty="0">
                <a:latin typeface="Calibri"/>
                <a:cs typeface="Calibri"/>
              </a:rPr>
              <a:t>creating</a:t>
            </a:r>
            <a:r>
              <a:rPr sz="2000" spc="-70" dirty="0">
                <a:latin typeface="Calibri"/>
                <a:cs typeface="Calibri"/>
              </a:rPr>
              <a:t> </a:t>
            </a:r>
            <a:r>
              <a:rPr sz="2000" spc="-10" dirty="0">
                <a:latin typeface="Calibri"/>
                <a:cs typeface="Calibri"/>
              </a:rPr>
              <a:t>table 	</a:t>
            </a:r>
            <a:r>
              <a:rPr sz="2000" dirty="0">
                <a:latin typeface="Calibri"/>
                <a:cs typeface="Calibri"/>
              </a:rPr>
              <a:t>borders,</a:t>
            </a:r>
            <a:r>
              <a:rPr sz="2000" spc="-70" dirty="0">
                <a:latin typeface="Calibri"/>
                <a:cs typeface="Calibri"/>
              </a:rPr>
              <a:t> </a:t>
            </a:r>
            <a:r>
              <a:rPr sz="2000" dirty="0">
                <a:latin typeface="Calibri"/>
                <a:cs typeface="Calibri"/>
              </a:rPr>
              <a:t>using</a:t>
            </a:r>
            <a:r>
              <a:rPr sz="2000" spc="-70" dirty="0">
                <a:latin typeface="Calibri"/>
                <a:cs typeface="Calibri"/>
              </a:rPr>
              <a:t> </a:t>
            </a:r>
            <a:r>
              <a:rPr sz="2000" spc="-10" dirty="0">
                <a:latin typeface="Calibri"/>
                <a:cs typeface="Calibri"/>
              </a:rPr>
              <a:t>appropriate</a:t>
            </a:r>
            <a:r>
              <a:rPr sz="2000" spc="-75" dirty="0">
                <a:latin typeface="Calibri"/>
                <a:cs typeface="Calibri"/>
              </a:rPr>
              <a:t> </a:t>
            </a:r>
            <a:r>
              <a:rPr sz="2000" dirty="0">
                <a:latin typeface="Calibri"/>
                <a:cs typeface="Calibri"/>
              </a:rPr>
              <a:t>fonts,</a:t>
            </a:r>
            <a:r>
              <a:rPr sz="2000" spc="-65" dirty="0">
                <a:latin typeface="Calibri"/>
                <a:cs typeface="Calibri"/>
              </a:rPr>
              <a:t> </a:t>
            </a:r>
            <a:r>
              <a:rPr sz="2000" spc="-10" dirty="0">
                <a:latin typeface="Calibri"/>
                <a:cs typeface="Calibri"/>
              </a:rPr>
              <a:t>etc.)</a:t>
            </a:r>
            <a:endParaRPr sz="20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2364105">
              <a:lnSpc>
                <a:spcPct val="100000"/>
              </a:lnSpc>
              <a:spcBef>
                <a:spcPts val="105"/>
              </a:spcBef>
            </a:pPr>
            <a:r>
              <a:rPr dirty="0"/>
              <a:t>Web</a:t>
            </a:r>
            <a:r>
              <a:rPr spc="-175" dirty="0"/>
              <a:t> </a:t>
            </a:r>
            <a:r>
              <a:rPr spc="-10" dirty="0"/>
              <a:t>Servers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8</a:t>
            </a:fld>
            <a:endParaRPr spc="-25" dirty="0"/>
          </a:p>
        </p:txBody>
      </p:sp>
      <p:sp>
        <p:nvSpPr>
          <p:cNvPr id="3" name="object 3"/>
          <p:cNvSpPr txBox="1"/>
          <p:nvPr/>
        </p:nvSpPr>
        <p:spPr>
          <a:xfrm>
            <a:off x="1962665" y="2043989"/>
            <a:ext cx="8011795" cy="3881191"/>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dirty="0">
                <a:latin typeface="Calibri"/>
                <a:cs typeface="Calibri"/>
              </a:rPr>
              <a:t>Main</a:t>
            </a:r>
            <a:r>
              <a:rPr sz="2200" spc="-20" dirty="0">
                <a:latin typeface="Calibri"/>
                <a:cs typeface="Calibri"/>
              </a:rPr>
              <a:t> </a:t>
            </a:r>
            <a:r>
              <a:rPr sz="2200" spc="-10" dirty="0">
                <a:latin typeface="Calibri"/>
                <a:cs typeface="Calibri"/>
              </a:rPr>
              <a:t>functionalities:</a:t>
            </a:r>
            <a:endParaRPr sz="2200" dirty="0">
              <a:latin typeface="Calibri"/>
              <a:cs typeface="Calibri"/>
            </a:endParaRPr>
          </a:p>
          <a:p>
            <a:pPr marL="756285" lvl="1" indent="-286385">
              <a:spcBef>
                <a:spcPts val="490"/>
              </a:spcBef>
              <a:buFont typeface="Arial"/>
              <a:buChar char="–"/>
              <a:tabLst>
                <a:tab pos="756285" algn="l"/>
              </a:tabLst>
            </a:pPr>
            <a:r>
              <a:rPr sz="2000" dirty="0">
                <a:latin typeface="Calibri"/>
                <a:cs typeface="Calibri"/>
              </a:rPr>
              <a:t>Server</a:t>
            </a:r>
            <a:r>
              <a:rPr sz="2000" spc="-55" dirty="0">
                <a:latin typeface="Calibri"/>
                <a:cs typeface="Calibri"/>
              </a:rPr>
              <a:t> </a:t>
            </a:r>
            <a:r>
              <a:rPr sz="2000" dirty="0">
                <a:latin typeface="Calibri"/>
                <a:cs typeface="Calibri"/>
              </a:rPr>
              <a:t>waits</a:t>
            </a:r>
            <a:r>
              <a:rPr sz="2000" spc="-50" dirty="0">
                <a:latin typeface="Calibri"/>
                <a:cs typeface="Calibri"/>
              </a:rPr>
              <a:t> </a:t>
            </a:r>
            <a:r>
              <a:rPr sz="2000" dirty="0">
                <a:latin typeface="Calibri"/>
                <a:cs typeface="Calibri"/>
              </a:rPr>
              <a:t>for</a:t>
            </a:r>
            <a:r>
              <a:rPr sz="2000" spc="-70" dirty="0">
                <a:latin typeface="Calibri"/>
                <a:cs typeface="Calibri"/>
              </a:rPr>
              <a:t> </a:t>
            </a:r>
            <a:r>
              <a:rPr sz="2000" dirty="0">
                <a:latin typeface="Calibri"/>
                <a:cs typeface="Calibri"/>
              </a:rPr>
              <a:t>connect</a:t>
            </a:r>
            <a:r>
              <a:rPr sz="2000" spc="-75" dirty="0">
                <a:latin typeface="Calibri"/>
                <a:cs typeface="Calibri"/>
              </a:rPr>
              <a:t> </a:t>
            </a:r>
            <a:r>
              <a:rPr sz="2000" spc="-10" dirty="0">
                <a:latin typeface="Calibri"/>
                <a:cs typeface="Calibri"/>
              </a:rPr>
              <a:t>requests</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When</a:t>
            </a:r>
            <a:r>
              <a:rPr sz="2000" spc="-60" dirty="0">
                <a:latin typeface="Calibri"/>
                <a:cs typeface="Calibri"/>
              </a:rPr>
              <a:t> </a:t>
            </a:r>
            <a:r>
              <a:rPr sz="2000" dirty="0">
                <a:latin typeface="Calibri"/>
                <a:cs typeface="Calibri"/>
              </a:rPr>
              <a:t>a</a:t>
            </a:r>
            <a:r>
              <a:rPr sz="2000" spc="-45" dirty="0">
                <a:latin typeface="Calibri"/>
                <a:cs typeface="Calibri"/>
              </a:rPr>
              <a:t> </a:t>
            </a:r>
            <a:r>
              <a:rPr sz="2000" spc="-10" dirty="0">
                <a:latin typeface="Calibri"/>
                <a:cs typeface="Calibri"/>
              </a:rPr>
              <a:t>connection</a:t>
            </a:r>
            <a:r>
              <a:rPr sz="2000" spc="-65" dirty="0">
                <a:latin typeface="Calibri"/>
                <a:cs typeface="Calibri"/>
              </a:rPr>
              <a:t> </a:t>
            </a:r>
            <a:r>
              <a:rPr sz="2000" spc="-10" dirty="0">
                <a:latin typeface="Calibri"/>
                <a:cs typeface="Calibri"/>
              </a:rPr>
              <a:t>request</a:t>
            </a:r>
            <a:r>
              <a:rPr sz="2000" spc="-35" dirty="0">
                <a:latin typeface="Calibri"/>
                <a:cs typeface="Calibri"/>
              </a:rPr>
              <a:t> </a:t>
            </a:r>
            <a:r>
              <a:rPr sz="2000" dirty="0">
                <a:latin typeface="Calibri"/>
                <a:cs typeface="Calibri"/>
              </a:rPr>
              <a:t>is</a:t>
            </a:r>
            <a:r>
              <a:rPr sz="2000" spc="-35" dirty="0">
                <a:latin typeface="Calibri"/>
                <a:cs typeface="Calibri"/>
              </a:rPr>
              <a:t> </a:t>
            </a:r>
            <a:r>
              <a:rPr sz="2000" dirty="0">
                <a:latin typeface="Calibri"/>
                <a:cs typeface="Calibri"/>
              </a:rPr>
              <a:t>received,</a:t>
            </a:r>
            <a:r>
              <a:rPr sz="2000" spc="-35"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server</a:t>
            </a:r>
            <a:r>
              <a:rPr sz="2000" spc="-35" dirty="0">
                <a:latin typeface="Calibri"/>
                <a:cs typeface="Calibri"/>
              </a:rPr>
              <a:t> </a:t>
            </a:r>
            <a:r>
              <a:rPr sz="2000" spc="-10" dirty="0">
                <a:latin typeface="Calibri"/>
                <a:cs typeface="Calibri"/>
              </a:rPr>
              <a:t>creates</a:t>
            </a:r>
            <a:r>
              <a:rPr sz="2000" spc="-20" dirty="0">
                <a:latin typeface="Calibri"/>
                <a:cs typeface="Calibri"/>
              </a:rPr>
              <a:t> </a:t>
            </a:r>
            <a:r>
              <a:rPr sz="2000" dirty="0">
                <a:latin typeface="Calibri"/>
                <a:cs typeface="Calibri"/>
              </a:rPr>
              <a:t>a</a:t>
            </a:r>
            <a:r>
              <a:rPr sz="2000" spc="-40" dirty="0">
                <a:latin typeface="Calibri"/>
                <a:cs typeface="Calibri"/>
              </a:rPr>
              <a:t> </a:t>
            </a:r>
            <a:r>
              <a:rPr sz="2000" spc="-25" dirty="0">
                <a:latin typeface="Calibri"/>
                <a:cs typeface="Calibri"/>
              </a:rPr>
              <a:t>new</a:t>
            </a:r>
            <a:endParaRPr sz="2000" dirty="0">
              <a:latin typeface="Calibri"/>
              <a:cs typeface="Calibri"/>
            </a:endParaRPr>
          </a:p>
          <a:p>
            <a:pPr marL="756285"/>
            <a:r>
              <a:rPr sz="2000" dirty="0">
                <a:latin typeface="Calibri"/>
                <a:cs typeface="Calibri"/>
              </a:rPr>
              <a:t>process</a:t>
            </a:r>
            <a:r>
              <a:rPr sz="2000" spc="-55" dirty="0">
                <a:latin typeface="Calibri"/>
                <a:cs typeface="Calibri"/>
              </a:rPr>
              <a:t> </a:t>
            </a:r>
            <a:r>
              <a:rPr sz="2000" dirty="0">
                <a:latin typeface="Calibri"/>
                <a:cs typeface="Calibri"/>
              </a:rPr>
              <a:t>to</a:t>
            </a:r>
            <a:r>
              <a:rPr sz="2000" spc="-65" dirty="0">
                <a:latin typeface="Calibri"/>
                <a:cs typeface="Calibri"/>
              </a:rPr>
              <a:t> </a:t>
            </a:r>
            <a:r>
              <a:rPr sz="2000" dirty="0">
                <a:latin typeface="Calibri"/>
                <a:cs typeface="Calibri"/>
              </a:rPr>
              <a:t>handle</a:t>
            </a:r>
            <a:r>
              <a:rPr sz="2000" spc="-70" dirty="0">
                <a:latin typeface="Calibri"/>
                <a:cs typeface="Calibri"/>
              </a:rPr>
              <a:t> </a:t>
            </a:r>
            <a:r>
              <a:rPr sz="2000" dirty="0">
                <a:latin typeface="Calibri"/>
                <a:cs typeface="Calibri"/>
              </a:rPr>
              <a:t>this</a:t>
            </a:r>
            <a:r>
              <a:rPr sz="2000" spc="-50" dirty="0">
                <a:latin typeface="Calibri"/>
                <a:cs typeface="Calibri"/>
              </a:rPr>
              <a:t> </a:t>
            </a:r>
            <a:r>
              <a:rPr sz="2000" spc="-10" dirty="0">
                <a:latin typeface="Calibri"/>
                <a:cs typeface="Calibri"/>
              </a:rPr>
              <a:t>connection</a:t>
            </a:r>
            <a:endParaRPr sz="2000" dirty="0">
              <a:latin typeface="Calibri"/>
              <a:cs typeface="Calibri"/>
            </a:endParaRPr>
          </a:p>
          <a:p>
            <a:pPr marL="756285" marR="271145" lvl="1" indent="-287020">
              <a:spcBef>
                <a:spcPts val="480"/>
              </a:spcBef>
              <a:buFont typeface="Arial"/>
              <a:buChar char="–"/>
              <a:tabLst>
                <a:tab pos="756285" algn="l"/>
              </a:tabLst>
            </a:pPr>
            <a:r>
              <a:rPr sz="2000" dirty="0">
                <a:latin typeface="Calibri"/>
                <a:cs typeface="Calibri"/>
              </a:rPr>
              <a:t>The</a:t>
            </a:r>
            <a:r>
              <a:rPr sz="2000" spc="-45" dirty="0">
                <a:latin typeface="Calibri"/>
                <a:cs typeface="Calibri"/>
              </a:rPr>
              <a:t> </a:t>
            </a:r>
            <a:r>
              <a:rPr sz="2000" dirty="0">
                <a:latin typeface="Calibri"/>
                <a:cs typeface="Calibri"/>
              </a:rPr>
              <a:t>new</a:t>
            </a:r>
            <a:r>
              <a:rPr sz="2000" spc="-55" dirty="0">
                <a:latin typeface="Calibri"/>
                <a:cs typeface="Calibri"/>
              </a:rPr>
              <a:t> </a:t>
            </a:r>
            <a:r>
              <a:rPr sz="2000" dirty="0">
                <a:latin typeface="Calibri"/>
                <a:cs typeface="Calibri"/>
              </a:rPr>
              <a:t>process</a:t>
            </a:r>
            <a:r>
              <a:rPr sz="2000" spc="-40" dirty="0">
                <a:latin typeface="Calibri"/>
                <a:cs typeface="Calibri"/>
              </a:rPr>
              <a:t> </a:t>
            </a:r>
            <a:r>
              <a:rPr sz="2000" spc="-10" dirty="0">
                <a:latin typeface="Calibri"/>
                <a:cs typeface="Calibri"/>
              </a:rPr>
              <a:t>establishes </a:t>
            </a:r>
            <a:r>
              <a:rPr sz="2000" dirty="0">
                <a:latin typeface="Calibri"/>
                <a:cs typeface="Calibri"/>
              </a:rPr>
              <a:t>the</a:t>
            </a:r>
            <a:r>
              <a:rPr sz="2000" spc="-30" dirty="0">
                <a:latin typeface="Calibri"/>
                <a:cs typeface="Calibri"/>
              </a:rPr>
              <a:t> </a:t>
            </a:r>
            <a:r>
              <a:rPr sz="2000" dirty="0">
                <a:solidFill>
                  <a:srgbClr val="E36C09"/>
                </a:solidFill>
                <a:latin typeface="Calibri"/>
                <a:cs typeface="Calibri"/>
              </a:rPr>
              <a:t>TCP</a:t>
            </a:r>
            <a:r>
              <a:rPr sz="2000" spc="-55" dirty="0">
                <a:solidFill>
                  <a:srgbClr val="E36C09"/>
                </a:solidFill>
                <a:latin typeface="Calibri"/>
                <a:cs typeface="Calibri"/>
              </a:rPr>
              <a:t> </a:t>
            </a:r>
            <a:r>
              <a:rPr sz="2000" spc="-10" dirty="0">
                <a:latin typeface="Calibri"/>
                <a:cs typeface="Calibri"/>
              </a:rPr>
              <a:t>connection</a:t>
            </a:r>
            <a:r>
              <a:rPr sz="2000" spc="-70" dirty="0">
                <a:latin typeface="Calibri"/>
                <a:cs typeface="Calibri"/>
              </a:rPr>
              <a:t> </a:t>
            </a:r>
            <a:r>
              <a:rPr sz="2000" dirty="0">
                <a:latin typeface="Calibri"/>
                <a:cs typeface="Calibri"/>
              </a:rPr>
              <a:t>and</a:t>
            </a:r>
            <a:r>
              <a:rPr sz="2000" spc="-45" dirty="0">
                <a:latin typeface="Calibri"/>
                <a:cs typeface="Calibri"/>
              </a:rPr>
              <a:t> </a:t>
            </a:r>
            <a:r>
              <a:rPr sz="2000" dirty="0">
                <a:latin typeface="Calibri"/>
                <a:cs typeface="Calibri"/>
              </a:rPr>
              <a:t>waits</a:t>
            </a:r>
            <a:r>
              <a:rPr sz="2000" spc="-40" dirty="0">
                <a:latin typeface="Calibri"/>
                <a:cs typeface="Calibri"/>
              </a:rPr>
              <a:t> </a:t>
            </a:r>
            <a:r>
              <a:rPr sz="2000" dirty="0">
                <a:latin typeface="Calibri"/>
                <a:cs typeface="Calibri"/>
              </a:rPr>
              <a:t>for</a:t>
            </a:r>
            <a:r>
              <a:rPr sz="2000" spc="-40" dirty="0">
                <a:latin typeface="Calibri"/>
                <a:cs typeface="Calibri"/>
              </a:rPr>
              <a:t> </a:t>
            </a:r>
            <a:r>
              <a:rPr sz="2000" spc="-20" dirty="0">
                <a:solidFill>
                  <a:srgbClr val="E36C09"/>
                </a:solidFill>
                <a:latin typeface="Calibri"/>
                <a:cs typeface="Calibri"/>
              </a:rPr>
              <a:t>HTTP </a:t>
            </a:r>
            <a:r>
              <a:rPr sz="2000" spc="-10" dirty="0">
                <a:solidFill>
                  <a:srgbClr val="E36C09"/>
                </a:solidFill>
                <a:latin typeface="Calibri"/>
                <a:cs typeface="Calibri"/>
              </a:rPr>
              <a:t>requests</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The</a:t>
            </a:r>
            <a:r>
              <a:rPr sz="2000" spc="-50" dirty="0">
                <a:latin typeface="Calibri"/>
                <a:cs typeface="Calibri"/>
              </a:rPr>
              <a:t> </a:t>
            </a:r>
            <a:r>
              <a:rPr sz="2000" dirty="0">
                <a:latin typeface="Calibri"/>
                <a:cs typeface="Calibri"/>
              </a:rPr>
              <a:t>new</a:t>
            </a:r>
            <a:r>
              <a:rPr sz="2000" spc="-60" dirty="0">
                <a:latin typeface="Calibri"/>
                <a:cs typeface="Calibri"/>
              </a:rPr>
              <a:t> </a:t>
            </a:r>
            <a:r>
              <a:rPr sz="2000" dirty="0">
                <a:latin typeface="Calibri"/>
                <a:cs typeface="Calibri"/>
              </a:rPr>
              <a:t>process</a:t>
            </a:r>
            <a:r>
              <a:rPr sz="2000" spc="-50" dirty="0">
                <a:latin typeface="Calibri"/>
                <a:cs typeface="Calibri"/>
              </a:rPr>
              <a:t> </a:t>
            </a:r>
            <a:r>
              <a:rPr sz="2000" spc="-10" dirty="0">
                <a:latin typeface="Calibri"/>
                <a:cs typeface="Calibri"/>
              </a:rPr>
              <a:t>invokes</a:t>
            </a:r>
            <a:r>
              <a:rPr sz="2000" spc="-45" dirty="0">
                <a:latin typeface="Calibri"/>
                <a:cs typeface="Calibri"/>
              </a:rPr>
              <a:t> </a:t>
            </a:r>
            <a:r>
              <a:rPr sz="2000" dirty="0">
                <a:latin typeface="Calibri"/>
                <a:cs typeface="Calibri"/>
              </a:rPr>
              <a:t>software</a:t>
            </a:r>
            <a:r>
              <a:rPr sz="2000" spc="-45" dirty="0">
                <a:latin typeface="Calibri"/>
                <a:cs typeface="Calibri"/>
              </a:rPr>
              <a:t> </a:t>
            </a:r>
            <a:r>
              <a:rPr sz="2000" dirty="0">
                <a:latin typeface="Calibri"/>
                <a:cs typeface="Calibri"/>
              </a:rPr>
              <a:t>that</a:t>
            </a:r>
            <a:r>
              <a:rPr sz="2000" spc="-50" dirty="0">
                <a:latin typeface="Calibri"/>
                <a:cs typeface="Calibri"/>
              </a:rPr>
              <a:t> </a:t>
            </a:r>
            <a:r>
              <a:rPr sz="2000" dirty="0">
                <a:latin typeface="Calibri"/>
                <a:cs typeface="Calibri"/>
              </a:rPr>
              <a:t>maps</a:t>
            </a:r>
            <a:r>
              <a:rPr sz="2000" spc="-35" dirty="0">
                <a:latin typeface="Calibri"/>
                <a:cs typeface="Calibri"/>
              </a:rPr>
              <a:t> </a:t>
            </a:r>
            <a:r>
              <a:rPr sz="2000" dirty="0">
                <a:latin typeface="Calibri"/>
                <a:cs typeface="Calibri"/>
              </a:rPr>
              <a:t>the</a:t>
            </a:r>
            <a:r>
              <a:rPr sz="2000" spc="-55" dirty="0">
                <a:latin typeface="Calibri"/>
                <a:cs typeface="Calibri"/>
              </a:rPr>
              <a:t> </a:t>
            </a:r>
            <a:r>
              <a:rPr sz="2000" spc="-10" dirty="0">
                <a:latin typeface="Calibri"/>
                <a:cs typeface="Calibri"/>
              </a:rPr>
              <a:t>requested</a:t>
            </a:r>
            <a:r>
              <a:rPr sz="2000" spc="-25" dirty="0">
                <a:latin typeface="Calibri"/>
                <a:cs typeface="Calibri"/>
              </a:rPr>
              <a:t> </a:t>
            </a:r>
            <a:r>
              <a:rPr sz="2000" dirty="0">
                <a:solidFill>
                  <a:srgbClr val="E36C09"/>
                </a:solidFill>
                <a:latin typeface="Calibri"/>
                <a:cs typeface="Calibri"/>
              </a:rPr>
              <a:t>URL</a:t>
            </a:r>
            <a:r>
              <a:rPr sz="2000" spc="-55" dirty="0">
                <a:solidFill>
                  <a:srgbClr val="E36C09"/>
                </a:solidFill>
                <a:latin typeface="Calibri"/>
                <a:cs typeface="Calibri"/>
              </a:rPr>
              <a:t> </a:t>
            </a:r>
            <a:r>
              <a:rPr sz="2000" dirty="0">
                <a:latin typeface="Calibri"/>
                <a:cs typeface="Calibri"/>
              </a:rPr>
              <a:t>to</a:t>
            </a:r>
            <a:r>
              <a:rPr sz="2000" spc="-50" dirty="0">
                <a:latin typeface="Calibri"/>
                <a:cs typeface="Calibri"/>
              </a:rPr>
              <a:t> a</a:t>
            </a:r>
            <a:endParaRPr sz="2000" dirty="0">
              <a:latin typeface="Calibri"/>
              <a:cs typeface="Calibri"/>
            </a:endParaRPr>
          </a:p>
          <a:p>
            <a:pPr marL="756285"/>
            <a:r>
              <a:rPr sz="2000" spc="-10" dirty="0">
                <a:latin typeface="Calibri"/>
                <a:cs typeface="Calibri"/>
              </a:rPr>
              <a:t>resource</a:t>
            </a:r>
            <a:r>
              <a:rPr sz="2000" spc="-25" dirty="0">
                <a:latin typeface="Calibri"/>
                <a:cs typeface="Calibri"/>
              </a:rPr>
              <a:t> </a:t>
            </a:r>
            <a:r>
              <a:rPr sz="2000" dirty="0">
                <a:latin typeface="Calibri"/>
                <a:cs typeface="Calibri"/>
              </a:rPr>
              <a:t>on</a:t>
            </a:r>
            <a:r>
              <a:rPr sz="2000" spc="-45" dirty="0">
                <a:latin typeface="Calibri"/>
                <a:cs typeface="Calibri"/>
              </a:rPr>
              <a:t> </a:t>
            </a:r>
            <a:r>
              <a:rPr sz="2000" dirty="0">
                <a:latin typeface="Calibri"/>
                <a:cs typeface="Calibri"/>
              </a:rPr>
              <a:t>the</a:t>
            </a:r>
            <a:r>
              <a:rPr sz="2000" spc="-25" dirty="0">
                <a:latin typeface="Calibri"/>
                <a:cs typeface="Calibri"/>
              </a:rPr>
              <a:t> </a:t>
            </a:r>
            <a:r>
              <a:rPr sz="2000" spc="-10" dirty="0">
                <a:latin typeface="Calibri"/>
                <a:cs typeface="Calibri"/>
              </a:rPr>
              <a:t>server</a:t>
            </a:r>
            <a:endParaRPr sz="2000" dirty="0">
              <a:latin typeface="Calibri"/>
              <a:cs typeface="Calibri"/>
            </a:endParaRPr>
          </a:p>
          <a:p>
            <a:pPr marL="756285" marR="5080" lvl="1" indent="-287020">
              <a:spcBef>
                <a:spcPts val="484"/>
              </a:spcBef>
              <a:buFont typeface="Arial"/>
              <a:buChar char="–"/>
              <a:tabLst>
                <a:tab pos="756285" algn="l"/>
              </a:tabLst>
            </a:pPr>
            <a:r>
              <a:rPr sz="2000" dirty="0">
                <a:latin typeface="Calibri"/>
                <a:cs typeface="Calibri"/>
              </a:rPr>
              <a:t>If</a:t>
            </a:r>
            <a:r>
              <a:rPr sz="2000" spc="-45"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resource</a:t>
            </a:r>
            <a:r>
              <a:rPr sz="2000" spc="-40" dirty="0">
                <a:latin typeface="Calibri"/>
                <a:cs typeface="Calibri"/>
              </a:rPr>
              <a:t> </a:t>
            </a:r>
            <a:r>
              <a:rPr sz="2000" dirty="0">
                <a:latin typeface="Calibri"/>
                <a:cs typeface="Calibri"/>
              </a:rPr>
              <a:t>is</a:t>
            </a:r>
            <a:r>
              <a:rPr sz="2000" spc="-35" dirty="0">
                <a:latin typeface="Calibri"/>
                <a:cs typeface="Calibri"/>
              </a:rPr>
              <a:t> </a:t>
            </a:r>
            <a:r>
              <a:rPr sz="2000" dirty="0">
                <a:latin typeface="Calibri"/>
                <a:cs typeface="Calibri"/>
              </a:rPr>
              <a:t>a</a:t>
            </a:r>
            <a:r>
              <a:rPr sz="2000" spc="-35" dirty="0">
                <a:latin typeface="Calibri"/>
                <a:cs typeface="Calibri"/>
              </a:rPr>
              <a:t> </a:t>
            </a:r>
            <a:r>
              <a:rPr sz="2000" dirty="0">
                <a:latin typeface="Calibri"/>
                <a:cs typeface="Calibri"/>
              </a:rPr>
              <a:t>file,</a:t>
            </a:r>
            <a:r>
              <a:rPr sz="2000" spc="-30" dirty="0">
                <a:latin typeface="Calibri"/>
                <a:cs typeface="Calibri"/>
              </a:rPr>
              <a:t> </a:t>
            </a:r>
            <a:r>
              <a:rPr sz="2000" spc="-10" dirty="0">
                <a:latin typeface="Calibri"/>
                <a:cs typeface="Calibri"/>
              </a:rPr>
              <a:t>creates</a:t>
            </a:r>
            <a:r>
              <a:rPr sz="2000" spc="-15" dirty="0">
                <a:latin typeface="Calibri"/>
                <a:cs typeface="Calibri"/>
              </a:rPr>
              <a:t> </a:t>
            </a:r>
            <a:r>
              <a:rPr sz="2000" dirty="0">
                <a:latin typeface="Calibri"/>
                <a:cs typeface="Calibri"/>
              </a:rPr>
              <a:t>an</a:t>
            </a:r>
            <a:r>
              <a:rPr sz="2000" spc="-25" dirty="0">
                <a:latin typeface="Calibri"/>
                <a:cs typeface="Calibri"/>
              </a:rPr>
              <a:t> </a:t>
            </a:r>
            <a:r>
              <a:rPr sz="2000" dirty="0">
                <a:solidFill>
                  <a:srgbClr val="E36C09"/>
                </a:solidFill>
                <a:latin typeface="Calibri"/>
                <a:cs typeface="Calibri"/>
              </a:rPr>
              <a:t>HTTP</a:t>
            </a:r>
            <a:r>
              <a:rPr sz="2000" spc="-35" dirty="0">
                <a:solidFill>
                  <a:srgbClr val="E36C09"/>
                </a:solidFill>
                <a:latin typeface="Calibri"/>
                <a:cs typeface="Calibri"/>
              </a:rPr>
              <a:t> </a:t>
            </a:r>
            <a:r>
              <a:rPr sz="2000" dirty="0">
                <a:solidFill>
                  <a:srgbClr val="E36C09"/>
                </a:solidFill>
                <a:latin typeface="Calibri"/>
                <a:cs typeface="Calibri"/>
              </a:rPr>
              <a:t>response</a:t>
            </a:r>
            <a:r>
              <a:rPr sz="2000" spc="-50" dirty="0">
                <a:solidFill>
                  <a:srgbClr val="E36C09"/>
                </a:solidFill>
                <a:latin typeface="Calibri"/>
                <a:cs typeface="Calibri"/>
              </a:rPr>
              <a:t> </a:t>
            </a:r>
            <a:r>
              <a:rPr sz="2000" dirty="0">
                <a:latin typeface="Calibri"/>
                <a:cs typeface="Calibri"/>
              </a:rPr>
              <a:t>that</a:t>
            </a:r>
            <a:r>
              <a:rPr sz="2000" spc="-25" dirty="0">
                <a:latin typeface="Calibri"/>
                <a:cs typeface="Calibri"/>
              </a:rPr>
              <a:t> </a:t>
            </a:r>
            <a:r>
              <a:rPr sz="2000" spc="-10" dirty="0">
                <a:latin typeface="Calibri"/>
                <a:cs typeface="Calibri"/>
              </a:rPr>
              <a:t>contains</a:t>
            </a:r>
            <a:r>
              <a:rPr sz="2000" spc="-50" dirty="0">
                <a:latin typeface="Calibri"/>
                <a:cs typeface="Calibri"/>
              </a:rPr>
              <a:t> </a:t>
            </a:r>
            <a:r>
              <a:rPr sz="2000" dirty="0">
                <a:latin typeface="Calibri"/>
                <a:cs typeface="Calibri"/>
              </a:rPr>
              <a:t>the</a:t>
            </a:r>
            <a:r>
              <a:rPr sz="2000" spc="-35" dirty="0">
                <a:latin typeface="Calibri"/>
                <a:cs typeface="Calibri"/>
              </a:rPr>
              <a:t> </a:t>
            </a:r>
            <a:r>
              <a:rPr sz="2000" spc="-20" dirty="0">
                <a:latin typeface="Calibri"/>
                <a:cs typeface="Calibri"/>
              </a:rPr>
              <a:t>file </a:t>
            </a:r>
            <a:r>
              <a:rPr sz="2000" dirty="0">
                <a:latin typeface="Calibri"/>
                <a:cs typeface="Calibri"/>
              </a:rPr>
              <a:t>in</a:t>
            </a:r>
            <a:r>
              <a:rPr sz="2000" spc="-30"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body</a:t>
            </a:r>
            <a:r>
              <a:rPr sz="2000" spc="-60" dirty="0">
                <a:latin typeface="Calibri"/>
                <a:cs typeface="Calibri"/>
              </a:rPr>
              <a:t> </a:t>
            </a:r>
            <a:r>
              <a:rPr sz="2000" dirty="0">
                <a:latin typeface="Calibri"/>
                <a:cs typeface="Calibri"/>
              </a:rPr>
              <a:t>of</a:t>
            </a:r>
            <a:r>
              <a:rPr sz="2000" spc="-35"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response</a:t>
            </a:r>
            <a:r>
              <a:rPr sz="2000" spc="-30" dirty="0">
                <a:latin typeface="Calibri"/>
                <a:cs typeface="Calibri"/>
              </a:rPr>
              <a:t> </a:t>
            </a:r>
            <a:r>
              <a:rPr sz="2000" spc="-10" dirty="0">
                <a:latin typeface="Calibri"/>
                <a:cs typeface="Calibri"/>
              </a:rPr>
              <a:t>message</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If</a:t>
            </a:r>
            <a:r>
              <a:rPr sz="2000" spc="-50" dirty="0">
                <a:latin typeface="Calibri"/>
                <a:cs typeface="Calibri"/>
              </a:rPr>
              <a:t> </a:t>
            </a:r>
            <a:r>
              <a:rPr sz="2000" dirty="0">
                <a:latin typeface="Calibri"/>
                <a:cs typeface="Calibri"/>
              </a:rPr>
              <a:t>the</a:t>
            </a:r>
            <a:r>
              <a:rPr sz="2000" spc="-35" dirty="0">
                <a:latin typeface="Calibri"/>
                <a:cs typeface="Calibri"/>
              </a:rPr>
              <a:t> </a:t>
            </a:r>
            <a:r>
              <a:rPr sz="2000" spc="-10" dirty="0">
                <a:latin typeface="Calibri"/>
                <a:cs typeface="Calibri"/>
              </a:rPr>
              <a:t>resource</a:t>
            </a:r>
            <a:r>
              <a:rPr sz="2000" spc="-50" dirty="0">
                <a:latin typeface="Calibri"/>
                <a:cs typeface="Calibri"/>
              </a:rPr>
              <a:t> </a:t>
            </a:r>
            <a:r>
              <a:rPr sz="2000" dirty="0">
                <a:latin typeface="Calibri"/>
                <a:cs typeface="Calibri"/>
              </a:rPr>
              <a:t>is</a:t>
            </a:r>
            <a:r>
              <a:rPr sz="2000" spc="-35"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program,</a:t>
            </a:r>
            <a:r>
              <a:rPr sz="2000" spc="-55" dirty="0">
                <a:latin typeface="Calibri"/>
                <a:cs typeface="Calibri"/>
              </a:rPr>
              <a:t> </a:t>
            </a:r>
            <a:r>
              <a:rPr sz="2000" dirty="0">
                <a:latin typeface="Calibri"/>
                <a:cs typeface="Calibri"/>
              </a:rPr>
              <a:t>runs</a:t>
            </a:r>
            <a:r>
              <a:rPr sz="2000" spc="-35"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program,</a:t>
            </a:r>
            <a:r>
              <a:rPr sz="2000" spc="-45" dirty="0">
                <a:latin typeface="Calibri"/>
                <a:cs typeface="Calibri"/>
              </a:rPr>
              <a:t> </a:t>
            </a:r>
            <a:r>
              <a:rPr sz="2000" dirty="0">
                <a:latin typeface="Calibri"/>
                <a:cs typeface="Calibri"/>
              </a:rPr>
              <a:t>and</a:t>
            </a:r>
            <a:r>
              <a:rPr sz="2000" spc="-55" dirty="0">
                <a:latin typeface="Calibri"/>
                <a:cs typeface="Calibri"/>
              </a:rPr>
              <a:t> </a:t>
            </a:r>
            <a:r>
              <a:rPr sz="2000" dirty="0">
                <a:latin typeface="Calibri"/>
                <a:cs typeface="Calibri"/>
              </a:rPr>
              <a:t>returns</a:t>
            </a:r>
            <a:r>
              <a:rPr sz="2000" spc="-35" dirty="0">
                <a:latin typeface="Calibri"/>
                <a:cs typeface="Calibri"/>
              </a:rPr>
              <a:t> </a:t>
            </a:r>
            <a:r>
              <a:rPr sz="2000" dirty="0">
                <a:latin typeface="Calibri"/>
                <a:cs typeface="Calibri"/>
              </a:rPr>
              <a:t>the</a:t>
            </a:r>
            <a:r>
              <a:rPr sz="2000" spc="-45" dirty="0">
                <a:latin typeface="Calibri"/>
                <a:cs typeface="Calibri"/>
              </a:rPr>
              <a:t> </a:t>
            </a:r>
            <a:r>
              <a:rPr sz="2000" spc="-10" dirty="0">
                <a:latin typeface="Calibri"/>
                <a:cs typeface="Calibri"/>
              </a:rPr>
              <a:t>output</a:t>
            </a:r>
            <a:endParaRPr sz="2000" dirty="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2155190">
              <a:lnSpc>
                <a:spcPct val="100000"/>
              </a:lnSpc>
              <a:spcBef>
                <a:spcPts val="105"/>
              </a:spcBef>
            </a:pPr>
            <a:r>
              <a:rPr dirty="0"/>
              <a:t>Domain</a:t>
            </a:r>
            <a:r>
              <a:rPr spc="-170" dirty="0"/>
              <a:t> </a:t>
            </a:r>
            <a:r>
              <a:rPr spc="-20" dirty="0"/>
              <a:t>Name</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9</a:t>
            </a:fld>
            <a:endParaRPr spc="-25" dirty="0"/>
          </a:p>
        </p:txBody>
      </p:sp>
      <p:sp>
        <p:nvSpPr>
          <p:cNvPr id="3" name="object 3"/>
          <p:cNvSpPr txBox="1"/>
          <p:nvPr/>
        </p:nvSpPr>
        <p:spPr>
          <a:xfrm>
            <a:off x="2040485" y="1889893"/>
            <a:ext cx="7967980" cy="2599690"/>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dirty="0">
                <a:latin typeface="Calibri"/>
                <a:cs typeface="Calibri"/>
              </a:rPr>
              <a:t>Locates</a:t>
            </a:r>
            <a:r>
              <a:rPr sz="2200" spc="-30" dirty="0">
                <a:latin typeface="Calibri"/>
                <a:cs typeface="Calibri"/>
              </a:rPr>
              <a:t> </a:t>
            </a:r>
            <a:r>
              <a:rPr sz="2200" dirty="0">
                <a:latin typeface="Calibri"/>
                <a:cs typeface="Calibri"/>
              </a:rPr>
              <a:t>an</a:t>
            </a:r>
            <a:r>
              <a:rPr sz="2200" spc="-40" dirty="0">
                <a:latin typeface="Calibri"/>
                <a:cs typeface="Calibri"/>
              </a:rPr>
              <a:t> </a:t>
            </a:r>
            <a:r>
              <a:rPr sz="2200" spc="-10" dirty="0">
                <a:latin typeface="Calibri"/>
                <a:cs typeface="Calibri"/>
              </a:rPr>
              <a:t>organization</a:t>
            </a:r>
            <a:r>
              <a:rPr sz="2200" spc="-60" dirty="0">
                <a:latin typeface="Calibri"/>
                <a:cs typeface="Calibri"/>
              </a:rPr>
              <a:t> </a:t>
            </a:r>
            <a:r>
              <a:rPr sz="2200" dirty="0">
                <a:latin typeface="Calibri"/>
                <a:cs typeface="Calibri"/>
              </a:rPr>
              <a:t>or</a:t>
            </a:r>
            <a:r>
              <a:rPr sz="2200" spc="-50" dirty="0">
                <a:latin typeface="Calibri"/>
                <a:cs typeface="Calibri"/>
              </a:rPr>
              <a:t> </a:t>
            </a:r>
            <a:r>
              <a:rPr sz="2200" dirty="0">
                <a:latin typeface="Calibri"/>
                <a:cs typeface="Calibri"/>
              </a:rPr>
              <a:t>other</a:t>
            </a:r>
            <a:r>
              <a:rPr sz="2200" spc="-35" dirty="0">
                <a:latin typeface="Calibri"/>
                <a:cs typeface="Calibri"/>
              </a:rPr>
              <a:t> </a:t>
            </a:r>
            <a:r>
              <a:rPr sz="2200" dirty="0">
                <a:latin typeface="Calibri"/>
                <a:cs typeface="Calibri"/>
              </a:rPr>
              <a:t>entity</a:t>
            </a:r>
            <a:r>
              <a:rPr sz="2200" spc="-15" dirty="0">
                <a:latin typeface="Calibri"/>
                <a:cs typeface="Calibri"/>
              </a:rPr>
              <a:t> </a:t>
            </a:r>
            <a:r>
              <a:rPr sz="2200" dirty="0">
                <a:latin typeface="Calibri"/>
                <a:cs typeface="Calibri"/>
              </a:rPr>
              <a:t>on</a:t>
            </a:r>
            <a:r>
              <a:rPr sz="2200" spc="-50" dirty="0">
                <a:latin typeface="Calibri"/>
                <a:cs typeface="Calibri"/>
              </a:rPr>
              <a:t> </a:t>
            </a:r>
            <a:r>
              <a:rPr sz="2200" dirty="0">
                <a:latin typeface="Calibri"/>
                <a:cs typeface="Calibri"/>
              </a:rPr>
              <a:t>the</a:t>
            </a:r>
            <a:r>
              <a:rPr sz="2200" spc="-35" dirty="0">
                <a:latin typeface="Calibri"/>
                <a:cs typeface="Calibri"/>
              </a:rPr>
              <a:t> </a:t>
            </a:r>
            <a:r>
              <a:rPr sz="2200" spc="-10" dirty="0">
                <a:latin typeface="Calibri"/>
                <a:cs typeface="Calibri"/>
              </a:rPr>
              <a:t>Internet</a:t>
            </a:r>
            <a:endParaRPr sz="2200" dirty="0">
              <a:latin typeface="Calibri"/>
              <a:cs typeface="Calibri"/>
            </a:endParaRPr>
          </a:p>
          <a:p>
            <a:pPr marL="354965" indent="-342265">
              <a:spcBef>
                <a:spcPts val="530"/>
              </a:spcBef>
              <a:buFont typeface="Arial"/>
              <a:buChar char="•"/>
              <a:tabLst>
                <a:tab pos="354965" algn="l"/>
              </a:tabLst>
            </a:pPr>
            <a:r>
              <a:rPr sz="2200" dirty="0">
                <a:solidFill>
                  <a:srgbClr val="E36C09"/>
                </a:solidFill>
                <a:latin typeface="Calibri"/>
                <a:cs typeface="Calibri"/>
              </a:rPr>
              <a:t>Domain</a:t>
            </a:r>
            <a:r>
              <a:rPr sz="2200" spc="-75" dirty="0">
                <a:solidFill>
                  <a:srgbClr val="E36C09"/>
                </a:solidFill>
                <a:latin typeface="Calibri"/>
                <a:cs typeface="Calibri"/>
              </a:rPr>
              <a:t> </a:t>
            </a:r>
            <a:r>
              <a:rPr sz="2200" dirty="0">
                <a:solidFill>
                  <a:srgbClr val="E36C09"/>
                </a:solidFill>
                <a:latin typeface="Calibri"/>
                <a:cs typeface="Calibri"/>
              </a:rPr>
              <a:t>Name</a:t>
            </a:r>
            <a:r>
              <a:rPr sz="2200" spc="-60" dirty="0">
                <a:solidFill>
                  <a:srgbClr val="E36C09"/>
                </a:solidFill>
                <a:latin typeface="Calibri"/>
                <a:cs typeface="Calibri"/>
              </a:rPr>
              <a:t> </a:t>
            </a:r>
            <a:r>
              <a:rPr sz="2200" dirty="0">
                <a:solidFill>
                  <a:srgbClr val="E36C09"/>
                </a:solidFill>
                <a:latin typeface="Calibri"/>
                <a:cs typeface="Calibri"/>
              </a:rPr>
              <a:t>System</a:t>
            </a:r>
            <a:r>
              <a:rPr sz="2200" spc="-40" dirty="0">
                <a:solidFill>
                  <a:srgbClr val="E36C09"/>
                </a:solidFill>
                <a:latin typeface="Calibri"/>
                <a:cs typeface="Calibri"/>
              </a:rPr>
              <a:t> </a:t>
            </a:r>
            <a:r>
              <a:rPr sz="2200" spc="-20" dirty="0">
                <a:solidFill>
                  <a:srgbClr val="E36C09"/>
                </a:solidFill>
                <a:latin typeface="Calibri"/>
                <a:cs typeface="Calibri"/>
              </a:rPr>
              <a:t>(DNS)</a:t>
            </a:r>
            <a:endParaRPr sz="2200" dirty="0">
              <a:latin typeface="Calibri"/>
              <a:cs typeface="Calibri"/>
            </a:endParaRPr>
          </a:p>
          <a:p>
            <a:pPr marL="756285" lvl="1" indent="-286385">
              <a:spcBef>
                <a:spcPts val="489"/>
              </a:spcBef>
              <a:buFont typeface="Arial"/>
              <a:buChar char="–"/>
              <a:tabLst>
                <a:tab pos="756285" algn="l"/>
              </a:tabLst>
            </a:pPr>
            <a:r>
              <a:rPr sz="2000" dirty="0">
                <a:latin typeface="Calibri"/>
                <a:cs typeface="Calibri"/>
              </a:rPr>
              <a:t>Divides</a:t>
            </a:r>
            <a:r>
              <a:rPr sz="2000" spc="-50"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Internet</a:t>
            </a:r>
            <a:r>
              <a:rPr sz="2000" spc="-45" dirty="0">
                <a:latin typeface="Calibri"/>
                <a:cs typeface="Calibri"/>
              </a:rPr>
              <a:t> </a:t>
            </a:r>
            <a:r>
              <a:rPr sz="2000" dirty="0">
                <a:latin typeface="Calibri"/>
                <a:cs typeface="Calibri"/>
              </a:rPr>
              <a:t>into</a:t>
            </a:r>
            <a:r>
              <a:rPr sz="2000" spc="-40" dirty="0">
                <a:latin typeface="Calibri"/>
                <a:cs typeface="Calibri"/>
              </a:rPr>
              <a:t> </a:t>
            </a:r>
            <a:r>
              <a:rPr sz="2000" dirty="0">
                <a:latin typeface="Calibri"/>
                <a:cs typeface="Calibri"/>
              </a:rPr>
              <a:t>logical</a:t>
            </a:r>
            <a:r>
              <a:rPr sz="2000" spc="-40" dirty="0">
                <a:latin typeface="Calibri"/>
                <a:cs typeface="Calibri"/>
              </a:rPr>
              <a:t> </a:t>
            </a:r>
            <a:r>
              <a:rPr sz="2000" dirty="0">
                <a:latin typeface="Calibri"/>
                <a:cs typeface="Calibri"/>
              </a:rPr>
              <a:t>groups</a:t>
            </a:r>
            <a:r>
              <a:rPr sz="2000" spc="-65" dirty="0">
                <a:latin typeface="Calibri"/>
                <a:cs typeface="Calibri"/>
              </a:rPr>
              <a:t> </a:t>
            </a:r>
            <a:r>
              <a:rPr sz="2000" dirty="0">
                <a:latin typeface="Calibri"/>
                <a:cs typeface="Calibri"/>
              </a:rPr>
              <a:t>and</a:t>
            </a:r>
            <a:r>
              <a:rPr sz="2000" spc="-45" dirty="0">
                <a:latin typeface="Calibri"/>
                <a:cs typeface="Calibri"/>
              </a:rPr>
              <a:t> </a:t>
            </a:r>
            <a:r>
              <a:rPr sz="2000" spc="-10" dirty="0">
                <a:latin typeface="Calibri"/>
                <a:cs typeface="Calibri"/>
              </a:rPr>
              <a:t>understandable</a:t>
            </a:r>
            <a:r>
              <a:rPr sz="2000" spc="-40" dirty="0">
                <a:latin typeface="Calibri"/>
                <a:cs typeface="Calibri"/>
              </a:rPr>
              <a:t> </a:t>
            </a:r>
            <a:r>
              <a:rPr sz="2000" spc="-10" dirty="0">
                <a:latin typeface="Calibri"/>
                <a:cs typeface="Calibri"/>
              </a:rPr>
              <a:t>names</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Associates</a:t>
            </a:r>
            <a:r>
              <a:rPr sz="2000" spc="-25" dirty="0">
                <a:latin typeface="Calibri"/>
                <a:cs typeface="Calibri"/>
              </a:rPr>
              <a:t> </a:t>
            </a:r>
            <a:r>
              <a:rPr sz="2000" dirty="0">
                <a:latin typeface="Calibri"/>
                <a:cs typeface="Calibri"/>
              </a:rPr>
              <a:t>unique</a:t>
            </a:r>
            <a:r>
              <a:rPr sz="2000" spc="-65" dirty="0">
                <a:latin typeface="Calibri"/>
                <a:cs typeface="Calibri"/>
              </a:rPr>
              <a:t> </a:t>
            </a:r>
            <a:r>
              <a:rPr sz="2000" dirty="0">
                <a:latin typeface="Calibri"/>
                <a:cs typeface="Calibri"/>
              </a:rPr>
              <a:t>computer</a:t>
            </a:r>
            <a:r>
              <a:rPr sz="2000" spc="-65" dirty="0">
                <a:latin typeface="Calibri"/>
                <a:cs typeface="Calibri"/>
              </a:rPr>
              <a:t> </a:t>
            </a:r>
            <a:r>
              <a:rPr sz="2000" dirty="0">
                <a:latin typeface="Calibri"/>
                <a:cs typeface="Calibri"/>
              </a:rPr>
              <a:t>IP</a:t>
            </a:r>
            <a:r>
              <a:rPr sz="2000" spc="-55" dirty="0">
                <a:latin typeface="Calibri"/>
                <a:cs typeface="Calibri"/>
              </a:rPr>
              <a:t> </a:t>
            </a:r>
            <a:r>
              <a:rPr sz="2000" dirty="0">
                <a:latin typeface="Calibri"/>
                <a:cs typeface="Calibri"/>
              </a:rPr>
              <a:t>Addresses</a:t>
            </a:r>
            <a:r>
              <a:rPr sz="2000" spc="-40" dirty="0">
                <a:latin typeface="Calibri"/>
                <a:cs typeface="Calibri"/>
              </a:rPr>
              <a:t> </a:t>
            </a:r>
            <a:r>
              <a:rPr sz="2000" dirty="0">
                <a:latin typeface="Calibri"/>
                <a:cs typeface="Calibri"/>
              </a:rPr>
              <a:t>with</a:t>
            </a:r>
            <a:r>
              <a:rPr sz="2000" spc="-60" dirty="0">
                <a:latin typeface="Calibri"/>
                <a:cs typeface="Calibri"/>
              </a:rPr>
              <a:t> </a:t>
            </a:r>
            <a:r>
              <a:rPr sz="2000" dirty="0">
                <a:latin typeface="Calibri"/>
                <a:cs typeface="Calibri"/>
              </a:rPr>
              <a:t>the</a:t>
            </a:r>
            <a:r>
              <a:rPr sz="2000" spc="-50" dirty="0">
                <a:latin typeface="Calibri"/>
                <a:cs typeface="Calibri"/>
              </a:rPr>
              <a:t> </a:t>
            </a:r>
            <a:r>
              <a:rPr sz="2000" spc="-25" dirty="0">
                <a:latin typeface="Calibri"/>
                <a:cs typeface="Calibri"/>
              </a:rPr>
              <a:t>text-</a:t>
            </a:r>
            <a:r>
              <a:rPr sz="2000" dirty="0">
                <a:latin typeface="Calibri"/>
                <a:cs typeface="Calibri"/>
              </a:rPr>
              <a:t>based</a:t>
            </a:r>
            <a:r>
              <a:rPr sz="2000" spc="-30" dirty="0">
                <a:latin typeface="Calibri"/>
                <a:cs typeface="Calibri"/>
              </a:rPr>
              <a:t> </a:t>
            </a:r>
            <a:r>
              <a:rPr sz="2000" spc="-10" dirty="0">
                <a:latin typeface="Calibri"/>
                <a:cs typeface="Calibri"/>
              </a:rPr>
              <a:t>domain</a:t>
            </a:r>
            <a:endParaRPr sz="2000" dirty="0">
              <a:latin typeface="Calibri"/>
              <a:cs typeface="Calibri"/>
            </a:endParaRPr>
          </a:p>
          <a:p>
            <a:pPr marL="756285"/>
            <a:r>
              <a:rPr sz="2000" dirty="0">
                <a:latin typeface="Calibri"/>
                <a:cs typeface="Calibri"/>
              </a:rPr>
              <a:t>names</a:t>
            </a:r>
            <a:r>
              <a:rPr sz="2000" spc="-50" dirty="0">
                <a:latin typeface="Calibri"/>
                <a:cs typeface="Calibri"/>
              </a:rPr>
              <a:t> </a:t>
            </a:r>
            <a:r>
              <a:rPr sz="2000" dirty="0">
                <a:latin typeface="Calibri"/>
                <a:cs typeface="Calibri"/>
              </a:rPr>
              <a:t>you</a:t>
            </a:r>
            <a:r>
              <a:rPr sz="2000" spc="-55" dirty="0">
                <a:latin typeface="Calibri"/>
                <a:cs typeface="Calibri"/>
              </a:rPr>
              <a:t> </a:t>
            </a:r>
            <a:r>
              <a:rPr sz="2000" dirty="0">
                <a:latin typeface="Calibri"/>
                <a:cs typeface="Calibri"/>
              </a:rPr>
              <a:t>type</a:t>
            </a:r>
            <a:r>
              <a:rPr sz="2000" spc="-45" dirty="0">
                <a:latin typeface="Calibri"/>
                <a:cs typeface="Calibri"/>
              </a:rPr>
              <a:t> </a:t>
            </a:r>
            <a:r>
              <a:rPr sz="2000" dirty="0">
                <a:latin typeface="Calibri"/>
                <a:cs typeface="Calibri"/>
              </a:rPr>
              <a:t>into</a:t>
            </a:r>
            <a:r>
              <a:rPr sz="2000" spc="-35" dirty="0">
                <a:latin typeface="Calibri"/>
                <a:cs typeface="Calibri"/>
              </a:rPr>
              <a:t> </a:t>
            </a:r>
            <a:r>
              <a:rPr sz="2000" dirty="0">
                <a:latin typeface="Calibri"/>
                <a:cs typeface="Calibri"/>
              </a:rPr>
              <a:t>a</a:t>
            </a:r>
            <a:r>
              <a:rPr sz="2000" spc="-35" dirty="0">
                <a:latin typeface="Calibri"/>
                <a:cs typeface="Calibri"/>
              </a:rPr>
              <a:t> </a:t>
            </a:r>
            <a:r>
              <a:rPr sz="2000" dirty="0">
                <a:latin typeface="Calibri"/>
                <a:cs typeface="Calibri"/>
              </a:rPr>
              <a:t>web</a:t>
            </a:r>
            <a:r>
              <a:rPr sz="2000" spc="-50" dirty="0">
                <a:latin typeface="Calibri"/>
                <a:cs typeface="Calibri"/>
              </a:rPr>
              <a:t> </a:t>
            </a:r>
            <a:r>
              <a:rPr sz="2000" spc="-10" dirty="0">
                <a:latin typeface="Calibri"/>
                <a:cs typeface="Calibri"/>
              </a:rPr>
              <a:t>browser</a:t>
            </a:r>
            <a:endParaRPr sz="2000" dirty="0">
              <a:latin typeface="Calibri"/>
              <a:cs typeface="Calibri"/>
            </a:endParaRPr>
          </a:p>
          <a:p>
            <a:pPr marL="756285" lvl="1" indent="-286385">
              <a:spcBef>
                <a:spcPts val="480"/>
              </a:spcBef>
              <a:buFont typeface="Arial"/>
              <a:buChar char="–"/>
              <a:tabLst>
                <a:tab pos="756285" algn="l"/>
              </a:tabLst>
            </a:pPr>
            <a:r>
              <a:rPr sz="2000" spc="-10" dirty="0">
                <a:latin typeface="Calibri"/>
                <a:cs typeface="Calibri"/>
              </a:rPr>
              <a:t>Browser:</a:t>
            </a:r>
            <a:r>
              <a:rPr sz="2000" spc="-40" dirty="0">
                <a:latin typeface="Calibri"/>
                <a:cs typeface="Calibri"/>
              </a:rPr>
              <a:t> </a:t>
            </a:r>
            <a:r>
              <a:rPr sz="2000" spc="-10" dirty="0">
                <a:solidFill>
                  <a:srgbClr val="E36C09"/>
                </a:solidFill>
                <a:latin typeface="Calibri"/>
                <a:cs typeface="Calibri"/>
                <a:hlinkClick r:id="rId2"/>
              </a:rPr>
              <a:t>http://google.com</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IP</a:t>
            </a:r>
            <a:r>
              <a:rPr sz="2000" spc="-45" dirty="0">
                <a:latin typeface="Calibri"/>
                <a:cs typeface="Calibri"/>
              </a:rPr>
              <a:t> </a:t>
            </a:r>
            <a:r>
              <a:rPr sz="2000" dirty="0">
                <a:latin typeface="Calibri"/>
                <a:cs typeface="Calibri"/>
              </a:rPr>
              <a:t>Address:</a:t>
            </a:r>
            <a:r>
              <a:rPr sz="2000" spc="-50" dirty="0">
                <a:latin typeface="Calibri"/>
                <a:cs typeface="Calibri"/>
              </a:rPr>
              <a:t> </a:t>
            </a:r>
            <a:r>
              <a:rPr sz="2000" spc="-10" dirty="0">
                <a:solidFill>
                  <a:srgbClr val="E36C09"/>
                </a:solidFill>
                <a:latin typeface="Calibri"/>
                <a:cs typeface="Calibri"/>
              </a:rPr>
              <a:t>173.194.116.72</a:t>
            </a:r>
            <a:endParaRPr sz="20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1781" y="275902"/>
            <a:ext cx="6019419" cy="752129"/>
          </a:xfrm>
          <a:prstGeom prst="rect">
            <a:avLst/>
          </a:prstGeom>
        </p:spPr>
        <p:txBody>
          <a:bodyPr vert="horz" wrap="square" lIns="0" tIns="13335" rIns="0" bIns="0" rtlCol="0" anchor="ctr">
            <a:spAutoFit/>
          </a:bodyPr>
          <a:lstStyle/>
          <a:p>
            <a:pPr marL="12700">
              <a:lnSpc>
                <a:spcPct val="100000"/>
              </a:lnSpc>
              <a:spcBef>
                <a:spcPts val="105"/>
              </a:spcBef>
            </a:pPr>
            <a:r>
              <a:rPr dirty="0"/>
              <a:t>Domain</a:t>
            </a:r>
            <a:r>
              <a:rPr spc="-30" dirty="0"/>
              <a:t> </a:t>
            </a:r>
            <a:r>
              <a:rPr dirty="0"/>
              <a:t>Name</a:t>
            </a:r>
            <a:r>
              <a:rPr spc="-25" dirty="0"/>
              <a:t> </a:t>
            </a:r>
            <a:r>
              <a:rPr spc="-10" dirty="0"/>
              <a:t>System</a:t>
            </a:r>
          </a:p>
        </p:txBody>
      </p:sp>
      <p:sp>
        <p:nvSpPr>
          <p:cNvPr id="26" name="object 26"/>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10</a:t>
            </a:fld>
            <a:endParaRPr sz="1100">
              <a:latin typeface="Times New Roman"/>
              <a:cs typeface="Times New Roman"/>
            </a:endParaRPr>
          </a:p>
        </p:txBody>
      </p:sp>
      <p:sp>
        <p:nvSpPr>
          <p:cNvPr id="3" name="object 3"/>
          <p:cNvSpPr/>
          <p:nvPr/>
        </p:nvSpPr>
        <p:spPr>
          <a:xfrm>
            <a:off x="3756660" y="3587496"/>
            <a:ext cx="4554220" cy="462280"/>
          </a:xfrm>
          <a:custGeom>
            <a:avLst/>
            <a:gdLst/>
            <a:ahLst/>
            <a:cxnLst/>
            <a:rect l="l" t="t" r="r" b="b"/>
            <a:pathLst>
              <a:path w="4554220" h="462279">
                <a:moveTo>
                  <a:pt x="4553712" y="0"/>
                </a:moveTo>
                <a:lnTo>
                  <a:pt x="0" y="0"/>
                </a:lnTo>
                <a:lnTo>
                  <a:pt x="0" y="461771"/>
                </a:lnTo>
                <a:lnTo>
                  <a:pt x="4553712" y="461771"/>
                </a:lnTo>
                <a:lnTo>
                  <a:pt x="4553712" y="0"/>
                </a:lnTo>
                <a:close/>
              </a:path>
            </a:pathLst>
          </a:custGeom>
          <a:solidFill>
            <a:srgbClr val="4F81BC">
              <a:alpha val="65881"/>
            </a:srgbClr>
          </a:solidFill>
        </p:spPr>
        <p:txBody>
          <a:bodyPr wrap="square" lIns="0" tIns="0" rIns="0" bIns="0" rtlCol="0"/>
          <a:lstStyle/>
          <a:p>
            <a:endParaRPr/>
          </a:p>
        </p:txBody>
      </p:sp>
      <p:sp>
        <p:nvSpPr>
          <p:cNvPr id="4" name="object 4"/>
          <p:cNvSpPr/>
          <p:nvPr/>
        </p:nvSpPr>
        <p:spPr>
          <a:xfrm>
            <a:off x="5207508" y="2415539"/>
            <a:ext cx="2057400" cy="228600"/>
          </a:xfrm>
          <a:custGeom>
            <a:avLst/>
            <a:gdLst/>
            <a:ahLst/>
            <a:cxnLst/>
            <a:rect l="l" t="t" r="r" b="b"/>
            <a:pathLst>
              <a:path w="2057400" h="228600">
                <a:moveTo>
                  <a:pt x="1828800" y="0"/>
                </a:moveTo>
                <a:lnTo>
                  <a:pt x="1828800" y="228600"/>
                </a:lnTo>
                <a:lnTo>
                  <a:pt x="1981200" y="152400"/>
                </a:lnTo>
                <a:lnTo>
                  <a:pt x="1866900" y="152400"/>
                </a:lnTo>
                <a:lnTo>
                  <a:pt x="1866900" y="76200"/>
                </a:lnTo>
                <a:lnTo>
                  <a:pt x="1981200" y="76200"/>
                </a:lnTo>
                <a:lnTo>
                  <a:pt x="1828800" y="0"/>
                </a:lnTo>
                <a:close/>
              </a:path>
              <a:path w="2057400" h="228600">
                <a:moveTo>
                  <a:pt x="1828800" y="76200"/>
                </a:moveTo>
                <a:lnTo>
                  <a:pt x="0" y="76200"/>
                </a:lnTo>
                <a:lnTo>
                  <a:pt x="0" y="152400"/>
                </a:lnTo>
                <a:lnTo>
                  <a:pt x="1828800" y="152400"/>
                </a:lnTo>
                <a:lnTo>
                  <a:pt x="1828800" y="76200"/>
                </a:lnTo>
                <a:close/>
              </a:path>
              <a:path w="2057400" h="228600">
                <a:moveTo>
                  <a:pt x="1981200" y="76200"/>
                </a:moveTo>
                <a:lnTo>
                  <a:pt x="1866900" y="76200"/>
                </a:lnTo>
                <a:lnTo>
                  <a:pt x="1866900" y="152400"/>
                </a:lnTo>
                <a:lnTo>
                  <a:pt x="1981200" y="152400"/>
                </a:lnTo>
                <a:lnTo>
                  <a:pt x="2057400" y="114300"/>
                </a:lnTo>
                <a:lnTo>
                  <a:pt x="1981200" y="76200"/>
                </a:lnTo>
                <a:close/>
              </a:path>
            </a:pathLst>
          </a:custGeom>
          <a:solidFill>
            <a:srgbClr val="000000"/>
          </a:solidFill>
        </p:spPr>
        <p:txBody>
          <a:bodyPr wrap="square" lIns="0" tIns="0" rIns="0" bIns="0" rtlCol="0"/>
          <a:lstStyle/>
          <a:p>
            <a:endParaRPr/>
          </a:p>
        </p:txBody>
      </p:sp>
      <p:sp>
        <p:nvSpPr>
          <p:cNvPr id="5" name="object 5"/>
          <p:cNvSpPr txBox="1"/>
          <p:nvPr/>
        </p:nvSpPr>
        <p:spPr>
          <a:xfrm>
            <a:off x="2059940" y="1268986"/>
            <a:ext cx="7879713" cy="1135567"/>
          </a:xfrm>
          <a:prstGeom prst="rect">
            <a:avLst/>
          </a:prstGeom>
        </p:spPr>
        <p:txBody>
          <a:bodyPr vert="horz" wrap="square" lIns="0" tIns="12065" rIns="0" bIns="0" rtlCol="0">
            <a:spAutoFit/>
          </a:bodyPr>
          <a:lstStyle/>
          <a:p>
            <a:pPr marL="354965" indent="-342265">
              <a:spcBef>
                <a:spcPts val="95"/>
              </a:spcBef>
              <a:buFont typeface="Arial"/>
              <a:buChar char="•"/>
              <a:tabLst>
                <a:tab pos="354965" algn="l"/>
              </a:tabLst>
            </a:pPr>
            <a:r>
              <a:rPr sz="2200" dirty="0">
                <a:latin typeface="Calibri"/>
                <a:cs typeface="Calibri"/>
              </a:rPr>
              <a:t>The</a:t>
            </a:r>
            <a:r>
              <a:rPr sz="2200" spc="-40" dirty="0">
                <a:latin typeface="Calibri"/>
                <a:cs typeface="Calibri"/>
              </a:rPr>
              <a:t> </a:t>
            </a:r>
            <a:r>
              <a:rPr sz="2200" dirty="0">
                <a:latin typeface="Calibri"/>
                <a:cs typeface="Calibri"/>
              </a:rPr>
              <a:t>Domain</a:t>
            </a:r>
            <a:r>
              <a:rPr sz="2200" spc="-55" dirty="0">
                <a:latin typeface="Calibri"/>
                <a:cs typeface="Calibri"/>
              </a:rPr>
              <a:t> </a:t>
            </a:r>
            <a:r>
              <a:rPr sz="2200" dirty="0">
                <a:latin typeface="Calibri"/>
                <a:cs typeface="Calibri"/>
              </a:rPr>
              <a:t>Name</a:t>
            </a:r>
            <a:r>
              <a:rPr sz="2200" spc="-40" dirty="0">
                <a:latin typeface="Calibri"/>
                <a:cs typeface="Calibri"/>
              </a:rPr>
              <a:t> </a:t>
            </a:r>
            <a:r>
              <a:rPr sz="2200" spc="-10" dirty="0">
                <a:latin typeface="Calibri"/>
                <a:cs typeface="Calibri"/>
              </a:rPr>
              <a:t>System</a:t>
            </a:r>
            <a:r>
              <a:rPr sz="2200" spc="-25" dirty="0">
                <a:latin typeface="Calibri"/>
                <a:cs typeface="Calibri"/>
              </a:rPr>
              <a:t> </a:t>
            </a:r>
            <a:r>
              <a:rPr sz="2200" dirty="0">
                <a:latin typeface="Calibri"/>
                <a:cs typeface="Calibri"/>
              </a:rPr>
              <a:t>(DNS)</a:t>
            </a:r>
            <a:r>
              <a:rPr sz="2200" spc="-40" dirty="0">
                <a:latin typeface="Calibri"/>
                <a:cs typeface="Calibri"/>
              </a:rPr>
              <a:t> </a:t>
            </a:r>
            <a:r>
              <a:rPr sz="2200" dirty="0">
                <a:latin typeface="Calibri"/>
                <a:cs typeface="Calibri"/>
              </a:rPr>
              <a:t>associates</a:t>
            </a:r>
            <a:r>
              <a:rPr sz="2200" spc="-45" dirty="0">
                <a:latin typeface="Calibri"/>
                <a:cs typeface="Calibri"/>
              </a:rPr>
              <a:t> </a:t>
            </a:r>
            <a:r>
              <a:rPr sz="2200" dirty="0">
                <a:latin typeface="Calibri"/>
                <a:cs typeface="Calibri"/>
              </a:rPr>
              <a:t>Domain</a:t>
            </a:r>
            <a:r>
              <a:rPr sz="2200" spc="-70" dirty="0">
                <a:latin typeface="Calibri"/>
                <a:cs typeface="Calibri"/>
              </a:rPr>
              <a:t> </a:t>
            </a:r>
            <a:r>
              <a:rPr sz="2200" dirty="0">
                <a:latin typeface="Calibri"/>
                <a:cs typeface="Calibri"/>
              </a:rPr>
              <a:t>Names</a:t>
            </a:r>
            <a:r>
              <a:rPr sz="2200" spc="-25" dirty="0">
                <a:latin typeface="Calibri"/>
                <a:cs typeface="Calibri"/>
              </a:rPr>
              <a:t> </a:t>
            </a:r>
            <a:r>
              <a:rPr sz="2200" dirty="0">
                <a:latin typeface="Calibri"/>
                <a:cs typeface="Calibri"/>
              </a:rPr>
              <a:t>with</a:t>
            </a:r>
            <a:r>
              <a:rPr sz="2200" spc="-50" dirty="0">
                <a:latin typeface="Calibri"/>
                <a:cs typeface="Calibri"/>
              </a:rPr>
              <a:t> </a:t>
            </a:r>
            <a:r>
              <a:rPr sz="2200" spc="-25" dirty="0">
                <a:latin typeface="Calibri"/>
                <a:cs typeface="Calibri"/>
              </a:rPr>
              <a:t>IP</a:t>
            </a:r>
            <a:endParaRPr sz="2200" dirty="0">
              <a:latin typeface="Calibri"/>
              <a:cs typeface="Calibri"/>
            </a:endParaRPr>
          </a:p>
          <a:p>
            <a:pPr marL="355600"/>
            <a:r>
              <a:rPr sz="2200" spc="-10" dirty="0">
                <a:latin typeface="Calibri"/>
                <a:cs typeface="Calibri"/>
              </a:rPr>
              <a:t>addresses.</a:t>
            </a:r>
            <a:endParaRPr sz="2200" dirty="0">
              <a:latin typeface="Calibri"/>
              <a:cs typeface="Calibri"/>
            </a:endParaRPr>
          </a:p>
          <a:p>
            <a:pPr marL="506095" algn="ctr">
              <a:spcBef>
                <a:spcPts val="635"/>
              </a:spcBef>
            </a:pPr>
            <a:r>
              <a:rPr sz="2400" dirty="0">
                <a:latin typeface="Times New Roman"/>
                <a:cs typeface="Times New Roman"/>
              </a:rPr>
              <a:t>Domain</a:t>
            </a:r>
            <a:r>
              <a:rPr sz="2400" spc="-20" dirty="0">
                <a:latin typeface="Times New Roman"/>
                <a:cs typeface="Times New Roman"/>
              </a:rPr>
              <a:t> Name</a:t>
            </a:r>
            <a:endParaRPr sz="2400" dirty="0">
              <a:latin typeface="Times New Roman"/>
              <a:cs typeface="Times New Roman"/>
            </a:endParaRPr>
          </a:p>
        </p:txBody>
      </p:sp>
      <p:sp>
        <p:nvSpPr>
          <p:cNvPr id="6" name="object 6"/>
          <p:cNvSpPr/>
          <p:nvPr/>
        </p:nvSpPr>
        <p:spPr>
          <a:xfrm>
            <a:off x="5131308" y="2948939"/>
            <a:ext cx="2209800" cy="228600"/>
          </a:xfrm>
          <a:custGeom>
            <a:avLst/>
            <a:gdLst/>
            <a:ahLst/>
            <a:cxnLst/>
            <a:rect l="l" t="t" r="r" b="b"/>
            <a:pathLst>
              <a:path w="2209800" h="228600">
                <a:moveTo>
                  <a:pt x="228600" y="0"/>
                </a:moveTo>
                <a:lnTo>
                  <a:pt x="0" y="114300"/>
                </a:lnTo>
                <a:lnTo>
                  <a:pt x="228600" y="228600"/>
                </a:lnTo>
                <a:lnTo>
                  <a:pt x="228600" y="152400"/>
                </a:lnTo>
                <a:lnTo>
                  <a:pt x="190500" y="152400"/>
                </a:lnTo>
                <a:lnTo>
                  <a:pt x="190500" y="76200"/>
                </a:lnTo>
                <a:lnTo>
                  <a:pt x="228600" y="76200"/>
                </a:lnTo>
                <a:lnTo>
                  <a:pt x="228600" y="0"/>
                </a:lnTo>
                <a:close/>
              </a:path>
              <a:path w="2209800" h="228600">
                <a:moveTo>
                  <a:pt x="228600" y="76200"/>
                </a:moveTo>
                <a:lnTo>
                  <a:pt x="190500" y="76200"/>
                </a:lnTo>
                <a:lnTo>
                  <a:pt x="190500" y="152400"/>
                </a:lnTo>
                <a:lnTo>
                  <a:pt x="228600" y="152400"/>
                </a:lnTo>
                <a:lnTo>
                  <a:pt x="228600" y="76200"/>
                </a:lnTo>
                <a:close/>
              </a:path>
              <a:path w="2209800" h="228600">
                <a:moveTo>
                  <a:pt x="2209800" y="76200"/>
                </a:moveTo>
                <a:lnTo>
                  <a:pt x="228600" y="76200"/>
                </a:lnTo>
                <a:lnTo>
                  <a:pt x="228600" y="152400"/>
                </a:lnTo>
                <a:lnTo>
                  <a:pt x="2209800" y="152400"/>
                </a:lnTo>
                <a:lnTo>
                  <a:pt x="2209800" y="76200"/>
                </a:lnTo>
                <a:close/>
              </a:path>
            </a:pathLst>
          </a:custGeom>
          <a:solidFill>
            <a:srgbClr val="000000"/>
          </a:solidFill>
        </p:spPr>
        <p:txBody>
          <a:bodyPr wrap="square" lIns="0" tIns="0" rIns="0" bIns="0" rtlCol="0"/>
          <a:lstStyle/>
          <a:p>
            <a:endParaRPr/>
          </a:p>
        </p:txBody>
      </p:sp>
      <p:sp>
        <p:nvSpPr>
          <p:cNvPr id="7" name="object 7"/>
          <p:cNvSpPr txBox="1"/>
          <p:nvPr/>
        </p:nvSpPr>
        <p:spPr>
          <a:xfrm>
            <a:off x="5569459" y="2628977"/>
            <a:ext cx="1346835" cy="391795"/>
          </a:xfrm>
          <a:prstGeom prst="rect">
            <a:avLst/>
          </a:prstGeom>
        </p:spPr>
        <p:txBody>
          <a:bodyPr vert="horz" wrap="square" lIns="0" tIns="12700" rIns="0" bIns="0" rtlCol="0">
            <a:spAutoFit/>
          </a:bodyPr>
          <a:lstStyle/>
          <a:p>
            <a:pPr marL="12700">
              <a:spcBef>
                <a:spcPts val="100"/>
              </a:spcBef>
            </a:pPr>
            <a:r>
              <a:rPr sz="2400" spc="-20" dirty="0">
                <a:latin typeface="Times New Roman"/>
                <a:cs typeface="Times New Roman"/>
              </a:rPr>
              <a:t>IP</a:t>
            </a:r>
            <a:r>
              <a:rPr sz="2400" spc="-200" dirty="0">
                <a:latin typeface="Times New Roman"/>
                <a:cs typeface="Times New Roman"/>
              </a:rPr>
              <a:t> </a:t>
            </a:r>
            <a:r>
              <a:rPr sz="2400" spc="-10" dirty="0">
                <a:latin typeface="Times New Roman"/>
                <a:cs typeface="Times New Roman"/>
              </a:rPr>
              <a:t>Address</a:t>
            </a:r>
            <a:endParaRPr sz="2400" dirty="0">
              <a:latin typeface="Times New Roman"/>
              <a:cs typeface="Times New Roman"/>
            </a:endParaRPr>
          </a:p>
        </p:txBody>
      </p:sp>
      <p:sp>
        <p:nvSpPr>
          <p:cNvPr id="8" name="object 8"/>
          <p:cNvSpPr/>
          <p:nvPr/>
        </p:nvSpPr>
        <p:spPr>
          <a:xfrm>
            <a:off x="5283708" y="3392423"/>
            <a:ext cx="2209800" cy="228600"/>
          </a:xfrm>
          <a:custGeom>
            <a:avLst/>
            <a:gdLst/>
            <a:ahLst/>
            <a:cxnLst/>
            <a:rect l="l" t="t" r="r" b="b"/>
            <a:pathLst>
              <a:path w="2209800" h="228600">
                <a:moveTo>
                  <a:pt x="1981200" y="0"/>
                </a:moveTo>
                <a:lnTo>
                  <a:pt x="1981200" y="228600"/>
                </a:lnTo>
                <a:lnTo>
                  <a:pt x="2133600" y="152400"/>
                </a:lnTo>
                <a:lnTo>
                  <a:pt x="2019300" y="152400"/>
                </a:lnTo>
                <a:lnTo>
                  <a:pt x="2019300" y="76200"/>
                </a:lnTo>
                <a:lnTo>
                  <a:pt x="2133600" y="76200"/>
                </a:lnTo>
                <a:lnTo>
                  <a:pt x="1981200" y="0"/>
                </a:lnTo>
                <a:close/>
              </a:path>
              <a:path w="2209800" h="228600">
                <a:moveTo>
                  <a:pt x="1981200" y="76200"/>
                </a:moveTo>
                <a:lnTo>
                  <a:pt x="0" y="76200"/>
                </a:lnTo>
                <a:lnTo>
                  <a:pt x="0" y="152400"/>
                </a:lnTo>
                <a:lnTo>
                  <a:pt x="1981200" y="152400"/>
                </a:lnTo>
                <a:lnTo>
                  <a:pt x="1981200" y="76200"/>
                </a:lnTo>
                <a:close/>
              </a:path>
              <a:path w="2209800" h="228600">
                <a:moveTo>
                  <a:pt x="2133600" y="76200"/>
                </a:moveTo>
                <a:lnTo>
                  <a:pt x="2019300" y="76200"/>
                </a:lnTo>
                <a:lnTo>
                  <a:pt x="2019300" y="152400"/>
                </a:lnTo>
                <a:lnTo>
                  <a:pt x="2133600" y="152400"/>
                </a:lnTo>
                <a:lnTo>
                  <a:pt x="2209800" y="114300"/>
                </a:lnTo>
                <a:lnTo>
                  <a:pt x="2133600" y="76200"/>
                </a:lnTo>
                <a:close/>
              </a:path>
            </a:pathLst>
          </a:custGeom>
          <a:solidFill>
            <a:srgbClr val="000000"/>
          </a:solidFill>
        </p:spPr>
        <p:txBody>
          <a:bodyPr wrap="square" lIns="0" tIns="0" rIns="0" bIns="0" rtlCol="0"/>
          <a:lstStyle/>
          <a:p>
            <a:endParaRPr/>
          </a:p>
        </p:txBody>
      </p:sp>
      <p:sp>
        <p:nvSpPr>
          <p:cNvPr id="9" name="object 9"/>
          <p:cNvSpPr txBox="1"/>
          <p:nvPr/>
        </p:nvSpPr>
        <p:spPr>
          <a:xfrm>
            <a:off x="3756660" y="3587496"/>
            <a:ext cx="4554220" cy="407804"/>
          </a:xfrm>
          <a:prstGeom prst="rect">
            <a:avLst/>
          </a:prstGeom>
        </p:spPr>
        <p:txBody>
          <a:bodyPr vert="horz" wrap="square" lIns="0" tIns="38100" rIns="0" bIns="0" rtlCol="0">
            <a:spAutoFit/>
          </a:bodyPr>
          <a:lstStyle/>
          <a:p>
            <a:pPr marL="6350">
              <a:spcBef>
                <a:spcPts val="300"/>
              </a:spcBef>
              <a:tabLst>
                <a:tab pos="1605915" algn="l"/>
              </a:tabLst>
            </a:pPr>
            <a:r>
              <a:rPr sz="2400" dirty="0">
                <a:latin typeface="Times New Roman"/>
                <a:cs typeface="Times New Roman"/>
              </a:rPr>
              <a:t>Use</a:t>
            </a:r>
            <a:r>
              <a:rPr sz="2400" spc="-80" dirty="0">
                <a:latin typeface="Times New Roman"/>
                <a:cs typeface="Times New Roman"/>
              </a:rPr>
              <a:t> </a:t>
            </a:r>
            <a:r>
              <a:rPr sz="2400" spc="-10" dirty="0">
                <a:latin typeface="Times New Roman"/>
                <a:cs typeface="Times New Roman"/>
              </a:rPr>
              <a:t>TCP/IP</a:t>
            </a:r>
            <a:r>
              <a:rPr sz="2400" dirty="0">
                <a:latin typeface="Times New Roman"/>
                <a:cs typeface="Times New Roman"/>
              </a:rPr>
              <a:t>	to</a:t>
            </a:r>
            <a:r>
              <a:rPr sz="2400" spc="-25" dirty="0">
                <a:latin typeface="Times New Roman"/>
                <a:cs typeface="Times New Roman"/>
              </a:rPr>
              <a:t> </a:t>
            </a:r>
            <a:r>
              <a:rPr sz="2400" dirty="0">
                <a:latin typeface="Times New Roman"/>
                <a:cs typeface="Times New Roman"/>
              </a:rPr>
              <a:t>send</a:t>
            </a:r>
            <a:r>
              <a:rPr sz="2400" spc="-30" dirty="0">
                <a:latin typeface="Times New Roman"/>
                <a:cs typeface="Times New Roman"/>
              </a:rPr>
              <a:t> </a:t>
            </a:r>
            <a:r>
              <a:rPr sz="2400" dirty="0">
                <a:latin typeface="Times New Roman"/>
                <a:cs typeface="Times New Roman"/>
              </a:rPr>
              <a:t>HTTP</a:t>
            </a:r>
            <a:r>
              <a:rPr sz="2400" spc="-100" dirty="0">
                <a:latin typeface="Times New Roman"/>
                <a:cs typeface="Times New Roman"/>
              </a:rPr>
              <a:t> </a:t>
            </a:r>
            <a:r>
              <a:rPr sz="2400" spc="-10" dirty="0">
                <a:latin typeface="Times New Roman"/>
                <a:cs typeface="Times New Roman"/>
              </a:rPr>
              <a:t>Request</a:t>
            </a:r>
            <a:endParaRPr sz="2400">
              <a:latin typeface="Times New Roman"/>
              <a:cs typeface="Times New Roman"/>
            </a:endParaRPr>
          </a:p>
        </p:txBody>
      </p:sp>
      <p:sp>
        <p:nvSpPr>
          <p:cNvPr id="10" name="object 10"/>
          <p:cNvSpPr txBox="1"/>
          <p:nvPr/>
        </p:nvSpPr>
        <p:spPr>
          <a:xfrm>
            <a:off x="8560307" y="3227832"/>
            <a:ext cx="1287780" cy="707390"/>
          </a:xfrm>
          <a:prstGeom prst="rect">
            <a:avLst/>
          </a:prstGeom>
          <a:solidFill>
            <a:srgbClr val="4F81BC">
              <a:alpha val="65881"/>
            </a:srgbClr>
          </a:solidFill>
        </p:spPr>
        <p:txBody>
          <a:bodyPr vert="horz" wrap="square" lIns="0" tIns="0" rIns="0" bIns="0" rtlCol="0">
            <a:spAutoFit/>
          </a:bodyPr>
          <a:lstStyle/>
          <a:p>
            <a:pPr marL="304165">
              <a:lnSpc>
                <a:spcPts val="2470"/>
              </a:lnSpc>
            </a:pPr>
            <a:r>
              <a:rPr sz="2400" spc="-25" dirty="0">
                <a:latin typeface="Times New Roman"/>
                <a:cs typeface="Times New Roman"/>
              </a:rPr>
              <a:t>Web</a:t>
            </a:r>
            <a:endParaRPr sz="2400">
              <a:latin typeface="Times New Roman"/>
              <a:cs typeface="Times New Roman"/>
            </a:endParaRPr>
          </a:p>
          <a:p>
            <a:pPr marL="133350"/>
            <a:r>
              <a:rPr sz="2400" spc="-10" dirty="0">
                <a:latin typeface="Times New Roman"/>
                <a:cs typeface="Times New Roman"/>
              </a:rPr>
              <a:t>Server</a:t>
            </a:r>
            <a:endParaRPr sz="2400">
              <a:latin typeface="Times New Roman"/>
              <a:cs typeface="Times New Roman"/>
            </a:endParaRPr>
          </a:p>
        </p:txBody>
      </p:sp>
      <p:sp>
        <p:nvSpPr>
          <p:cNvPr id="11" name="object 11"/>
          <p:cNvSpPr txBox="1"/>
          <p:nvPr/>
        </p:nvSpPr>
        <p:spPr>
          <a:xfrm>
            <a:off x="4772025" y="4467606"/>
            <a:ext cx="3653154" cy="1123315"/>
          </a:xfrm>
          <a:prstGeom prst="rect">
            <a:avLst/>
          </a:prstGeom>
        </p:spPr>
        <p:txBody>
          <a:bodyPr vert="horz" wrap="square" lIns="0" tIns="12700" rIns="0" bIns="0" rtlCol="0">
            <a:spAutoFit/>
          </a:bodyPr>
          <a:lstStyle/>
          <a:p>
            <a:pPr marL="12700" marR="5080" indent="2105025" algn="r">
              <a:spcBef>
                <a:spcPts val="100"/>
              </a:spcBef>
            </a:pPr>
            <a:r>
              <a:rPr sz="2400" dirty="0">
                <a:latin typeface="Times New Roman"/>
                <a:cs typeface="Times New Roman"/>
              </a:rPr>
              <a:t>Use</a:t>
            </a:r>
            <a:r>
              <a:rPr sz="2400" spc="-80" dirty="0">
                <a:latin typeface="Times New Roman"/>
                <a:cs typeface="Times New Roman"/>
              </a:rPr>
              <a:t> </a:t>
            </a:r>
            <a:r>
              <a:rPr sz="2400" spc="-10" dirty="0">
                <a:latin typeface="Times New Roman"/>
                <a:cs typeface="Times New Roman"/>
              </a:rPr>
              <a:t>TCP/IP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send</a:t>
            </a:r>
            <a:r>
              <a:rPr sz="2400" spc="-15" dirty="0">
                <a:latin typeface="Times New Roman"/>
                <a:cs typeface="Times New Roman"/>
              </a:rPr>
              <a:t> </a:t>
            </a:r>
            <a:r>
              <a:rPr sz="2400" dirty="0">
                <a:latin typeface="Times New Roman"/>
                <a:cs typeface="Times New Roman"/>
              </a:rPr>
              <a:t>HTTP</a:t>
            </a:r>
            <a:r>
              <a:rPr sz="2400" spc="-105" dirty="0">
                <a:latin typeface="Times New Roman"/>
                <a:cs typeface="Times New Roman"/>
              </a:rPr>
              <a:t> </a:t>
            </a:r>
            <a:r>
              <a:rPr sz="2400" spc="-10" dirty="0">
                <a:latin typeface="Times New Roman"/>
                <a:cs typeface="Times New Roman"/>
              </a:rPr>
              <a:t>Responses </a:t>
            </a:r>
            <a:r>
              <a:rPr sz="2400" dirty="0">
                <a:latin typeface="Times New Roman"/>
                <a:cs typeface="Times New Roman"/>
              </a:rPr>
              <a:t>with</a:t>
            </a:r>
            <a:r>
              <a:rPr sz="2400" spc="-20" dirty="0">
                <a:latin typeface="Times New Roman"/>
                <a:cs typeface="Times New Roman"/>
              </a:rPr>
              <a:t> </a:t>
            </a:r>
            <a:r>
              <a:rPr sz="2400" dirty="0">
                <a:latin typeface="Times New Roman"/>
                <a:cs typeface="Times New Roman"/>
              </a:rPr>
              <a:t>web</a:t>
            </a:r>
            <a:r>
              <a:rPr sz="2400" spc="-5" dirty="0">
                <a:latin typeface="Times New Roman"/>
                <a:cs typeface="Times New Roman"/>
              </a:rPr>
              <a:t> </a:t>
            </a:r>
            <a:r>
              <a:rPr sz="2400" dirty="0">
                <a:latin typeface="Times New Roman"/>
                <a:cs typeface="Times New Roman"/>
              </a:rPr>
              <a:t>page</a:t>
            </a:r>
            <a:r>
              <a:rPr sz="2400" spc="-15" dirty="0">
                <a:latin typeface="Times New Roman"/>
                <a:cs typeface="Times New Roman"/>
              </a:rPr>
              <a:t> </a:t>
            </a:r>
            <a:r>
              <a:rPr sz="2400" dirty="0">
                <a:latin typeface="Times New Roman"/>
                <a:cs typeface="Times New Roman"/>
              </a:rPr>
              <a:t>files</a:t>
            </a:r>
            <a:r>
              <a:rPr sz="2400" spc="-30" dirty="0">
                <a:latin typeface="Times New Roman"/>
                <a:cs typeface="Times New Roman"/>
              </a:rPr>
              <a:t> </a:t>
            </a:r>
            <a:r>
              <a:rPr sz="2400" dirty="0">
                <a:latin typeface="Times New Roman"/>
                <a:cs typeface="Times New Roman"/>
              </a:rPr>
              <a:t>&amp;</a:t>
            </a:r>
            <a:r>
              <a:rPr sz="2400" spc="-5" dirty="0">
                <a:latin typeface="Times New Roman"/>
                <a:cs typeface="Times New Roman"/>
              </a:rPr>
              <a:t> </a:t>
            </a:r>
            <a:r>
              <a:rPr sz="2400" spc="-10" dirty="0">
                <a:latin typeface="Times New Roman"/>
                <a:cs typeface="Times New Roman"/>
              </a:rPr>
              <a:t>images</a:t>
            </a:r>
            <a:endParaRPr sz="2400">
              <a:latin typeface="Times New Roman"/>
              <a:cs typeface="Times New Roman"/>
            </a:endParaRPr>
          </a:p>
        </p:txBody>
      </p:sp>
      <p:sp>
        <p:nvSpPr>
          <p:cNvPr id="12" name="object 12"/>
          <p:cNvSpPr/>
          <p:nvPr/>
        </p:nvSpPr>
        <p:spPr>
          <a:xfrm>
            <a:off x="5257800" y="5548884"/>
            <a:ext cx="2209800" cy="228600"/>
          </a:xfrm>
          <a:custGeom>
            <a:avLst/>
            <a:gdLst/>
            <a:ahLst/>
            <a:cxnLst/>
            <a:rect l="l" t="t" r="r" b="b"/>
            <a:pathLst>
              <a:path w="2209800" h="228600">
                <a:moveTo>
                  <a:pt x="228600" y="0"/>
                </a:moveTo>
                <a:lnTo>
                  <a:pt x="0" y="114299"/>
                </a:lnTo>
                <a:lnTo>
                  <a:pt x="228600" y="228599"/>
                </a:lnTo>
                <a:lnTo>
                  <a:pt x="228600" y="152399"/>
                </a:lnTo>
                <a:lnTo>
                  <a:pt x="190500" y="152399"/>
                </a:lnTo>
                <a:lnTo>
                  <a:pt x="190500" y="76199"/>
                </a:lnTo>
                <a:lnTo>
                  <a:pt x="228600" y="76199"/>
                </a:lnTo>
                <a:lnTo>
                  <a:pt x="228600" y="0"/>
                </a:lnTo>
                <a:close/>
              </a:path>
              <a:path w="2209800" h="228600">
                <a:moveTo>
                  <a:pt x="228600" y="76199"/>
                </a:moveTo>
                <a:lnTo>
                  <a:pt x="190500" y="76199"/>
                </a:lnTo>
                <a:lnTo>
                  <a:pt x="190500" y="152399"/>
                </a:lnTo>
                <a:lnTo>
                  <a:pt x="228600" y="152399"/>
                </a:lnTo>
                <a:lnTo>
                  <a:pt x="228600" y="76199"/>
                </a:lnTo>
                <a:close/>
              </a:path>
              <a:path w="2209800" h="228600">
                <a:moveTo>
                  <a:pt x="2209800" y="76199"/>
                </a:moveTo>
                <a:lnTo>
                  <a:pt x="228600" y="76199"/>
                </a:lnTo>
                <a:lnTo>
                  <a:pt x="228600" y="152399"/>
                </a:lnTo>
                <a:lnTo>
                  <a:pt x="2209800" y="152399"/>
                </a:lnTo>
                <a:lnTo>
                  <a:pt x="2209800" y="76199"/>
                </a:lnTo>
                <a:close/>
              </a:path>
            </a:pathLst>
          </a:custGeom>
          <a:solidFill>
            <a:srgbClr val="000000"/>
          </a:solidFill>
        </p:spPr>
        <p:txBody>
          <a:bodyPr wrap="square" lIns="0" tIns="0" rIns="0" bIns="0" rtlCol="0"/>
          <a:lstStyle/>
          <a:p>
            <a:endParaRPr/>
          </a:p>
        </p:txBody>
      </p:sp>
      <p:grpSp>
        <p:nvGrpSpPr>
          <p:cNvPr id="13" name="object 13"/>
          <p:cNvGrpSpPr/>
          <p:nvPr/>
        </p:nvGrpSpPr>
        <p:grpSpPr>
          <a:xfrm>
            <a:off x="7952042" y="1991678"/>
            <a:ext cx="1838325" cy="1228725"/>
            <a:chOff x="6428041" y="1991677"/>
            <a:chExt cx="1838325" cy="1228725"/>
          </a:xfrm>
        </p:grpSpPr>
        <p:sp>
          <p:nvSpPr>
            <p:cNvPr id="14" name="object 14"/>
            <p:cNvSpPr/>
            <p:nvPr/>
          </p:nvSpPr>
          <p:spPr>
            <a:xfrm>
              <a:off x="6890003" y="1996439"/>
              <a:ext cx="1066800" cy="838200"/>
            </a:xfrm>
            <a:custGeom>
              <a:avLst/>
              <a:gdLst/>
              <a:ahLst/>
              <a:cxnLst/>
              <a:rect l="l" t="t" r="r" b="b"/>
              <a:pathLst>
                <a:path w="1066800" h="838200">
                  <a:moveTo>
                    <a:pt x="533400" y="0"/>
                  </a:moveTo>
                  <a:lnTo>
                    <a:pt x="461009" y="1274"/>
                  </a:lnTo>
                  <a:lnTo>
                    <a:pt x="391583" y="4985"/>
                  </a:lnTo>
                  <a:lnTo>
                    <a:pt x="325754" y="10969"/>
                  </a:lnTo>
                  <a:lnTo>
                    <a:pt x="264159" y="19059"/>
                  </a:lnTo>
                  <a:lnTo>
                    <a:pt x="207433" y="29089"/>
                  </a:lnTo>
                  <a:lnTo>
                    <a:pt x="156209" y="40893"/>
                  </a:lnTo>
                  <a:lnTo>
                    <a:pt x="111125" y="54307"/>
                  </a:lnTo>
                  <a:lnTo>
                    <a:pt x="72813" y="69163"/>
                  </a:lnTo>
                  <a:lnTo>
                    <a:pt x="19050" y="102540"/>
                  </a:lnTo>
                  <a:lnTo>
                    <a:pt x="0" y="139700"/>
                  </a:lnTo>
                  <a:lnTo>
                    <a:pt x="0" y="698500"/>
                  </a:lnTo>
                  <a:lnTo>
                    <a:pt x="19050" y="735659"/>
                  </a:lnTo>
                  <a:lnTo>
                    <a:pt x="72813" y="769036"/>
                  </a:lnTo>
                  <a:lnTo>
                    <a:pt x="111125" y="783892"/>
                  </a:lnTo>
                  <a:lnTo>
                    <a:pt x="156210" y="797305"/>
                  </a:lnTo>
                  <a:lnTo>
                    <a:pt x="207433" y="809110"/>
                  </a:lnTo>
                  <a:lnTo>
                    <a:pt x="264160" y="819140"/>
                  </a:lnTo>
                  <a:lnTo>
                    <a:pt x="325755" y="827230"/>
                  </a:lnTo>
                  <a:lnTo>
                    <a:pt x="391583" y="833214"/>
                  </a:lnTo>
                  <a:lnTo>
                    <a:pt x="461010" y="836925"/>
                  </a:lnTo>
                  <a:lnTo>
                    <a:pt x="533400" y="838200"/>
                  </a:lnTo>
                  <a:lnTo>
                    <a:pt x="605790" y="836925"/>
                  </a:lnTo>
                  <a:lnTo>
                    <a:pt x="675216" y="833214"/>
                  </a:lnTo>
                  <a:lnTo>
                    <a:pt x="741045" y="827230"/>
                  </a:lnTo>
                  <a:lnTo>
                    <a:pt x="802640" y="819140"/>
                  </a:lnTo>
                  <a:lnTo>
                    <a:pt x="859366" y="809110"/>
                  </a:lnTo>
                  <a:lnTo>
                    <a:pt x="910590" y="797306"/>
                  </a:lnTo>
                  <a:lnTo>
                    <a:pt x="955675" y="783892"/>
                  </a:lnTo>
                  <a:lnTo>
                    <a:pt x="993986" y="769036"/>
                  </a:lnTo>
                  <a:lnTo>
                    <a:pt x="1047750" y="735659"/>
                  </a:lnTo>
                  <a:lnTo>
                    <a:pt x="1066800" y="698500"/>
                  </a:lnTo>
                  <a:lnTo>
                    <a:pt x="1066800" y="139700"/>
                  </a:lnTo>
                  <a:lnTo>
                    <a:pt x="1047750" y="102540"/>
                  </a:lnTo>
                  <a:lnTo>
                    <a:pt x="993986" y="69163"/>
                  </a:lnTo>
                  <a:lnTo>
                    <a:pt x="955675" y="54307"/>
                  </a:lnTo>
                  <a:lnTo>
                    <a:pt x="910590" y="40894"/>
                  </a:lnTo>
                  <a:lnTo>
                    <a:pt x="859366" y="29089"/>
                  </a:lnTo>
                  <a:lnTo>
                    <a:pt x="802640" y="19059"/>
                  </a:lnTo>
                  <a:lnTo>
                    <a:pt x="741045" y="10969"/>
                  </a:lnTo>
                  <a:lnTo>
                    <a:pt x="675216" y="4985"/>
                  </a:lnTo>
                  <a:lnTo>
                    <a:pt x="605790" y="1274"/>
                  </a:lnTo>
                  <a:lnTo>
                    <a:pt x="533400" y="0"/>
                  </a:lnTo>
                  <a:close/>
                </a:path>
              </a:pathLst>
            </a:custGeom>
            <a:solidFill>
              <a:srgbClr val="4F81BC"/>
            </a:solidFill>
          </p:spPr>
          <p:txBody>
            <a:bodyPr wrap="square" lIns="0" tIns="0" rIns="0" bIns="0" rtlCol="0"/>
            <a:lstStyle/>
            <a:p>
              <a:endParaRPr/>
            </a:p>
          </p:txBody>
        </p:sp>
        <p:sp>
          <p:nvSpPr>
            <p:cNvPr id="15" name="object 15"/>
            <p:cNvSpPr/>
            <p:nvPr/>
          </p:nvSpPr>
          <p:spPr>
            <a:xfrm>
              <a:off x="6890003" y="1996439"/>
              <a:ext cx="1066800" cy="838200"/>
            </a:xfrm>
            <a:custGeom>
              <a:avLst/>
              <a:gdLst/>
              <a:ahLst/>
              <a:cxnLst/>
              <a:rect l="l" t="t" r="r" b="b"/>
              <a:pathLst>
                <a:path w="1066800" h="838200">
                  <a:moveTo>
                    <a:pt x="1066800" y="139700"/>
                  </a:moveTo>
                  <a:lnTo>
                    <a:pt x="1047750" y="176859"/>
                  </a:lnTo>
                  <a:lnTo>
                    <a:pt x="993986" y="210236"/>
                  </a:lnTo>
                  <a:lnTo>
                    <a:pt x="955675" y="225092"/>
                  </a:lnTo>
                  <a:lnTo>
                    <a:pt x="910590" y="238506"/>
                  </a:lnTo>
                  <a:lnTo>
                    <a:pt x="859366" y="250310"/>
                  </a:lnTo>
                  <a:lnTo>
                    <a:pt x="802640" y="260340"/>
                  </a:lnTo>
                  <a:lnTo>
                    <a:pt x="741045" y="268430"/>
                  </a:lnTo>
                  <a:lnTo>
                    <a:pt x="675216" y="274414"/>
                  </a:lnTo>
                  <a:lnTo>
                    <a:pt x="605790" y="278125"/>
                  </a:lnTo>
                  <a:lnTo>
                    <a:pt x="533400" y="279400"/>
                  </a:lnTo>
                  <a:lnTo>
                    <a:pt x="461010" y="278125"/>
                  </a:lnTo>
                  <a:lnTo>
                    <a:pt x="391583" y="274414"/>
                  </a:lnTo>
                  <a:lnTo>
                    <a:pt x="325755" y="268430"/>
                  </a:lnTo>
                  <a:lnTo>
                    <a:pt x="264160" y="260340"/>
                  </a:lnTo>
                  <a:lnTo>
                    <a:pt x="207433" y="250310"/>
                  </a:lnTo>
                  <a:lnTo>
                    <a:pt x="156210" y="238505"/>
                  </a:lnTo>
                  <a:lnTo>
                    <a:pt x="111125" y="225092"/>
                  </a:lnTo>
                  <a:lnTo>
                    <a:pt x="72813" y="210236"/>
                  </a:lnTo>
                  <a:lnTo>
                    <a:pt x="19050" y="176859"/>
                  </a:lnTo>
                  <a:lnTo>
                    <a:pt x="4868" y="158669"/>
                  </a:lnTo>
                  <a:lnTo>
                    <a:pt x="0" y="139700"/>
                  </a:lnTo>
                </a:path>
                <a:path w="1066800" h="838200">
                  <a:moveTo>
                    <a:pt x="0" y="139700"/>
                  </a:moveTo>
                  <a:lnTo>
                    <a:pt x="19050" y="102540"/>
                  </a:lnTo>
                  <a:lnTo>
                    <a:pt x="72813" y="69163"/>
                  </a:lnTo>
                  <a:lnTo>
                    <a:pt x="111125" y="54307"/>
                  </a:lnTo>
                  <a:lnTo>
                    <a:pt x="156209" y="40893"/>
                  </a:lnTo>
                  <a:lnTo>
                    <a:pt x="207433" y="29089"/>
                  </a:lnTo>
                  <a:lnTo>
                    <a:pt x="264159" y="19059"/>
                  </a:lnTo>
                  <a:lnTo>
                    <a:pt x="325754" y="10969"/>
                  </a:lnTo>
                  <a:lnTo>
                    <a:pt x="391583" y="4985"/>
                  </a:lnTo>
                  <a:lnTo>
                    <a:pt x="461009" y="1274"/>
                  </a:lnTo>
                  <a:lnTo>
                    <a:pt x="533400" y="0"/>
                  </a:lnTo>
                  <a:lnTo>
                    <a:pt x="605790" y="1274"/>
                  </a:lnTo>
                  <a:lnTo>
                    <a:pt x="675216" y="4985"/>
                  </a:lnTo>
                  <a:lnTo>
                    <a:pt x="741045" y="10969"/>
                  </a:lnTo>
                  <a:lnTo>
                    <a:pt x="802640" y="19059"/>
                  </a:lnTo>
                  <a:lnTo>
                    <a:pt x="859366" y="29089"/>
                  </a:lnTo>
                  <a:lnTo>
                    <a:pt x="910590" y="40894"/>
                  </a:lnTo>
                  <a:lnTo>
                    <a:pt x="955675" y="54307"/>
                  </a:lnTo>
                  <a:lnTo>
                    <a:pt x="993986" y="69163"/>
                  </a:lnTo>
                  <a:lnTo>
                    <a:pt x="1047750" y="102540"/>
                  </a:lnTo>
                  <a:lnTo>
                    <a:pt x="1066800" y="139700"/>
                  </a:lnTo>
                  <a:lnTo>
                    <a:pt x="1066800" y="698500"/>
                  </a:lnTo>
                  <a:lnTo>
                    <a:pt x="1047750" y="735659"/>
                  </a:lnTo>
                  <a:lnTo>
                    <a:pt x="993986" y="769036"/>
                  </a:lnTo>
                  <a:lnTo>
                    <a:pt x="955675" y="783892"/>
                  </a:lnTo>
                  <a:lnTo>
                    <a:pt x="910590" y="797306"/>
                  </a:lnTo>
                  <a:lnTo>
                    <a:pt x="859366" y="809110"/>
                  </a:lnTo>
                  <a:lnTo>
                    <a:pt x="802640" y="819140"/>
                  </a:lnTo>
                  <a:lnTo>
                    <a:pt x="741045" y="827230"/>
                  </a:lnTo>
                  <a:lnTo>
                    <a:pt x="675216" y="833214"/>
                  </a:lnTo>
                  <a:lnTo>
                    <a:pt x="605790" y="836925"/>
                  </a:lnTo>
                  <a:lnTo>
                    <a:pt x="533400" y="838200"/>
                  </a:lnTo>
                  <a:lnTo>
                    <a:pt x="461010" y="836925"/>
                  </a:lnTo>
                  <a:lnTo>
                    <a:pt x="391583" y="833214"/>
                  </a:lnTo>
                  <a:lnTo>
                    <a:pt x="325755" y="827230"/>
                  </a:lnTo>
                  <a:lnTo>
                    <a:pt x="264160" y="819140"/>
                  </a:lnTo>
                  <a:lnTo>
                    <a:pt x="207433" y="809110"/>
                  </a:lnTo>
                  <a:lnTo>
                    <a:pt x="156210" y="797305"/>
                  </a:lnTo>
                  <a:lnTo>
                    <a:pt x="111125" y="783892"/>
                  </a:lnTo>
                  <a:lnTo>
                    <a:pt x="72813" y="769036"/>
                  </a:lnTo>
                  <a:lnTo>
                    <a:pt x="19050" y="735659"/>
                  </a:lnTo>
                  <a:lnTo>
                    <a:pt x="0" y="698500"/>
                  </a:lnTo>
                  <a:lnTo>
                    <a:pt x="0" y="139700"/>
                  </a:lnTo>
                  <a:close/>
                </a:path>
              </a:pathLst>
            </a:custGeom>
            <a:ln w="9525">
              <a:solidFill>
                <a:srgbClr val="000000"/>
              </a:solidFill>
            </a:ln>
          </p:spPr>
          <p:txBody>
            <a:bodyPr wrap="square" lIns="0" tIns="0" rIns="0" bIns="0" rtlCol="0"/>
            <a:lstStyle/>
            <a:p>
              <a:endParaRPr/>
            </a:p>
          </p:txBody>
        </p:sp>
        <p:sp>
          <p:nvSpPr>
            <p:cNvPr id="16" name="object 16"/>
            <p:cNvSpPr/>
            <p:nvPr/>
          </p:nvSpPr>
          <p:spPr>
            <a:xfrm>
              <a:off x="7194803" y="2377439"/>
              <a:ext cx="1066800" cy="838200"/>
            </a:xfrm>
            <a:custGeom>
              <a:avLst/>
              <a:gdLst/>
              <a:ahLst/>
              <a:cxnLst/>
              <a:rect l="l" t="t" r="r" b="b"/>
              <a:pathLst>
                <a:path w="1066800" h="838200">
                  <a:moveTo>
                    <a:pt x="533400" y="0"/>
                  </a:moveTo>
                  <a:lnTo>
                    <a:pt x="461009" y="1274"/>
                  </a:lnTo>
                  <a:lnTo>
                    <a:pt x="391583" y="4985"/>
                  </a:lnTo>
                  <a:lnTo>
                    <a:pt x="325754" y="10969"/>
                  </a:lnTo>
                  <a:lnTo>
                    <a:pt x="264159" y="19059"/>
                  </a:lnTo>
                  <a:lnTo>
                    <a:pt x="207433" y="29089"/>
                  </a:lnTo>
                  <a:lnTo>
                    <a:pt x="156209" y="40893"/>
                  </a:lnTo>
                  <a:lnTo>
                    <a:pt x="111125" y="54307"/>
                  </a:lnTo>
                  <a:lnTo>
                    <a:pt x="72813" y="69163"/>
                  </a:lnTo>
                  <a:lnTo>
                    <a:pt x="19050" y="102540"/>
                  </a:lnTo>
                  <a:lnTo>
                    <a:pt x="0" y="139700"/>
                  </a:lnTo>
                  <a:lnTo>
                    <a:pt x="0" y="698500"/>
                  </a:lnTo>
                  <a:lnTo>
                    <a:pt x="19050" y="735659"/>
                  </a:lnTo>
                  <a:lnTo>
                    <a:pt x="72813" y="769036"/>
                  </a:lnTo>
                  <a:lnTo>
                    <a:pt x="111125" y="783892"/>
                  </a:lnTo>
                  <a:lnTo>
                    <a:pt x="156210" y="797305"/>
                  </a:lnTo>
                  <a:lnTo>
                    <a:pt x="207433" y="809110"/>
                  </a:lnTo>
                  <a:lnTo>
                    <a:pt x="264160" y="819140"/>
                  </a:lnTo>
                  <a:lnTo>
                    <a:pt x="325755" y="827230"/>
                  </a:lnTo>
                  <a:lnTo>
                    <a:pt x="391583" y="833214"/>
                  </a:lnTo>
                  <a:lnTo>
                    <a:pt x="461010" y="836925"/>
                  </a:lnTo>
                  <a:lnTo>
                    <a:pt x="533400" y="838200"/>
                  </a:lnTo>
                  <a:lnTo>
                    <a:pt x="605790" y="836925"/>
                  </a:lnTo>
                  <a:lnTo>
                    <a:pt x="675216" y="833214"/>
                  </a:lnTo>
                  <a:lnTo>
                    <a:pt x="741045" y="827230"/>
                  </a:lnTo>
                  <a:lnTo>
                    <a:pt x="802640" y="819140"/>
                  </a:lnTo>
                  <a:lnTo>
                    <a:pt x="859366" y="809110"/>
                  </a:lnTo>
                  <a:lnTo>
                    <a:pt x="910590" y="797306"/>
                  </a:lnTo>
                  <a:lnTo>
                    <a:pt x="955675" y="783892"/>
                  </a:lnTo>
                  <a:lnTo>
                    <a:pt x="993986" y="769036"/>
                  </a:lnTo>
                  <a:lnTo>
                    <a:pt x="1047750" y="735659"/>
                  </a:lnTo>
                  <a:lnTo>
                    <a:pt x="1066800" y="698500"/>
                  </a:lnTo>
                  <a:lnTo>
                    <a:pt x="1066800" y="139700"/>
                  </a:lnTo>
                  <a:lnTo>
                    <a:pt x="1047750" y="102540"/>
                  </a:lnTo>
                  <a:lnTo>
                    <a:pt x="993986" y="69163"/>
                  </a:lnTo>
                  <a:lnTo>
                    <a:pt x="955675" y="54307"/>
                  </a:lnTo>
                  <a:lnTo>
                    <a:pt x="910590" y="40894"/>
                  </a:lnTo>
                  <a:lnTo>
                    <a:pt x="859366" y="29089"/>
                  </a:lnTo>
                  <a:lnTo>
                    <a:pt x="802640" y="19059"/>
                  </a:lnTo>
                  <a:lnTo>
                    <a:pt x="741045" y="10969"/>
                  </a:lnTo>
                  <a:lnTo>
                    <a:pt x="675216" y="4985"/>
                  </a:lnTo>
                  <a:lnTo>
                    <a:pt x="605790" y="1274"/>
                  </a:lnTo>
                  <a:lnTo>
                    <a:pt x="533400" y="0"/>
                  </a:lnTo>
                  <a:close/>
                </a:path>
              </a:pathLst>
            </a:custGeom>
            <a:solidFill>
              <a:srgbClr val="4F81BC"/>
            </a:solidFill>
          </p:spPr>
          <p:txBody>
            <a:bodyPr wrap="square" lIns="0" tIns="0" rIns="0" bIns="0" rtlCol="0"/>
            <a:lstStyle/>
            <a:p>
              <a:endParaRPr/>
            </a:p>
          </p:txBody>
        </p:sp>
        <p:sp>
          <p:nvSpPr>
            <p:cNvPr id="17" name="object 17"/>
            <p:cNvSpPr/>
            <p:nvPr/>
          </p:nvSpPr>
          <p:spPr>
            <a:xfrm>
              <a:off x="7194803" y="2377439"/>
              <a:ext cx="1066800" cy="838200"/>
            </a:xfrm>
            <a:custGeom>
              <a:avLst/>
              <a:gdLst/>
              <a:ahLst/>
              <a:cxnLst/>
              <a:rect l="l" t="t" r="r" b="b"/>
              <a:pathLst>
                <a:path w="1066800" h="838200">
                  <a:moveTo>
                    <a:pt x="1066800" y="139700"/>
                  </a:moveTo>
                  <a:lnTo>
                    <a:pt x="1047750" y="176859"/>
                  </a:lnTo>
                  <a:lnTo>
                    <a:pt x="993986" y="210236"/>
                  </a:lnTo>
                  <a:lnTo>
                    <a:pt x="955675" y="225092"/>
                  </a:lnTo>
                  <a:lnTo>
                    <a:pt x="910590" y="238506"/>
                  </a:lnTo>
                  <a:lnTo>
                    <a:pt x="859366" y="250310"/>
                  </a:lnTo>
                  <a:lnTo>
                    <a:pt x="802640" y="260340"/>
                  </a:lnTo>
                  <a:lnTo>
                    <a:pt x="741045" y="268430"/>
                  </a:lnTo>
                  <a:lnTo>
                    <a:pt x="675216" y="274414"/>
                  </a:lnTo>
                  <a:lnTo>
                    <a:pt x="605790" y="278125"/>
                  </a:lnTo>
                  <a:lnTo>
                    <a:pt x="533400" y="279400"/>
                  </a:lnTo>
                  <a:lnTo>
                    <a:pt x="461010" y="278125"/>
                  </a:lnTo>
                  <a:lnTo>
                    <a:pt x="391583" y="274414"/>
                  </a:lnTo>
                  <a:lnTo>
                    <a:pt x="325755" y="268430"/>
                  </a:lnTo>
                  <a:lnTo>
                    <a:pt x="264160" y="260340"/>
                  </a:lnTo>
                  <a:lnTo>
                    <a:pt x="207433" y="250310"/>
                  </a:lnTo>
                  <a:lnTo>
                    <a:pt x="156210" y="238505"/>
                  </a:lnTo>
                  <a:lnTo>
                    <a:pt x="111125" y="225092"/>
                  </a:lnTo>
                  <a:lnTo>
                    <a:pt x="72813" y="210236"/>
                  </a:lnTo>
                  <a:lnTo>
                    <a:pt x="19050" y="176859"/>
                  </a:lnTo>
                  <a:lnTo>
                    <a:pt x="4868" y="158669"/>
                  </a:lnTo>
                  <a:lnTo>
                    <a:pt x="0" y="139700"/>
                  </a:lnTo>
                </a:path>
                <a:path w="1066800" h="838200">
                  <a:moveTo>
                    <a:pt x="0" y="139700"/>
                  </a:moveTo>
                  <a:lnTo>
                    <a:pt x="19050" y="102540"/>
                  </a:lnTo>
                  <a:lnTo>
                    <a:pt x="72813" y="69163"/>
                  </a:lnTo>
                  <a:lnTo>
                    <a:pt x="111125" y="54307"/>
                  </a:lnTo>
                  <a:lnTo>
                    <a:pt x="156209" y="40893"/>
                  </a:lnTo>
                  <a:lnTo>
                    <a:pt x="207433" y="29089"/>
                  </a:lnTo>
                  <a:lnTo>
                    <a:pt x="264159" y="19059"/>
                  </a:lnTo>
                  <a:lnTo>
                    <a:pt x="325754" y="10969"/>
                  </a:lnTo>
                  <a:lnTo>
                    <a:pt x="391583" y="4985"/>
                  </a:lnTo>
                  <a:lnTo>
                    <a:pt x="461009" y="1274"/>
                  </a:lnTo>
                  <a:lnTo>
                    <a:pt x="533400" y="0"/>
                  </a:lnTo>
                  <a:lnTo>
                    <a:pt x="605790" y="1274"/>
                  </a:lnTo>
                  <a:lnTo>
                    <a:pt x="675216" y="4985"/>
                  </a:lnTo>
                  <a:lnTo>
                    <a:pt x="741045" y="10969"/>
                  </a:lnTo>
                  <a:lnTo>
                    <a:pt x="802640" y="19059"/>
                  </a:lnTo>
                  <a:lnTo>
                    <a:pt x="859366" y="29089"/>
                  </a:lnTo>
                  <a:lnTo>
                    <a:pt x="910590" y="40894"/>
                  </a:lnTo>
                  <a:lnTo>
                    <a:pt x="955675" y="54307"/>
                  </a:lnTo>
                  <a:lnTo>
                    <a:pt x="993986" y="69163"/>
                  </a:lnTo>
                  <a:lnTo>
                    <a:pt x="1047750" y="102540"/>
                  </a:lnTo>
                  <a:lnTo>
                    <a:pt x="1066800" y="139700"/>
                  </a:lnTo>
                  <a:lnTo>
                    <a:pt x="1066800" y="698500"/>
                  </a:lnTo>
                  <a:lnTo>
                    <a:pt x="1047750" y="735659"/>
                  </a:lnTo>
                  <a:lnTo>
                    <a:pt x="993986" y="769036"/>
                  </a:lnTo>
                  <a:lnTo>
                    <a:pt x="955675" y="783892"/>
                  </a:lnTo>
                  <a:lnTo>
                    <a:pt x="910590" y="797306"/>
                  </a:lnTo>
                  <a:lnTo>
                    <a:pt x="859366" y="809110"/>
                  </a:lnTo>
                  <a:lnTo>
                    <a:pt x="802640" y="819140"/>
                  </a:lnTo>
                  <a:lnTo>
                    <a:pt x="741045" y="827230"/>
                  </a:lnTo>
                  <a:lnTo>
                    <a:pt x="675216" y="833214"/>
                  </a:lnTo>
                  <a:lnTo>
                    <a:pt x="605790" y="836925"/>
                  </a:lnTo>
                  <a:lnTo>
                    <a:pt x="533400" y="838200"/>
                  </a:lnTo>
                  <a:lnTo>
                    <a:pt x="461010" y="836925"/>
                  </a:lnTo>
                  <a:lnTo>
                    <a:pt x="391583" y="833214"/>
                  </a:lnTo>
                  <a:lnTo>
                    <a:pt x="325755" y="827230"/>
                  </a:lnTo>
                  <a:lnTo>
                    <a:pt x="264160" y="819140"/>
                  </a:lnTo>
                  <a:lnTo>
                    <a:pt x="207433" y="809110"/>
                  </a:lnTo>
                  <a:lnTo>
                    <a:pt x="156210" y="797305"/>
                  </a:lnTo>
                  <a:lnTo>
                    <a:pt x="111125" y="783892"/>
                  </a:lnTo>
                  <a:lnTo>
                    <a:pt x="72813" y="769036"/>
                  </a:lnTo>
                  <a:lnTo>
                    <a:pt x="19050" y="735659"/>
                  </a:lnTo>
                  <a:lnTo>
                    <a:pt x="0" y="698500"/>
                  </a:lnTo>
                  <a:lnTo>
                    <a:pt x="0" y="139700"/>
                  </a:lnTo>
                  <a:close/>
                </a:path>
              </a:pathLst>
            </a:custGeom>
            <a:ln w="9525">
              <a:solidFill>
                <a:srgbClr val="000000"/>
              </a:solidFill>
            </a:ln>
          </p:spPr>
          <p:txBody>
            <a:bodyPr wrap="square" lIns="0" tIns="0" rIns="0" bIns="0" rtlCol="0"/>
            <a:lstStyle/>
            <a:p>
              <a:endParaRPr/>
            </a:p>
          </p:txBody>
        </p:sp>
        <p:sp>
          <p:nvSpPr>
            <p:cNvPr id="18" name="object 18"/>
            <p:cNvSpPr/>
            <p:nvPr/>
          </p:nvSpPr>
          <p:spPr>
            <a:xfrm>
              <a:off x="6432803" y="2301239"/>
              <a:ext cx="1143000" cy="838200"/>
            </a:xfrm>
            <a:custGeom>
              <a:avLst/>
              <a:gdLst/>
              <a:ahLst/>
              <a:cxnLst/>
              <a:rect l="l" t="t" r="r" b="b"/>
              <a:pathLst>
                <a:path w="1143000" h="838200">
                  <a:moveTo>
                    <a:pt x="571500" y="0"/>
                  </a:moveTo>
                  <a:lnTo>
                    <a:pt x="499819" y="1087"/>
                  </a:lnTo>
                  <a:lnTo>
                    <a:pt x="430793" y="4262"/>
                  </a:lnTo>
                  <a:lnTo>
                    <a:pt x="364958" y="9395"/>
                  </a:lnTo>
                  <a:lnTo>
                    <a:pt x="302850" y="16355"/>
                  </a:lnTo>
                  <a:lnTo>
                    <a:pt x="245005" y="25012"/>
                  </a:lnTo>
                  <a:lnTo>
                    <a:pt x="191958" y="35235"/>
                  </a:lnTo>
                  <a:lnTo>
                    <a:pt x="144245" y="46894"/>
                  </a:lnTo>
                  <a:lnTo>
                    <a:pt x="102403" y="59859"/>
                  </a:lnTo>
                  <a:lnTo>
                    <a:pt x="66967" y="73998"/>
                  </a:lnTo>
                  <a:lnTo>
                    <a:pt x="17456" y="105281"/>
                  </a:lnTo>
                  <a:lnTo>
                    <a:pt x="0" y="139700"/>
                  </a:lnTo>
                  <a:lnTo>
                    <a:pt x="0" y="698500"/>
                  </a:lnTo>
                  <a:lnTo>
                    <a:pt x="17456" y="732918"/>
                  </a:lnTo>
                  <a:lnTo>
                    <a:pt x="66967" y="764201"/>
                  </a:lnTo>
                  <a:lnTo>
                    <a:pt x="102403" y="778340"/>
                  </a:lnTo>
                  <a:lnTo>
                    <a:pt x="144245" y="791305"/>
                  </a:lnTo>
                  <a:lnTo>
                    <a:pt x="191958" y="802964"/>
                  </a:lnTo>
                  <a:lnTo>
                    <a:pt x="245005" y="813187"/>
                  </a:lnTo>
                  <a:lnTo>
                    <a:pt x="302850" y="821844"/>
                  </a:lnTo>
                  <a:lnTo>
                    <a:pt x="364958" y="828804"/>
                  </a:lnTo>
                  <a:lnTo>
                    <a:pt x="430793" y="833937"/>
                  </a:lnTo>
                  <a:lnTo>
                    <a:pt x="499819" y="837112"/>
                  </a:lnTo>
                  <a:lnTo>
                    <a:pt x="571500" y="838200"/>
                  </a:lnTo>
                  <a:lnTo>
                    <a:pt x="643180" y="837112"/>
                  </a:lnTo>
                  <a:lnTo>
                    <a:pt x="712206" y="833937"/>
                  </a:lnTo>
                  <a:lnTo>
                    <a:pt x="778041" y="828804"/>
                  </a:lnTo>
                  <a:lnTo>
                    <a:pt x="840149" y="821844"/>
                  </a:lnTo>
                  <a:lnTo>
                    <a:pt x="897994" y="813187"/>
                  </a:lnTo>
                  <a:lnTo>
                    <a:pt x="951041" y="802964"/>
                  </a:lnTo>
                  <a:lnTo>
                    <a:pt x="998754" y="791305"/>
                  </a:lnTo>
                  <a:lnTo>
                    <a:pt x="1040596" y="778340"/>
                  </a:lnTo>
                  <a:lnTo>
                    <a:pt x="1076032" y="764201"/>
                  </a:lnTo>
                  <a:lnTo>
                    <a:pt x="1125543" y="732918"/>
                  </a:lnTo>
                  <a:lnTo>
                    <a:pt x="1143000" y="698500"/>
                  </a:lnTo>
                  <a:lnTo>
                    <a:pt x="1143000" y="139700"/>
                  </a:lnTo>
                  <a:lnTo>
                    <a:pt x="1125543" y="105281"/>
                  </a:lnTo>
                  <a:lnTo>
                    <a:pt x="1076032" y="73998"/>
                  </a:lnTo>
                  <a:lnTo>
                    <a:pt x="1040596" y="59859"/>
                  </a:lnTo>
                  <a:lnTo>
                    <a:pt x="998754" y="46894"/>
                  </a:lnTo>
                  <a:lnTo>
                    <a:pt x="951041" y="35235"/>
                  </a:lnTo>
                  <a:lnTo>
                    <a:pt x="897994" y="25012"/>
                  </a:lnTo>
                  <a:lnTo>
                    <a:pt x="840149" y="16355"/>
                  </a:lnTo>
                  <a:lnTo>
                    <a:pt x="778041" y="9395"/>
                  </a:lnTo>
                  <a:lnTo>
                    <a:pt x="712206" y="4262"/>
                  </a:lnTo>
                  <a:lnTo>
                    <a:pt x="643180" y="1087"/>
                  </a:lnTo>
                  <a:lnTo>
                    <a:pt x="571500" y="0"/>
                  </a:lnTo>
                  <a:close/>
                </a:path>
              </a:pathLst>
            </a:custGeom>
            <a:solidFill>
              <a:srgbClr val="4F81BC"/>
            </a:solidFill>
          </p:spPr>
          <p:txBody>
            <a:bodyPr wrap="square" lIns="0" tIns="0" rIns="0" bIns="0" rtlCol="0"/>
            <a:lstStyle/>
            <a:p>
              <a:endParaRPr/>
            </a:p>
          </p:txBody>
        </p:sp>
        <p:sp>
          <p:nvSpPr>
            <p:cNvPr id="19" name="object 19"/>
            <p:cNvSpPr/>
            <p:nvPr/>
          </p:nvSpPr>
          <p:spPr>
            <a:xfrm>
              <a:off x="6432803" y="2301239"/>
              <a:ext cx="1143000" cy="838200"/>
            </a:xfrm>
            <a:custGeom>
              <a:avLst/>
              <a:gdLst/>
              <a:ahLst/>
              <a:cxnLst/>
              <a:rect l="l" t="t" r="r" b="b"/>
              <a:pathLst>
                <a:path w="1143000" h="838200">
                  <a:moveTo>
                    <a:pt x="1143000" y="139700"/>
                  </a:moveTo>
                  <a:lnTo>
                    <a:pt x="1125543" y="174118"/>
                  </a:lnTo>
                  <a:lnTo>
                    <a:pt x="1076032" y="205401"/>
                  </a:lnTo>
                  <a:lnTo>
                    <a:pt x="1040596" y="219540"/>
                  </a:lnTo>
                  <a:lnTo>
                    <a:pt x="998754" y="232505"/>
                  </a:lnTo>
                  <a:lnTo>
                    <a:pt x="951041" y="244164"/>
                  </a:lnTo>
                  <a:lnTo>
                    <a:pt x="897994" y="254387"/>
                  </a:lnTo>
                  <a:lnTo>
                    <a:pt x="840149" y="263044"/>
                  </a:lnTo>
                  <a:lnTo>
                    <a:pt x="778041" y="270004"/>
                  </a:lnTo>
                  <a:lnTo>
                    <a:pt x="712206" y="275137"/>
                  </a:lnTo>
                  <a:lnTo>
                    <a:pt x="643180" y="278312"/>
                  </a:lnTo>
                  <a:lnTo>
                    <a:pt x="571500" y="279400"/>
                  </a:lnTo>
                  <a:lnTo>
                    <a:pt x="499819" y="278312"/>
                  </a:lnTo>
                  <a:lnTo>
                    <a:pt x="430793" y="275137"/>
                  </a:lnTo>
                  <a:lnTo>
                    <a:pt x="364958" y="270004"/>
                  </a:lnTo>
                  <a:lnTo>
                    <a:pt x="302850" y="263044"/>
                  </a:lnTo>
                  <a:lnTo>
                    <a:pt x="245005" y="254387"/>
                  </a:lnTo>
                  <a:lnTo>
                    <a:pt x="191958" y="244164"/>
                  </a:lnTo>
                  <a:lnTo>
                    <a:pt x="144245" y="232505"/>
                  </a:lnTo>
                  <a:lnTo>
                    <a:pt x="102403" y="219540"/>
                  </a:lnTo>
                  <a:lnTo>
                    <a:pt x="66967" y="205401"/>
                  </a:lnTo>
                  <a:lnTo>
                    <a:pt x="17456" y="174118"/>
                  </a:lnTo>
                  <a:lnTo>
                    <a:pt x="4453" y="157235"/>
                  </a:lnTo>
                  <a:lnTo>
                    <a:pt x="0" y="139700"/>
                  </a:lnTo>
                </a:path>
                <a:path w="1143000" h="838200">
                  <a:moveTo>
                    <a:pt x="0" y="139700"/>
                  </a:moveTo>
                  <a:lnTo>
                    <a:pt x="17456" y="105281"/>
                  </a:lnTo>
                  <a:lnTo>
                    <a:pt x="66967" y="73998"/>
                  </a:lnTo>
                  <a:lnTo>
                    <a:pt x="102403" y="59859"/>
                  </a:lnTo>
                  <a:lnTo>
                    <a:pt x="144245" y="46894"/>
                  </a:lnTo>
                  <a:lnTo>
                    <a:pt x="191958" y="35235"/>
                  </a:lnTo>
                  <a:lnTo>
                    <a:pt x="245005" y="25012"/>
                  </a:lnTo>
                  <a:lnTo>
                    <a:pt x="302850" y="16355"/>
                  </a:lnTo>
                  <a:lnTo>
                    <a:pt x="364958" y="9395"/>
                  </a:lnTo>
                  <a:lnTo>
                    <a:pt x="430793" y="4262"/>
                  </a:lnTo>
                  <a:lnTo>
                    <a:pt x="499819" y="1087"/>
                  </a:lnTo>
                  <a:lnTo>
                    <a:pt x="571500" y="0"/>
                  </a:lnTo>
                  <a:lnTo>
                    <a:pt x="643180" y="1087"/>
                  </a:lnTo>
                  <a:lnTo>
                    <a:pt x="712206" y="4262"/>
                  </a:lnTo>
                  <a:lnTo>
                    <a:pt x="778041" y="9395"/>
                  </a:lnTo>
                  <a:lnTo>
                    <a:pt x="840149" y="16355"/>
                  </a:lnTo>
                  <a:lnTo>
                    <a:pt x="897994" y="25012"/>
                  </a:lnTo>
                  <a:lnTo>
                    <a:pt x="951041" y="35235"/>
                  </a:lnTo>
                  <a:lnTo>
                    <a:pt x="998754" y="46894"/>
                  </a:lnTo>
                  <a:lnTo>
                    <a:pt x="1040596" y="59859"/>
                  </a:lnTo>
                  <a:lnTo>
                    <a:pt x="1076032" y="73998"/>
                  </a:lnTo>
                  <a:lnTo>
                    <a:pt x="1125543" y="105281"/>
                  </a:lnTo>
                  <a:lnTo>
                    <a:pt x="1143000" y="139700"/>
                  </a:lnTo>
                  <a:lnTo>
                    <a:pt x="1143000" y="698500"/>
                  </a:lnTo>
                  <a:lnTo>
                    <a:pt x="1125543" y="732918"/>
                  </a:lnTo>
                  <a:lnTo>
                    <a:pt x="1076032" y="764201"/>
                  </a:lnTo>
                  <a:lnTo>
                    <a:pt x="1040596" y="778340"/>
                  </a:lnTo>
                  <a:lnTo>
                    <a:pt x="998754" y="791305"/>
                  </a:lnTo>
                  <a:lnTo>
                    <a:pt x="951041" y="802964"/>
                  </a:lnTo>
                  <a:lnTo>
                    <a:pt x="897994" y="813187"/>
                  </a:lnTo>
                  <a:lnTo>
                    <a:pt x="840149" y="821844"/>
                  </a:lnTo>
                  <a:lnTo>
                    <a:pt x="778041" y="828804"/>
                  </a:lnTo>
                  <a:lnTo>
                    <a:pt x="712206" y="833937"/>
                  </a:lnTo>
                  <a:lnTo>
                    <a:pt x="643180" y="837112"/>
                  </a:lnTo>
                  <a:lnTo>
                    <a:pt x="571500" y="838200"/>
                  </a:lnTo>
                  <a:lnTo>
                    <a:pt x="499819" y="837112"/>
                  </a:lnTo>
                  <a:lnTo>
                    <a:pt x="430793" y="833937"/>
                  </a:lnTo>
                  <a:lnTo>
                    <a:pt x="364958" y="828804"/>
                  </a:lnTo>
                  <a:lnTo>
                    <a:pt x="302850" y="821844"/>
                  </a:lnTo>
                  <a:lnTo>
                    <a:pt x="245005" y="813187"/>
                  </a:lnTo>
                  <a:lnTo>
                    <a:pt x="191958" y="802964"/>
                  </a:lnTo>
                  <a:lnTo>
                    <a:pt x="144245" y="791305"/>
                  </a:lnTo>
                  <a:lnTo>
                    <a:pt x="102403" y="778340"/>
                  </a:lnTo>
                  <a:lnTo>
                    <a:pt x="66967" y="764201"/>
                  </a:lnTo>
                  <a:lnTo>
                    <a:pt x="17456" y="732918"/>
                  </a:lnTo>
                  <a:lnTo>
                    <a:pt x="0" y="698500"/>
                  </a:lnTo>
                  <a:lnTo>
                    <a:pt x="0" y="139700"/>
                  </a:lnTo>
                  <a:close/>
                </a:path>
              </a:pathLst>
            </a:custGeom>
            <a:ln w="9525">
              <a:solidFill>
                <a:srgbClr val="000000"/>
              </a:solidFill>
            </a:ln>
          </p:spPr>
          <p:txBody>
            <a:bodyPr wrap="square" lIns="0" tIns="0" rIns="0" bIns="0" rtlCol="0"/>
            <a:lstStyle/>
            <a:p>
              <a:endParaRPr/>
            </a:p>
          </p:txBody>
        </p:sp>
      </p:grpSp>
      <p:sp>
        <p:nvSpPr>
          <p:cNvPr id="20" name="object 20"/>
          <p:cNvSpPr txBox="1"/>
          <p:nvPr/>
        </p:nvSpPr>
        <p:spPr>
          <a:xfrm>
            <a:off x="2019301" y="3179065"/>
            <a:ext cx="1198245" cy="722955"/>
          </a:xfrm>
          <a:prstGeom prst="rect">
            <a:avLst/>
          </a:prstGeom>
          <a:solidFill>
            <a:srgbClr val="4F81BC">
              <a:alpha val="65881"/>
            </a:srgbClr>
          </a:solidFill>
        </p:spPr>
        <p:txBody>
          <a:bodyPr vert="horz" wrap="square" lIns="0" tIns="0" rIns="0" bIns="0" rtlCol="0">
            <a:spAutoFit/>
          </a:bodyPr>
          <a:lstStyle/>
          <a:p>
            <a:pPr marL="53340" marR="104139">
              <a:lnSpc>
                <a:spcPts val="2880"/>
              </a:lnSpc>
            </a:pPr>
            <a:r>
              <a:rPr sz="2400" spc="-25" dirty="0">
                <a:latin typeface="Times New Roman"/>
                <a:cs typeface="Times New Roman"/>
              </a:rPr>
              <a:t>Web </a:t>
            </a:r>
            <a:r>
              <a:rPr sz="2400" spc="-10" dirty="0">
                <a:latin typeface="Times New Roman"/>
                <a:cs typeface="Times New Roman"/>
              </a:rPr>
              <a:t>Browser</a:t>
            </a:r>
            <a:endParaRPr sz="2400">
              <a:latin typeface="Times New Roman"/>
              <a:cs typeface="Times New Roman"/>
            </a:endParaRPr>
          </a:p>
        </p:txBody>
      </p:sp>
      <p:sp>
        <p:nvSpPr>
          <p:cNvPr id="21" name="object 21"/>
          <p:cNvSpPr txBox="1"/>
          <p:nvPr/>
        </p:nvSpPr>
        <p:spPr>
          <a:xfrm>
            <a:off x="4357116" y="6035040"/>
            <a:ext cx="4182110" cy="406522"/>
          </a:xfrm>
          <a:prstGeom prst="rect">
            <a:avLst/>
          </a:prstGeom>
          <a:solidFill>
            <a:srgbClr val="4F81BC">
              <a:alpha val="65881"/>
            </a:srgbClr>
          </a:solidFill>
        </p:spPr>
        <p:txBody>
          <a:bodyPr vert="horz" wrap="square" lIns="0" tIns="36830" rIns="0" bIns="0" rtlCol="0">
            <a:spAutoFit/>
          </a:bodyPr>
          <a:lstStyle/>
          <a:p>
            <a:pPr marL="90805">
              <a:spcBef>
                <a:spcPts val="290"/>
              </a:spcBef>
            </a:pPr>
            <a:r>
              <a:rPr sz="2400" spc="-35" dirty="0">
                <a:latin typeface="Times New Roman"/>
                <a:cs typeface="Times New Roman"/>
              </a:rPr>
              <a:t>Web</a:t>
            </a:r>
            <a:r>
              <a:rPr sz="2400" spc="-55" dirty="0">
                <a:latin typeface="Times New Roman"/>
                <a:cs typeface="Times New Roman"/>
              </a:rPr>
              <a:t> </a:t>
            </a:r>
            <a:r>
              <a:rPr sz="2400" dirty="0">
                <a:latin typeface="Times New Roman"/>
                <a:cs typeface="Times New Roman"/>
              </a:rPr>
              <a:t>Browser</a:t>
            </a:r>
            <a:r>
              <a:rPr sz="2400" spc="-60" dirty="0">
                <a:latin typeface="Times New Roman"/>
                <a:cs typeface="Times New Roman"/>
              </a:rPr>
              <a:t> </a:t>
            </a:r>
            <a:r>
              <a:rPr sz="2400" dirty="0">
                <a:latin typeface="Times New Roman"/>
                <a:cs typeface="Times New Roman"/>
              </a:rPr>
              <a:t>displays</a:t>
            </a:r>
            <a:r>
              <a:rPr sz="2400" spc="-85" dirty="0">
                <a:latin typeface="Times New Roman"/>
                <a:cs typeface="Times New Roman"/>
              </a:rPr>
              <a:t> </a:t>
            </a:r>
            <a:r>
              <a:rPr sz="2400" dirty="0">
                <a:latin typeface="Times New Roman"/>
                <a:cs typeface="Times New Roman"/>
              </a:rPr>
              <a:t>web</a:t>
            </a:r>
            <a:r>
              <a:rPr sz="2400" spc="-55" dirty="0">
                <a:latin typeface="Times New Roman"/>
                <a:cs typeface="Times New Roman"/>
              </a:rPr>
              <a:t> </a:t>
            </a:r>
            <a:r>
              <a:rPr sz="2400" spc="-20" dirty="0">
                <a:latin typeface="Times New Roman"/>
                <a:cs typeface="Times New Roman"/>
              </a:rPr>
              <a:t>page</a:t>
            </a:r>
            <a:endParaRPr sz="2400">
              <a:latin typeface="Times New Roman"/>
              <a:cs typeface="Times New Roman"/>
            </a:endParaRPr>
          </a:p>
        </p:txBody>
      </p:sp>
      <p:sp>
        <p:nvSpPr>
          <p:cNvPr id="22" name="object 22"/>
          <p:cNvSpPr txBox="1"/>
          <p:nvPr/>
        </p:nvSpPr>
        <p:spPr>
          <a:xfrm>
            <a:off x="8037068" y="2585084"/>
            <a:ext cx="633730" cy="391160"/>
          </a:xfrm>
          <a:prstGeom prst="rect">
            <a:avLst/>
          </a:prstGeom>
        </p:spPr>
        <p:txBody>
          <a:bodyPr vert="horz" wrap="square" lIns="0" tIns="12700" rIns="0" bIns="0" rtlCol="0">
            <a:spAutoFit/>
          </a:bodyPr>
          <a:lstStyle/>
          <a:p>
            <a:pPr marL="12700">
              <a:spcBef>
                <a:spcPts val="100"/>
              </a:spcBef>
            </a:pPr>
            <a:r>
              <a:rPr sz="2400" spc="-25" dirty="0">
                <a:latin typeface="Times New Roman"/>
                <a:cs typeface="Times New Roman"/>
              </a:rPr>
              <a:t>DNS</a:t>
            </a:r>
            <a:endParaRPr sz="2400">
              <a:latin typeface="Times New Roman"/>
              <a:cs typeface="Times New Roman"/>
            </a:endParaRPr>
          </a:p>
        </p:txBody>
      </p:sp>
      <p:pic>
        <p:nvPicPr>
          <p:cNvPr id="23" name="object 23"/>
          <p:cNvPicPr/>
          <p:nvPr/>
        </p:nvPicPr>
        <p:blipFill>
          <a:blip r:embed="rId2" cstate="print"/>
          <a:stretch>
            <a:fillRect/>
          </a:stretch>
        </p:blipFill>
        <p:spPr>
          <a:xfrm>
            <a:off x="8500871" y="4031481"/>
            <a:ext cx="1438782" cy="1902975"/>
          </a:xfrm>
          <a:prstGeom prst="rect">
            <a:avLst/>
          </a:prstGeom>
        </p:spPr>
      </p:pic>
      <p:pic>
        <p:nvPicPr>
          <p:cNvPr id="24" name="object 24"/>
          <p:cNvPicPr/>
          <p:nvPr/>
        </p:nvPicPr>
        <p:blipFill>
          <a:blip r:embed="rId3" cstate="print"/>
          <a:stretch>
            <a:fillRect/>
          </a:stretch>
        </p:blipFill>
        <p:spPr>
          <a:xfrm>
            <a:off x="3277303" y="4269741"/>
            <a:ext cx="1375337" cy="1620519"/>
          </a:xfrm>
          <a:prstGeom prst="rect">
            <a:avLst/>
          </a:prstGeom>
        </p:spPr>
      </p:pic>
      <p:pic>
        <p:nvPicPr>
          <p:cNvPr id="25" name="object 25"/>
          <p:cNvPicPr/>
          <p:nvPr/>
        </p:nvPicPr>
        <p:blipFill>
          <a:blip r:embed="rId4" cstate="print"/>
          <a:stretch>
            <a:fillRect/>
          </a:stretch>
        </p:blipFill>
        <p:spPr>
          <a:xfrm>
            <a:off x="3259835" y="1933955"/>
            <a:ext cx="1473708" cy="16626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358140">
              <a:lnSpc>
                <a:spcPct val="100000"/>
              </a:lnSpc>
              <a:spcBef>
                <a:spcPts val="105"/>
              </a:spcBef>
            </a:pPr>
            <a:r>
              <a:rPr spc="-120" dirty="0"/>
              <a:t>Top-</a:t>
            </a:r>
            <a:r>
              <a:rPr dirty="0"/>
              <a:t>Level</a:t>
            </a:r>
            <a:r>
              <a:rPr spc="-110" dirty="0"/>
              <a:t> </a:t>
            </a:r>
            <a:r>
              <a:rPr dirty="0"/>
              <a:t>Domain</a:t>
            </a:r>
            <a:r>
              <a:rPr spc="-114" dirty="0"/>
              <a:t> </a:t>
            </a:r>
            <a:r>
              <a:rPr dirty="0"/>
              <a:t>(TLD)</a:t>
            </a:r>
            <a:r>
              <a:rPr spc="-85" dirty="0"/>
              <a:t> </a:t>
            </a:r>
            <a:r>
              <a:rPr spc="-20" dirty="0"/>
              <a:t>Name</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11</a:t>
            </a:fld>
            <a:endParaRPr sz="1100">
              <a:latin typeface="Times New Roman"/>
              <a:cs typeface="Times New Roman"/>
            </a:endParaRPr>
          </a:p>
        </p:txBody>
      </p:sp>
      <p:sp>
        <p:nvSpPr>
          <p:cNvPr id="3" name="object 3"/>
          <p:cNvSpPr txBox="1"/>
          <p:nvPr/>
        </p:nvSpPr>
        <p:spPr>
          <a:xfrm>
            <a:off x="2051858" y="2249390"/>
            <a:ext cx="7848600" cy="2171065"/>
          </a:xfrm>
          <a:prstGeom prst="rect">
            <a:avLst/>
          </a:prstGeom>
        </p:spPr>
        <p:txBody>
          <a:bodyPr vert="horz" wrap="square" lIns="0" tIns="12065" rIns="0" bIns="0" rtlCol="0">
            <a:spAutoFit/>
          </a:bodyPr>
          <a:lstStyle/>
          <a:p>
            <a:pPr marL="355600" marR="602615" indent="-342900">
              <a:spcBef>
                <a:spcPts val="95"/>
              </a:spcBef>
              <a:buFont typeface="Arial"/>
              <a:buChar char="•"/>
              <a:tabLst>
                <a:tab pos="355600" algn="l"/>
              </a:tabLst>
            </a:pPr>
            <a:r>
              <a:rPr sz="2200" dirty="0">
                <a:latin typeface="Calibri"/>
                <a:cs typeface="Calibri"/>
              </a:rPr>
              <a:t>A</a:t>
            </a:r>
            <a:r>
              <a:rPr sz="2200" spc="-35" dirty="0">
                <a:latin typeface="Calibri"/>
                <a:cs typeface="Calibri"/>
              </a:rPr>
              <a:t> </a:t>
            </a:r>
            <a:r>
              <a:rPr sz="2200" spc="-25" dirty="0">
                <a:solidFill>
                  <a:srgbClr val="E36C09"/>
                </a:solidFill>
                <a:latin typeface="Calibri"/>
                <a:cs typeface="Calibri"/>
              </a:rPr>
              <a:t>top-</a:t>
            </a:r>
            <a:r>
              <a:rPr sz="2200" dirty="0">
                <a:solidFill>
                  <a:srgbClr val="E36C09"/>
                </a:solidFill>
                <a:latin typeface="Calibri"/>
                <a:cs typeface="Calibri"/>
              </a:rPr>
              <a:t>level</a:t>
            </a:r>
            <a:r>
              <a:rPr sz="2200" spc="-40" dirty="0">
                <a:solidFill>
                  <a:srgbClr val="E36C09"/>
                </a:solidFill>
                <a:latin typeface="Calibri"/>
                <a:cs typeface="Calibri"/>
              </a:rPr>
              <a:t> </a:t>
            </a:r>
            <a:r>
              <a:rPr sz="2200" dirty="0">
                <a:solidFill>
                  <a:srgbClr val="E36C09"/>
                </a:solidFill>
                <a:latin typeface="Calibri"/>
                <a:cs typeface="Calibri"/>
              </a:rPr>
              <a:t>domain</a:t>
            </a:r>
            <a:r>
              <a:rPr sz="2200" spc="-40" dirty="0">
                <a:solidFill>
                  <a:srgbClr val="E36C09"/>
                </a:solidFill>
                <a:latin typeface="Calibri"/>
                <a:cs typeface="Calibri"/>
              </a:rPr>
              <a:t> </a:t>
            </a:r>
            <a:r>
              <a:rPr sz="2200" dirty="0">
                <a:solidFill>
                  <a:srgbClr val="E36C09"/>
                </a:solidFill>
                <a:latin typeface="Calibri"/>
                <a:cs typeface="Calibri"/>
              </a:rPr>
              <a:t>(TLD)</a:t>
            </a:r>
            <a:r>
              <a:rPr sz="2200" spc="-30" dirty="0">
                <a:solidFill>
                  <a:srgbClr val="E36C09"/>
                </a:solidFill>
                <a:latin typeface="Calibri"/>
                <a:cs typeface="Calibri"/>
              </a:rPr>
              <a:t> </a:t>
            </a:r>
            <a:r>
              <a:rPr sz="2200" dirty="0">
                <a:latin typeface="Calibri"/>
                <a:cs typeface="Calibri"/>
              </a:rPr>
              <a:t>identifies</a:t>
            </a:r>
            <a:r>
              <a:rPr sz="2200" spc="-30" dirty="0">
                <a:latin typeface="Calibri"/>
                <a:cs typeface="Calibri"/>
              </a:rPr>
              <a:t> </a:t>
            </a:r>
            <a:r>
              <a:rPr sz="2200" dirty="0">
                <a:latin typeface="Calibri"/>
                <a:cs typeface="Calibri"/>
              </a:rPr>
              <a:t>the</a:t>
            </a:r>
            <a:r>
              <a:rPr sz="2200" spc="-45" dirty="0">
                <a:latin typeface="Calibri"/>
                <a:cs typeface="Calibri"/>
              </a:rPr>
              <a:t> </a:t>
            </a:r>
            <a:r>
              <a:rPr sz="2200" spc="-10" dirty="0">
                <a:latin typeface="Calibri"/>
                <a:cs typeface="Calibri"/>
              </a:rPr>
              <a:t>right-</a:t>
            </a:r>
            <a:r>
              <a:rPr sz="2200" dirty="0">
                <a:latin typeface="Calibri"/>
                <a:cs typeface="Calibri"/>
              </a:rPr>
              <a:t>most</a:t>
            </a:r>
            <a:r>
              <a:rPr sz="2200" spc="-30" dirty="0">
                <a:latin typeface="Calibri"/>
                <a:cs typeface="Calibri"/>
              </a:rPr>
              <a:t> </a:t>
            </a:r>
            <a:r>
              <a:rPr sz="2200" dirty="0">
                <a:latin typeface="Calibri"/>
                <a:cs typeface="Calibri"/>
              </a:rPr>
              <a:t>part</a:t>
            </a:r>
            <a:r>
              <a:rPr sz="2200" spc="-45" dirty="0">
                <a:latin typeface="Calibri"/>
                <a:cs typeface="Calibri"/>
              </a:rPr>
              <a:t> </a:t>
            </a:r>
            <a:r>
              <a:rPr sz="2200" dirty="0">
                <a:latin typeface="Calibri"/>
                <a:cs typeface="Calibri"/>
              </a:rPr>
              <a:t>of</a:t>
            </a:r>
            <a:r>
              <a:rPr sz="2200" spc="-40" dirty="0">
                <a:latin typeface="Calibri"/>
                <a:cs typeface="Calibri"/>
              </a:rPr>
              <a:t> </a:t>
            </a:r>
            <a:r>
              <a:rPr sz="2200" spc="-25" dirty="0">
                <a:latin typeface="Calibri"/>
                <a:cs typeface="Calibri"/>
              </a:rPr>
              <a:t>the </a:t>
            </a:r>
            <a:r>
              <a:rPr sz="2200" dirty="0">
                <a:latin typeface="Calibri"/>
                <a:cs typeface="Calibri"/>
              </a:rPr>
              <a:t>domain</a:t>
            </a:r>
            <a:r>
              <a:rPr sz="2200" spc="-40" dirty="0">
                <a:latin typeface="Calibri"/>
                <a:cs typeface="Calibri"/>
              </a:rPr>
              <a:t> </a:t>
            </a:r>
            <a:r>
              <a:rPr sz="2200" spc="-10" dirty="0">
                <a:latin typeface="Calibri"/>
                <a:cs typeface="Calibri"/>
              </a:rPr>
              <a:t>name.</a:t>
            </a:r>
            <a:endParaRPr sz="2200" dirty="0">
              <a:latin typeface="Calibri"/>
              <a:cs typeface="Calibri"/>
            </a:endParaRPr>
          </a:p>
          <a:p>
            <a:pPr>
              <a:spcBef>
                <a:spcPts val="1010"/>
              </a:spcBef>
              <a:buFont typeface="Arial"/>
              <a:buChar char="•"/>
            </a:pPr>
            <a:endParaRPr sz="2200" dirty="0">
              <a:latin typeface="Calibri"/>
              <a:cs typeface="Calibri"/>
            </a:endParaRPr>
          </a:p>
          <a:p>
            <a:pPr marL="354965" indent="-342265">
              <a:buFont typeface="Arial"/>
              <a:buChar char="•"/>
              <a:tabLst>
                <a:tab pos="354965" algn="l"/>
              </a:tabLst>
            </a:pPr>
            <a:r>
              <a:rPr sz="2200" dirty="0">
                <a:latin typeface="Calibri"/>
                <a:cs typeface="Calibri"/>
              </a:rPr>
              <a:t>Examples</a:t>
            </a:r>
            <a:r>
              <a:rPr sz="2200" spc="-50" dirty="0">
                <a:latin typeface="Calibri"/>
                <a:cs typeface="Calibri"/>
              </a:rPr>
              <a:t> </a:t>
            </a:r>
            <a:r>
              <a:rPr sz="2200" dirty="0">
                <a:latin typeface="Calibri"/>
                <a:cs typeface="Calibri"/>
              </a:rPr>
              <a:t>of</a:t>
            </a:r>
            <a:r>
              <a:rPr sz="2200" spc="-65" dirty="0">
                <a:latin typeface="Calibri"/>
                <a:cs typeface="Calibri"/>
              </a:rPr>
              <a:t> </a:t>
            </a:r>
            <a:r>
              <a:rPr sz="2200" dirty="0">
                <a:latin typeface="Calibri"/>
                <a:cs typeface="Calibri"/>
              </a:rPr>
              <a:t>generic</a:t>
            </a:r>
            <a:r>
              <a:rPr sz="2200" spc="-55" dirty="0">
                <a:latin typeface="Calibri"/>
                <a:cs typeface="Calibri"/>
              </a:rPr>
              <a:t> </a:t>
            </a:r>
            <a:r>
              <a:rPr sz="2200" spc="-20" dirty="0">
                <a:latin typeface="Calibri"/>
                <a:cs typeface="Calibri"/>
              </a:rPr>
              <a:t>TLDs:</a:t>
            </a:r>
            <a:endParaRPr sz="2200" dirty="0">
              <a:latin typeface="Calibri"/>
              <a:cs typeface="Calibri"/>
            </a:endParaRPr>
          </a:p>
          <a:p>
            <a:pPr marL="355600"/>
            <a:r>
              <a:rPr sz="2200" dirty="0">
                <a:solidFill>
                  <a:srgbClr val="E36C09"/>
                </a:solidFill>
                <a:latin typeface="Calibri"/>
                <a:cs typeface="Calibri"/>
              </a:rPr>
              <a:t>.com,</a:t>
            </a:r>
            <a:r>
              <a:rPr sz="2200" spc="-35" dirty="0">
                <a:solidFill>
                  <a:srgbClr val="E36C09"/>
                </a:solidFill>
                <a:latin typeface="Calibri"/>
                <a:cs typeface="Calibri"/>
              </a:rPr>
              <a:t> </a:t>
            </a:r>
            <a:r>
              <a:rPr sz="2200" dirty="0">
                <a:solidFill>
                  <a:srgbClr val="E36C09"/>
                </a:solidFill>
                <a:latin typeface="Calibri"/>
                <a:cs typeface="Calibri"/>
              </a:rPr>
              <a:t>.org,</a:t>
            </a:r>
            <a:r>
              <a:rPr sz="2200" spc="-60" dirty="0">
                <a:solidFill>
                  <a:srgbClr val="E36C09"/>
                </a:solidFill>
                <a:latin typeface="Calibri"/>
                <a:cs typeface="Calibri"/>
              </a:rPr>
              <a:t> </a:t>
            </a:r>
            <a:r>
              <a:rPr sz="2200" dirty="0">
                <a:solidFill>
                  <a:srgbClr val="E36C09"/>
                </a:solidFill>
                <a:latin typeface="Calibri"/>
                <a:cs typeface="Calibri"/>
              </a:rPr>
              <a:t>.net,</a:t>
            </a:r>
            <a:r>
              <a:rPr sz="2200" spc="-30" dirty="0">
                <a:solidFill>
                  <a:srgbClr val="E36C09"/>
                </a:solidFill>
                <a:latin typeface="Calibri"/>
                <a:cs typeface="Calibri"/>
              </a:rPr>
              <a:t> </a:t>
            </a:r>
            <a:r>
              <a:rPr sz="2200" dirty="0">
                <a:solidFill>
                  <a:srgbClr val="E36C09"/>
                </a:solidFill>
                <a:latin typeface="Calibri"/>
                <a:cs typeface="Calibri"/>
              </a:rPr>
              <a:t>.mil,</a:t>
            </a:r>
            <a:r>
              <a:rPr sz="2200" spc="-55" dirty="0">
                <a:solidFill>
                  <a:srgbClr val="E36C09"/>
                </a:solidFill>
                <a:latin typeface="Calibri"/>
                <a:cs typeface="Calibri"/>
              </a:rPr>
              <a:t> </a:t>
            </a:r>
            <a:r>
              <a:rPr sz="2200" spc="-20" dirty="0">
                <a:solidFill>
                  <a:srgbClr val="E36C09"/>
                </a:solidFill>
                <a:latin typeface="Calibri"/>
                <a:cs typeface="Calibri"/>
              </a:rPr>
              <a:t>.gov,</a:t>
            </a:r>
            <a:r>
              <a:rPr sz="2200" spc="-45" dirty="0">
                <a:solidFill>
                  <a:srgbClr val="E36C09"/>
                </a:solidFill>
                <a:latin typeface="Calibri"/>
                <a:cs typeface="Calibri"/>
              </a:rPr>
              <a:t> </a:t>
            </a:r>
            <a:r>
              <a:rPr sz="2200" dirty="0">
                <a:solidFill>
                  <a:srgbClr val="E36C09"/>
                </a:solidFill>
                <a:latin typeface="Calibri"/>
                <a:cs typeface="Calibri"/>
              </a:rPr>
              <a:t>.edu,</a:t>
            </a:r>
            <a:r>
              <a:rPr sz="2200" spc="-45" dirty="0">
                <a:solidFill>
                  <a:srgbClr val="E36C09"/>
                </a:solidFill>
                <a:latin typeface="Calibri"/>
                <a:cs typeface="Calibri"/>
              </a:rPr>
              <a:t> </a:t>
            </a:r>
            <a:r>
              <a:rPr sz="2200" dirty="0">
                <a:solidFill>
                  <a:srgbClr val="E36C09"/>
                </a:solidFill>
                <a:latin typeface="Calibri"/>
                <a:cs typeface="Calibri"/>
              </a:rPr>
              <a:t>.int,</a:t>
            </a:r>
            <a:r>
              <a:rPr sz="2200" spc="-45" dirty="0">
                <a:solidFill>
                  <a:srgbClr val="E36C09"/>
                </a:solidFill>
                <a:latin typeface="Calibri"/>
                <a:cs typeface="Calibri"/>
              </a:rPr>
              <a:t> </a:t>
            </a:r>
            <a:r>
              <a:rPr sz="2200" dirty="0">
                <a:solidFill>
                  <a:srgbClr val="E36C09"/>
                </a:solidFill>
                <a:latin typeface="Calibri"/>
                <a:cs typeface="Calibri"/>
              </a:rPr>
              <a:t>.aero,</a:t>
            </a:r>
            <a:r>
              <a:rPr sz="2200" spc="-45" dirty="0">
                <a:solidFill>
                  <a:srgbClr val="E36C09"/>
                </a:solidFill>
                <a:latin typeface="Calibri"/>
                <a:cs typeface="Calibri"/>
              </a:rPr>
              <a:t> </a:t>
            </a:r>
            <a:r>
              <a:rPr sz="2200" dirty="0">
                <a:solidFill>
                  <a:srgbClr val="E36C09"/>
                </a:solidFill>
                <a:latin typeface="Calibri"/>
                <a:cs typeface="Calibri"/>
              </a:rPr>
              <a:t>.asia,</a:t>
            </a:r>
            <a:r>
              <a:rPr sz="2200" spc="-60" dirty="0">
                <a:solidFill>
                  <a:srgbClr val="E36C09"/>
                </a:solidFill>
                <a:latin typeface="Calibri"/>
                <a:cs typeface="Calibri"/>
              </a:rPr>
              <a:t> </a:t>
            </a:r>
            <a:r>
              <a:rPr sz="2200" dirty="0">
                <a:solidFill>
                  <a:srgbClr val="E36C09"/>
                </a:solidFill>
                <a:latin typeface="Calibri"/>
                <a:cs typeface="Calibri"/>
              </a:rPr>
              <a:t>.cat,</a:t>
            </a:r>
            <a:r>
              <a:rPr sz="2200" spc="-45" dirty="0">
                <a:solidFill>
                  <a:srgbClr val="E36C09"/>
                </a:solidFill>
                <a:latin typeface="Calibri"/>
                <a:cs typeface="Calibri"/>
              </a:rPr>
              <a:t> </a:t>
            </a:r>
            <a:r>
              <a:rPr sz="2200" dirty="0">
                <a:solidFill>
                  <a:srgbClr val="E36C09"/>
                </a:solidFill>
                <a:latin typeface="Calibri"/>
                <a:cs typeface="Calibri"/>
              </a:rPr>
              <a:t>.jobs,</a:t>
            </a:r>
            <a:r>
              <a:rPr sz="2200" spc="-40" dirty="0">
                <a:solidFill>
                  <a:srgbClr val="E36C09"/>
                </a:solidFill>
                <a:latin typeface="Calibri"/>
                <a:cs typeface="Calibri"/>
              </a:rPr>
              <a:t> </a:t>
            </a:r>
            <a:r>
              <a:rPr sz="2200" spc="-10" dirty="0">
                <a:solidFill>
                  <a:srgbClr val="E36C09"/>
                </a:solidFill>
                <a:latin typeface="Calibri"/>
                <a:cs typeface="Calibri"/>
              </a:rPr>
              <a:t>.name,</a:t>
            </a:r>
            <a:endParaRPr sz="2200" dirty="0">
              <a:latin typeface="Calibri"/>
              <a:cs typeface="Calibri"/>
            </a:endParaRPr>
          </a:p>
          <a:p>
            <a:pPr marL="355600"/>
            <a:r>
              <a:rPr sz="2200" dirty="0">
                <a:solidFill>
                  <a:srgbClr val="E36C09"/>
                </a:solidFill>
                <a:latin typeface="Calibri"/>
                <a:cs typeface="Calibri"/>
              </a:rPr>
              <a:t>.biz,</a:t>
            </a:r>
            <a:r>
              <a:rPr sz="2200" spc="-70" dirty="0">
                <a:solidFill>
                  <a:srgbClr val="E36C09"/>
                </a:solidFill>
                <a:latin typeface="Calibri"/>
                <a:cs typeface="Calibri"/>
              </a:rPr>
              <a:t> </a:t>
            </a:r>
            <a:r>
              <a:rPr sz="2200" dirty="0">
                <a:solidFill>
                  <a:srgbClr val="E36C09"/>
                </a:solidFill>
                <a:latin typeface="Calibri"/>
                <a:cs typeface="Calibri"/>
              </a:rPr>
              <a:t>.mobi,</a:t>
            </a:r>
            <a:r>
              <a:rPr sz="2200" spc="-65" dirty="0">
                <a:solidFill>
                  <a:srgbClr val="E36C09"/>
                </a:solidFill>
                <a:latin typeface="Calibri"/>
                <a:cs typeface="Calibri"/>
              </a:rPr>
              <a:t> </a:t>
            </a:r>
            <a:r>
              <a:rPr sz="2200" dirty="0">
                <a:solidFill>
                  <a:srgbClr val="E36C09"/>
                </a:solidFill>
                <a:latin typeface="Calibri"/>
                <a:cs typeface="Calibri"/>
              </a:rPr>
              <a:t>.museum,</a:t>
            </a:r>
            <a:r>
              <a:rPr sz="2200" spc="-50" dirty="0">
                <a:solidFill>
                  <a:srgbClr val="E36C09"/>
                </a:solidFill>
                <a:latin typeface="Calibri"/>
                <a:cs typeface="Calibri"/>
              </a:rPr>
              <a:t> </a:t>
            </a:r>
            <a:r>
              <a:rPr sz="2200" spc="-10" dirty="0">
                <a:solidFill>
                  <a:srgbClr val="E36C09"/>
                </a:solidFill>
                <a:latin typeface="Calibri"/>
                <a:cs typeface="Calibri"/>
              </a:rPr>
              <a:t>.info,</a:t>
            </a:r>
            <a:r>
              <a:rPr sz="2200" spc="-80" dirty="0">
                <a:solidFill>
                  <a:srgbClr val="E36C09"/>
                </a:solidFill>
                <a:latin typeface="Calibri"/>
                <a:cs typeface="Calibri"/>
              </a:rPr>
              <a:t> </a:t>
            </a:r>
            <a:r>
              <a:rPr sz="2200" dirty="0">
                <a:solidFill>
                  <a:srgbClr val="E36C09"/>
                </a:solidFill>
                <a:latin typeface="Calibri"/>
                <a:cs typeface="Calibri"/>
              </a:rPr>
              <a:t>.coop,</a:t>
            </a:r>
            <a:r>
              <a:rPr sz="2200" spc="-60" dirty="0">
                <a:solidFill>
                  <a:srgbClr val="E36C09"/>
                </a:solidFill>
                <a:latin typeface="Calibri"/>
                <a:cs typeface="Calibri"/>
              </a:rPr>
              <a:t> </a:t>
            </a:r>
            <a:r>
              <a:rPr sz="2200" dirty="0">
                <a:solidFill>
                  <a:srgbClr val="E36C09"/>
                </a:solidFill>
                <a:latin typeface="Calibri"/>
                <a:cs typeface="Calibri"/>
              </a:rPr>
              <a:t>.post,</a:t>
            </a:r>
            <a:r>
              <a:rPr sz="2200" spc="-70" dirty="0">
                <a:solidFill>
                  <a:srgbClr val="E36C09"/>
                </a:solidFill>
                <a:latin typeface="Calibri"/>
                <a:cs typeface="Calibri"/>
              </a:rPr>
              <a:t> </a:t>
            </a:r>
            <a:r>
              <a:rPr sz="2200" dirty="0">
                <a:solidFill>
                  <a:srgbClr val="E36C09"/>
                </a:solidFill>
                <a:latin typeface="Calibri"/>
                <a:cs typeface="Calibri"/>
              </a:rPr>
              <a:t>.pro,</a:t>
            </a:r>
            <a:r>
              <a:rPr sz="2200" spc="-65" dirty="0">
                <a:solidFill>
                  <a:srgbClr val="E36C09"/>
                </a:solidFill>
                <a:latin typeface="Calibri"/>
                <a:cs typeface="Calibri"/>
              </a:rPr>
              <a:t> </a:t>
            </a:r>
            <a:r>
              <a:rPr sz="2200" dirty="0">
                <a:solidFill>
                  <a:srgbClr val="E36C09"/>
                </a:solidFill>
                <a:latin typeface="Calibri"/>
                <a:cs typeface="Calibri"/>
              </a:rPr>
              <a:t>.tel,</a:t>
            </a:r>
            <a:r>
              <a:rPr sz="2200" spc="-65" dirty="0">
                <a:solidFill>
                  <a:srgbClr val="E36C09"/>
                </a:solidFill>
                <a:latin typeface="Calibri"/>
                <a:cs typeface="Calibri"/>
              </a:rPr>
              <a:t> </a:t>
            </a:r>
            <a:r>
              <a:rPr sz="2200" spc="-10" dirty="0">
                <a:solidFill>
                  <a:srgbClr val="E36C09"/>
                </a:solidFill>
                <a:latin typeface="Calibri"/>
                <a:cs typeface="Calibri"/>
              </a:rPr>
              <a:t>.travel</a:t>
            </a:r>
            <a:endParaRPr sz="2200" dirty="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731010">
              <a:lnSpc>
                <a:spcPct val="100000"/>
              </a:lnSpc>
              <a:spcBef>
                <a:spcPts val="105"/>
              </a:spcBef>
            </a:pPr>
            <a:r>
              <a:rPr dirty="0"/>
              <a:t>County</a:t>
            </a:r>
            <a:r>
              <a:rPr spc="-80" dirty="0"/>
              <a:t> </a:t>
            </a:r>
            <a:r>
              <a:rPr dirty="0"/>
              <a:t>Code</a:t>
            </a:r>
            <a:r>
              <a:rPr spc="-55" dirty="0"/>
              <a:t> </a:t>
            </a:r>
            <a:r>
              <a:rPr spc="-20" dirty="0"/>
              <a:t>TLDs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12</a:t>
            </a:fld>
            <a:endParaRPr sz="1100">
              <a:latin typeface="Times New Roman"/>
              <a:cs typeface="Times New Roman"/>
            </a:endParaRPr>
          </a:p>
        </p:txBody>
      </p:sp>
      <p:sp>
        <p:nvSpPr>
          <p:cNvPr id="3" name="object 3"/>
          <p:cNvSpPr txBox="1"/>
          <p:nvPr/>
        </p:nvSpPr>
        <p:spPr>
          <a:xfrm>
            <a:off x="2021030" y="2142385"/>
            <a:ext cx="8737761" cy="3239770"/>
          </a:xfrm>
          <a:prstGeom prst="rect">
            <a:avLst/>
          </a:prstGeom>
        </p:spPr>
        <p:txBody>
          <a:bodyPr vert="horz" wrap="square" lIns="0" tIns="12065" rIns="0" bIns="0" rtlCol="0">
            <a:spAutoFit/>
          </a:bodyPr>
          <a:lstStyle/>
          <a:p>
            <a:pPr marL="355600" marR="307975" indent="-342900">
              <a:spcBef>
                <a:spcPts val="95"/>
              </a:spcBef>
              <a:buFont typeface="Arial"/>
              <a:buChar char="•"/>
              <a:tabLst>
                <a:tab pos="355600" algn="l"/>
              </a:tabLst>
            </a:pPr>
            <a:r>
              <a:rPr sz="2200" spc="-10" dirty="0">
                <a:latin typeface="Calibri"/>
                <a:cs typeface="Calibri"/>
              </a:rPr>
              <a:t>Two</a:t>
            </a:r>
            <a:r>
              <a:rPr sz="2200" spc="-70" dirty="0">
                <a:latin typeface="Calibri"/>
                <a:cs typeface="Calibri"/>
              </a:rPr>
              <a:t> </a:t>
            </a:r>
            <a:r>
              <a:rPr sz="2200" dirty="0">
                <a:latin typeface="Calibri"/>
                <a:cs typeface="Calibri"/>
              </a:rPr>
              <a:t>character</a:t>
            </a:r>
            <a:r>
              <a:rPr sz="2200" spc="-90" dirty="0">
                <a:latin typeface="Calibri"/>
                <a:cs typeface="Calibri"/>
              </a:rPr>
              <a:t> </a:t>
            </a:r>
            <a:r>
              <a:rPr sz="2200" dirty="0">
                <a:latin typeface="Calibri"/>
                <a:cs typeface="Calibri"/>
              </a:rPr>
              <a:t>codes</a:t>
            </a:r>
            <a:r>
              <a:rPr sz="2200" spc="-70" dirty="0">
                <a:latin typeface="Calibri"/>
                <a:cs typeface="Calibri"/>
              </a:rPr>
              <a:t> </a:t>
            </a:r>
            <a:r>
              <a:rPr sz="2200" dirty="0">
                <a:latin typeface="Calibri"/>
                <a:cs typeface="Calibri"/>
              </a:rPr>
              <a:t>originally</a:t>
            </a:r>
            <a:r>
              <a:rPr sz="2200" spc="-110" dirty="0">
                <a:latin typeface="Calibri"/>
                <a:cs typeface="Calibri"/>
              </a:rPr>
              <a:t> </a:t>
            </a:r>
            <a:r>
              <a:rPr sz="2200" dirty="0">
                <a:latin typeface="Calibri"/>
                <a:cs typeface="Calibri"/>
              </a:rPr>
              <a:t>intended</a:t>
            </a:r>
            <a:r>
              <a:rPr sz="2200" spc="-65" dirty="0">
                <a:latin typeface="Calibri"/>
                <a:cs typeface="Calibri"/>
              </a:rPr>
              <a:t> </a:t>
            </a:r>
            <a:r>
              <a:rPr sz="2200" dirty="0">
                <a:latin typeface="Calibri"/>
                <a:cs typeface="Calibri"/>
              </a:rPr>
              <a:t>to</a:t>
            </a:r>
            <a:r>
              <a:rPr sz="2200" spc="-75" dirty="0">
                <a:latin typeface="Calibri"/>
                <a:cs typeface="Calibri"/>
              </a:rPr>
              <a:t> </a:t>
            </a:r>
            <a:r>
              <a:rPr sz="2200" dirty="0">
                <a:latin typeface="Calibri"/>
                <a:cs typeface="Calibri"/>
              </a:rPr>
              <a:t>indicate</a:t>
            </a:r>
            <a:r>
              <a:rPr sz="2200" spc="-75" dirty="0">
                <a:latin typeface="Calibri"/>
                <a:cs typeface="Calibri"/>
              </a:rPr>
              <a:t> </a:t>
            </a:r>
            <a:r>
              <a:rPr sz="2200" spc="-25" dirty="0">
                <a:latin typeface="Calibri"/>
                <a:cs typeface="Calibri"/>
              </a:rPr>
              <a:t>the </a:t>
            </a:r>
            <a:r>
              <a:rPr sz="2200" spc="-10" dirty="0">
                <a:latin typeface="Calibri"/>
                <a:cs typeface="Calibri"/>
              </a:rPr>
              <a:t>geographical</a:t>
            </a:r>
            <a:r>
              <a:rPr sz="2200" spc="-45" dirty="0">
                <a:latin typeface="Calibri"/>
                <a:cs typeface="Calibri"/>
              </a:rPr>
              <a:t> </a:t>
            </a:r>
            <a:r>
              <a:rPr sz="2200" dirty="0">
                <a:latin typeface="Calibri"/>
                <a:cs typeface="Calibri"/>
              </a:rPr>
              <a:t>location</a:t>
            </a:r>
            <a:r>
              <a:rPr sz="2200" spc="-55" dirty="0">
                <a:latin typeface="Calibri"/>
                <a:cs typeface="Calibri"/>
              </a:rPr>
              <a:t> </a:t>
            </a:r>
            <a:r>
              <a:rPr sz="2200" dirty="0">
                <a:latin typeface="Calibri"/>
                <a:cs typeface="Calibri"/>
              </a:rPr>
              <a:t>(country)</a:t>
            </a:r>
            <a:r>
              <a:rPr sz="2200" spc="-40" dirty="0">
                <a:latin typeface="Calibri"/>
                <a:cs typeface="Calibri"/>
              </a:rPr>
              <a:t> </a:t>
            </a:r>
            <a:r>
              <a:rPr sz="2200" dirty="0">
                <a:latin typeface="Calibri"/>
                <a:cs typeface="Calibri"/>
              </a:rPr>
              <a:t>of</a:t>
            </a:r>
            <a:r>
              <a:rPr sz="2200" spc="-45" dirty="0">
                <a:latin typeface="Calibri"/>
                <a:cs typeface="Calibri"/>
              </a:rPr>
              <a:t> </a:t>
            </a:r>
            <a:r>
              <a:rPr sz="2200" dirty="0">
                <a:latin typeface="Calibri"/>
                <a:cs typeface="Calibri"/>
              </a:rPr>
              <a:t>the</a:t>
            </a:r>
            <a:r>
              <a:rPr sz="2200" spc="-60" dirty="0">
                <a:latin typeface="Calibri"/>
                <a:cs typeface="Calibri"/>
              </a:rPr>
              <a:t> </a:t>
            </a:r>
            <a:r>
              <a:rPr sz="2200" dirty="0">
                <a:latin typeface="Calibri"/>
                <a:cs typeface="Calibri"/>
              </a:rPr>
              <a:t>web</a:t>
            </a:r>
            <a:r>
              <a:rPr sz="2200" spc="-35" dirty="0">
                <a:latin typeface="Calibri"/>
                <a:cs typeface="Calibri"/>
              </a:rPr>
              <a:t> </a:t>
            </a:r>
            <a:r>
              <a:rPr sz="2200" spc="-10" dirty="0">
                <a:latin typeface="Calibri"/>
                <a:cs typeface="Calibri"/>
              </a:rPr>
              <a:t>site.</a:t>
            </a:r>
            <a:endParaRPr sz="2200" dirty="0">
              <a:latin typeface="Calibri"/>
              <a:cs typeface="Calibri"/>
            </a:endParaRPr>
          </a:p>
          <a:p>
            <a:pPr>
              <a:spcBef>
                <a:spcPts val="480"/>
              </a:spcBef>
              <a:buFont typeface="Arial"/>
              <a:buChar char="•"/>
            </a:pPr>
            <a:endParaRPr sz="2200" dirty="0">
              <a:latin typeface="Calibri"/>
              <a:cs typeface="Calibri"/>
            </a:endParaRPr>
          </a:p>
          <a:p>
            <a:pPr marL="354965" indent="-342265">
              <a:buFont typeface="Arial"/>
              <a:buChar char="•"/>
              <a:tabLst>
                <a:tab pos="354965" algn="l"/>
              </a:tabLst>
            </a:pPr>
            <a:r>
              <a:rPr sz="2200" dirty="0">
                <a:latin typeface="Calibri"/>
                <a:cs typeface="Calibri"/>
              </a:rPr>
              <a:t>In</a:t>
            </a:r>
            <a:r>
              <a:rPr sz="2200" spc="-45" dirty="0">
                <a:latin typeface="Calibri"/>
                <a:cs typeface="Calibri"/>
              </a:rPr>
              <a:t> </a:t>
            </a:r>
            <a:r>
              <a:rPr sz="2200" dirty="0">
                <a:latin typeface="Calibri"/>
                <a:cs typeface="Calibri"/>
              </a:rPr>
              <a:t>practice,</a:t>
            </a:r>
            <a:r>
              <a:rPr sz="2200" spc="-35" dirty="0">
                <a:latin typeface="Calibri"/>
                <a:cs typeface="Calibri"/>
              </a:rPr>
              <a:t> </a:t>
            </a:r>
            <a:r>
              <a:rPr sz="2200" dirty="0">
                <a:latin typeface="Calibri"/>
                <a:cs typeface="Calibri"/>
              </a:rPr>
              <a:t>it</a:t>
            </a:r>
            <a:r>
              <a:rPr sz="2200" spc="-45" dirty="0">
                <a:latin typeface="Calibri"/>
                <a:cs typeface="Calibri"/>
              </a:rPr>
              <a:t> </a:t>
            </a:r>
            <a:r>
              <a:rPr sz="2200" dirty="0">
                <a:latin typeface="Calibri"/>
                <a:cs typeface="Calibri"/>
              </a:rPr>
              <a:t>is</a:t>
            </a:r>
            <a:r>
              <a:rPr sz="2200" spc="-35" dirty="0">
                <a:latin typeface="Calibri"/>
                <a:cs typeface="Calibri"/>
              </a:rPr>
              <a:t> </a:t>
            </a:r>
            <a:r>
              <a:rPr sz="2200" dirty="0">
                <a:latin typeface="Calibri"/>
                <a:cs typeface="Calibri"/>
              </a:rPr>
              <a:t>fairly</a:t>
            </a:r>
            <a:r>
              <a:rPr sz="2200" spc="-40" dirty="0">
                <a:latin typeface="Calibri"/>
                <a:cs typeface="Calibri"/>
              </a:rPr>
              <a:t> </a:t>
            </a:r>
            <a:r>
              <a:rPr sz="2200" dirty="0">
                <a:latin typeface="Calibri"/>
                <a:cs typeface="Calibri"/>
              </a:rPr>
              <a:t>easy</a:t>
            </a:r>
            <a:r>
              <a:rPr sz="2200" spc="-35" dirty="0">
                <a:latin typeface="Calibri"/>
                <a:cs typeface="Calibri"/>
              </a:rPr>
              <a:t> </a:t>
            </a:r>
            <a:r>
              <a:rPr sz="2200" dirty="0">
                <a:latin typeface="Calibri"/>
                <a:cs typeface="Calibri"/>
              </a:rPr>
              <a:t>to</a:t>
            </a:r>
            <a:r>
              <a:rPr sz="2200" spc="-30" dirty="0">
                <a:latin typeface="Calibri"/>
                <a:cs typeface="Calibri"/>
              </a:rPr>
              <a:t> </a:t>
            </a:r>
            <a:r>
              <a:rPr sz="2200" dirty="0">
                <a:latin typeface="Calibri"/>
                <a:cs typeface="Calibri"/>
              </a:rPr>
              <a:t>obtain</a:t>
            </a:r>
            <a:r>
              <a:rPr sz="2200" spc="-45"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domain</a:t>
            </a:r>
            <a:r>
              <a:rPr sz="2200" spc="-45" dirty="0">
                <a:latin typeface="Calibri"/>
                <a:cs typeface="Calibri"/>
              </a:rPr>
              <a:t> </a:t>
            </a:r>
            <a:r>
              <a:rPr sz="2200" spc="-20" dirty="0">
                <a:latin typeface="Calibri"/>
                <a:cs typeface="Calibri"/>
              </a:rPr>
              <a:t>name</a:t>
            </a:r>
            <a:endParaRPr sz="2200" dirty="0">
              <a:latin typeface="Calibri"/>
              <a:cs typeface="Calibri"/>
            </a:endParaRPr>
          </a:p>
          <a:p>
            <a:pPr marL="355600">
              <a:spcBef>
                <a:spcPts val="5"/>
              </a:spcBef>
            </a:pPr>
            <a:r>
              <a:rPr sz="2200" dirty="0">
                <a:latin typeface="Calibri"/>
                <a:cs typeface="Calibri"/>
              </a:rPr>
              <a:t>with</a:t>
            </a:r>
            <a:r>
              <a:rPr sz="2200" spc="-35"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country</a:t>
            </a:r>
            <a:r>
              <a:rPr sz="2200" spc="-30" dirty="0">
                <a:latin typeface="Calibri"/>
                <a:cs typeface="Calibri"/>
              </a:rPr>
              <a:t> </a:t>
            </a:r>
            <a:r>
              <a:rPr sz="2200" dirty="0">
                <a:latin typeface="Calibri"/>
                <a:cs typeface="Calibri"/>
              </a:rPr>
              <a:t>code</a:t>
            </a:r>
            <a:r>
              <a:rPr sz="2200" spc="-20" dirty="0">
                <a:latin typeface="Calibri"/>
                <a:cs typeface="Calibri"/>
              </a:rPr>
              <a:t> </a:t>
            </a:r>
            <a:r>
              <a:rPr sz="2200" dirty="0">
                <a:latin typeface="Calibri"/>
                <a:cs typeface="Calibri"/>
              </a:rPr>
              <a:t>TLD</a:t>
            </a:r>
            <a:r>
              <a:rPr sz="2200" spc="-25" dirty="0">
                <a:latin typeface="Calibri"/>
                <a:cs typeface="Calibri"/>
              </a:rPr>
              <a:t> </a:t>
            </a:r>
            <a:r>
              <a:rPr sz="2200" dirty="0">
                <a:latin typeface="Calibri"/>
                <a:cs typeface="Calibri"/>
              </a:rPr>
              <a:t>that</a:t>
            </a:r>
            <a:r>
              <a:rPr sz="2200" spc="-40" dirty="0">
                <a:latin typeface="Calibri"/>
                <a:cs typeface="Calibri"/>
              </a:rPr>
              <a:t> </a:t>
            </a:r>
            <a:r>
              <a:rPr sz="2200" dirty="0">
                <a:latin typeface="Calibri"/>
                <a:cs typeface="Calibri"/>
              </a:rPr>
              <a:t>is</a:t>
            </a:r>
            <a:r>
              <a:rPr sz="2200" spc="-25" dirty="0">
                <a:latin typeface="Calibri"/>
                <a:cs typeface="Calibri"/>
              </a:rPr>
              <a:t> </a:t>
            </a:r>
            <a:r>
              <a:rPr sz="2200" dirty="0">
                <a:latin typeface="Calibri"/>
                <a:cs typeface="Calibri"/>
              </a:rPr>
              <a:t>not</a:t>
            </a:r>
            <a:r>
              <a:rPr sz="2200" spc="-30" dirty="0">
                <a:latin typeface="Calibri"/>
                <a:cs typeface="Calibri"/>
              </a:rPr>
              <a:t> </a:t>
            </a:r>
            <a:r>
              <a:rPr sz="2200" dirty="0">
                <a:latin typeface="Calibri"/>
                <a:cs typeface="Calibri"/>
              </a:rPr>
              <a:t>local</a:t>
            </a:r>
            <a:r>
              <a:rPr sz="2200" spc="-35" dirty="0">
                <a:latin typeface="Calibri"/>
                <a:cs typeface="Calibri"/>
              </a:rPr>
              <a:t> </a:t>
            </a:r>
            <a:r>
              <a:rPr sz="2200" dirty="0">
                <a:latin typeface="Calibri"/>
                <a:cs typeface="Calibri"/>
              </a:rPr>
              <a:t>to</a:t>
            </a:r>
            <a:r>
              <a:rPr sz="2200" spc="-25" dirty="0">
                <a:latin typeface="Calibri"/>
                <a:cs typeface="Calibri"/>
              </a:rPr>
              <a:t> </a:t>
            </a:r>
            <a:r>
              <a:rPr sz="2200" dirty="0">
                <a:latin typeface="Calibri"/>
                <a:cs typeface="Calibri"/>
              </a:rPr>
              <a:t>the</a:t>
            </a:r>
            <a:r>
              <a:rPr sz="2200" spc="-20" dirty="0">
                <a:latin typeface="Calibri"/>
                <a:cs typeface="Calibri"/>
              </a:rPr>
              <a:t> </a:t>
            </a:r>
            <a:r>
              <a:rPr sz="2200" spc="-10" dirty="0">
                <a:latin typeface="Calibri"/>
                <a:cs typeface="Calibri"/>
              </a:rPr>
              <a:t>registrant.</a:t>
            </a:r>
            <a:endParaRPr sz="2200" dirty="0">
              <a:latin typeface="Calibri"/>
              <a:cs typeface="Calibri"/>
            </a:endParaRPr>
          </a:p>
          <a:p>
            <a:pPr>
              <a:spcBef>
                <a:spcPts val="480"/>
              </a:spcBef>
            </a:pPr>
            <a:endParaRPr sz="2200" dirty="0">
              <a:latin typeface="Calibri"/>
              <a:cs typeface="Calibri"/>
            </a:endParaRPr>
          </a:p>
          <a:p>
            <a:pPr marL="419734" indent="-407034">
              <a:buFont typeface="Arial"/>
              <a:buChar char="•"/>
              <a:tabLst>
                <a:tab pos="419734" algn="l"/>
              </a:tabLst>
            </a:pPr>
            <a:r>
              <a:rPr sz="2200" spc="-10" dirty="0">
                <a:latin typeface="Calibri"/>
                <a:cs typeface="Calibri"/>
              </a:rPr>
              <a:t>Examples:</a:t>
            </a:r>
            <a:endParaRPr sz="2200" dirty="0">
              <a:latin typeface="Calibri"/>
              <a:cs typeface="Calibri"/>
            </a:endParaRPr>
          </a:p>
          <a:p>
            <a:pPr marL="756285" lvl="1" indent="-286385">
              <a:spcBef>
                <a:spcPts val="490"/>
              </a:spcBef>
              <a:buFont typeface="Arial"/>
              <a:buChar char="–"/>
              <a:tabLst>
                <a:tab pos="756285" algn="l"/>
              </a:tabLst>
            </a:pPr>
            <a:r>
              <a:rPr sz="2000" spc="-40" dirty="0">
                <a:solidFill>
                  <a:srgbClr val="E36C09"/>
                </a:solidFill>
                <a:latin typeface="Calibri"/>
                <a:cs typeface="Calibri"/>
              </a:rPr>
              <a:t>.tv,</a:t>
            </a:r>
            <a:r>
              <a:rPr sz="2000" spc="-35" dirty="0">
                <a:solidFill>
                  <a:srgbClr val="E36C09"/>
                </a:solidFill>
                <a:latin typeface="Calibri"/>
                <a:cs typeface="Calibri"/>
              </a:rPr>
              <a:t> </a:t>
            </a:r>
            <a:r>
              <a:rPr sz="2000" dirty="0">
                <a:solidFill>
                  <a:srgbClr val="E36C09"/>
                </a:solidFill>
                <a:latin typeface="Calibri"/>
                <a:cs typeface="Calibri"/>
              </a:rPr>
              <a:t>.ws,</a:t>
            </a:r>
            <a:r>
              <a:rPr sz="2000" spc="-40" dirty="0">
                <a:solidFill>
                  <a:srgbClr val="E36C09"/>
                </a:solidFill>
                <a:latin typeface="Calibri"/>
                <a:cs typeface="Calibri"/>
              </a:rPr>
              <a:t> </a:t>
            </a:r>
            <a:r>
              <a:rPr sz="2000" dirty="0">
                <a:solidFill>
                  <a:srgbClr val="E36C09"/>
                </a:solidFill>
                <a:latin typeface="Calibri"/>
                <a:cs typeface="Calibri"/>
              </a:rPr>
              <a:t>.au,</a:t>
            </a:r>
            <a:r>
              <a:rPr sz="2000" spc="-50" dirty="0">
                <a:solidFill>
                  <a:srgbClr val="E36C09"/>
                </a:solidFill>
                <a:latin typeface="Calibri"/>
                <a:cs typeface="Calibri"/>
              </a:rPr>
              <a:t> </a:t>
            </a:r>
            <a:r>
              <a:rPr sz="2000" dirty="0">
                <a:solidFill>
                  <a:srgbClr val="E36C09"/>
                </a:solidFill>
                <a:latin typeface="Calibri"/>
                <a:cs typeface="Calibri"/>
              </a:rPr>
              <a:t>.jp,</a:t>
            </a:r>
            <a:r>
              <a:rPr sz="2000" spc="-60" dirty="0">
                <a:solidFill>
                  <a:srgbClr val="E36C09"/>
                </a:solidFill>
                <a:latin typeface="Calibri"/>
                <a:cs typeface="Calibri"/>
              </a:rPr>
              <a:t> </a:t>
            </a:r>
            <a:r>
              <a:rPr sz="2000" spc="-25" dirty="0">
                <a:solidFill>
                  <a:srgbClr val="E36C09"/>
                </a:solidFill>
                <a:latin typeface="Calibri"/>
                <a:cs typeface="Calibri"/>
              </a:rPr>
              <a:t>.uk</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See</a:t>
            </a:r>
            <a:r>
              <a:rPr sz="2000" spc="265" dirty="0">
                <a:latin typeface="Calibri"/>
                <a:cs typeface="Calibri"/>
              </a:rPr>
              <a:t> </a:t>
            </a:r>
            <a:r>
              <a:rPr sz="2000" u="sng" spc="-20" dirty="0">
                <a:solidFill>
                  <a:srgbClr val="0000FF"/>
                </a:solidFill>
                <a:uFill>
                  <a:solidFill>
                    <a:srgbClr val="0000FF"/>
                  </a:solidFill>
                </a:uFill>
                <a:latin typeface="Calibri"/>
                <a:cs typeface="Calibri"/>
                <a:hlinkClick r:id="rId2"/>
              </a:rPr>
              <a:t>http://www.iana.org/cctld/cctld-</a:t>
            </a:r>
            <a:r>
              <a:rPr sz="2000" u="sng" spc="-10" dirty="0">
                <a:solidFill>
                  <a:srgbClr val="0000FF"/>
                </a:solidFill>
                <a:uFill>
                  <a:solidFill>
                    <a:srgbClr val="0000FF"/>
                  </a:solidFill>
                </a:uFill>
                <a:latin typeface="Calibri"/>
                <a:cs typeface="Calibri"/>
                <a:hlinkClick r:id="rId2"/>
              </a:rPr>
              <a:t>whois.htm</a:t>
            </a:r>
            <a:endParaRPr sz="20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633730">
              <a:lnSpc>
                <a:spcPct val="100000"/>
              </a:lnSpc>
              <a:spcBef>
                <a:spcPts val="105"/>
              </a:spcBef>
            </a:pPr>
            <a:r>
              <a:rPr dirty="0"/>
              <a:t>Uniform</a:t>
            </a:r>
            <a:r>
              <a:rPr spc="-155" dirty="0"/>
              <a:t> </a:t>
            </a:r>
            <a:r>
              <a:rPr spc="-10" dirty="0"/>
              <a:t>Resource</a:t>
            </a:r>
            <a:r>
              <a:rPr spc="-170" dirty="0"/>
              <a:t> </a:t>
            </a:r>
            <a:r>
              <a:rPr spc="-10" dirty="0"/>
              <a:t>Identifier</a:t>
            </a:r>
          </a:p>
        </p:txBody>
      </p:sp>
      <p:sp>
        <p:nvSpPr>
          <p:cNvPr id="3" name="object 3"/>
          <p:cNvSpPr txBox="1"/>
          <p:nvPr/>
        </p:nvSpPr>
        <p:spPr>
          <a:xfrm>
            <a:off x="2057399" y="1947215"/>
            <a:ext cx="9207231" cy="1868170"/>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dirty="0">
                <a:solidFill>
                  <a:srgbClr val="E36C09"/>
                </a:solidFill>
                <a:latin typeface="Calibri"/>
                <a:cs typeface="Calibri"/>
              </a:rPr>
              <a:t>URI</a:t>
            </a:r>
            <a:r>
              <a:rPr sz="2200" spc="-55" dirty="0">
                <a:solidFill>
                  <a:srgbClr val="E36C09"/>
                </a:solidFill>
                <a:latin typeface="Calibri"/>
                <a:cs typeface="Calibri"/>
              </a:rPr>
              <a:t> </a:t>
            </a:r>
            <a:r>
              <a:rPr sz="2200" dirty="0">
                <a:latin typeface="Calibri"/>
                <a:cs typeface="Calibri"/>
              </a:rPr>
              <a:t>–</a:t>
            </a:r>
            <a:r>
              <a:rPr sz="2200" spc="-40" dirty="0">
                <a:latin typeface="Calibri"/>
                <a:cs typeface="Calibri"/>
              </a:rPr>
              <a:t> </a:t>
            </a:r>
            <a:r>
              <a:rPr sz="2200" dirty="0">
                <a:latin typeface="Calibri"/>
                <a:cs typeface="Calibri"/>
              </a:rPr>
              <a:t>Uniform</a:t>
            </a:r>
            <a:r>
              <a:rPr sz="2200" spc="-55" dirty="0">
                <a:latin typeface="Calibri"/>
                <a:cs typeface="Calibri"/>
              </a:rPr>
              <a:t> </a:t>
            </a:r>
            <a:r>
              <a:rPr sz="2200" spc="-10" dirty="0">
                <a:latin typeface="Calibri"/>
                <a:cs typeface="Calibri"/>
              </a:rPr>
              <a:t>Resource</a:t>
            </a:r>
            <a:r>
              <a:rPr sz="2200" spc="-45" dirty="0">
                <a:latin typeface="Calibri"/>
                <a:cs typeface="Calibri"/>
              </a:rPr>
              <a:t> </a:t>
            </a:r>
            <a:r>
              <a:rPr sz="2200" spc="-10" dirty="0">
                <a:latin typeface="Calibri"/>
                <a:cs typeface="Calibri"/>
              </a:rPr>
              <a:t>Identifier</a:t>
            </a:r>
            <a:endParaRPr sz="2200" dirty="0">
              <a:latin typeface="Calibri"/>
              <a:cs typeface="Calibri"/>
            </a:endParaRPr>
          </a:p>
          <a:p>
            <a:pPr marL="756285" lvl="1" indent="-286385">
              <a:spcBef>
                <a:spcPts val="490"/>
              </a:spcBef>
              <a:buFont typeface="Arial"/>
              <a:buChar char="–"/>
              <a:tabLst>
                <a:tab pos="756285" algn="l"/>
              </a:tabLst>
            </a:pPr>
            <a:r>
              <a:rPr sz="2000" dirty="0">
                <a:latin typeface="Calibri"/>
                <a:cs typeface="Calibri"/>
              </a:rPr>
              <a:t>identifies</a:t>
            </a:r>
            <a:r>
              <a:rPr sz="2000" spc="-30"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resource</a:t>
            </a:r>
            <a:r>
              <a:rPr sz="2000" spc="-45" dirty="0">
                <a:latin typeface="Calibri"/>
                <a:cs typeface="Calibri"/>
              </a:rPr>
              <a:t> </a:t>
            </a:r>
            <a:r>
              <a:rPr sz="2000" dirty="0">
                <a:latin typeface="Calibri"/>
                <a:cs typeface="Calibri"/>
              </a:rPr>
              <a:t>on</a:t>
            </a:r>
            <a:r>
              <a:rPr sz="2000" spc="-55" dirty="0">
                <a:latin typeface="Calibri"/>
                <a:cs typeface="Calibri"/>
              </a:rPr>
              <a:t> </a:t>
            </a:r>
            <a:r>
              <a:rPr sz="2000" dirty="0">
                <a:latin typeface="Calibri"/>
                <a:cs typeface="Calibri"/>
              </a:rPr>
              <a:t>the</a:t>
            </a:r>
            <a:r>
              <a:rPr sz="2000" spc="-45" dirty="0">
                <a:latin typeface="Calibri"/>
                <a:cs typeface="Calibri"/>
              </a:rPr>
              <a:t> </a:t>
            </a:r>
            <a:r>
              <a:rPr sz="2000" spc="-10" dirty="0">
                <a:latin typeface="Calibri"/>
                <a:cs typeface="Calibri"/>
              </a:rPr>
              <a:t>Internet</a:t>
            </a:r>
            <a:endParaRPr sz="2000" dirty="0">
              <a:latin typeface="Calibri"/>
              <a:cs typeface="Calibri"/>
            </a:endParaRPr>
          </a:p>
          <a:p>
            <a:pPr marL="354965" indent="-342265">
              <a:spcBef>
                <a:spcPts val="520"/>
              </a:spcBef>
              <a:buFont typeface="Arial"/>
              <a:buChar char="•"/>
              <a:tabLst>
                <a:tab pos="354965" algn="l"/>
              </a:tabLst>
            </a:pPr>
            <a:r>
              <a:rPr sz="2200" dirty="0">
                <a:solidFill>
                  <a:srgbClr val="E36C09"/>
                </a:solidFill>
                <a:latin typeface="Calibri"/>
                <a:cs typeface="Calibri"/>
              </a:rPr>
              <a:t>URL</a:t>
            </a:r>
            <a:r>
              <a:rPr sz="2200" spc="-70" dirty="0">
                <a:solidFill>
                  <a:srgbClr val="E36C09"/>
                </a:solidFill>
                <a:latin typeface="Calibri"/>
                <a:cs typeface="Calibri"/>
              </a:rPr>
              <a:t> </a:t>
            </a:r>
            <a:r>
              <a:rPr sz="2200" dirty="0">
                <a:latin typeface="Calibri"/>
                <a:cs typeface="Calibri"/>
              </a:rPr>
              <a:t>–</a:t>
            </a:r>
            <a:r>
              <a:rPr sz="2200" spc="-65" dirty="0">
                <a:latin typeface="Calibri"/>
                <a:cs typeface="Calibri"/>
              </a:rPr>
              <a:t> </a:t>
            </a:r>
            <a:r>
              <a:rPr sz="2200" dirty="0">
                <a:latin typeface="Calibri"/>
                <a:cs typeface="Calibri"/>
              </a:rPr>
              <a:t>Uniform</a:t>
            </a:r>
            <a:r>
              <a:rPr sz="2200" spc="-80" dirty="0">
                <a:latin typeface="Calibri"/>
                <a:cs typeface="Calibri"/>
              </a:rPr>
              <a:t> </a:t>
            </a:r>
            <a:r>
              <a:rPr sz="2200" dirty="0">
                <a:latin typeface="Calibri"/>
                <a:cs typeface="Calibri"/>
              </a:rPr>
              <a:t>Resource</a:t>
            </a:r>
            <a:r>
              <a:rPr sz="2200" spc="-60" dirty="0">
                <a:latin typeface="Calibri"/>
                <a:cs typeface="Calibri"/>
              </a:rPr>
              <a:t> </a:t>
            </a:r>
            <a:r>
              <a:rPr sz="2200" spc="-10" dirty="0">
                <a:latin typeface="Calibri"/>
                <a:cs typeface="Calibri"/>
              </a:rPr>
              <a:t>Locator</a:t>
            </a:r>
            <a:endParaRPr sz="2200" dirty="0">
              <a:latin typeface="Calibri"/>
              <a:cs typeface="Calibri"/>
            </a:endParaRPr>
          </a:p>
          <a:p>
            <a:pPr marL="756285" lvl="1" indent="-286385">
              <a:spcBef>
                <a:spcPts val="484"/>
              </a:spcBef>
              <a:buFont typeface="Arial"/>
              <a:buChar char="–"/>
              <a:tabLst>
                <a:tab pos="756285" algn="l"/>
              </a:tabLst>
            </a:pPr>
            <a:r>
              <a:rPr sz="2000" dirty="0">
                <a:latin typeface="Calibri"/>
                <a:cs typeface="Calibri"/>
              </a:rPr>
              <a:t>a</a:t>
            </a:r>
            <a:r>
              <a:rPr sz="2000" spc="-25" dirty="0">
                <a:latin typeface="Calibri"/>
                <a:cs typeface="Calibri"/>
              </a:rPr>
              <a:t> </a:t>
            </a:r>
            <a:r>
              <a:rPr sz="2000" dirty="0">
                <a:latin typeface="Calibri"/>
                <a:cs typeface="Calibri"/>
              </a:rPr>
              <a:t>type</a:t>
            </a:r>
            <a:r>
              <a:rPr sz="2000" spc="-50" dirty="0">
                <a:latin typeface="Calibri"/>
                <a:cs typeface="Calibri"/>
              </a:rPr>
              <a:t> </a:t>
            </a:r>
            <a:r>
              <a:rPr sz="2000" dirty="0">
                <a:latin typeface="Calibri"/>
                <a:cs typeface="Calibri"/>
              </a:rPr>
              <a:t>of</a:t>
            </a:r>
            <a:r>
              <a:rPr sz="2000" spc="-35" dirty="0">
                <a:latin typeface="Calibri"/>
                <a:cs typeface="Calibri"/>
              </a:rPr>
              <a:t> </a:t>
            </a:r>
            <a:r>
              <a:rPr sz="2000" dirty="0">
                <a:latin typeface="Calibri"/>
                <a:cs typeface="Calibri"/>
              </a:rPr>
              <a:t>URI</a:t>
            </a:r>
            <a:r>
              <a:rPr sz="2000" spc="-35" dirty="0">
                <a:latin typeface="Calibri"/>
                <a:cs typeface="Calibri"/>
              </a:rPr>
              <a:t> </a:t>
            </a:r>
            <a:r>
              <a:rPr sz="2000" dirty="0">
                <a:latin typeface="Calibri"/>
                <a:cs typeface="Calibri"/>
              </a:rPr>
              <a:t>which</a:t>
            </a:r>
            <a:r>
              <a:rPr sz="2000" spc="-35" dirty="0">
                <a:latin typeface="Calibri"/>
                <a:cs typeface="Calibri"/>
              </a:rPr>
              <a:t> </a:t>
            </a:r>
            <a:r>
              <a:rPr sz="2000" spc="-10" dirty="0">
                <a:latin typeface="Calibri"/>
                <a:cs typeface="Calibri"/>
              </a:rPr>
              <a:t>represents</a:t>
            </a:r>
            <a:r>
              <a:rPr sz="2000" spc="-5"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network</a:t>
            </a:r>
            <a:r>
              <a:rPr sz="2000" spc="-25" dirty="0">
                <a:latin typeface="Calibri"/>
                <a:cs typeface="Calibri"/>
              </a:rPr>
              <a:t> </a:t>
            </a:r>
            <a:r>
              <a:rPr sz="2000" dirty="0">
                <a:latin typeface="Calibri"/>
                <a:cs typeface="Calibri"/>
              </a:rPr>
              <a:t>location</a:t>
            </a:r>
            <a:r>
              <a:rPr sz="2000" spc="-25" dirty="0">
                <a:latin typeface="Calibri"/>
                <a:cs typeface="Calibri"/>
              </a:rPr>
              <a:t> </a:t>
            </a:r>
            <a:r>
              <a:rPr sz="2000" dirty="0">
                <a:latin typeface="Calibri"/>
                <a:cs typeface="Calibri"/>
              </a:rPr>
              <a:t>of</a:t>
            </a:r>
            <a:r>
              <a:rPr sz="2000" spc="-25" dirty="0">
                <a:latin typeface="Calibri"/>
                <a:cs typeface="Calibri"/>
              </a:rPr>
              <a:t> </a:t>
            </a:r>
            <a:r>
              <a:rPr sz="2000" dirty="0">
                <a:latin typeface="Calibri"/>
                <a:cs typeface="Calibri"/>
              </a:rPr>
              <a:t>a</a:t>
            </a:r>
            <a:r>
              <a:rPr sz="2000" spc="-40" dirty="0">
                <a:latin typeface="Calibri"/>
                <a:cs typeface="Calibri"/>
              </a:rPr>
              <a:t> </a:t>
            </a:r>
            <a:r>
              <a:rPr sz="2000" spc="-10" dirty="0">
                <a:latin typeface="Calibri"/>
                <a:cs typeface="Calibri"/>
              </a:rPr>
              <a:t>resource</a:t>
            </a:r>
            <a:endParaRPr sz="2000" dirty="0">
              <a:latin typeface="Calibri"/>
              <a:cs typeface="Calibri"/>
            </a:endParaRPr>
          </a:p>
          <a:p>
            <a:pPr marL="756285">
              <a:spcBef>
                <a:spcPts val="5"/>
              </a:spcBef>
            </a:pPr>
            <a:r>
              <a:rPr sz="2000" dirty="0">
                <a:latin typeface="Calibri"/>
                <a:cs typeface="Calibri"/>
              </a:rPr>
              <a:t>such</a:t>
            </a:r>
            <a:r>
              <a:rPr sz="2000" spc="-25" dirty="0">
                <a:latin typeface="Calibri"/>
                <a:cs typeface="Calibri"/>
              </a:rPr>
              <a:t> </a:t>
            </a:r>
            <a:r>
              <a:rPr sz="2000" dirty="0">
                <a:latin typeface="Calibri"/>
                <a:cs typeface="Calibri"/>
              </a:rPr>
              <a:t>as</a:t>
            </a:r>
            <a:r>
              <a:rPr sz="2000" spc="-20" dirty="0">
                <a:latin typeface="Calibri"/>
                <a:cs typeface="Calibri"/>
              </a:rPr>
              <a:t> </a:t>
            </a:r>
            <a:r>
              <a:rPr sz="2000" dirty="0">
                <a:latin typeface="Calibri"/>
                <a:cs typeface="Calibri"/>
              </a:rPr>
              <a:t>a</a:t>
            </a:r>
            <a:r>
              <a:rPr sz="2000" spc="-20" dirty="0">
                <a:latin typeface="Calibri"/>
                <a:cs typeface="Calibri"/>
              </a:rPr>
              <a:t> </a:t>
            </a:r>
            <a:r>
              <a:rPr sz="2000" dirty="0">
                <a:latin typeface="Calibri"/>
                <a:cs typeface="Calibri"/>
              </a:rPr>
              <a:t>web</a:t>
            </a:r>
            <a:r>
              <a:rPr sz="2000" spc="-30" dirty="0">
                <a:latin typeface="Calibri"/>
                <a:cs typeface="Calibri"/>
              </a:rPr>
              <a:t> </a:t>
            </a:r>
            <a:r>
              <a:rPr sz="2000" dirty="0">
                <a:latin typeface="Calibri"/>
                <a:cs typeface="Calibri"/>
              </a:rPr>
              <a:t>page,</a:t>
            </a:r>
            <a:r>
              <a:rPr sz="2000" spc="-45" dirty="0">
                <a:latin typeface="Calibri"/>
                <a:cs typeface="Calibri"/>
              </a:rPr>
              <a:t> </a:t>
            </a:r>
            <a:r>
              <a:rPr sz="2000" dirty="0">
                <a:latin typeface="Calibri"/>
                <a:cs typeface="Calibri"/>
              </a:rPr>
              <a:t>a</a:t>
            </a:r>
            <a:r>
              <a:rPr sz="2000" spc="-30" dirty="0">
                <a:latin typeface="Calibri"/>
                <a:cs typeface="Calibri"/>
              </a:rPr>
              <a:t> </a:t>
            </a:r>
            <a:r>
              <a:rPr sz="2000" dirty="0">
                <a:latin typeface="Calibri"/>
                <a:cs typeface="Calibri"/>
              </a:rPr>
              <a:t>graphic</a:t>
            </a:r>
            <a:r>
              <a:rPr sz="2000" spc="-45" dirty="0">
                <a:latin typeface="Calibri"/>
                <a:cs typeface="Calibri"/>
              </a:rPr>
              <a:t> </a:t>
            </a:r>
            <a:r>
              <a:rPr sz="2000" dirty="0">
                <a:latin typeface="Calibri"/>
                <a:cs typeface="Calibri"/>
              </a:rPr>
              <a:t>file,</a:t>
            </a:r>
            <a:r>
              <a:rPr sz="2000" spc="-5" dirty="0">
                <a:latin typeface="Calibri"/>
                <a:cs typeface="Calibri"/>
              </a:rPr>
              <a:t> </a:t>
            </a:r>
            <a:r>
              <a:rPr sz="2000" dirty="0">
                <a:latin typeface="Calibri"/>
                <a:cs typeface="Calibri"/>
              </a:rPr>
              <a:t>or</a:t>
            </a:r>
            <a:r>
              <a:rPr sz="2000" spc="-35" dirty="0">
                <a:latin typeface="Calibri"/>
                <a:cs typeface="Calibri"/>
              </a:rPr>
              <a:t> </a:t>
            </a:r>
            <a:r>
              <a:rPr sz="2000" dirty="0">
                <a:latin typeface="Calibri"/>
                <a:cs typeface="Calibri"/>
              </a:rPr>
              <a:t>an</a:t>
            </a:r>
            <a:r>
              <a:rPr sz="2000" spc="-15" dirty="0">
                <a:latin typeface="Calibri"/>
                <a:cs typeface="Calibri"/>
              </a:rPr>
              <a:t> </a:t>
            </a:r>
            <a:r>
              <a:rPr sz="2000" dirty="0">
                <a:latin typeface="Calibri"/>
                <a:cs typeface="Calibri"/>
              </a:rPr>
              <a:t>MP3</a:t>
            </a:r>
            <a:r>
              <a:rPr sz="2000" spc="-25" dirty="0">
                <a:latin typeface="Calibri"/>
                <a:cs typeface="Calibri"/>
              </a:rPr>
              <a:t> </a:t>
            </a:r>
            <a:r>
              <a:rPr sz="2000" spc="-10" dirty="0">
                <a:latin typeface="Calibri"/>
                <a:cs typeface="Calibri"/>
              </a:rPr>
              <a:t>file.</a:t>
            </a:r>
            <a:endParaRPr sz="2000" dirty="0">
              <a:latin typeface="Calibri"/>
              <a:cs typeface="Calibri"/>
            </a:endParaRPr>
          </a:p>
        </p:txBody>
      </p:sp>
      <p:sp>
        <p:nvSpPr>
          <p:cNvPr id="4" name="object 4"/>
          <p:cNvSpPr txBox="1"/>
          <p:nvPr/>
        </p:nvSpPr>
        <p:spPr>
          <a:xfrm>
            <a:off x="9757410" y="6471615"/>
            <a:ext cx="180975" cy="197490"/>
          </a:xfrm>
          <a:prstGeom prst="rect">
            <a:avLst/>
          </a:prstGeom>
        </p:spPr>
        <p:txBody>
          <a:bodyPr vert="horz" wrap="square" lIns="0" tIns="12700" rIns="0" bIns="0" rtlCol="0">
            <a:spAutoFit/>
          </a:bodyPr>
          <a:lstStyle/>
          <a:p>
            <a:pPr marL="12700">
              <a:spcBef>
                <a:spcPts val="100"/>
              </a:spcBef>
            </a:pPr>
            <a:r>
              <a:rPr sz="1200" spc="-25" dirty="0">
                <a:solidFill>
                  <a:srgbClr val="888888"/>
                </a:solidFill>
                <a:latin typeface="Calibri"/>
                <a:cs typeface="Calibri"/>
              </a:rPr>
              <a:t>27</a:t>
            </a:r>
            <a:endParaRPr sz="1200">
              <a:latin typeface="Calibri"/>
              <a:cs typeface="Calibri"/>
            </a:endParaRPr>
          </a:p>
        </p:txBody>
      </p:sp>
      <p:pic>
        <p:nvPicPr>
          <p:cNvPr id="5" name="object 5"/>
          <p:cNvPicPr/>
          <p:nvPr/>
        </p:nvPicPr>
        <p:blipFill>
          <a:blip r:embed="rId2" cstate="print"/>
          <a:stretch>
            <a:fillRect/>
          </a:stretch>
        </p:blipFill>
        <p:spPr>
          <a:xfrm>
            <a:off x="2057400" y="4419600"/>
            <a:ext cx="7706868" cy="1447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302895">
              <a:lnSpc>
                <a:spcPct val="100000"/>
              </a:lnSpc>
              <a:spcBef>
                <a:spcPts val="105"/>
              </a:spcBef>
            </a:pPr>
            <a:r>
              <a:rPr dirty="0"/>
              <a:t>Static</a:t>
            </a:r>
            <a:r>
              <a:rPr spc="-125" dirty="0"/>
              <a:t> </a:t>
            </a:r>
            <a:r>
              <a:rPr dirty="0"/>
              <a:t>Web:</a:t>
            </a:r>
            <a:r>
              <a:rPr spc="-140" dirty="0"/>
              <a:t> </a:t>
            </a:r>
            <a:r>
              <a:rPr dirty="0"/>
              <a:t>HTML/XHTML,</a:t>
            </a:r>
            <a:r>
              <a:rPr spc="-140" dirty="0"/>
              <a:t> </a:t>
            </a:r>
            <a:r>
              <a:rPr spc="-25" dirty="0"/>
              <a:t>CSS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14</a:t>
            </a:fld>
            <a:endParaRPr spc="-25" dirty="0"/>
          </a:p>
        </p:txBody>
      </p:sp>
      <p:sp>
        <p:nvSpPr>
          <p:cNvPr id="3" name="object 3"/>
          <p:cNvSpPr txBox="1"/>
          <p:nvPr/>
        </p:nvSpPr>
        <p:spPr>
          <a:xfrm>
            <a:off x="2133283" y="1802541"/>
            <a:ext cx="7925434" cy="4099560"/>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b="1" dirty="0">
                <a:solidFill>
                  <a:srgbClr val="E36C09"/>
                </a:solidFill>
                <a:latin typeface="Calibri"/>
                <a:cs typeface="Calibri"/>
              </a:rPr>
              <a:t>HTML</a:t>
            </a:r>
            <a:r>
              <a:rPr sz="2200" b="1" spc="-85" dirty="0">
                <a:solidFill>
                  <a:srgbClr val="E36C09"/>
                </a:solidFill>
                <a:latin typeface="Calibri"/>
                <a:cs typeface="Calibri"/>
              </a:rPr>
              <a:t> </a:t>
            </a:r>
            <a:r>
              <a:rPr sz="2200" dirty="0">
                <a:latin typeface="Calibri"/>
                <a:cs typeface="Calibri"/>
              </a:rPr>
              <a:t>stands</a:t>
            </a:r>
            <a:r>
              <a:rPr sz="2200" spc="-85" dirty="0">
                <a:latin typeface="Calibri"/>
                <a:cs typeface="Calibri"/>
              </a:rPr>
              <a:t> </a:t>
            </a:r>
            <a:r>
              <a:rPr sz="2200" dirty="0">
                <a:latin typeface="Calibri"/>
                <a:cs typeface="Calibri"/>
              </a:rPr>
              <a:t>for</a:t>
            </a:r>
            <a:r>
              <a:rPr sz="2200" spc="-70" dirty="0">
                <a:latin typeface="Calibri"/>
                <a:cs typeface="Calibri"/>
              </a:rPr>
              <a:t> </a:t>
            </a:r>
            <a:r>
              <a:rPr sz="2200" b="1" dirty="0">
                <a:latin typeface="Calibri"/>
                <a:cs typeface="Calibri"/>
              </a:rPr>
              <a:t>H</a:t>
            </a:r>
            <a:r>
              <a:rPr sz="2200" dirty="0">
                <a:latin typeface="Calibri"/>
                <a:cs typeface="Calibri"/>
              </a:rPr>
              <a:t>yper</a:t>
            </a:r>
            <a:r>
              <a:rPr sz="2200" b="1" dirty="0">
                <a:latin typeface="Calibri"/>
                <a:cs typeface="Calibri"/>
              </a:rPr>
              <a:t>T</a:t>
            </a:r>
            <a:r>
              <a:rPr sz="2200" dirty="0">
                <a:latin typeface="Calibri"/>
                <a:cs typeface="Calibri"/>
              </a:rPr>
              <a:t>ext</a:t>
            </a:r>
            <a:r>
              <a:rPr sz="2200" spc="-70" dirty="0">
                <a:latin typeface="Calibri"/>
                <a:cs typeface="Calibri"/>
              </a:rPr>
              <a:t> </a:t>
            </a:r>
            <a:r>
              <a:rPr sz="2200" b="1" dirty="0">
                <a:latin typeface="Calibri"/>
                <a:cs typeface="Calibri"/>
              </a:rPr>
              <a:t>Ma</a:t>
            </a:r>
            <a:r>
              <a:rPr sz="2200" dirty="0">
                <a:latin typeface="Calibri"/>
                <a:cs typeface="Calibri"/>
              </a:rPr>
              <a:t>rkup</a:t>
            </a:r>
            <a:r>
              <a:rPr sz="2200" spc="-75" dirty="0">
                <a:latin typeface="Calibri"/>
                <a:cs typeface="Calibri"/>
              </a:rPr>
              <a:t> </a:t>
            </a:r>
            <a:r>
              <a:rPr sz="2200" b="1" spc="-10" dirty="0">
                <a:latin typeface="Calibri"/>
                <a:cs typeface="Calibri"/>
              </a:rPr>
              <a:t>L</a:t>
            </a:r>
            <a:r>
              <a:rPr sz="2200" spc="-10" dirty="0">
                <a:latin typeface="Calibri"/>
                <a:cs typeface="Calibri"/>
              </a:rPr>
              <a:t>anguage</a:t>
            </a:r>
            <a:endParaRPr sz="2200" dirty="0">
              <a:latin typeface="Calibri"/>
              <a:cs typeface="Calibri"/>
            </a:endParaRPr>
          </a:p>
          <a:p>
            <a:pPr marL="756285" marR="5080" lvl="1" indent="-287020">
              <a:spcBef>
                <a:spcPts val="490"/>
              </a:spcBef>
              <a:buFont typeface="Arial"/>
              <a:buChar char="–"/>
              <a:tabLst>
                <a:tab pos="756285" algn="l"/>
              </a:tabLst>
            </a:pPr>
            <a:r>
              <a:rPr sz="2000" dirty="0">
                <a:latin typeface="Calibri"/>
                <a:cs typeface="Calibri"/>
              </a:rPr>
              <a:t>It</a:t>
            </a:r>
            <a:r>
              <a:rPr sz="2000" spc="-60" dirty="0">
                <a:latin typeface="Calibri"/>
                <a:cs typeface="Calibri"/>
              </a:rPr>
              <a:t> </a:t>
            </a:r>
            <a:r>
              <a:rPr sz="2000" dirty="0">
                <a:latin typeface="Calibri"/>
                <a:cs typeface="Calibri"/>
              </a:rPr>
              <a:t>is</a:t>
            </a:r>
            <a:r>
              <a:rPr sz="2000" spc="-45" dirty="0">
                <a:latin typeface="Calibri"/>
                <a:cs typeface="Calibri"/>
              </a:rPr>
              <a:t> </a:t>
            </a:r>
            <a:r>
              <a:rPr sz="2000" dirty="0">
                <a:latin typeface="Calibri"/>
                <a:cs typeface="Calibri"/>
              </a:rPr>
              <a:t>a</a:t>
            </a:r>
            <a:r>
              <a:rPr sz="2000" spc="-45" dirty="0">
                <a:latin typeface="Calibri"/>
                <a:cs typeface="Calibri"/>
              </a:rPr>
              <a:t> </a:t>
            </a:r>
            <a:r>
              <a:rPr sz="2000" dirty="0">
                <a:latin typeface="Calibri"/>
                <a:cs typeface="Calibri"/>
              </a:rPr>
              <a:t>text</a:t>
            </a:r>
            <a:r>
              <a:rPr sz="2000" spc="-40" dirty="0">
                <a:latin typeface="Calibri"/>
                <a:cs typeface="Calibri"/>
              </a:rPr>
              <a:t> </a:t>
            </a:r>
            <a:r>
              <a:rPr sz="2000" dirty="0">
                <a:latin typeface="Calibri"/>
                <a:cs typeface="Calibri"/>
              </a:rPr>
              <a:t>file</a:t>
            </a:r>
            <a:r>
              <a:rPr sz="2000" spc="-40" dirty="0">
                <a:latin typeface="Calibri"/>
                <a:cs typeface="Calibri"/>
              </a:rPr>
              <a:t> </a:t>
            </a:r>
            <a:r>
              <a:rPr sz="2000" dirty="0">
                <a:latin typeface="Calibri"/>
                <a:cs typeface="Calibri"/>
              </a:rPr>
              <a:t>containing</a:t>
            </a:r>
            <a:r>
              <a:rPr sz="2000" spc="-70" dirty="0">
                <a:latin typeface="Calibri"/>
                <a:cs typeface="Calibri"/>
              </a:rPr>
              <a:t> </a:t>
            </a:r>
            <a:r>
              <a:rPr sz="2000" dirty="0">
                <a:latin typeface="Calibri"/>
                <a:cs typeface="Calibri"/>
              </a:rPr>
              <a:t>small</a:t>
            </a:r>
            <a:r>
              <a:rPr sz="2000" spc="-35" dirty="0">
                <a:latin typeface="Calibri"/>
                <a:cs typeface="Calibri"/>
              </a:rPr>
              <a:t> </a:t>
            </a:r>
            <a:r>
              <a:rPr sz="2000" dirty="0">
                <a:latin typeface="Calibri"/>
                <a:cs typeface="Calibri"/>
              </a:rPr>
              <a:t>markup</a:t>
            </a:r>
            <a:r>
              <a:rPr sz="2000" spc="-50" dirty="0">
                <a:latin typeface="Calibri"/>
                <a:cs typeface="Calibri"/>
              </a:rPr>
              <a:t> </a:t>
            </a:r>
            <a:r>
              <a:rPr sz="2000" dirty="0">
                <a:latin typeface="Calibri"/>
                <a:cs typeface="Calibri"/>
              </a:rPr>
              <a:t>tags</a:t>
            </a:r>
            <a:r>
              <a:rPr sz="2000" spc="-50" dirty="0">
                <a:latin typeface="Calibri"/>
                <a:cs typeface="Calibri"/>
              </a:rPr>
              <a:t> </a:t>
            </a:r>
            <a:r>
              <a:rPr sz="2000" dirty="0">
                <a:latin typeface="Calibri"/>
                <a:cs typeface="Calibri"/>
              </a:rPr>
              <a:t>that</a:t>
            </a:r>
            <a:r>
              <a:rPr sz="2000" spc="-50" dirty="0">
                <a:latin typeface="Calibri"/>
                <a:cs typeface="Calibri"/>
              </a:rPr>
              <a:t> </a:t>
            </a:r>
            <a:r>
              <a:rPr sz="2000" dirty="0">
                <a:latin typeface="Calibri"/>
                <a:cs typeface="Calibri"/>
              </a:rPr>
              <a:t>tell</a:t>
            </a:r>
            <a:r>
              <a:rPr sz="2000" spc="-40"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Web</a:t>
            </a:r>
            <a:r>
              <a:rPr sz="2000" spc="-65" dirty="0">
                <a:latin typeface="Calibri"/>
                <a:cs typeface="Calibri"/>
              </a:rPr>
              <a:t> </a:t>
            </a:r>
            <a:r>
              <a:rPr sz="2000" spc="-10" dirty="0">
                <a:latin typeface="Calibri"/>
                <a:cs typeface="Calibri"/>
              </a:rPr>
              <a:t>browser </a:t>
            </a:r>
            <a:r>
              <a:rPr sz="2000" dirty="0">
                <a:latin typeface="Calibri"/>
                <a:cs typeface="Calibri"/>
              </a:rPr>
              <a:t>how</a:t>
            </a:r>
            <a:r>
              <a:rPr sz="2000" spc="-60"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display</a:t>
            </a:r>
            <a:r>
              <a:rPr sz="2000" spc="-35" dirty="0">
                <a:latin typeface="Calibri"/>
                <a:cs typeface="Calibri"/>
              </a:rPr>
              <a:t> </a:t>
            </a:r>
            <a:r>
              <a:rPr sz="2000" dirty="0">
                <a:latin typeface="Calibri"/>
                <a:cs typeface="Calibri"/>
              </a:rPr>
              <a:t>the</a:t>
            </a:r>
            <a:r>
              <a:rPr sz="2000" spc="-50" dirty="0">
                <a:latin typeface="Calibri"/>
                <a:cs typeface="Calibri"/>
              </a:rPr>
              <a:t> </a:t>
            </a:r>
            <a:r>
              <a:rPr sz="2000" spc="-20" dirty="0">
                <a:latin typeface="Calibri"/>
                <a:cs typeface="Calibri"/>
              </a:rPr>
              <a:t>page</a:t>
            </a:r>
            <a:endParaRPr sz="2000" dirty="0">
              <a:latin typeface="Calibri"/>
              <a:cs typeface="Calibri"/>
            </a:endParaRPr>
          </a:p>
          <a:p>
            <a:pPr lvl="1">
              <a:spcBef>
                <a:spcPts val="960"/>
              </a:spcBef>
              <a:buFont typeface="Arial"/>
              <a:buChar char="–"/>
            </a:pPr>
            <a:endParaRPr sz="2000" dirty="0">
              <a:latin typeface="Calibri"/>
              <a:cs typeface="Calibri"/>
            </a:endParaRPr>
          </a:p>
          <a:p>
            <a:pPr marL="354965" indent="-342265">
              <a:buFont typeface="Arial"/>
              <a:buChar char="•"/>
              <a:tabLst>
                <a:tab pos="354965" algn="l"/>
              </a:tabLst>
            </a:pPr>
            <a:r>
              <a:rPr sz="2200" b="1" dirty="0">
                <a:solidFill>
                  <a:srgbClr val="E36C09"/>
                </a:solidFill>
                <a:latin typeface="Calibri"/>
                <a:cs typeface="Calibri"/>
              </a:rPr>
              <a:t>XHTML</a:t>
            </a:r>
            <a:r>
              <a:rPr sz="2200" b="1" spc="-80" dirty="0">
                <a:solidFill>
                  <a:srgbClr val="E36C09"/>
                </a:solidFill>
                <a:latin typeface="Calibri"/>
                <a:cs typeface="Calibri"/>
              </a:rPr>
              <a:t> </a:t>
            </a:r>
            <a:r>
              <a:rPr sz="2200" dirty="0">
                <a:latin typeface="Calibri"/>
                <a:cs typeface="Calibri"/>
              </a:rPr>
              <a:t>stands</a:t>
            </a:r>
            <a:r>
              <a:rPr sz="2200" spc="-80" dirty="0">
                <a:latin typeface="Calibri"/>
                <a:cs typeface="Calibri"/>
              </a:rPr>
              <a:t> </a:t>
            </a:r>
            <a:r>
              <a:rPr sz="2200" dirty="0">
                <a:latin typeface="Calibri"/>
                <a:cs typeface="Calibri"/>
              </a:rPr>
              <a:t>for</a:t>
            </a:r>
            <a:r>
              <a:rPr sz="2200" spc="-65" dirty="0">
                <a:latin typeface="Calibri"/>
                <a:cs typeface="Calibri"/>
              </a:rPr>
              <a:t> </a:t>
            </a:r>
            <a:r>
              <a:rPr sz="2200" dirty="0">
                <a:latin typeface="Calibri"/>
                <a:cs typeface="Calibri"/>
              </a:rPr>
              <a:t>e</a:t>
            </a:r>
            <a:r>
              <a:rPr sz="2200" b="1" dirty="0">
                <a:latin typeface="Calibri"/>
                <a:cs typeface="Calibri"/>
              </a:rPr>
              <a:t>X</a:t>
            </a:r>
            <a:r>
              <a:rPr sz="2200" dirty="0">
                <a:latin typeface="Calibri"/>
                <a:cs typeface="Calibri"/>
              </a:rPr>
              <a:t>tensible</a:t>
            </a:r>
            <a:r>
              <a:rPr sz="2200" spc="-70" dirty="0">
                <a:latin typeface="Calibri"/>
                <a:cs typeface="Calibri"/>
              </a:rPr>
              <a:t> </a:t>
            </a:r>
            <a:r>
              <a:rPr sz="2200" b="1" spc="-30" dirty="0">
                <a:latin typeface="Calibri"/>
                <a:cs typeface="Calibri"/>
              </a:rPr>
              <a:t>H</a:t>
            </a:r>
            <a:r>
              <a:rPr sz="2200" spc="-30" dirty="0">
                <a:latin typeface="Calibri"/>
                <a:cs typeface="Calibri"/>
              </a:rPr>
              <a:t>yperText</a:t>
            </a:r>
            <a:r>
              <a:rPr sz="2200" spc="-45" dirty="0">
                <a:latin typeface="Calibri"/>
                <a:cs typeface="Calibri"/>
              </a:rPr>
              <a:t> </a:t>
            </a:r>
            <a:r>
              <a:rPr sz="2200" b="1" dirty="0">
                <a:latin typeface="Calibri"/>
                <a:cs typeface="Calibri"/>
              </a:rPr>
              <a:t>M</a:t>
            </a:r>
            <a:r>
              <a:rPr sz="2200" dirty="0">
                <a:latin typeface="Calibri"/>
                <a:cs typeface="Calibri"/>
              </a:rPr>
              <a:t>arkup</a:t>
            </a:r>
            <a:r>
              <a:rPr sz="2200" spc="-90" dirty="0">
                <a:latin typeface="Calibri"/>
                <a:cs typeface="Calibri"/>
              </a:rPr>
              <a:t> </a:t>
            </a:r>
            <a:r>
              <a:rPr sz="2200" b="1" spc="-10" dirty="0">
                <a:latin typeface="Calibri"/>
                <a:cs typeface="Calibri"/>
              </a:rPr>
              <a:t>L</a:t>
            </a:r>
            <a:r>
              <a:rPr sz="2200" spc="-10" dirty="0">
                <a:latin typeface="Calibri"/>
                <a:cs typeface="Calibri"/>
              </a:rPr>
              <a:t>anguage</a:t>
            </a:r>
            <a:endParaRPr sz="2200" dirty="0">
              <a:latin typeface="Calibri"/>
              <a:cs typeface="Calibri"/>
            </a:endParaRPr>
          </a:p>
          <a:p>
            <a:pPr marL="756285" lvl="1" indent="-286385">
              <a:spcBef>
                <a:spcPts val="484"/>
              </a:spcBef>
              <a:buFont typeface="Arial"/>
              <a:buChar char="–"/>
              <a:tabLst>
                <a:tab pos="756285" algn="l"/>
              </a:tabLst>
            </a:pPr>
            <a:r>
              <a:rPr sz="2000" dirty="0">
                <a:latin typeface="Calibri"/>
                <a:cs typeface="Calibri"/>
              </a:rPr>
              <a:t>It</a:t>
            </a:r>
            <a:r>
              <a:rPr sz="2000" spc="-45" dirty="0">
                <a:latin typeface="Calibri"/>
                <a:cs typeface="Calibri"/>
              </a:rPr>
              <a:t> </a:t>
            </a:r>
            <a:r>
              <a:rPr sz="2000" dirty="0">
                <a:latin typeface="Calibri"/>
                <a:cs typeface="Calibri"/>
              </a:rPr>
              <a:t>is</a:t>
            </a:r>
            <a:r>
              <a:rPr sz="2000" spc="-25" dirty="0">
                <a:latin typeface="Calibri"/>
                <a:cs typeface="Calibri"/>
              </a:rPr>
              <a:t> </a:t>
            </a:r>
            <a:r>
              <a:rPr sz="2000" dirty="0">
                <a:latin typeface="Calibri"/>
                <a:cs typeface="Calibri"/>
              </a:rPr>
              <a:t>identical</a:t>
            </a:r>
            <a:r>
              <a:rPr sz="2000" spc="-25" dirty="0">
                <a:latin typeface="Calibri"/>
                <a:cs typeface="Calibri"/>
              </a:rPr>
              <a:t> </a:t>
            </a:r>
            <a:r>
              <a:rPr sz="2000" dirty="0">
                <a:latin typeface="Calibri"/>
                <a:cs typeface="Calibri"/>
              </a:rPr>
              <a:t>to</a:t>
            </a:r>
            <a:r>
              <a:rPr sz="2000" spc="-30" dirty="0">
                <a:latin typeface="Calibri"/>
                <a:cs typeface="Calibri"/>
              </a:rPr>
              <a:t> </a:t>
            </a:r>
            <a:r>
              <a:rPr sz="2000" dirty="0">
                <a:latin typeface="Calibri"/>
                <a:cs typeface="Calibri"/>
              </a:rPr>
              <a:t>HTML</a:t>
            </a:r>
            <a:r>
              <a:rPr sz="2000" spc="-45" dirty="0">
                <a:latin typeface="Calibri"/>
                <a:cs typeface="Calibri"/>
              </a:rPr>
              <a:t> </a:t>
            </a:r>
            <a:r>
              <a:rPr sz="2000" spc="-20" dirty="0">
                <a:latin typeface="Calibri"/>
                <a:cs typeface="Calibri"/>
              </a:rPr>
              <a:t>4.01</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It</a:t>
            </a:r>
            <a:r>
              <a:rPr sz="2000" spc="-60" dirty="0">
                <a:latin typeface="Calibri"/>
                <a:cs typeface="Calibri"/>
              </a:rPr>
              <a:t> </a:t>
            </a:r>
            <a:r>
              <a:rPr sz="2000" dirty="0">
                <a:latin typeface="Calibri"/>
                <a:cs typeface="Calibri"/>
              </a:rPr>
              <a:t>is</a:t>
            </a:r>
            <a:r>
              <a:rPr sz="2000" spc="-45" dirty="0">
                <a:latin typeface="Calibri"/>
                <a:cs typeface="Calibri"/>
              </a:rPr>
              <a:t> </a:t>
            </a:r>
            <a:r>
              <a:rPr sz="2000" dirty="0">
                <a:latin typeface="Calibri"/>
                <a:cs typeface="Calibri"/>
              </a:rPr>
              <a:t>a</a:t>
            </a:r>
            <a:r>
              <a:rPr sz="2000" spc="-45" dirty="0">
                <a:latin typeface="Calibri"/>
                <a:cs typeface="Calibri"/>
              </a:rPr>
              <a:t> </a:t>
            </a:r>
            <a:r>
              <a:rPr sz="2000" dirty="0">
                <a:latin typeface="Calibri"/>
                <a:cs typeface="Calibri"/>
              </a:rPr>
              <a:t>stricter</a:t>
            </a:r>
            <a:r>
              <a:rPr sz="2000" spc="-30" dirty="0">
                <a:latin typeface="Calibri"/>
                <a:cs typeface="Calibri"/>
              </a:rPr>
              <a:t> </a:t>
            </a:r>
            <a:r>
              <a:rPr sz="2000" dirty="0">
                <a:latin typeface="Calibri"/>
                <a:cs typeface="Calibri"/>
              </a:rPr>
              <a:t>and</a:t>
            </a:r>
            <a:r>
              <a:rPr sz="2000" spc="-40" dirty="0">
                <a:latin typeface="Calibri"/>
                <a:cs typeface="Calibri"/>
              </a:rPr>
              <a:t> </a:t>
            </a:r>
            <a:r>
              <a:rPr sz="2000" dirty="0">
                <a:latin typeface="Calibri"/>
                <a:cs typeface="Calibri"/>
              </a:rPr>
              <a:t>cleaner</a:t>
            </a:r>
            <a:r>
              <a:rPr sz="2000" spc="-55" dirty="0">
                <a:latin typeface="Calibri"/>
                <a:cs typeface="Calibri"/>
              </a:rPr>
              <a:t> </a:t>
            </a:r>
            <a:r>
              <a:rPr sz="2000" dirty="0">
                <a:latin typeface="Calibri"/>
                <a:cs typeface="Calibri"/>
              </a:rPr>
              <a:t>version</a:t>
            </a:r>
            <a:r>
              <a:rPr sz="2000" spc="-35" dirty="0">
                <a:latin typeface="Calibri"/>
                <a:cs typeface="Calibri"/>
              </a:rPr>
              <a:t> </a:t>
            </a:r>
            <a:r>
              <a:rPr sz="2000" dirty="0">
                <a:latin typeface="Calibri"/>
                <a:cs typeface="Calibri"/>
              </a:rPr>
              <a:t>of</a:t>
            </a:r>
            <a:r>
              <a:rPr sz="2000" spc="-55" dirty="0">
                <a:latin typeface="Calibri"/>
                <a:cs typeface="Calibri"/>
              </a:rPr>
              <a:t> </a:t>
            </a:r>
            <a:r>
              <a:rPr sz="2000" spc="-20" dirty="0">
                <a:latin typeface="Calibri"/>
                <a:cs typeface="Calibri"/>
              </a:rPr>
              <a:t>HTML</a:t>
            </a:r>
            <a:endParaRPr sz="2000" dirty="0">
              <a:latin typeface="Calibri"/>
              <a:cs typeface="Calibri"/>
            </a:endParaRPr>
          </a:p>
          <a:p>
            <a:pPr marL="756285" lvl="1" indent="-286385">
              <a:spcBef>
                <a:spcPts val="484"/>
              </a:spcBef>
              <a:buFont typeface="Arial"/>
              <a:buChar char="–"/>
              <a:tabLst>
                <a:tab pos="756285" algn="l"/>
              </a:tabLst>
            </a:pPr>
            <a:r>
              <a:rPr sz="2000" dirty="0">
                <a:latin typeface="Calibri"/>
                <a:cs typeface="Calibri"/>
              </a:rPr>
              <a:t>E.g.,</a:t>
            </a:r>
            <a:r>
              <a:rPr sz="2000" spc="-70" dirty="0">
                <a:latin typeface="Calibri"/>
                <a:cs typeface="Calibri"/>
              </a:rPr>
              <a:t> </a:t>
            </a:r>
            <a:r>
              <a:rPr sz="2000" dirty="0">
                <a:latin typeface="Calibri"/>
                <a:cs typeface="Calibri"/>
              </a:rPr>
              <a:t>&lt;!DOCTYPE&gt;,</a:t>
            </a:r>
            <a:r>
              <a:rPr sz="2000" spc="-60" dirty="0">
                <a:latin typeface="Calibri"/>
                <a:cs typeface="Calibri"/>
              </a:rPr>
              <a:t> </a:t>
            </a:r>
            <a:r>
              <a:rPr sz="2000" dirty="0">
                <a:latin typeface="Calibri"/>
                <a:cs typeface="Calibri"/>
              </a:rPr>
              <a:t>&lt;html&gt;,</a:t>
            </a:r>
            <a:r>
              <a:rPr sz="2000" spc="-25" dirty="0">
                <a:latin typeface="Calibri"/>
                <a:cs typeface="Calibri"/>
              </a:rPr>
              <a:t> </a:t>
            </a:r>
            <a:r>
              <a:rPr sz="2000" dirty="0">
                <a:latin typeface="Calibri"/>
                <a:cs typeface="Calibri"/>
              </a:rPr>
              <a:t>&lt;head&gt;,</a:t>
            </a:r>
            <a:r>
              <a:rPr sz="2000" spc="-40" dirty="0">
                <a:latin typeface="Calibri"/>
                <a:cs typeface="Calibri"/>
              </a:rPr>
              <a:t> </a:t>
            </a:r>
            <a:r>
              <a:rPr sz="2000" dirty="0">
                <a:latin typeface="Calibri"/>
                <a:cs typeface="Calibri"/>
              </a:rPr>
              <a:t>and</a:t>
            </a:r>
            <a:r>
              <a:rPr sz="2000" spc="-45" dirty="0">
                <a:latin typeface="Calibri"/>
                <a:cs typeface="Calibri"/>
              </a:rPr>
              <a:t> </a:t>
            </a:r>
            <a:r>
              <a:rPr sz="2000" dirty="0">
                <a:latin typeface="Calibri"/>
                <a:cs typeface="Calibri"/>
              </a:rPr>
              <a:t>&lt;body&gt;</a:t>
            </a:r>
            <a:r>
              <a:rPr sz="2000" spc="-65" dirty="0">
                <a:latin typeface="Calibri"/>
                <a:cs typeface="Calibri"/>
              </a:rPr>
              <a:t> </a:t>
            </a:r>
            <a:r>
              <a:rPr sz="2000" dirty="0">
                <a:latin typeface="Calibri"/>
                <a:cs typeface="Calibri"/>
              </a:rPr>
              <a:t>are</a:t>
            </a:r>
            <a:r>
              <a:rPr sz="2000" spc="-30" dirty="0">
                <a:latin typeface="Calibri"/>
                <a:cs typeface="Calibri"/>
              </a:rPr>
              <a:t> </a:t>
            </a:r>
            <a:r>
              <a:rPr sz="2000" spc="-10" dirty="0">
                <a:latin typeface="Calibri"/>
                <a:cs typeface="Calibri"/>
              </a:rPr>
              <a:t>mandatory</a:t>
            </a:r>
            <a:endParaRPr sz="2000" dirty="0">
              <a:latin typeface="Calibri"/>
              <a:cs typeface="Calibri"/>
            </a:endParaRPr>
          </a:p>
          <a:p>
            <a:pPr lvl="1">
              <a:spcBef>
                <a:spcPts val="960"/>
              </a:spcBef>
              <a:buFont typeface="Arial"/>
              <a:buChar char="–"/>
            </a:pPr>
            <a:endParaRPr sz="2000" dirty="0">
              <a:latin typeface="Calibri"/>
              <a:cs typeface="Calibri"/>
            </a:endParaRPr>
          </a:p>
          <a:p>
            <a:pPr marL="354965" indent="-342265">
              <a:buFont typeface="Arial"/>
              <a:buChar char="•"/>
              <a:tabLst>
                <a:tab pos="354965" algn="l"/>
              </a:tabLst>
            </a:pPr>
            <a:r>
              <a:rPr sz="2200" b="1" dirty="0">
                <a:solidFill>
                  <a:srgbClr val="E36C09"/>
                </a:solidFill>
                <a:latin typeface="Calibri"/>
                <a:cs typeface="Calibri"/>
              </a:rPr>
              <a:t>CSS</a:t>
            </a:r>
            <a:r>
              <a:rPr sz="2200" b="1" spc="-65" dirty="0">
                <a:solidFill>
                  <a:srgbClr val="E36C09"/>
                </a:solidFill>
                <a:latin typeface="Calibri"/>
                <a:cs typeface="Calibri"/>
              </a:rPr>
              <a:t> </a:t>
            </a:r>
            <a:r>
              <a:rPr sz="2200" dirty="0">
                <a:latin typeface="Calibri"/>
                <a:cs typeface="Calibri"/>
              </a:rPr>
              <a:t>stands</a:t>
            </a:r>
            <a:r>
              <a:rPr sz="2200" spc="-45" dirty="0">
                <a:latin typeface="Calibri"/>
                <a:cs typeface="Calibri"/>
              </a:rPr>
              <a:t> </a:t>
            </a:r>
            <a:r>
              <a:rPr sz="2200" dirty="0">
                <a:latin typeface="Calibri"/>
                <a:cs typeface="Calibri"/>
              </a:rPr>
              <a:t>for</a:t>
            </a:r>
            <a:r>
              <a:rPr sz="2200" spc="-40" dirty="0">
                <a:latin typeface="Calibri"/>
                <a:cs typeface="Calibri"/>
              </a:rPr>
              <a:t> </a:t>
            </a:r>
            <a:r>
              <a:rPr sz="2200" b="1" dirty="0">
                <a:latin typeface="Calibri"/>
                <a:cs typeface="Calibri"/>
              </a:rPr>
              <a:t>C</a:t>
            </a:r>
            <a:r>
              <a:rPr sz="2200" dirty="0">
                <a:latin typeface="Calibri"/>
                <a:cs typeface="Calibri"/>
              </a:rPr>
              <a:t>ascading</a:t>
            </a:r>
            <a:r>
              <a:rPr sz="2200" spc="-65" dirty="0">
                <a:latin typeface="Calibri"/>
                <a:cs typeface="Calibri"/>
              </a:rPr>
              <a:t> </a:t>
            </a:r>
            <a:r>
              <a:rPr sz="2200" b="1" dirty="0">
                <a:latin typeface="Calibri"/>
                <a:cs typeface="Calibri"/>
              </a:rPr>
              <a:t>S</a:t>
            </a:r>
            <a:r>
              <a:rPr sz="2200" dirty="0">
                <a:latin typeface="Calibri"/>
                <a:cs typeface="Calibri"/>
              </a:rPr>
              <a:t>tyle</a:t>
            </a:r>
            <a:r>
              <a:rPr sz="2200" spc="-35" dirty="0">
                <a:latin typeface="Calibri"/>
                <a:cs typeface="Calibri"/>
              </a:rPr>
              <a:t> </a:t>
            </a:r>
            <a:r>
              <a:rPr sz="2200" b="1" spc="-10" dirty="0">
                <a:latin typeface="Calibri"/>
                <a:cs typeface="Calibri"/>
              </a:rPr>
              <a:t>S</a:t>
            </a:r>
            <a:r>
              <a:rPr sz="2200" spc="-10" dirty="0">
                <a:latin typeface="Calibri"/>
                <a:cs typeface="Calibri"/>
              </a:rPr>
              <a:t>heets</a:t>
            </a:r>
            <a:endParaRPr sz="2200" dirty="0">
              <a:latin typeface="Calibri"/>
              <a:cs typeface="Calibri"/>
            </a:endParaRPr>
          </a:p>
          <a:p>
            <a:pPr marL="756285" lvl="1" indent="-286385">
              <a:spcBef>
                <a:spcPts val="490"/>
              </a:spcBef>
              <a:buFont typeface="Arial"/>
              <a:buChar char="–"/>
              <a:tabLst>
                <a:tab pos="756285" algn="l"/>
              </a:tabLst>
            </a:pPr>
            <a:r>
              <a:rPr sz="2000" dirty="0">
                <a:latin typeface="Calibri"/>
                <a:cs typeface="Calibri"/>
              </a:rPr>
              <a:t>It</a:t>
            </a:r>
            <a:r>
              <a:rPr sz="2000" spc="-50" dirty="0">
                <a:latin typeface="Calibri"/>
                <a:cs typeface="Calibri"/>
              </a:rPr>
              <a:t> </a:t>
            </a:r>
            <a:r>
              <a:rPr sz="2000" dirty="0">
                <a:latin typeface="Calibri"/>
                <a:cs typeface="Calibri"/>
              </a:rPr>
              <a:t>defines</a:t>
            </a:r>
            <a:r>
              <a:rPr sz="2000" spc="-40" dirty="0">
                <a:latin typeface="Calibri"/>
                <a:cs typeface="Calibri"/>
              </a:rPr>
              <a:t> </a:t>
            </a:r>
            <a:r>
              <a:rPr sz="2000" dirty="0">
                <a:latin typeface="Calibri"/>
                <a:cs typeface="Calibri"/>
              </a:rPr>
              <a:t>how</a:t>
            </a:r>
            <a:r>
              <a:rPr sz="2000" spc="-55"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display</a:t>
            </a:r>
            <a:r>
              <a:rPr sz="2000" spc="-40" dirty="0">
                <a:latin typeface="Calibri"/>
                <a:cs typeface="Calibri"/>
              </a:rPr>
              <a:t> </a:t>
            </a:r>
            <a:r>
              <a:rPr sz="2000" dirty="0">
                <a:latin typeface="Calibri"/>
                <a:cs typeface="Calibri"/>
              </a:rPr>
              <a:t>HTML</a:t>
            </a:r>
            <a:r>
              <a:rPr sz="2000" spc="-50" dirty="0">
                <a:latin typeface="Calibri"/>
                <a:cs typeface="Calibri"/>
              </a:rPr>
              <a:t> </a:t>
            </a:r>
            <a:r>
              <a:rPr sz="2000" spc="-10" dirty="0">
                <a:latin typeface="Calibri"/>
                <a:cs typeface="Calibri"/>
              </a:rPr>
              <a:t>elements</a:t>
            </a:r>
            <a:endParaRPr sz="2000"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346835">
              <a:lnSpc>
                <a:spcPct val="100000"/>
              </a:lnSpc>
              <a:spcBef>
                <a:spcPts val="105"/>
              </a:spcBef>
            </a:pPr>
            <a:r>
              <a:rPr dirty="0"/>
              <a:t>Static</a:t>
            </a:r>
            <a:r>
              <a:rPr spc="-135" dirty="0"/>
              <a:t> </a:t>
            </a:r>
            <a:r>
              <a:rPr dirty="0"/>
              <a:t>web</a:t>
            </a:r>
            <a:r>
              <a:rPr spc="-140" dirty="0"/>
              <a:t> </a:t>
            </a:r>
            <a:r>
              <a:rPr spc="-10" dirty="0"/>
              <a:t>limitations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15</a:t>
            </a:fld>
            <a:endParaRPr spc="-25" dirty="0"/>
          </a:p>
        </p:txBody>
      </p:sp>
      <p:sp>
        <p:nvSpPr>
          <p:cNvPr id="3" name="object 3"/>
          <p:cNvSpPr txBox="1"/>
          <p:nvPr/>
        </p:nvSpPr>
        <p:spPr>
          <a:xfrm>
            <a:off x="2079395" y="1977640"/>
            <a:ext cx="7486650" cy="2299335"/>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dirty="0">
                <a:latin typeface="Calibri"/>
                <a:cs typeface="Calibri"/>
              </a:rPr>
              <a:t>What</a:t>
            </a:r>
            <a:r>
              <a:rPr sz="2200" spc="-65" dirty="0">
                <a:latin typeface="Calibri"/>
                <a:cs typeface="Calibri"/>
              </a:rPr>
              <a:t> </a:t>
            </a:r>
            <a:r>
              <a:rPr sz="2200" dirty="0">
                <a:latin typeface="Calibri"/>
                <a:cs typeface="Calibri"/>
              </a:rPr>
              <a:t>is</a:t>
            </a:r>
            <a:r>
              <a:rPr sz="2200" spc="-50" dirty="0">
                <a:latin typeface="Calibri"/>
                <a:cs typeface="Calibri"/>
              </a:rPr>
              <a:t> </a:t>
            </a:r>
            <a:r>
              <a:rPr sz="2200" dirty="0">
                <a:latin typeface="Calibri"/>
                <a:cs typeface="Calibri"/>
              </a:rPr>
              <a:t>the</a:t>
            </a:r>
            <a:r>
              <a:rPr sz="2200" spc="-45" dirty="0">
                <a:latin typeface="Calibri"/>
                <a:cs typeface="Calibri"/>
              </a:rPr>
              <a:t> </a:t>
            </a:r>
            <a:r>
              <a:rPr sz="2200" dirty="0">
                <a:latin typeface="Calibri"/>
                <a:cs typeface="Calibri"/>
              </a:rPr>
              <a:t>drawback</a:t>
            </a:r>
            <a:r>
              <a:rPr sz="2200" spc="-70" dirty="0">
                <a:latin typeface="Calibri"/>
                <a:cs typeface="Calibri"/>
              </a:rPr>
              <a:t> </a:t>
            </a:r>
            <a:r>
              <a:rPr sz="2200" dirty="0">
                <a:latin typeface="Calibri"/>
                <a:cs typeface="Calibri"/>
              </a:rPr>
              <a:t>to</a:t>
            </a:r>
            <a:r>
              <a:rPr sz="2200" spc="-50" dirty="0">
                <a:latin typeface="Calibri"/>
                <a:cs typeface="Calibri"/>
              </a:rPr>
              <a:t> </a:t>
            </a:r>
            <a:r>
              <a:rPr sz="2200" dirty="0">
                <a:latin typeface="Calibri"/>
                <a:cs typeface="Calibri"/>
              </a:rPr>
              <a:t>simple</a:t>
            </a:r>
            <a:r>
              <a:rPr sz="2200" spc="-45" dirty="0">
                <a:latin typeface="Calibri"/>
                <a:cs typeface="Calibri"/>
              </a:rPr>
              <a:t> </a:t>
            </a:r>
            <a:r>
              <a:rPr sz="2200" dirty="0">
                <a:latin typeface="Calibri"/>
                <a:cs typeface="Calibri"/>
              </a:rPr>
              <a:t>document</a:t>
            </a:r>
            <a:r>
              <a:rPr sz="2200" spc="-35" dirty="0">
                <a:latin typeface="Calibri"/>
                <a:cs typeface="Calibri"/>
              </a:rPr>
              <a:t> </a:t>
            </a:r>
            <a:r>
              <a:rPr sz="2200" spc="-10" dirty="0">
                <a:latin typeface="Calibri"/>
                <a:cs typeface="Calibri"/>
              </a:rPr>
              <a:t>model?</a:t>
            </a:r>
            <a:endParaRPr sz="2200" dirty="0">
              <a:latin typeface="Calibri"/>
              <a:cs typeface="Calibri"/>
            </a:endParaRPr>
          </a:p>
          <a:p>
            <a:pPr marL="756285" lvl="1" indent="-286385">
              <a:spcBef>
                <a:spcPts val="490"/>
              </a:spcBef>
              <a:buFont typeface="Arial"/>
              <a:buChar char="–"/>
              <a:tabLst>
                <a:tab pos="756285" algn="l"/>
              </a:tabLst>
            </a:pPr>
            <a:r>
              <a:rPr sz="2000" spc="-10" dirty="0">
                <a:latin typeface="Calibri"/>
                <a:cs typeface="Calibri"/>
              </a:rPr>
              <a:t>Static</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Assume</a:t>
            </a:r>
            <a:r>
              <a:rPr sz="2000" spc="-60" dirty="0">
                <a:latin typeface="Calibri"/>
                <a:cs typeface="Calibri"/>
              </a:rPr>
              <a:t> </a:t>
            </a:r>
            <a:r>
              <a:rPr sz="2000" dirty="0">
                <a:latin typeface="Calibri"/>
                <a:cs typeface="Calibri"/>
              </a:rPr>
              <a:t>that</a:t>
            </a:r>
            <a:r>
              <a:rPr sz="2000" spc="-65" dirty="0">
                <a:latin typeface="Calibri"/>
                <a:cs typeface="Calibri"/>
              </a:rPr>
              <a:t> </a:t>
            </a:r>
            <a:r>
              <a:rPr sz="2000" dirty="0">
                <a:latin typeface="Calibri"/>
                <a:cs typeface="Calibri"/>
              </a:rPr>
              <a:t>documents</a:t>
            </a:r>
            <a:r>
              <a:rPr sz="2000" spc="-75" dirty="0">
                <a:latin typeface="Calibri"/>
                <a:cs typeface="Calibri"/>
              </a:rPr>
              <a:t> </a:t>
            </a:r>
            <a:r>
              <a:rPr sz="2000" dirty="0">
                <a:latin typeface="Calibri"/>
                <a:cs typeface="Calibri"/>
              </a:rPr>
              <a:t>are</a:t>
            </a:r>
            <a:r>
              <a:rPr sz="2000" spc="-65" dirty="0">
                <a:latin typeface="Calibri"/>
                <a:cs typeface="Calibri"/>
              </a:rPr>
              <a:t> </a:t>
            </a:r>
            <a:r>
              <a:rPr sz="2000" spc="-10" dirty="0">
                <a:latin typeface="Calibri"/>
                <a:cs typeface="Calibri"/>
              </a:rPr>
              <a:t>created</a:t>
            </a:r>
            <a:r>
              <a:rPr sz="2000" spc="-55" dirty="0">
                <a:latin typeface="Calibri"/>
                <a:cs typeface="Calibri"/>
              </a:rPr>
              <a:t> </a:t>
            </a:r>
            <a:r>
              <a:rPr sz="2000" dirty="0">
                <a:latin typeface="Calibri"/>
                <a:cs typeface="Calibri"/>
              </a:rPr>
              <a:t>before</a:t>
            </a:r>
            <a:r>
              <a:rPr sz="2000" spc="-70" dirty="0">
                <a:latin typeface="Calibri"/>
                <a:cs typeface="Calibri"/>
              </a:rPr>
              <a:t> </a:t>
            </a:r>
            <a:r>
              <a:rPr sz="2000" dirty="0">
                <a:latin typeface="Calibri"/>
                <a:cs typeface="Calibri"/>
              </a:rPr>
              <a:t>they</a:t>
            </a:r>
            <a:r>
              <a:rPr sz="2000" spc="-75" dirty="0">
                <a:latin typeface="Calibri"/>
                <a:cs typeface="Calibri"/>
              </a:rPr>
              <a:t> </a:t>
            </a:r>
            <a:r>
              <a:rPr sz="2000" dirty="0">
                <a:latin typeface="Calibri"/>
                <a:cs typeface="Calibri"/>
              </a:rPr>
              <a:t>are</a:t>
            </a:r>
            <a:r>
              <a:rPr sz="2000" spc="-65" dirty="0">
                <a:latin typeface="Calibri"/>
                <a:cs typeface="Calibri"/>
              </a:rPr>
              <a:t> </a:t>
            </a:r>
            <a:r>
              <a:rPr sz="2000" spc="-10" dirty="0">
                <a:latin typeface="Calibri"/>
                <a:cs typeface="Calibri"/>
              </a:rPr>
              <a:t>requested</a:t>
            </a:r>
            <a:endParaRPr sz="2000" dirty="0">
              <a:latin typeface="Calibri"/>
              <a:cs typeface="Calibri"/>
            </a:endParaRPr>
          </a:p>
          <a:p>
            <a:pPr lvl="1">
              <a:spcBef>
                <a:spcPts val="1245"/>
              </a:spcBef>
              <a:buFont typeface="Arial"/>
              <a:buChar char="–"/>
            </a:pPr>
            <a:endParaRPr sz="2000" dirty="0">
              <a:latin typeface="Calibri"/>
              <a:cs typeface="Calibri"/>
            </a:endParaRPr>
          </a:p>
          <a:p>
            <a:pPr marL="355600" marR="5080" indent="-342900">
              <a:buFont typeface="Arial"/>
              <a:buChar char="•"/>
              <a:tabLst>
                <a:tab pos="355600" algn="l"/>
              </a:tabLst>
            </a:pPr>
            <a:r>
              <a:rPr sz="2200" dirty="0">
                <a:latin typeface="Calibri"/>
                <a:cs typeface="Calibri"/>
              </a:rPr>
              <a:t>What</a:t>
            </a:r>
            <a:r>
              <a:rPr sz="2200" spc="-45" dirty="0">
                <a:latin typeface="Calibri"/>
                <a:cs typeface="Calibri"/>
              </a:rPr>
              <a:t> </a:t>
            </a:r>
            <a:r>
              <a:rPr sz="2200" dirty="0">
                <a:latin typeface="Calibri"/>
                <a:cs typeface="Calibri"/>
              </a:rPr>
              <a:t>are</a:t>
            </a:r>
            <a:r>
              <a:rPr sz="2200" spc="-45" dirty="0">
                <a:latin typeface="Calibri"/>
                <a:cs typeface="Calibri"/>
              </a:rPr>
              <a:t> </a:t>
            </a:r>
            <a:r>
              <a:rPr sz="2200" spc="-10" dirty="0">
                <a:latin typeface="Calibri"/>
                <a:cs typeface="Calibri"/>
              </a:rPr>
              <a:t>examples</a:t>
            </a:r>
            <a:r>
              <a:rPr sz="2200" spc="-25" dirty="0">
                <a:latin typeface="Calibri"/>
                <a:cs typeface="Calibri"/>
              </a:rPr>
              <a:t> </a:t>
            </a:r>
            <a:r>
              <a:rPr sz="2200" dirty="0">
                <a:latin typeface="Calibri"/>
                <a:cs typeface="Calibri"/>
              </a:rPr>
              <a:t>of</a:t>
            </a:r>
            <a:r>
              <a:rPr sz="2200" spc="-35" dirty="0">
                <a:latin typeface="Calibri"/>
                <a:cs typeface="Calibri"/>
              </a:rPr>
              <a:t> </a:t>
            </a:r>
            <a:r>
              <a:rPr sz="2200" spc="-10" dirty="0">
                <a:latin typeface="Calibri"/>
                <a:cs typeface="Calibri"/>
              </a:rPr>
              <a:t>information</a:t>
            </a:r>
            <a:r>
              <a:rPr sz="2200" spc="-45" dirty="0">
                <a:latin typeface="Calibri"/>
                <a:cs typeface="Calibri"/>
              </a:rPr>
              <a:t> </a:t>
            </a:r>
            <a:r>
              <a:rPr sz="2200" dirty="0">
                <a:latin typeface="Calibri"/>
                <a:cs typeface="Calibri"/>
              </a:rPr>
              <a:t>that</a:t>
            </a:r>
            <a:r>
              <a:rPr sz="2200" spc="-30" dirty="0">
                <a:latin typeface="Calibri"/>
                <a:cs typeface="Calibri"/>
              </a:rPr>
              <a:t> </a:t>
            </a:r>
            <a:r>
              <a:rPr sz="2200" dirty="0">
                <a:latin typeface="Calibri"/>
                <a:cs typeface="Calibri"/>
              </a:rPr>
              <a:t>might</a:t>
            </a:r>
            <a:r>
              <a:rPr sz="2200" spc="-30" dirty="0">
                <a:latin typeface="Calibri"/>
                <a:cs typeface="Calibri"/>
              </a:rPr>
              <a:t> </a:t>
            </a:r>
            <a:r>
              <a:rPr sz="2200" dirty="0">
                <a:latin typeface="Calibri"/>
                <a:cs typeface="Calibri"/>
              </a:rPr>
              <a:t>be</a:t>
            </a:r>
            <a:r>
              <a:rPr sz="2200" spc="-35" dirty="0">
                <a:latin typeface="Calibri"/>
                <a:cs typeface="Calibri"/>
              </a:rPr>
              <a:t> </a:t>
            </a:r>
            <a:r>
              <a:rPr sz="2200" dirty="0">
                <a:latin typeface="Calibri"/>
                <a:cs typeface="Calibri"/>
              </a:rPr>
              <a:t>part</a:t>
            </a:r>
            <a:r>
              <a:rPr sz="2200" spc="-45" dirty="0">
                <a:latin typeface="Calibri"/>
                <a:cs typeface="Calibri"/>
              </a:rPr>
              <a:t> </a:t>
            </a:r>
            <a:r>
              <a:rPr sz="2200" dirty="0">
                <a:latin typeface="Calibri"/>
                <a:cs typeface="Calibri"/>
              </a:rPr>
              <a:t>of</a:t>
            </a:r>
            <a:r>
              <a:rPr sz="2200" spc="-35" dirty="0">
                <a:latin typeface="Calibri"/>
                <a:cs typeface="Calibri"/>
              </a:rPr>
              <a:t> </a:t>
            </a:r>
            <a:r>
              <a:rPr sz="2200" spc="-25" dirty="0">
                <a:latin typeface="Calibri"/>
                <a:cs typeface="Calibri"/>
              </a:rPr>
              <a:t>web </a:t>
            </a:r>
            <a:r>
              <a:rPr sz="2200" spc="-10" dirty="0">
                <a:latin typeface="Calibri"/>
                <a:cs typeface="Calibri"/>
              </a:rPr>
              <a:t>documents</a:t>
            </a:r>
            <a:r>
              <a:rPr sz="2200" spc="-40" dirty="0">
                <a:latin typeface="Calibri"/>
                <a:cs typeface="Calibri"/>
              </a:rPr>
              <a:t> </a:t>
            </a:r>
            <a:r>
              <a:rPr sz="2200" dirty="0">
                <a:latin typeface="Calibri"/>
                <a:cs typeface="Calibri"/>
              </a:rPr>
              <a:t>that</a:t>
            </a:r>
            <a:r>
              <a:rPr sz="2200" spc="-40" dirty="0">
                <a:latin typeface="Calibri"/>
                <a:cs typeface="Calibri"/>
              </a:rPr>
              <a:t> </a:t>
            </a:r>
            <a:r>
              <a:rPr sz="2200" dirty="0">
                <a:latin typeface="Calibri"/>
                <a:cs typeface="Calibri"/>
              </a:rPr>
              <a:t>may</a:t>
            </a:r>
            <a:r>
              <a:rPr sz="2200" spc="-60" dirty="0">
                <a:latin typeface="Calibri"/>
                <a:cs typeface="Calibri"/>
              </a:rPr>
              <a:t> </a:t>
            </a:r>
            <a:r>
              <a:rPr sz="2200" dirty="0">
                <a:latin typeface="Calibri"/>
                <a:cs typeface="Calibri"/>
              </a:rPr>
              <a:t>not</a:t>
            </a:r>
            <a:r>
              <a:rPr sz="2200" spc="-55" dirty="0">
                <a:latin typeface="Calibri"/>
                <a:cs typeface="Calibri"/>
              </a:rPr>
              <a:t> </a:t>
            </a:r>
            <a:r>
              <a:rPr sz="2200" dirty="0">
                <a:latin typeface="Calibri"/>
                <a:cs typeface="Calibri"/>
              </a:rPr>
              <a:t>be</a:t>
            </a:r>
            <a:r>
              <a:rPr sz="2200" spc="-40" dirty="0">
                <a:latin typeface="Calibri"/>
                <a:cs typeface="Calibri"/>
              </a:rPr>
              <a:t> </a:t>
            </a:r>
            <a:r>
              <a:rPr sz="2200" dirty="0">
                <a:latin typeface="Calibri"/>
                <a:cs typeface="Calibri"/>
              </a:rPr>
              <a:t>known</a:t>
            </a:r>
            <a:r>
              <a:rPr sz="2200" spc="-35" dirty="0">
                <a:latin typeface="Calibri"/>
                <a:cs typeface="Calibri"/>
              </a:rPr>
              <a:t> </a:t>
            </a:r>
            <a:r>
              <a:rPr sz="2200" spc="-10" dirty="0">
                <a:latin typeface="Calibri"/>
                <a:cs typeface="Calibri"/>
              </a:rPr>
              <a:t>before</a:t>
            </a:r>
            <a:r>
              <a:rPr sz="2200" spc="-45" dirty="0">
                <a:latin typeface="Calibri"/>
                <a:cs typeface="Calibri"/>
              </a:rPr>
              <a:t> </a:t>
            </a:r>
            <a:r>
              <a:rPr sz="2200" dirty="0">
                <a:latin typeface="Calibri"/>
                <a:cs typeface="Calibri"/>
              </a:rPr>
              <a:t>they</a:t>
            </a:r>
            <a:r>
              <a:rPr sz="2200" spc="-35" dirty="0">
                <a:latin typeface="Calibri"/>
                <a:cs typeface="Calibri"/>
              </a:rPr>
              <a:t> </a:t>
            </a:r>
            <a:r>
              <a:rPr sz="2200" dirty="0">
                <a:latin typeface="Calibri"/>
                <a:cs typeface="Calibri"/>
              </a:rPr>
              <a:t>are</a:t>
            </a:r>
            <a:r>
              <a:rPr sz="2200" spc="-55" dirty="0">
                <a:latin typeface="Calibri"/>
                <a:cs typeface="Calibri"/>
              </a:rPr>
              <a:t> </a:t>
            </a:r>
            <a:r>
              <a:rPr sz="2200" spc="-10" dirty="0">
                <a:latin typeface="Calibri"/>
                <a:cs typeface="Calibri"/>
              </a:rPr>
              <a:t>requested?</a:t>
            </a:r>
            <a:endParaRPr sz="2200" dirty="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969010">
              <a:lnSpc>
                <a:spcPct val="100000"/>
              </a:lnSpc>
              <a:spcBef>
                <a:spcPts val="105"/>
              </a:spcBef>
            </a:pPr>
            <a:r>
              <a:rPr spc="-30" dirty="0"/>
              <a:t>Client-</a:t>
            </a:r>
            <a:r>
              <a:rPr dirty="0"/>
              <a:t>Side</a:t>
            </a:r>
            <a:r>
              <a:rPr spc="55" dirty="0"/>
              <a:t> </a:t>
            </a:r>
            <a:r>
              <a:rPr spc="-10" dirty="0"/>
              <a:t>Programming</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16</a:t>
            </a:fld>
            <a:endParaRPr spc="-25" dirty="0"/>
          </a:p>
        </p:txBody>
      </p:sp>
      <p:sp>
        <p:nvSpPr>
          <p:cNvPr id="3" name="object 3"/>
          <p:cNvSpPr txBox="1"/>
          <p:nvPr/>
        </p:nvSpPr>
        <p:spPr>
          <a:xfrm>
            <a:off x="2059941" y="1987171"/>
            <a:ext cx="8280561" cy="3668312"/>
          </a:xfrm>
          <a:prstGeom prst="rect">
            <a:avLst/>
          </a:prstGeom>
        </p:spPr>
        <p:txBody>
          <a:bodyPr vert="horz" wrap="square" lIns="0" tIns="46355" rIns="0" bIns="0" rtlCol="0">
            <a:spAutoFit/>
          </a:bodyPr>
          <a:lstStyle/>
          <a:p>
            <a:pPr marL="354965" indent="-342265">
              <a:spcBef>
                <a:spcPts val="365"/>
              </a:spcBef>
              <a:buFont typeface="Arial"/>
              <a:buChar char="•"/>
              <a:tabLst>
                <a:tab pos="354965" algn="l"/>
              </a:tabLst>
            </a:pPr>
            <a:r>
              <a:rPr sz="2200" dirty="0">
                <a:solidFill>
                  <a:srgbClr val="E36C09"/>
                </a:solidFill>
                <a:latin typeface="Calibri"/>
                <a:cs typeface="Calibri"/>
              </a:rPr>
              <a:t>Scripting</a:t>
            </a:r>
            <a:r>
              <a:rPr sz="2200" spc="-55" dirty="0">
                <a:solidFill>
                  <a:srgbClr val="E36C09"/>
                </a:solidFill>
                <a:latin typeface="Calibri"/>
                <a:cs typeface="Calibri"/>
              </a:rPr>
              <a:t> </a:t>
            </a:r>
            <a:r>
              <a:rPr sz="2200" dirty="0">
                <a:solidFill>
                  <a:srgbClr val="E36C09"/>
                </a:solidFill>
                <a:latin typeface="Calibri"/>
                <a:cs typeface="Calibri"/>
              </a:rPr>
              <a:t>language</a:t>
            </a:r>
            <a:r>
              <a:rPr sz="2200" dirty="0">
                <a:latin typeface="Calibri"/>
                <a:cs typeface="Calibri"/>
              </a:rPr>
              <a:t>:</a:t>
            </a:r>
            <a:r>
              <a:rPr sz="2200" spc="-50" dirty="0">
                <a:latin typeface="Calibri"/>
                <a:cs typeface="Calibri"/>
              </a:rPr>
              <a:t> </a:t>
            </a:r>
            <a:r>
              <a:rPr sz="2200" dirty="0">
                <a:latin typeface="Calibri"/>
                <a:cs typeface="Calibri"/>
              </a:rPr>
              <a:t>a</a:t>
            </a:r>
            <a:r>
              <a:rPr sz="2200" spc="-55" dirty="0">
                <a:latin typeface="Calibri"/>
                <a:cs typeface="Calibri"/>
              </a:rPr>
              <a:t> </a:t>
            </a:r>
            <a:r>
              <a:rPr sz="2200" spc="-10" dirty="0">
                <a:latin typeface="Calibri"/>
                <a:cs typeface="Calibri"/>
              </a:rPr>
              <a:t>lightweight</a:t>
            </a:r>
            <a:r>
              <a:rPr sz="2200" spc="-25" dirty="0">
                <a:latin typeface="Calibri"/>
                <a:cs typeface="Calibri"/>
              </a:rPr>
              <a:t> </a:t>
            </a:r>
            <a:r>
              <a:rPr sz="2200" spc="-10" dirty="0">
                <a:latin typeface="Calibri"/>
                <a:cs typeface="Calibri"/>
              </a:rPr>
              <a:t>programming</a:t>
            </a:r>
            <a:r>
              <a:rPr sz="2200" spc="-55" dirty="0">
                <a:latin typeface="Calibri"/>
                <a:cs typeface="Calibri"/>
              </a:rPr>
              <a:t> </a:t>
            </a:r>
            <a:r>
              <a:rPr sz="2200" spc="-10" dirty="0">
                <a:latin typeface="Calibri"/>
                <a:cs typeface="Calibri"/>
              </a:rPr>
              <a:t>language</a:t>
            </a:r>
            <a:endParaRPr sz="2200" dirty="0">
              <a:latin typeface="Calibri"/>
              <a:cs typeface="Calibri"/>
            </a:endParaRPr>
          </a:p>
          <a:p>
            <a:pPr marL="354965" indent="-342265">
              <a:spcBef>
                <a:spcPts val="260"/>
              </a:spcBef>
              <a:buFont typeface="Arial"/>
              <a:buChar char="•"/>
              <a:tabLst>
                <a:tab pos="354965" algn="l"/>
              </a:tabLst>
            </a:pPr>
            <a:r>
              <a:rPr sz="2200" dirty="0">
                <a:latin typeface="Calibri"/>
                <a:cs typeface="Calibri"/>
              </a:rPr>
              <a:t>Browser</a:t>
            </a:r>
            <a:r>
              <a:rPr sz="2200" spc="-70" dirty="0">
                <a:latin typeface="Calibri"/>
                <a:cs typeface="Calibri"/>
              </a:rPr>
              <a:t> </a:t>
            </a:r>
            <a:r>
              <a:rPr sz="2200" dirty="0">
                <a:latin typeface="Calibri"/>
                <a:cs typeface="Calibri"/>
              </a:rPr>
              <a:t>scripting:</a:t>
            </a:r>
            <a:r>
              <a:rPr sz="2200" spc="-95" dirty="0">
                <a:latin typeface="Calibri"/>
                <a:cs typeface="Calibri"/>
              </a:rPr>
              <a:t> </a:t>
            </a:r>
            <a:r>
              <a:rPr sz="2200" b="1" spc="-10" dirty="0">
                <a:solidFill>
                  <a:srgbClr val="E36C09"/>
                </a:solidFill>
                <a:latin typeface="Calibri"/>
                <a:cs typeface="Calibri"/>
              </a:rPr>
              <a:t>JavaScript</a:t>
            </a:r>
            <a:endParaRPr sz="2200" dirty="0">
              <a:latin typeface="Calibri"/>
              <a:cs typeface="Calibri"/>
            </a:endParaRPr>
          </a:p>
          <a:p>
            <a:pPr marL="756285" lvl="1" indent="-286385">
              <a:spcBef>
                <a:spcPts val="250"/>
              </a:spcBef>
              <a:buFont typeface="Arial"/>
              <a:buChar char="–"/>
              <a:tabLst>
                <a:tab pos="756285" algn="l"/>
              </a:tabLst>
            </a:pPr>
            <a:r>
              <a:rPr sz="2000" dirty="0">
                <a:latin typeface="Calibri"/>
                <a:cs typeface="Calibri"/>
              </a:rPr>
              <a:t>Designed</a:t>
            </a:r>
            <a:r>
              <a:rPr sz="2000" spc="-40"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add</a:t>
            </a:r>
            <a:r>
              <a:rPr sz="2000" spc="-35" dirty="0">
                <a:latin typeface="Calibri"/>
                <a:cs typeface="Calibri"/>
              </a:rPr>
              <a:t> </a:t>
            </a:r>
            <a:r>
              <a:rPr sz="2000" spc="-10" dirty="0">
                <a:latin typeface="Calibri"/>
                <a:cs typeface="Calibri"/>
              </a:rPr>
              <a:t>interactivity</a:t>
            </a:r>
            <a:r>
              <a:rPr sz="2000" spc="-20" dirty="0">
                <a:latin typeface="Calibri"/>
                <a:cs typeface="Calibri"/>
              </a:rPr>
              <a:t> </a:t>
            </a:r>
            <a:r>
              <a:rPr sz="2000" dirty="0">
                <a:latin typeface="Calibri"/>
                <a:cs typeface="Calibri"/>
              </a:rPr>
              <a:t>to</a:t>
            </a:r>
            <a:r>
              <a:rPr sz="2000" spc="-30" dirty="0">
                <a:latin typeface="Calibri"/>
                <a:cs typeface="Calibri"/>
              </a:rPr>
              <a:t> </a:t>
            </a:r>
            <a:r>
              <a:rPr sz="2000" dirty="0">
                <a:latin typeface="Calibri"/>
                <a:cs typeface="Calibri"/>
              </a:rPr>
              <a:t>HTML</a:t>
            </a:r>
            <a:r>
              <a:rPr sz="2000" spc="-45" dirty="0">
                <a:latin typeface="Calibri"/>
                <a:cs typeface="Calibri"/>
              </a:rPr>
              <a:t> </a:t>
            </a:r>
            <a:r>
              <a:rPr sz="2000" spc="-10" dirty="0">
                <a:latin typeface="Calibri"/>
                <a:cs typeface="Calibri"/>
              </a:rPr>
              <a:t>pages</a:t>
            </a:r>
            <a:endParaRPr sz="2000" dirty="0">
              <a:latin typeface="Calibri"/>
              <a:cs typeface="Calibri"/>
            </a:endParaRPr>
          </a:p>
          <a:p>
            <a:pPr marL="756285" lvl="1" indent="-286385">
              <a:spcBef>
                <a:spcPts val="240"/>
              </a:spcBef>
              <a:buFont typeface="Arial"/>
              <a:buChar char="–"/>
              <a:tabLst>
                <a:tab pos="756285" algn="l"/>
              </a:tabLst>
            </a:pPr>
            <a:r>
              <a:rPr sz="2000" dirty="0">
                <a:latin typeface="Calibri"/>
                <a:cs typeface="Calibri"/>
              </a:rPr>
              <a:t>Usually</a:t>
            </a:r>
            <a:r>
              <a:rPr sz="2000" spc="-50" dirty="0">
                <a:latin typeface="Calibri"/>
                <a:cs typeface="Calibri"/>
              </a:rPr>
              <a:t> </a:t>
            </a:r>
            <a:r>
              <a:rPr sz="2000" dirty="0">
                <a:latin typeface="Calibri"/>
                <a:cs typeface="Calibri"/>
              </a:rPr>
              <a:t>embedded</a:t>
            </a:r>
            <a:r>
              <a:rPr sz="2000" spc="-60" dirty="0">
                <a:latin typeface="Calibri"/>
                <a:cs typeface="Calibri"/>
              </a:rPr>
              <a:t> </a:t>
            </a:r>
            <a:r>
              <a:rPr sz="2000" dirty="0">
                <a:latin typeface="Calibri"/>
                <a:cs typeface="Calibri"/>
              </a:rPr>
              <a:t>into</a:t>
            </a:r>
            <a:r>
              <a:rPr sz="2000" spc="-45" dirty="0">
                <a:latin typeface="Calibri"/>
                <a:cs typeface="Calibri"/>
              </a:rPr>
              <a:t> </a:t>
            </a:r>
            <a:r>
              <a:rPr sz="2000" dirty="0">
                <a:latin typeface="Calibri"/>
                <a:cs typeface="Calibri"/>
              </a:rPr>
              <a:t>HTML</a:t>
            </a:r>
            <a:r>
              <a:rPr sz="2000" spc="-60" dirty="0">
                <a:latin typeface="Calibri"/>
                <a:cs typeface="Calibri"/>
              </a:rPr>
              <a:t> </a:t>
            </a:r>
            <a:r>
              <a:rPr sz="2000" spc="-10" dirty="0">
                <a:latin typeface="Calibri"/>
                <a:cs typeface="Calibri"/>
              </a:rPr>
              <a:t>pages</a:t>
            </a:r>
            <a:endParaRPr sz="2000" dirty="0">
              <a:latin typeface="Calibri"/>
              <a:cs typeface="Calibri"/>
            </a:endParaRPr>
          </a:p>
          <a:p>
            <a:pPr marL="756285" lvl="1" indent="-286385">
              <a:spcBef>
                <a:spcPts val="240"/>
              </a:spcBef>
              <a:buFont typeface="Arial"/>
              <a:buChar char="–"/>
              <a:tabLst>
                <a:tab pos="756285" algn="l"/>
              </a:tabLst>
            </a:pPr>
            <a:r>
              <a:rPr sz="2000" dirty="0">
                <a:latin typeface="Calibri"/>
                <a:cs typeface="Calibri"/>
              </a:rPr>
              <a:t>What</a:t>
            </a:r>
            <a:r>
              <a:rPr sz="2000" spc="-40" dirty="0">
                <a:latin typeface="Calibri"/>
                <a:cs typeface="Calibri"/>
              </a:rPr>
              <a:t> </a:t>
            </a:r>
            <a:r>
              <a:rPr sz="2000" dirty="0">
                <a:latin typeface="Calibri"/>
                <a:cs typeface="Calibri"/>
              </a:rPr>
              <a:t>can</a:t>
            </a:r>
            <a:r>
              <a:rPr sz="2000" spc="-50" dirty="0">
                <a:latin typeface="Calibri"/>
                <a:cs typeface="Calibri"/>
              </a:rPr>
              <a:t> </a:t>
            </a:r>
            <a:r>
              <a:rPr sz="2000" dirty="0">
                <a:latin typeface="Calibri"/>
                <a:cs typeface="Calibri"/>
              </a:rPr>
              <a:t>a</a:t>
            </a:r>
            <a:r>
              <a:rPr sz="2000" spc="-30" dirty="0">
                <a:latin typeface="Calibri"/>
                <a:cs typeface="Calibri"/>
              </a:rPr>
              <a:t> </a:t>
            </a:r>
            <a:r>
              <a:rPr sz="2000" spc="-10" dirty="0">
                <a:latin typeface="Calibri"/>
                <a:cs typeface="Calibri"/>
              </a:rPr>
              <a:t>JavaScript</a:t>
            </a:r>
            <a:r>
              <a:rPr sz="2000" spc="-25" dirty="0">
                <a:latin typeface="Calibri"/>
                <a:cs typeface="Calibri"/>
              </a:rPr>
              <a:t> Do?</a:t>
            </a:r>
            <a:endParaRPr sz="2000" dirty="0">
              <a:latin typeface="Calibri"/>
              <a:cs typeface="Calibri"/>
            </a:endParaRPr>
          </a:p>
          <a:p>
            <a:pPr marL="1154430" lvl="2" indent="-227329">
              <a:spcBef>
                <a:spcPts val="260"/>
              </a:spcBef>
              <a:buFont typeface="Arial"/>
              <a:buChar char="•"/>
              <a:tabLst>
                <a:tab pos="1154430" algn="l"/>
              </a:tabLst>
            </a:pPr>
            <a:r>
              <a:rPr dirty="0">
                <a:latin typeface="Calibri"/>
                <a:cs typeface="Calibri"/>
              </a:rPr>
              <a:t>Put</a:t>
            </a:r>
            <a:r>
              <a:rPr spc="-60" dirty="0">
                <a:latin typeface="Calibri"/>
                <a:cs typeface="Calibri"/>
              </a:rPr>
              <a:t> </a:t>
            </a:r>
            <a:r>
              <a:rPr dirty="0">
                <a:latin typeface="Calibri"/>
                <a:cs typeface="Calibri"/>
              </a:rPr>
              <a:t>dynamic</a:t>
            </a:r>
            <a:r>
              <a:rPr spc="-65" dirty="0">
                <a:latin typeface="Calibri"/>
                <a:cs typeface="Calibri"/>
              </a:rPr>
              <a:t> </a:t>
            </a:r>
            <a:r>
              <a:rPr dirty="0">
                <a:latin typeface="Calibri"/>
                <a:cs typeface="Calibri"/>
              </a:rPr>
              <a:t>text</a:t>
            </a:r>
            <a:r>
              <a:rPr spc="-75" dirty="0">
                <a:latin typeface="Calibri"/>
                <a:cs typeface="Calibri"/>
              </a:rPr>
              <a:t> </a:t>
            </a:r>
            <a:r>
              <a:rPr dirty="0">
                <a:latin typeface="Calibri"/>
                <a:cs typeface="Calibri"/>
              </a:rPr>
              <a:t>into</a:t>
            </a:r>
            <a:r>
              <a:rPr spc="-60" dirty="0">
                <a:latin typeface="Calibri"/>
                <a:cs typeface="Calibri"/>
              </a:rPr>
              <a:t> </a:t>
            </a:r>
            <a:r>
              <a:rPr dirty="0">
                <a:latin typeface="Calibri"/>
                <a:cs typeface="Calibri"/>
              </a:rPr>
              <a:t>an</a:t>
            </a:r>
            <a:r>
              <a:rPr spc="-55" dirty="0">
                <a:latin typeface="Calibri"/>
                <a:cs typeface="Calibri"/>
              </a:rPr>
              <a:t> </a:t>
            </a:r>
            <a:r>
              <a:rPr dirty="0">
                <a:latin typeface="Calibri"/>
                <a:cs typeface="Calibri"/>
              </a:rPr>
              <a:t>HTML</a:t>
            </a:r>
            <a:r>
              <a:rPr spc="-40" dirty="0">
                <a:latin typeface="Calibri"/>
                <a:cs typeface="Calibri"/>
              </a:rPr>
              <a:t> </a:t>
            </a:r>
            <a:r>
              <a:rPr spc="-20" dirty="0">
                <a:latin typeface="Calibri"/>
                <a:cs typeface="Calibri"/>
              </a:rPr>
              <a:t>page</a:t>
            </a:r>
            <a:endParaRPr dirty="0">
              <a:latin typeface="Calibri"/>
              <a:cs typeface="Calibri"/>
            </a:endParaRPr>
          </a:p>
          <a:p>
            <a:pPr marL="1154430" lvl="2" indent="-227329">
              <a:spcBef>
                <a:spcPts val="290"/>
              </a:spcBef>
              <a:buFont typeface="Arial"/>
              <a:buChar char="•"/>
              <a:tabLst>
                <a:tab pos="1154430" algn="l"/>
              </a:tabLst>
            </a:pPr>
            <a:r>
              <a:rPr dirty="0">
                <a:latin typeface="Calibri"/>
                <a:cs typeface="Calibri"/>
              </a:rPr>
              <a:t>React</a:t>
            </a:r>
            <a:r>
              <a:rPr spc="-80" dirty="0">
                <a:latin typeface="Calibri"/>
                <a:cs typeface="Calibri"/>
              </a:rPr>
              <a:t> </a:t>
            </a:r>
            <a:r>
              <a:rPr dirty="0">
                <a:latin typeface="Calibri"/>
                <a:cs typeface="Calibri"/>
              </a:rPr>
              <a:t>to</a:t>
            </a:r>
            <a:r>
              <a:rPr spc="-50" dirty="0">
                <a:latin typeface="Calibri"/>
                <a:cs typeface="Calibri"/>
              </a:rPr>
              <a:t> </a:t>
            </a:r>
            <a:r>
              <a:rPr spc="-10" dirty="0">
                <a:latin typeface="Calibri"/>
                <a:cs typeface="Calibri"/>
              </a:rPr>
              <a:t>events</a:t>
            </a:r>
            <a:endParaRPr dirty="0">
              <a:latin typeface="Calibri"/>
              <a:cs typeface="Calibri"/>
            </a:endParaRPr>
          </a:p>
          <a:p>
            <a:pPr marL="1154430" lvl="2" indent="-227329">
              <a:spcBef>
                <a:spcPts val="290"/>
              </a:spcBef>
              <a:buFont typeface="Arial"/>
              <a:buChar char="•"/>
              <a:tabLst>
                <a:tab pos="1154430" algn="l"/>
              </a:tabLst>
            </a:pPr>
            <a:r>
              <a:rPr dirty="0">
                <a:latin typeface="Calibri"/>
                <a:cs typeface="Calibri"/>
              </a:rPr>
              <a:t>Read</a:t>
            </a:r>
            <a:r>
              <a:rPr spc="-80" dirty="0">
                <a:latin typeface="Calibri"/>
                <a:cs typeface="Calibri"/>
              </a:rPr>
              <a:t> </a:t>
            </a:r>
            <a:r>
              <a:rPr dirty="0">
                <a:latin typeface="Calibri"/>
                <a:cs typeface="Calibri"/>
              </a:rPr>
              <a:t>and</a:t>
            </a:r>
            <a:r>
              <a:rPr spc="-60" dirty="0">
                <a:latin typeface="Calibri"/>
                <a:cs typeface="Calibri"/>
              </a:rPr>
              <a:t> </a:t>
            </a:r>
            <a:r>
              <a:rPr dirty="0">
                <a:latin typeface="Calibri"/>
                <a:cs typeface="Calibri"/>
              </a:rPr>
              <a:t>write</a:t>
            </a:r>
            <a:r>
              <a:rPr spc="-80" dirty="0">
                <a:latin typeface="Calibri"/>
                <a:cs typeface="Calibri"/>
              </a:rPr>
              <a:t> </a:t>
            </a:r>
            <a:r>
              <a:rPr dirty="0">
                <a:latin typeface="Calibri"/>
                <a:cs typeface="Calibri"/>
              </a:rPr>
              <a:t>HTML</a:t>
            </a:r>
            <a:r>
              <a:rPr spc="-55" dirty="0">
                <a:latin typeface="Calibri"/>
                <a:cs typeface="Calibri"/>
              </a:rPr>
              <a:t> </a:t>
            </a:r>
            <a:r>
              <a:rPr spc="-10" dirty="0">
                <a:latin typeface="Calibri"/>
                <a:cs typeface="Calibri"/>
              </a:rPr>
              <a:t>elements</a:t>
            </a:r>
            <a:endParaRPr dirty="0">
              <a:latin typeface="Calibri"/>
              <a:cs typeface="Calibri"/>
            </a:endParaRPr>
          </a:p>
          <a:p>
            <a:pPr marL="1154430" lvl="2" indent="-227329">
              <a:spcBef>
                <a:spcPts val="290"/>
              </a:spcBef>
              <a:buFont typeface="Arial"/>
              <a:buChar char="•"/>
              <a:tabLst>
                <a:tab pos="1154430" algn="l"/>
              </a:tabLst>
            </a:pPr>
            <a:r>
              <a:rPr spc="-25" dirty="0">
                <a:latin typeface="Calibri"/>
                <a:cs typeface="Calibri"/>
              </a:rPr>
              <a:t>Validate</a:t>
            </a:r>
            <a:r>
              <a:rPr spc="-60" dirty="0">
                <a:latin typeface="Calibri"/>
                <a:cs typeface="Calibri"/>
              </a:rPr>
              <a:t> </a:t>
            </a:r>
            <a:r>
              <a:rPr dirty="0">
                <a:latin typeface="Calibri"/>
                <a:cs typeface="Calibri"/>
              </a:rPr>
              <a:t>data</a:t>
            </a:r>
            <a:r>
              <a:rPr spc="-60" dirty="0">
                <a:latin typeface="Calibri"/>
                <a:cs typeface="Calibri"/>
              </a:rPr>
              <a:t> </a:t>
            </a:r>
            <a:r>
              <a:rPr spc="-10" dirty="0">
                <a:latin typeface="Calibri"/>
                <a:cs typeface="Calibri"/>
              </a:rPr>
              <a:t>before</a:t>
            </a:r>
            <a:r>
              <a:rPr spc="-40" dirty="0">
                <a:latin typeface="Calibri"/>
                <a:cs typeface="Calibri"/>
              </a:rPr>
              <a:t> </a:t>
            </a:r>
            <a:r>
              <a:rPr dirty="0">
                <a:latin typeface="Calibri"/>
                <a:cs typeface="Calibri"/>
              </a:rPr>
              <a:t>it</a:t>
            </a:r>
            <a:r>
              <a:rPr spc="-50" dirty="0">
                <a:latin typeface="Calibri"/>
                <a:cs typeface="Calibri"/>
              </a:rPr>
              <a:t> </a:t>
            </a:r>
            <a:r>
              <a:rPr dirty="0">
                <a:latin typeface="Calibri"/>
                <a:cs typeface="Calibri"/>
              </a:rPr>
              <a:t>is</a:t>
            </a:r>
            <a:r>
              <a:rPr spc="-65" dirty="0">
                <a:latin typeface="Calibri"/>
                <a:cs typeface="Calibri"/>
              </a:rPr>
              <a:t> </a:t>
            </a:r>
            <a:r>
              <a:rPr dirty="0">
                <a:latin typeface="Calibri"/>
                <a:cs typeface="Calibri"/>
              </a:rPr>
              <a:t>submitted</a:t>
            </a:r>
            <a:r>
              <a:rPr spc="-60" dirty="0">
                <a:latin typeface="Calibri"/>
                <a:cs typeface="Calibri"/>
              </a:rPr>
              <a:t> </a:t>
            </a:r>
            <a:r>
              <a:rPr dirty="0">
                <a:latin typeface="Calibri"/>
                <a:cs typeface="Calibri"/>
              </a:rPr>
              <a:t>to</a:t>
            </a:r>
            <a:r>
              <a:rPr spc="-60" dirty="0">
                <a:latin typeface="Calibri"/>
                <a:cs typeface="Calibri"/>
              </a:rPr>
              <a:t> </a:t>
            </a:r>
            <a:r>
              <a:rPr dirty="0">
                <a:latin typeface="Calibri"/>
                <a:cs typeface="Calibri"/>
              </a:rPr>
              <a:t>a</a:t>
            </a:r>
            <a:r>
              <a:rPr spc="-50" dirty="0">
                <a:latin typeface="Calibri"/>
                <a:cs typeface="Calibri"/>
              </a:rPr>
              <a:t> </a:t>
            </a:r>
            <a:r>
              <a:rPr spc="-10" dirty="0">
                <a:latin typeface="Calibri"/>
                <a:cs typeface="Calibri"/>
              </a:rPr>
              <a:t>server</a:t>
            </a:r>
            <a:endParaRPr dirty="0">
              <a:latin typeface="Calibri"/>
              <a:cs typeface="Calibri"/>
            </a:endParaRPr>
          </a:p>
          <a:p>
            <a:pPr marL="1154430" lvl="2" indent="-227329">
              <a:spcBef>
                <a:spcPts val="285"/>
              </a:spcBef>
              <a:buFont typeface="Arial"/>
              <a:buChar char="•"/>
              <a:tabLst>
                <a:tab pos="1154430" algn="l"/>
              </a:tabLst>
            </a:pPr>
            <a:r>
              <a:rPr dirty="0">
                <a:latin typeface="Calibri"/>
                <a:cs typeface="Calibri"/>
              </a:rPr>
              <a:t>Create</a:t>
            </a:r>
            <a:r>
              <a:rPr spc="-125" dirty="0">
                <a:latin typeface="Calibri"/>
                <a:cs typeface="Calibri"/>
              </a:rPr>
              <a:t> </a:t>
            </a:r>
            <a:r>
              <a:rPr spc="-10" dirty="0">
                <a:latin typeface="Calibri"/>
                <a:cs typeface="Calibri"/>
              </a:rPr>
              <a:t>cookies</a:t>
            </a:r>
            <a:endParaRPr dirty="0">
              <a:latin typeface="Calibri"/>
              <a:cs typeface="Calibri"/>
            </a:endParaRPr>
          </a:p>
          <a:p>
            <a:pPr marL="1154430" lvl="2" indent="-227329">
              <a:spcBef>
                <a:spcPts val="290"/>
              </a:spcBef>
              <a:buFont typeface="Arial"/>
              <a:buChar char="•"/>
              <a:tabLst>
                <a:tab pos="1154430" algn="l"/>
              </a:tabLst>
            </a:pPr>
            <a:r>
              <a:rPr spc="-50" dirty="0">
                <a:latin typeface="Calibri"/>
                <a:cs typeface="Calibri"/>
              </a:rPr>
              <a:t>…</a:t>
            </a:r>
            <a:endParaRPr dirty="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895985">
              <a:lnSpc>
                <a:spcPct val="100000"/>
              </a:lnSpc>
              <a:spcBef>
                <a:spcPts val="105"/>
              </a:spcBef>
            </a:pPr>
            <a:r>
              <a:rPr spc="-10" dirty="0"/>
              <a:t>Server-</a:t>
            </a:r>
            <a:r>
              <a:rPr dirty="0"/>
              <a:t>Side</a:t>
            </a:r>
            <a:r>
              <a:rPr spc="50" dirty="0"/>
              <a:t> </a:t>
            </a:r>
            <a:r>
              <a:rPr spc="-10" dirty="0"/>
              <a:t>Programming</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17</a:t>
            </a:fld>
            <a:endParaRPr spc="-25" dirty="0"/>
          </a:p>
        </p:txBody>
      </p:sp>
      <p:sp>
        <p:nvSpPr>
          <p:cNvPr id="3" name="object 3"/>
          <p:cNvSpPr txBox="1"/>
          <p:nvPr/>
        </p:nvSpPr>
        <p:spPr>
          <a:xfrm>
            <a:off x="2089123" y="1987170"/>
            <a:ext cx="7139940" cy="2660650"/>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dirty="0">
                <a:latin typeface="Calibri"/>
                <a:cs typeface="Calibri"/>
              </a:rPr>
              <a:t>The</a:t>
            </a:r>
            <a:r>
              <a:rPr sz="2200" spc="-35" dirty="0">
                <a:latin typeface="Calibri"/>
                <a:cs typeface="Calibri"/>
              </a:rPr>
              <a:t> </a:t>
            </a:r>
            <a:r>
              <a:rPr sz="2200" spc="-10" dirty="0">
                <a:latin typeface="Calibri"/>
                <a:cs typeface="Calibri"/>
              </a:rPr>
              <a:t>requests</a:t>
            </a:r>
            <a:r>
              <a:rPr sz="2200" spc="-40" dirty="0">
                <a:latin typeface="Calibri"/>
                <a:cs typeface="Calibri"/>
              </a:rPr>
              <a:t> </a:t>
            </a:r>
            <a:r>
              <a:rPr sz="2200" dirty="0">
                <a:latin typeface="Calibri"/>
                <a:cs typeface="Calibri"/>
              </a:rPr>
              <a:t>cause</a:t>
            </a:r>
            <a:r>
              <a:rPr sz="2200" spc="-35" dirty="0">
                <a:latin typeface="Calibri"/>
                <a:cs typeface="Calibri"/>
              </a:rPr>
              <a:t> </a:t>
            </a:r>
            <a:r>
              <a:rPr sz="2200" dirty="0">
                <a:latin typeface="Calibri"/>
                <a:cs typeface="Calibri"/>
              </a:rPr>
              <a:t>the</a:t>
            </a:r>
            <a:r>
              <a:rPr sz="2200" spc="-50" dirty="0">
                <a:latin typeface="Calibri"/>
                <a:cs typeface="Calibri"/>
              </a:rPr>
              <a:t> </a:t>
            </a:r>
            <a:r>
              <a:rPr sz="2200" dirty="0">
                <a:latin typeface="Calibri"/>
                <a:cs typeface="Calibri"/>
              </a:rPr>
              <a:t>response</a:t>
            </a:r>
            <a:r>
              <a:rPr sz="2200" spc="-40" dirty="0">
                <a:latin typeface="Calibri"/>
                <a:cs typeface="Calibri"/>
              </a:rPr>
              <a:t> </a:t>
            </a:r>
            <a:r>
              <a:rPr sz="2200" dirty="0">
                <a:latin typeface="Calibri"/>
                <a:cs typeface="Calibri"/>
              </a:rPr>
              <a:t>to</a:t>
            </a:r>
            <a:r>
              <a:rPr sz="2200" spc="-35" dirty="0">
                <a:latin typeface="Calibri"/>
                <a:cs typeface="Calibri"/>
              </a:rPr>
              <a:t> </a:t>
            </a:r>
            <a:r>
              <a:rPr sz="2200" dirty="0">
                <a:latin typeface="Calibri"/>
                <a:cs typeface="Calibri"/>
              </a:rPr>
              <a:t>be</a:t>
            </a:r>
            <a:r>
              <a:rPr sz="2200" spc="-40" dirty="0">
                <a:latin typeface="Calibri"/>
                <a:cs typeface="Calibri"/>
              </a:rPr>
              <a:t> </a:t>
            </a:r>
            <a:r>
              <a:rPr sz="2200" spc="-10" dirty="0">
                <a:latin typeface="Calibri"/>
                <a:cs typeface="Calibri"/>
              </a:rPr>
              <a:t>generated</a:t>
            </a:r>
            <a:endParaRPr sz="2200" dirty="0">
              <a:latin typeface="Calibri"/>
              <a:cs typeface="Calibri"/>
            </a:endParaRPr>
          </a:p>
          <a:p>
            <a:pPr marL="354965" indent="-342265">
              <a:spcBef>
                <a:spcPts val="530"/>
              </a:spcBef>
              <a:buFont typeface="Arial"/>
              <a:buChar char="•"/>
              <a:tabLst>
                <a:tab pos="354965" algn="l"/>
              </a:tabLst>
            </a:pPr>
            <a:r>
              <a:rPr sz="2200" dirty="0">
                <a:latin typeface="Calibri"/>
                <a:cs typeface="Calibri"/>
              </a:rPr>
              <a:t>Server</a:t>
            </a:r>
            <a:r>
              <a:rPr sz="2200" spc="-40" dirty="0">
                <a:latin typeface="Calibri"/>
                <a:cs typeface="Calibri"/>
              </a:rPr>
              <a:t> </a:t>
            </a:r>
            <a:r>
              <a:rPr sz="2200" spc="-10" dirty="0">
                <a:latin typeface="Calibri"/>
                <a:cs typeface="Calibri"/>
              </a:rPr>
              <a:t>scripting:</a:t>
            </a:r>
            <a:endParaRPr sz="2200" dirty="0">
              <a:latin typeface="Calibri"/>
              <a:cs typeface="Calibri"/>
            </a:endParaRPr>
          </a:p>
          <a:p>
            <a:pPr marL="756285" lvl="1" indent="-286385">
              <a:spcBef>
                <a:spcPts val="489"/>
              </a:spcBef>
              <a:buFont typeface="Arial"/>
              <a:buChar char="–"/>
              <a:tabLst>
                <a:tab pos="756285" algn="l"/>
              </a:tabLst>
            </a:pPr>
            <a:r>
              <a:rPr sz="2000" spc="-35" dirty="0">
                <a:solidFill>
                  <a:srgbClr val="E36C09"/>
                </a:solidFill>
                <a:latin typeface="Calibri"/>
                <a:cs typeface="Calibri"/>
              </a:rPr>
              <a:t>ASP.Net</a:t>
            </a:r>
            <a:r>
              <a:rPr sz="2000" spc="-55" dirty="0">
                <a:solidFill>
                  <a:srgbClr val="E36C09"/>
                </a:solidFill>
                <a:latin typeface="Calibri"/>
                <a:cs typeface="Calibri"/>
              </a:rPr>
              <a:t> </a:t>
            </a:r>
            <a:r>
              <a:rPr sz="2000" dirty="0">
                <a:solidFill>
                  <a:srgbClr val="E36C09"/>
                </a:solidFill>
                <a:latin typeface="Calibri"/>
                <a:cs typeface="Calibri"/>
              </a:rPr>
              <a:t>MVC</a:t>
            </a:r>
            <a:r>
              <a:rPr sz="2000" dirty="0">
                <a:latin typeface="Calibri"/>
                <a:cs typeface="Calibri"/>
              </a:rPr>
              <a:t>:</a:t>
            </a:r>
            <a:r>
              <a:rPr sz="2000" spc="-70" dirty="0">
                <a:latin typeface="Calibri"/>
                <a:cs typeface="Calibri"/>
              </a:rPr>
              <a:t> </a:t>
            </a:r>
            <a:r>
              <a:rPr sz="2000" dirty="0">
                <a:latin typeface="Calibri"/>
                <a:cs typeface="Calibri"/>
              </a:rPr>
              <a:t>Microsoft</a:t>
            </a:r>
            <a:r>
              <a:rPr sz="2000" spc="-50" dirty="0">
                <a:latin typeface="Calibri"/>
                <a:cs typeface="Calibri"/>
              </a:rPr>
              <a:t> </a:t>
            </a:r>
            <a:r>
              <a:rPr sz="2000" dirty="0">
                <a:latin typeface="Calibri"/>
                <a:cs typeface="Calibri"/>
              </a:rPr>
              <a:t>product,</a:t>
            </a:r>
            <a:r>
              <a:rPr sz="2000" spc="-65" dirty="0">
                <a:latin typeface="Calibri"/>
                <a:cs typeface="Calibri"/>
              </a:rPr>
              <a:t> </a:t>
            </a:r>
            <a:r>
              <a:rPr sz="2000" dirty="0">
                <a:latin typeface="Calibri"/>
                <a:cs typeface="Calibri"/>
              </a:rPr>
              <a:t>uses</a:t>
            </a:r>
            <a:r>
              <a:rPr sz="2000" spc="-40" dirty="0">
                <a:latin typeface="Calibri"/>
                <a:cs typeface="Calibri"/>
              </a:rPr>
              <a:t> </a:t>
            </a:r>
            <a:r>
              <a:rPr sz="2000" dirty="0">
                <a:latin typeface="Calibri"/>
                <a:cs typeface="Calibri"/>
              </a:rPr>
              <a:t>.Net</a:t>
            </a:r>
            <a:r>
              <a:rPr sz="2000" spc="-60" dirty="0">
                <a:latin typeface="Calibri"/>
                <a:cs typeface="Calibri"/>
              </a:rPr>
              <a:t> </a:t>
            </a:r>
            <a:r>
              <a:rPr sz="2000" spc="-10" dirty="0">
                <a:latin typeface="Calibri"/>
                <a:cs typeface="Calibri"/>
              </a:rPr>
              <a:t>framework</a:t>
            </a:r>
            <a:r>
              <a:rPr sz="2000" spc="-40" dirty="0">
                <a:latin typeface="Calibri"/>
                <a:cs typeface="Calibri"/>
              </a:rPr>
              <a:t> </a:t>
            </a:r>
            <a:r>
              <a:rPr sz="2000" spc="-10" dirty="0">
                <a:latin typeface="Calibri"/>
                <a:cs typeface="Calibri"/>
              </a:rPr>
              <a:t>(*.asp)</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CGI/Perl:</a:t>
            </a:r>
            <a:r>
              <a:rPr sz="2000" spc="-70" dirty="0">
                <a:latin typeface="Calibri"/>
                <a:cs typeface="Calibri"/>
              </a:rPr>
              <a:t> </a:t>
            </a:r>
            <a:r>
              <a:rPr sz="2000" dirty="0">
                <a:latin typeface="Calibri"/>
                <a:cs typeface="Calibri"/>
              </a:rPr>
              <a:t>Common</a:t>
            </a:r>
            <a:r>
              <a:rPr sz="2000" spc="-75" dirty="0">
                <a:latin typeface="Calibri"/>
                <a:cs typeface="Calibri"/>
              </a:rPr>
              <a:t> </a:t>
            </a:r>
            <a:r>
              <a:rPr sz="2000" dirty="0">
                <a:latin typeface="Calibri"/>
                <a:cs typeface="Calibri"/>
              </a:rPr>
              <a:t>Gate</a:t>
            </a:r>
            <a:r>
              <a:rPr sz="2000" spc="-40" dirty="0">
                <a:latin typeface="Calibri"/>
                <a:cs typeface="Calibri"/>
              </a:rPr>
              <a:t> </a:t>
            </a:r>
            <a:r>
              <a:rPr sz="2000" spc="-20" dirty="0">
                <a:latin typeface="Calibri"/>
                <a:cs typeface="Calibri"/>
              </a:rPr>
              <a:t>Way</a:t>
            </a:r>
            <a:r>
              <a:rPr sz="2000" spc="-85" dirty="0">
                <a:latin typeface="Calibri"/>
                <a:cs typeface="Calibri"/>
              </a:rPr>
              <a:t> </a:t>
            </a:r>
            <a:r>
              <a:rPr sz="2000" spc="-10" dirty="0">
                <a:latin typeface="Calibri"/>
                <a:cs typeface="Calibri"/>
              </a:rPr>
              <a:t>Interface</a:t>
            </a:r>
            <a:r>
              <a:rPr sz="2000" spc="-50" dirty="0">
                <a:latin typeface="Calibri"/>
                <a:cs typeface="Calibri"/>
              </a:rPr>
              <a:t> </a:t>
            </a:r>
            <a:r>
              <a:rPr sz="2000" dirty="0">
                <a:latin typeface="Calibri"/>
                <a:cs typeface="Calibri"/>
              </a:rPr>
              <a:t>(*.pl,</a:t>
            </a:r>
            <a:r>
              <a:rPr sz="2000" spc="-70" dirty="0">
                <a:latin typeface="Calibri"/>
                <a:cs typeface="Calibri"/>
              </a:rPr>
              <a:t> </a:t>
            </a:r>
            <a:r>
              <a:rPr sz="2000" spc="-10" dirty="0">
                <a:latin typeface="Calibri"/>
                <a:cs typeface="Calibri"/>
              </a:rPr>
              <a:t>*.cgi)</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PHP:</a:t>
            </a:r>
            <a:r>
              <a:rPr sz="2000" spc="-50" dirty="0">
                <a:latin typeface="Calibri"/>
                <a:cs typeface="Calibri"/>
              </a:rPr>
              <a:t> </a:t>
            </a:r>
            <a:r>
              <a:rPr sz="2000" dirty="0">
                <a:latin typeface="Calibri"/>
                <a:cs typeface="Calibri"/>
              </a:rPr>
              <a:t>Open</a:t>
            </a:r>
            <a:r>
              <a:rPr sz="2000" spc="-65" dirty="0">
                <a:latin typeface="Calibri"/>
                <a:cs typeface="Calibri"/>
              </a:rPr>
              <a:t> </a:t>
            </a:r>
            <a:r>
              <a:rPr sz="2000" dirty="0">
                <a:latin typeface="Calibri"/>
                <a:cs typeface="Calibri"/>
              </a:rPr>
              <a:t>source,</a:t>
            </a:r>
            <a:r>
              <a:rPr sz="2000" spc="-70" dirty="0">
                <a:latin typeface="Calibri"/>
                <a:cs typeface="Calibri"/>
              </a:rPr>
              <a:t> </a:t>
            </a:r>
            <a:r>
              <a:rPr sz="2000" dirty="0">
                <a:latin typeface="Calibri"/>
                <a:cs typeface="Calibri"/>
              </a:rPr>
              <a:t>strong</a:t>
            </a:r>
            <a:r>
              <a:rPr sz="2000" spc="-50" dirty="0">
                <a:latin typeface="Calibri"/>
                <a:cs typeface="Calibri"/>
              </a:rPr>
              <a:t> </a:t>
            </a:r>
            <a:r>
              <a:rPr sz="2000" dirty="0">
                <a:latin typeface="Calibri"/>
                <a:cs typeface="Calibri"/>
              </a:rPr>
              <a:t>database</a:t>
            </a:r>
            <a:r>
              <a:rPr sz="2000" spc="-45" dirty="0">
                <a:latin typeface="Calibri"/>
                <a:cs typeface="Calibri"/>
              </a:rPr>
              <a:t> </a:t>
            </a:r>
            <a:r>
              <a:rPr sz="2000" dirty="0">
                <a:latin typeface="Calibri"/>
                <a:cs typeface="Calibri"/>
              </a:rPr>
              <a:t>support</a:t>
            </a:r>
            <a:r>
              <a:rPr sz="2000" spc="-75" dirty="0">
                <a:latin typeface="Calibri"/>
                <a:cs typeface="Calibri"/>
              </a:rPr>
              <a:t> </a:t>
            </a:r>
            <a:r>
              <a:rPr sz="2000" spc="-10" dirty="0">
                <a:latin typeface="Calibri"/>
                <a:cs typeface="Calibri"/>
              </a:rPr>
              <a:t>(*.php)</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Java</a:t>
            </a:r>
            <a:r>
              <a:rPr sz="2000" spc="-70" dirty="0">
                <a:latin typeface="Calibri"/>
                <a:cs typeface="Calibri"/>
              </a:rPr>
              <a:t> </a:t>
            </a:r>
            <a:r>
              <a:rPr sz="2000" dirty="0">
                <a:latin typeface="Calibri"/>
                <a:cs typeface="Calibri"/>
              </a:rPr>
              <a:t>via</a:t>
            </a:r>
            <a:r>
              <a:rPr sz="2000" spc="-65" dirty="0">
                <a:latin typeface="Calibri"/>
                <a:cs typeface="Calibri"/>
              </a:rPr>
              <a:t> </a:t>
            </a:r>
            <a:r>
              <a:rPr sz="2000" spc="-10" dirty="0">
                <a:latin typeface="Calibri"/>
                <a:cs typeface="Calibri"/>
              </a:rPr>
              <a:t>JavaServer</a:t>
            </a:r>
            <a:r>
              <a:rPr sz="2000" spc="-50" dirty="0">
                <a:latin typeface="Calibri"/>
                <a:cs typeface="Calibri"/>
              </a:rPr>
              <a:t> </a:t>
            </a:r>
            <a:r>
              <a:rPr sz="2000" dirty="0">
                <a:latin typeface="Calibri"/>
                <a:cs typeface="Calibri"/>
              </a:rPr>
              <a:t>Pages</a:t>
            </a:r>
            <a:r>
              <a:rPr sz="2000" spc="-65" dirty="0">
                <a:latin typeface="Calibri"/>
                <a:cs typeface="Calibri"/>
              </a:rPr>
              <a:t> </a:t>
            </a:r>
            <a:r>
              <a:rPr sz="2000" spc="-10" dirty="0">
                <a:latin typeface="Calibri"/>
                <a:cs typeface="Calibri"/>
              </a:rPr>
              <a:t>(*.jsp)</a:t>
            </a:r>
            <a:endParaRPr sz="2000" dirty="0">
              <a:latin typeface="Calibri"/>
              <a:cs typeface="Calibri"/>
            </a:endParaRPr>
          </a:p>
          <a:p>
            <a:pPr marL="756285" lvl="1" indent="-286385">
              <a:spcBef>
                <a:spcPts val="480"/>
              </a:spcBef>
              <a:buFont typeface="Arial"/>
              <a:buChar char="–"/>
              <a:tabLst>
                <a:tab pos="756285" algn="l"/>
              </a:tabLst>
            </a:pPr>
            <a:r>
              <a:rPr sz="2000" spc="-50" dirty="0">
                <a:latin typeface="Calibri"/>
                <a:cs typeface="Calibri"/>
              </a:rPr>
              <a:t>…</a:t>
            </a:r>
            <a:endParaRPr sz="20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98120">
              <a:lnSpc>
                <a:spcPct val="100000"/>
              </a:lnSpc>
              <a:spcBef>
                <a:spcPts val="105"/>
              </a:spcBef>
            </a:pPr>
            <a:r>
              <a:rPr dirty="0"/>
              <a:t>Web</a:t>
            </a:r>
            <a:r>
              <a:rPr spc="-130" dirty="0"/>
              <a:t> </a:t>
            </a:r>
            <a:r>
              <a:rPr dirty="0"/>
              <a:t>Development</a:t>
            </a:r>
            <a:r>
              <a:rPr spc="-140" dirty="0"/>
              <a:t> </a:t>
            </a:r>
            <a:r>
              <a:rPr dirty="0"/>
              <a:t>vs</a:t>
            </a:r>
            <a:r>
              <a:rPr spc="-110" dirty="0"/>
              <a:t> </a:t>
            </a:r>
            <a:r>
              <a:rPr spc="-10" dirty="0"/>
              <a:t>Designing</a:t>
            </a:r>
          </a:p>
        </p:txBody>
      </p:sp>
      <p:pic>
        <p:nvPicPr>
          <p:cNvPr id="3" name="object 3"/>
          <p:cNvPicPr/>
          <p:nvPr/>
        </p:nvPicPr>
        <p:blipFill>
          <a:blip r:embed="rId2" cstate="print"/>
          <a:stretch>
            <a:fillRect/>
          </a:stretch>
        </p:blipFill>
        <p:spPr>
          <a:xfrm>
            <a:off x="3832860" y="1600200"/>
            <a:ext cx="4526280" cy="4526280"/>
          </a:xfrm>
          <a:prstGeom prst="rect">
            <a:avLst/>
          </a:prstGeom>
        </p:spPr>
      </p:pic>
      <p:sp>
        <p:nvSpPr>
          <p:cNvPr id="4" name="object 4"/>
          <p:cNvSpPr txBox="1"/>
          <p:nvPr/>
        </p:nvSpPr>
        <p:spPr>
          <a:xfrm>
            <a:off x="9909810" y="6403340"/>
            <a:ext cx="180975" cy="156068"/>
          </a:xfrm>
          <a:prstGeom prst="rect">
            <a:avLst/>
          </a:prstGeom>
        </p:spPr>
        <p:txBody>
          <a:bodyPr vert="horz" wrap="square" lIns="0" tIns="0" rIns="0" bIns="0" rtlCol="0">
            <a:spAutoFit/>
          </a:bodyPr>
          <a:lstStyle/>
          <a:p>
            <a:pPr marL="12700">
              <a:lnSpc>
                <a:spcPts val="1240"/>
              </a:lnSpc>
            </a:pPr>
            <a:r>
              <a:rPr sz="1200" spc="-25" dirty="0">
                <a:solidFill>
                  <a:srgbClr val="888888"/>
                </a:solidFill>
                <a:latin typeface="Calibri"/>
                <a:cs typeface="Calibri"/>
              </a:rPr>
              <a:t>32</a:t>
            </a:r>
            <a:endParaRPr sz="12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0" y="2337562"/>
            <a:ext cx="2998470" cy="4520565"/>
          </a:xfrm>
          <a:custGeom>
            <a:avLst/>
            <a:gdLst/>
            <a:ahLst/>
            <a:cxnLst/>
            <a:rect l="l" t="t" r="r" b="b"/>
            <a:pathLst>
              <a:path w="2998470" h="4520565">
                <a:moveTo>
                  <a:pt x="0" y="4520437"/>
                </a:moveTo>
                <a:lnTo>
                  <a:pt x="2997962" y="4520437"/>
                </a:lnTo>
                <a:lnTo>
                  <a:pt x="2997962" y="0"/>
                </a:lnTo>
                <a:lnTo>
                  <a:pt x="0" y="0"/>
                </a:lnTo>
                <a:lnTo>
                  <a:pt x="0" y="4520437"/>
                </a:lnTo>
                <a:close/>
              </a:path>
            </a:pathLst>
          </a:custGeom>
          <a:solidFill>
            <a:srgbClr val="000000"/>
          </a:solidFill>
        </p:spPr>
        <p:txBody>
          <a:bodyPr wrap="square" lIns="0" tIns="0" rIns="0" bIns="0" rtlCol="0"/>
          <a:lstStyle/>
          <a:p>
            <a:endParaRPr/>
          </a:p>
        </p:txBody>
      </p:sp>
      <p:sp>
        <p:nvSpPr>
          <p:cNvPr id="3" name="object 3"/>
          <p:cNvSpPr/>
          <p:nvPr/>
        </p:nvSpPr>
        <p:spPr>
          <a:xfrm>
            <a:off x="4623562" y="2337562"/>
            <a:ext cx="6043295" cy="4520565"/>
          </a:xfrm>
          <a:custGeom>
            <a:avLst/>
            <a:gdLst/>
            <a:ahLst/>
            <a:cxnLst/>
            <a:rect l="l" t="t" r="r" b="b"/>
            <a:pathLst>
              <a:path w="6043295" h="4520565">
                <a:moveTo>
                  <a:pt x="0" y="4520437"/>
                </a:moveTo>
                <a:lnTo>
                  <a:pt x="6042914" y="4520437"/>
                </a:lnTo>
                <a:lnTo>
                  <a:pt x="6042914" y="0"/>
                </a:lnTo>
                <a:lnTo>
                  <a:pt x="0" y="0"/>
                </a:lnTo>
                <a:lnTo>
                  <a:pt x="0" y="4520437"/>
                </a:lnTo>
                <a:close/>
              </a:path>
            </a:pathLst>
          </a:custGeom>
          <a:solidFill>
            <a:srgbClr val="000000"/>
          </a:solidFill>
        </p:spPr>
        <p:txBody>
          <a:bodyPr wrap="square" lIns="0" tIns="0" rIns="0" bIns="0" rtlCol="0"/>
          <a:lstStyle/>
          <a:p>
            <a:endParaRPr/>
          </a:p>
        </p:txBody>
      </p:sp>
      <p:sp>
        <p:nvSpPr>
          <p:cNvPr id="4" name="object 4"/>
          <p:cNvSpPr/>
          <p:nvPr/>
        </p:nvSpPr>
        <p:spPr>
          <a:xfrm>
            <a:off x="1524000" y="0"/>
            <a:ext cx="2998470" cy="2236470"/>
          </a:xfrm>
          <a:custGeom>
            <a:avLst/>
            <a:gdLst/>
            <a:ahLst/>
            <a:cxnLst/>
            <a:rect l="l" t="t" r="r" b="b"/>
            <a:pathLst>
              <a:path w="2998470" h="2236470">
                <a:moveTo>
                  <a:pt x="0" y="2235962"/>
                </a:moveTo>
                <a:lnTo>
                  <a:pt x="2997962" y="2235962"/>
                </a:lnTo>
                <a:lnTo>
                  <a:pt x="2997962" y="0"/>
                </a:lnTo>
                <a:lnTo>
                  <a:pt x="0" y="0"/>
                </a:lnTo>
                <a:lnTo>
                  <a:pt x="0" y="2235962"/>
                </a:lnTo>
                <a:close/>
              </a:path>
            </a:pathLst>
          </a:custGeom>
          <a:solidFill>
            <a:srgbClr val="000000"/>
          </a:solidFill>
        </p:spPr>
        <p:txBody>
          <a:bodyPr wrap="square" lIns="0" tIns="0" rIns="0" bIns="0" rtlCol="0"/>
          <a:lstStyle/>
          <a:p>
            <a:endParaRPr/>
          </a:p>
        </p:txBody>
      </p:sp>
      <p:sp>
        <p:nvSpPr>
          <p:cNvPr id="5" name="object 5"/>
          <p:cNvSpPr/>
          <p:nvPr/>
        </p:nvSpPr>
        <p:spPr>
          <a:xfrm>
            <a:off x="4623562" y="0"/>
            <a:ext cx="2865755" cy="2236470"/>
          </a:xfrm>
          <a:custGeom>
            <a:avLst/>
            <a:gdLst/>
            <a:ahLst/>
            <a:cxnLst/>
            <a:rect l="l" t="t" r="r" b="b"/>
            <a:pathLst>
              <a:path w="2865754" h="2236470">
                <a:moveTo>
                  <a:pt x="0" y="2235962"/>
                </a:moveTo>
                <a:lnTo>
                  <a:pt x="2865628" y="2235962"/>
                </a:lnTo>
                <a:lnTo>
                  <a:pt x="2865628" y="0"/>
                </a:lnTo>
                <a:lnTo>
                  <a:pt x="0" y="0"/>
                </a:lnTo>
                <a:lnTo>
                  <a:pt x="0" y="2235962"/>
                </a:lnTo>
                <a:close/>
              </a:path>
            </a:pathLst>
          </a:custGeom>
          <a:solidFill>
            <a:srgbClr val="000000"/>
          </a:solidFill>
        </p:spPr>
        <p:txBody>
          <a:bodyPr wrap="square" lIns="0" tIns="0" rIns="0" bIns="0" rtlCol="0"/>
          <a:lstStyle/>
          <a:p>
            <a:endParaRPr/>
          </a:p>
        </p:txBody>
      </p:sp>
      <p:sp>
        <p:nvSpPr>
          <p:cNvPr id="6" name="object 6"/>
          <p:cNvSpPr/>
          <p:nvPr/>
        </p:nvSpPr>
        <p:spPr>
          <a:xfrm>
            <a:off x="7590790" y="0"/>
            <a:ext cx="3075940" cy="2236470"/>
          </a:xfrm>
          <a:custGeom>
            <a:avLst/>
            <a:gdLst/>
            <a:ahLst/>
            <a:cxnLst/>
            <a:rect l="l" t="t" r="r" b="b"/>
            <a:pathLst>
              <a:path w="3075940" h="2236470">
                <a:moveTo>
                  <a:pt x="0" y="2235962"/>
                </a:moveTo>
                <a:lnTo>
                  <a:pt x="3075686" y="2235962"/>
                </a:lnTo>
                <a:lnTo>
                  <a:pt x="3075686" y="0"/>
                </a:lnTo>
                <a:lnTo>
                  <a:pt x="0" y="0"/>
                </a:lnTo>
                <a:lnTo>
                  <a:pt x="0" y="2235962"/>
                </a:lnTo>
                <a:close/>
              </a:path>
            </a:pathLst>
          </a:custGeom>
          <a:solidFill>
            <a:srgbClr val="000000"/>
          </a:solidFill>
        </p:spPr>
        <p:txBody>
          <a:bodyPr wrap="square" lIns="0" tIns="0" rIns="0" bIns="0" rtlCol="0"/>
          <a:lstStyle/>
          <a:p>
            <a:endParaRPr/>
          </a:p>
        </p:txBody>
      </p:sp>
      <p:pic>
        <p:nvPicPr>
          <p:cNvPr id="7" name="object 7"/>
          <p:cNvPicPr/>
          <p:nvPr/>
        </p:nvPicPr>
        <p:blipFill>
          <a:blip r:embed="rId2" cstate="print"/>
          <a:stretch>
            <a:fillRect/>
          </a:stretch>
        </p:blipFill>
        <p:spPr>
          <a:xfrm>
            <a:off x="2464308" y="345948"/>
            <a:ext cx="1167384" cy="1589531"/>
          </a:xfrm>
          <a:prstGeom prst="rect">
            <a:avLst/>
          </a:prstGeom>
        </p:spPr>
      </p:pic>
      <p:pic>
        <p:nvPicPr>
          <p:cNvPr id="8" name="object 8"/>
          <p:cNvPicPr/>
          <p:nvPr/>
        </p:nvPicPr>
        <p:blipFill>
          <a:blip r:embed="rId3" cstate="print"/>
          <a:stretch>
            <a:fillRect/>
          </a:stretch>
        </p:blipFill>
        <p:spPr>
          <a:xfrm>
            <a:off x="4812791" y="492251"/>
            <a:ext cx="2438400" cy="1255776"/>
          </a:xfrm>
          <a:prstGeom prst="rect">
            <a:avLst/>
          </a:prstGeom>
        </p:spPr>
      </p:pic>
      <p:pic>
        <p:nvPicPr>
          <p:cNvPr id="9" name="object 9"/>
          <p:cNvPicPr/>
          <p:nvPr/>
        </p:nvPicPr>
        <p:blipFill>
          <a:blip r:embed="rId4" cstate="print"/>
          <a:stretch>
            <a:fillRect/>
          </a:stretch>
        </p:blipFill>
        <p:spPr>
          <a:xfrm>
            <a:off x="7780020" y="592836"/>
            <a:ext cx="2639568" cy="1056132"/>
          </a:xfrm>
          <a:prstGeom prst="rect">
            <a:avLst/>
          </a:prstGeom>
        </p:spPr>
      </p:pic>
      <p:pic>
        <p:nvPicPr>
          <p:cNvPr id="10" name="object 10"/>
          <p:cNvPicPr/>
          <p:nvPr/>
        </p:nvPicPr>
        <p:blipFill>
          <a:blip r:embed="rId5" cstate="print"/>
          <a:stretch>
            <a:fillRect/>
          </a:stretch>
        </p:blipFill>
        <p:spPr>
          <a:xfrm>
            <a:off x="2253995" y="2639567"/>
            <a:ext cx="1588008" cy="1588008"/>
          </a:xfrm>
          <a:prstGeom prst="rect">
            <a:avLst/>
          </a:prstGeom>
        </p:spPr>
      </p:pic>
      <p:pic>
        <p:nvPicPr>
          <p:cNvPr id="11" name="object 11"/>
          <p:cNvPicPr/>
          <p:nvPr/>
        </p:nvPicPr>
        <p:blipFill>
          <a:blip r:embed="rId6" cstate="print"/>
          <a:stretch>
            <a:fillRect/>
          </a:stretch>
        </p:blipFill>
        <p:spPr>
          <a:xfrm>
            <a:off x="2255519" y="4930140"/>
            <a:ext cx="1583436" cy="1583436"/>
          </a:xfrm>
          <a:prstGeom prst="rect">
            <a:avLst/>
          </a:prstGeom>
        </p:spPr>
      </p:pic>
      <p:sp>
        <p:nvSpPr>
          <p:cNvPr id="12" name="object 12"/>
          <p:cNvSpPr/>
          <p:nvPr/>
        </p:nvSpPr>
        <p:spPr>
          <a:xfrm>
            <a:off x="4575048" y="2301239"/>
            <a:ext cx="6093460" cy="4556760"/>
          </a:xfrm>
          <a:custGeom>
            <a:avLst/>
            <a:gdLst/>
            <a:ahLst/>
            <a:cxnLst/>
            <a:rect l="l" t="t" r="r" b="b"/>
            <a:pathLst>
              <a:path w="6093459" h="4556759">
                <a:moveTo>
                  <a:pt x="6092952" y="0"/>
                </a:moveTo>
                <a:lnTo>
                  <a:pt x="0" y="0"/>
                </a:lnTo>
                <a:lnTo>
                  <a:pt x="0" y="4556760"/>
                </a:lnTo>
                <a:lnTo>
                  <a:pt x="6092952" y="4556760"/>
                </a:lnTo>
                <a:lnTo>
                  <a:pt x="6092952" y="0"/>
                </a:lnTo>
                <a:close/>
              </a:path>
            </a:pathLst>
          </a:custGeom>
          <a:solidFill>
            <a:srgbClr val="404040"/>
          </a:solidFill>
        </p:spPr>
        <p:txBody>
          <a:bodyPr wrap="square" lIns="0" tIns="0" rIns="0" bIns="0" rtlCol="0"/>
          <a:lstStyle/>
          <a:p>
            <a:endParaRPr/>
          </a:p>
        </p:txBody>
      </p:sp>
      <p:sp>
        <p:nvSpPr>
          <p:cNvPr id="13" name="object 13"/>
          <p:cNvSpPr txBox="1">
            <a:spLocks noGrp="1"/>
          </p:cNvSpPr>
          <p:nvPr>
            <p:ph type="title"/>
          </p:nvPr>
        </p:nvSpPr>
        <p:spPr>
          <a:xfrm>
            <a:off x="5220080" y="3121533"/>
            <a:ext cx="4483100" cy="559435"/>
          </a:xfrm>
          <a:prstGeom prst="rect">
            <a:avLst/>
          </a:prstGeom>
        </p:spPr>
        <p:txBody>
          <a:bodyPr vert="horz" wrap="square" lIns="0" tIns="13335" rIns="0" bIns="0" rtlCol="0" anchor="ctr">
            <a:spAutoFit/>
          </a:bodyPr>
          <a:lstStyle/>
          <a:p>
            <a:pPr marL="12700">
              <a:lnSpc>
                <a:spcPct val="100000"/>
              </a:lnSpc>
              <a:spcBef>
                <a:spcPts val="105"/>
              </a:spcBef>
            </a:pPr>
            <a:r>
              <a:rPr sz="3500" dirty="0">
                <a:solidFill>
                  <a:srgbClr val="FFFFFF"/>
                </a:solidFill>
              </a:rPr>
              <a:t>Principles</a:t>
            </a:r>
            <a:r>
              <a:rPr sz="3500" spc="-75" dirty="0">
                <a:solidFill>
                  <a:srgbClr val="FFFFFF"/>
                </a:solidFill>
              </a:rPr>
              <a:t> </a:t>
            </a:r>
            <a:r>
              <a:rPr sz="3500" dirty="0">
                <a:solidFill>
                  <a:srgbClr val="FFFFFF"/>
                </a:solidFill>
              </a:rPr>
              <a:t>of</a:t>
            </a:r>
            <a:r>
              <a:rPr sz="3500" spc="-60" dirty="0">
                <a:solidFill>
                  <a:srgbClr val="FFFFFF"/>
                </a:solidFill>
              </a:rPr>
              <a:t> </a:t>
            </a:r>
            <a:r>
              <a:rPr sz="3500" dirty="0">
                <a:solidFill>
                  <a:srgbClr val="FFFFFF"/>
                </a:solidFill>
              </a:rPr>
              <a:t>Web</a:t>
            </a:r>
            <a:r>
              <a:rPr sz="3500" spc="-80" dirty="0">
                <a:solidFill>
                  <a:srgbClr val="FFFFFF"/>
                </a:solidFill>
              </a:rPr>
              <a:t> </a:t>
            </a:r>
            <a:r>
              <a:rPr sz="3500" spc="-10" dirty="0">
                <a:solidFill>
                  <a:srgbClr val="FFFFFF"/>
                </a:solidFill>
              </a:rPr>
              <a:t>Design</a:t>
            </a:r>
            <a:endParaRPr sz="3500"/>
          </a:p>
        </p:txBody>
      </p:sp>
      <p:sp>
        <p:nvSpPr>
          <p:cNvPr id="14" name="object 14"/>
          <p:cNvSpPr/>
          <p:nvPr/>
        </p:nvSpPr>
        <p:spPr>
          <a:xfrm>
            <a:off x="1524762" y="761"/>
            <a:ext cx="9142095" cy="6858000"/>
          </a:xfrm>
          <a:custGeom>
            <a:avLst/>
            <a:gdLst/>
            <a:ahLst/>
            <a:cxnLst/>
            <a:rect l="l" t="t" r="r" b="b"/>
            <a:pathLst>
              <a:path w="9142095" h="6858000">
                <a:moveTo>
                  <a:pt x="9141714" y="2286000"/>
                </a:moveTo>
                <a:lnTo>
                  <a:pt x="0" y="2286000"/>
                </a:lnTo>
              </a:path>
              <a:path w="9142095" h="6858000">
                <a:moveTo>
                  <a:pt x="3048254" y="4572000"/>
                </a:moveTo>
                <a:lnTo>
                  <a:pt x="0" y="4572000"/>
                </a:lnTo>
              </a:path>
              <a:path w="9142095" h="6858000">
                <a:moveTo>
                  <a:pt x="3048000" y="0"/>
                </a:moveTo>
                <a:lnTo>
                  <a:pt x="3048000" y="6858002"/>
                </a:lnTo>
              </a:path>
              <a:path w="9142095" h="6858000">
                <a:moveTo>
                  <a:pt x="6015228" y="0"/>
                </a:moveTo>
                <a:lnTo>
                  <a:pt x="6015228" y="2240280"/>
                </a:lnTo>
              </a:path>
            </a:pathLst>
          </a:custGeom>
          <a:ln w="101600">
            <a:solidFill>
              <a:srgbClr val="404040"/>
            </a:solidFill>
          </a:ln>
        </p:spPr>
        <p:txBody>
          <a:bodyPr wrap="square" lIns="0" tIns="0" rIns="0" bIns="0" rtlCol="0"/>
          <a:lstStyle/>
          <a:p>
            <a:endParaRPr/>
          </a:p>
        </p:txBody>
      </p:sp>
      <p:sp>
        <p:nvSpPr>
          <p:cNvPr id="15" name="object 15"/>
          <p:cNvSpPr txBox="1"/>
          <p:nvPr/>
        </p:nvSpPr>
        <p:spPr>
          <a:xfrm>
            <a:off x="4967097" y="4070451"/>
            <a:ext cx="1618615" cy="1891030"/>
          </a:xfrm>
          <a:prstGeom prst="rect">
            <a:avLst/>
          </a:prstGeom>
        </p:spPr>
        <p:txBody>
          <a:bodyPr vert="horz" wrap="square" lIns="0" tIns="64135" rIns="0" bIns="0" rtlCol="0">
            <a:spAutoFit/>
          </a:bodyPr>
          <a:lstStyle/>
          <a:p>
            <a:pPr marL="354965" indent="-342265">
              <a:spcBef>
                <a:spcPts val="505"/>
              </a:spcBef>
              <a:buFont typeface="Arial"/>
              <a:buChar char="•"/>
              <a:tabLst>
                <a:tab pos="354965" algn="l"/>
              </a:tabLst>
            </a:pPr>
            <a:r>
              <a:rPr sz="1700" spc="-10" dirty="0">
                <a:solidFill>
                  <a:srgbClr val="FFFFFF"/>
                </a:solidFill>
                <a:latin typeface="Calibri"/>
                <a:cs typeface="Calibri"/>
              </a:rPr>
              <a:t>Availability</a:t>
            </a:r>
            <a:endParaRPr sz="1700">
              <a:latin typeface="Calibri"/>
              <a:cs typeface="Calibri"/>
            </a:endParaRPr>
          </a:p>
          <a:p>
            <a:pPr marL="354965" indent="-342265">
              <a:spcBef>
                <a:spcPts val="409"/>
              </a:spcBef>
              <a:buFont typeface="Arial"/>
              <a:buChar char="•"/>
              <a:tabLst>
                <a:tab pos="354965" algn="l"/>
              </a:tabLst>
            </a:pPr>
            <a:r>
              <a:rPr sz="1700" spc="-10" dirty="0">
                <a:solidFill>
                  <a:srgbClr val="FFFFFF"/>
                </a:solidFill>
                <a:latin typeface="Calibri"/>
                <a:cs typeface="Calibri"/>
              </a:rPr>
              <a:t>Performance</a:t>
            </a:r>
            <a:endParaRPr sz="1700">
              <a:latin typeface="Calibri"/>
              <a:cs typeface="Calibri"/>
            </a:endParaRPr>
          </a:p>
          <a:p>
            <a:pPr marL="354965" indent="-342265">
              <a:spcBef>
                <a:spcPts val="405"/>
              </a:spcBef>
              <a:buFont typeface="Arial"/>
              <a:buChar char="•"/>
              <a:tabLst>
                <a:tab pos="354965" algn="l"/>
              </a:tabLst>
            </a:pPr>
            <a:r>
              <a:rPr sz="1700" spc="-10" dirty="0">
                <a:solidFill>
                  <a:srgbClr val="FFFFFF"/>
                </a:solidFill>
                <a:latin typeface="Calibri"/>
                <a:cs typeface="Calibri"/>
              </a:rPr>
              <a:t>Reliability</a:t>
            </a:r>
            <a:endParaRPr sz="1700">
              <a:latin typeface="Calibri"/>
              <a:cs typeface="Calibri"/>
            </a:endParaRPr>
          </a:p>
          <a:p>
            <a:pPr marL="354965" indent="-342265">
              <a:spcBef>
                <a:spcPts val="409"/>
              </a:spcBef>
              <a:buFont typeface="Arial"/>
              <a:buChar char="•"/>
              <a:tabLst>
                <a:tab pos="354965" algn="l"/>
              </a:tabLst>
            </a:pPr>
            <a:r>
              <a:rPr sz="1700" spc="-10" dirty="0">
                <a:solidFill>
                  <a:srgbClr val="FFFFFF"/>
                </a:solidFill>
                <a:latin typeface="Calibri"/>
                <a:cs typeface="Calibri"/>
              </a:rPr>
              <a:t>Scalability</a:t>
            </a:r>
            <a:endParaRPr sz="1700">
              <a:latin typeface="Calibri"/>
              <a:cs typeface="Calibri"/>
            </a:endParaRPr>
          </a:p>
          <a:p>
            <a:pPr marL="354965" indent="-342265">
              <a:spcBef>
                <a:spcPts val="409"/>
              </a:spcBef>
              <a:buFont typeface="Arial"/>
              <a:buChar char="•"/>
              <a:tabLst>
                <a:tab pos="354965" algn="l"/>
              </a:tabLst>
            </a:pPr>
            <a:r>
              <a:rPr sz="1700" spc="-10" dirty="0">
                <a:solidFill>
                  <a:srgbClr val="FFFFFF"/>
                </a:solidFill>
                <a:latin typeface="Calibri"/>
                <a:cs typeface="Calibri"/>
              </a:rPr>
              <a:t>Manageability</a:t>
            </a:r>
            <a:endParaRPr sz="1700">
              <a:latin typeface="Calibri"/>
              <a:cs typeface="Calibri"/>
            </a:endParaRPr>
          </a:p>
          <a:p>
            <a:pPr marL="354965" indent="-342265">
              <a:spcBef>
                <a:spcPts val="409"/>
              </a:spcBef>
              <a:buFont typeface="Arial"/>
              <a:buChar char="•"/>
              <a:tabLst>
                <a:tab pos="354965" algn="l"/>
              </a:tabLst>
            </a:pPr>
            <a:r>
              <a:rPr sz="1700" spc="-20" dirty="0">
                <a:solidFill>
                  <a:srgbClr val="FFFFFF"/>
                </a:solidFill>
                <a:latin typeface="Calibri"/>
                <a:cs typeface="Calibri"/>
              </a:rPr>
              <a:t>Cost</a:t>
            </a:r>
            <a:endParaRPr sz="1700">
              <a:latin typeface="Calibri"/>
              <a:cs typeface="Calibri"/>
            </a:endParaRPr>
          </a:p>
        </p:txBody>
      </p:sp>
      <p:sp>
        <p:nvSpPr>
          <p:cNvPr id="16" name="object 16"/>
          <p:cNvSpPr txBox="1"/>
          <p:nvPr/>
        </p:nvSpPr>
        <p:spPr>
          <a:xfrm>
            <a:off x="9594851" y="6500571"/>
            <a:ext cx="180975" cy="156068"/>
          </a:xfrm>
          <a:prstGeom prst="rect">
            <a:avLst/>
          </a:prstGeom>
        </p:spPr>
        <p:txBody>
          <a:bodyPr vert="horz" wrap="square" lIns="0" tIns="0" rIns="0" bIns="0" rtlCol="0">
            <a:spAutoFit/>
          </a:bodyPr>
          <a:lstStyle/>
          <a:p>
            <a:pPr marL="12700">
              <a:lnSpc>
                <a:spcPts val="1240"/>
              </a:lnSpc>
            </a:pPr>
            <a:r>
              <a:rPr sz="1200" spc="-25" dirty="0">
                <a:solidFill>
                  <a:srgbClr val="888888"/>
                </a:solidFill>
                <a:latin typeface="Calibri"/>
                <a:cs typeface="Calibri"/>
              </a:rPr>
              <a:t>33</a:t>
            </a:r>
            <a:endParaRPr sz="12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27EDD-6166-B7FD-30FB-A56F8C41F4E9}"/>
              </a:ext>
            </a:extLst>
          </p:cNvPr>
          <p:cNvSpPr>
            <a:spLocks noGrp="1"/>
          </p:cNvSpPr>
          <p:nvPr>
            <p:ph type="title"/>
          </p:nvPr>
        </p:nvSpPr>
        <p:spPr/>
        <p:txBody>
          <a:bodyPr/>
          <a:lstStyle/>
          <a:p>
            <a:r>
              <a:rPr lang="en-US" dirty="0"/>
              <a:t> Evolution of Web</a:t>
            </a:r>
            <a:endParaRPr lang="en-PK" dirty="0"/>
          </a:p>
        </p:txBody>
      </p:sp>
      <p:sp>
        <p:nvSpPr>
          <p:cNvPr id="3" name="Content Placeholder 2">
            <a:extLst>
              <a:ext uri="{FF2B5EF4-FFF2-40B4-BE49-F238E27FC236}">
                <a16:creationId xmlns:a16="http://schemas.microsoft.com/office/drawing/2014/main" id="{317B0BD7-ABDA-493D-6749-4BA1F10AFDD2}"/>
              </a:ext>
            </a:extLst>
          </p:cNvPr>
          <p:cNvSpPr>
            <a:spLocks noGrp="1"/>
          </p:cNvSpPr>
          <p:nvPr>
            <p:ph idx="1"/>
          </p:nvPr>
        </p:nvSpPr>
        <p:spPr/>
        <p:txBody>
          <a:bodyPr>
            <a:normAutofit/>
          </a:bodyPr>
          <a:lstStyle/>
          <a:p>
            <a:r>
              <a:rPr lang="en-US" b="1" dirty="0"/>
              <a:t>Web 1.0: The Read-Only Web</a:t>
            </a:r>
          </a:p>
          <a:p>
            <a:r>
              <a:rPr lang="en-US" dirty="0"/>
              <a:t>Web 1.0, also known as the "read-only web," was the first stage of the World Wide Web's evolution. It was characterized by static web pages that were primarily informational and lacked interactivity. Users could only read content, and there was minimal user-generated content. Key features of Web 1.0 include:</a:t>
            </a:r>
          </a:p>
          <a:p>
            <a:r>
              <a:rPr lang="en-US" b="1" dirty="0"/>
              <a:t>Static Pages</a:t>
            </a:r>
            <a:r>
              <a:rPr lang="en-US" dirty="0"/>
              <a:t>: Content was served from the server's file system and displayed as static HTML pages.</a:t>
            </a:r>
          </a:p>
          <a:p>
            <a:r>
              <a:rPr lang="en-US" b="1" dirty="0"/>
              <a:t>Limited Interaction</a:t>
            </a:r>
            <a:r>
              <a:rPr lang="en-US" dirty="0"/>
              <a:t>: There was little to no interaction between users and the server.</a:t>
            </a:r>
          </a:p>
          <a:p>
            <a:r>
              <a:rPr lang="en-US" b="1" dirty="0"/>
              <a:t>Content Delivery Network (CDN)</a:t>
            </a:r>
            <a:r>
              <a:rPr lang="en-US" dirty="0"/>
              <a:t>: Web 1.0 functioned as a CDN, allowing users to access information but not interact with it.</a:t>
            </a:r>
          </a:p>
          <a:p>
            <a:endParaRPr lang="en-PK" dirty="0"/>
          </a:p>
        </p:txBody>
      </p:sp>
    </p:spTree>
    <p:extLst>
      <p:ext uri="{BB962C8B-B14F-4D97-AF65-F5344CB8AC3E}">
        <p14:creationId xmlns:p14="http://schemas.microsoft.com/office/powerpoint/2010/main" val="1453595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31FEE-B415-BF7E-5BA6-DAE147B2A065}"/>
              </a:ext>
            </a:extLst>
          </p:cNvPr>
          <p:cNvSpPr>
            <a:spLocks noGrp="1"/>
          </p:cNvSpPr>
          <p:nvPr>
            <p:ph type="title"/>
          </p:nvPr>
        </p:nvSpPr>
        <p:spPr/>
        <p:txBody>
          <a:bodyPr/>
          <a:lstStyle/>
          <a:p>
            <a:r>
              <a:rPr lang="en-US" dirty="0"/>
              <a:t>Evolution of Web</a:t>
            </a:r>
            <a:endParaRPr lang="en-PK" dirty="0"/>
          </a:p>
        </p:txBody>
      </p:sp>
      <p:sp>
        <p:nvSpPr>
          <p:cNvPr id="3" name="Content Placeholder 2">
            <a:extLst>
              <a:ext uri="{FF2B5EF4-FFF2-40B4-BE49-F238E27FC236}">
                <a16:creationId xmlns:a16="http://schemas.microsoft.com/office/drawing/2014/main" id="{13C86362-BB90-45F6-E8E2-5AA18BD95F82}"/>
              </a:ext>
            </a:extLst>
          </p:cNvPr>
          <p:cNvSpPr>
            <a:spLocks noGrp="1"/>
          </p:cNvSpPr>
          <p:nvPr>
            <p:ph idx="1"/>
          </p:nvPr>
        </p:nvSpPr>
        <p:spPr/>
        <p:txBody>
          <a:bodyPr>
            <a:normAutofit/>
          </a:bodyPr>
          <a:lstStyle/>
          <a:p>
            <a:r>
              <a:rPr lang="en-US" b="1" dirty="0"/>
              <a:t>Web 2.0: The Participative Social Web</a:t>
            </a:r>
          </a:p>
          <a:p>
            <a:r>
              <a:rPr lang="en-US" dirty="0"/>
              <a:t>Web 2.0, often referred to as the "participative social web," marked a significant shift towards user-generated content and interactivity. This phase emphasized collaboration, sharing, and social networking. Key features of Web 2.0 include:</a:t>
            </a:r>
          </a:p>
          <a:p>
            <a:r>
              <a:rPr lang="en-US" b="1" dirty="0"/>
              <a:t>Dynamic Content</a:t>
            </a:r>
            <a:r>
              <a:rPr lang="en-US" dirty="0"/>
              <a:t>: Content became more dynamic and responsive to user input.</a:t>
            </a:r>
          </a:p>
          <a:p>
            <a:r>
              <a:rPr lang="en-US" b="1" dirty="0"/>
              <a:t>User-Generated Content</a:t>
            </a:r>
            <a:r>
              <a:rPr lang="en-US" dirty="0"/>
              <a:t>: Platforms like blogs, wikis, and social media allowed users to create and share content.</a:t>
            </a:r>
          </a:p>
          <a:p>
            <a:r>
              <a:rPr lang="en-US" b="1" dirty="0"/>
              <a:t>Interactivity</a:t>
            </a:r>
            <a:r>
              <a:rPr lang="en-US" dirty="0"/>
              <a:t>: Web 2.0 introduced interactive features such as commenting, tagging, and social networking.</a:t>
            </a:r>
          </a:p>
          <a:p>
            <a:r>
              <a:rPr lang="en-US" b="1" dirty="0"/>
              <a:t>APIs and Web Services</a:t>
            </a:r>
            <a:r>
              <a:rPr lang="en-US" dirty="0"/>
              <a:t>: Developed APIs allowed for greater integration and interoperability between different web services.</a:t>
            </a:r>
          </a:p>
          <a:p>
            <a:endParaRPr lang="en-PK" dirty="0"/>
          </a:p>
        </p:txBody>
      </p:sp>
    </p:spTree>
    <p:extLst>
      <p:ext uri="{BB962C8B-B14F-4D97-AF65-F5344CB8AC3E}">
        <p14:creationId xmlns:p14="http://schemas.microsoft.com/office/powerpoint/2010/main" val="3023078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6C115-8E08-7E84-11F7-47FB71519BAD}"/>
              </a:ext>
            </a:extLst>
          </p:cNvPr>
          <p:cNvSpPr>
            <a:spLocks noGrp="1"/>
          </p:cNvSpPr>
          <p:nvPr>
            <p:ph type="title"/>
          </p:nvPr>
        </p:nvSpPr>
        <p:spPr/>
        <p:txBody>
          <a:bodyPr/>
          <a:lstStyle/>
          <a:p>
            <a:r>
              <a:rPr lang="en-US" dirty="0"/>
              <a:t>Evolution of Web</a:t>
            </a:r>
            <a:endParaRPr lang="en-PK" dirty="0"/>
          </a:p>
        </p:txBody>
      </p:sp>
      <p:sp>
        <p:nvSpPr>
          <p:cNvPr id="3" name="Content Placeholder 2">
            <a:extLst>
              <a:ext uri="{FF2B5EF4-FFF2-40B4-BE49-F238E27FC236}">
                <a16:creationId xmlns:a16="http://schemas.microsoft.com/office/drawing/2014/main" id="{08157984-28A7-E448-BE68-E5A41068ECD1}"/>
              </a:ext>
            </a:extLst>
          </p:cNvPr>
          <p:cNvSpPr>
            <a:spLocks noGrp="1"/>
          </p:cNvSpPr>
          <p:nvPr>
            <p:ph idx="1"/>
          </p:nvPr>
        </p:nvSpPr>
        <p:spPr/>
        <p:txBody>
          <a:bodyPr>
            <a:normAutofit lnSpcReduction="10000"/>
          </a:bodyPr>
          <a:lstStyle/>
          <a:p>
            <a:r>
              <a:rPr lang="en-US" b="1" dirty="0"/>
              <a:t>Web 3.0: The Semantic Web</a:t>
            </a:r>
          </a:p>
          <a:p>
            <a:r>
              <a:rPr lang="en-US" dirty="0"/>
              <a:t>Web 3.0, also known as the "semantic web," represents the next generation of the internet, focusing on decentralization, artificial intelligence, and enhanced user utility. Key features of Web 3.0 include:</a:t>
            </a:r>
          </a:p>
          <a:p>
            <a:r>
              <a:rPr lang="en-US" b="1" dirty="0"/>
              <a:t>Decentralization</a:t>
            </a:r>
            <a:r>
              <a:rPr lang="en-US" dirty="0"/>
              <a:t>: Web 3.0 aims to move away from centralized platforms and towards decentralized, nearly anonymous platforms.</a:t>
            </a:r>
          </a:p>
          <a:p>
            <a:r>
              <a:rPr lang="en-US" b="1" dirty="0"/>
              <a:t>Artificial Intelligence and Machine Learning</a:t>
            </a:r>
            <a:r>
              <a:rPr lang="en-US" dirty="0"/>
              <a:t>: These technologies enable smarter and more responsive web applications.</a:t>
            </a:r>
          </a:p>
          <a:p>
            <a:r>
              <a:rPr lang="en-US" b="1" dirty="0"/>
              <a:t>Semantic Web</a:t>
            </a:r>
            <a:r>
              <a:rPr lang="en-US" dirty="0"/>
              <a:t>: Web 3.0 uses semantic metadata to create, share, and connect content based on the comprehension of words rather than keywords.</a:t>
            </a:r>
          </a:p>
          <a:p>
            <a:r>
              <a:rPr lang="en-US" b="1" dirty="0"/>
              <a:t>3D Graphics and IoT</a:t>
            </a:r>
            <a:r>
              <a:rPr lang="en-US" dirty="0"/>
              <a:t>: Web 3.0 incorporates 3D graphics and the Internet of Things (IoT) to enhance user experiences.</a:t>
            </a:r>
          </a:p>
          <a:p>
            <a:endParaRPr lang="en-PK" dirty="0"/>
          </a:p>
        </p:txBody>
      </p:sp>
    </p:spTree>
    <p:extLst>
      <p:ext uri="{BB962C8B-B14F-4D97-AF65-F5344CB8AC3E}">
        <p14:creationId xmlns:p14="http://schemas.microsoft.com/office/powerpoint/2010/main" val="23067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1464" y="403682"/>
            <a:ext cx="3989704" cy="697230"/>
          </a:xfrm>
          <a:prstGeom prst="rect">
            <a:avLst/>
          </a:prstGeom>
        </p:spPr>
        <p:txBody>
          <a:bodyPr vert="horz" wrap="square" lIns="0" tIns="13335" rIns="0" bIns="0" rtlCol="0" anchor="ctr">
            <a:spAutoFit/>
          </a:bodyPr>
          <a:lstStyle/>
          <a:p>
            <a:pPr marL="12700">
              <a:lnSpc>
                <a:spcPct val="100000"/>
              </a:lnSpc>
              <a:spcBef>
                <a:spcPts val="105"/>
              </a:spcBef>
            </a:pPr>
            <a:r>
              <a:rPr dirty="0"/>
              <a:t>Web</a:t>
            </a:r>
            <a:r>
              <a:rPr spc="-170" dirty="0"/>
              <a:t> </a:t>
            </a:r>
            <a:r>
              <a:rPr spc="-10" dirty="0"/>
              <a:t>Applications</a:t>
            </a:r>
          </a:p>
        </p:txBody>
      </p:sp>
      <p:grpSp>
        <p:nvGrpSpPr>
          <p:cNvPr id="3" name="object 3"/>
          <p:cNvGrpSpPr/>
          <p:nvPr/>
        </p:nvGrpSpPr>
        <p:grpSpPr>
          <a:xfrm>
            <a:off x="7173461" y="3502103"/>
            <a:ext cx="1854835" cy="1118870"/>
            <a:chOff x="5649460" y="3502103"/>
            <a:chExt cx="1854835" cy="1118870"/>
          </a:xfrm>
        </p:grpSpPr>
        <p:pic>
          <p:nvPicPr>
            <p:cNvPr id="4" name="object 4"/>
            <p:cNvPicPr/>
            <p:nvPr/>
          </p:nvPicPr>
          <p:blipFill>
            <a:blip r:embed="rId2" cstate="print"/>
            <a:stretch>
              <a:fillRect/>
            </a:stretch>
          </p:blipFill>
          <p:spPr>
            <a:xfrm>
              <a:off x="5649460" y="3502103"/>
              <a:ext cx="1854722" cy="1118713"/>
            </a:xfrm>
            <a:prstGeom prst="rect">
              <a:avLst/>
            </a:prstGeom>
          </p:spPr>
        </p:pic>
        <p:pic>
          <p:nvPicPr>
            <p:cNvPr id="5" name="object 5"/>
            <p:cNvPicPr/>
            <p:nvPr/>
          </p:nvPicPr>
          <p:blipFill>
            <a:blip r:embed="rId3" cstate="print"/>
            <a:stretch>
              <a:fillRect/>
            </a:stretch>
          </p:blipFill>
          <p:spPr>
            <a:xfrm>
              <a:off x="5688541" y="3521107"/>
              <a:ext cx="1780903" cy="1045221"/>
            </a:xfrm>
            <a:prstGeom prst="rect">
              <a:avLst/>
            </a:prstGeom>
          </p:spPr>
        </p:pic>
        <p:sp>
          <p:nvSpPr>
            <p:cNvPr id="6" name="object 6"/>
            <p:cNvSpPr/>
            <p:nvPr/>
          </p:nvSpPr>
          <p:spPr>
            <a:xfrm>
              <a:off x="5688541" y="3521107"/>
              <a:ext cx="1781175" cy="1045844"/>
            </a:xfrm>
            <a:custGeom>
              <a:avLst/>
              <a:gdLst/>
              <a:ahLst/>
              <a:cxnLst/>
              <a:rect l="l" t="t" r="r" b="b"/>
              <a:pathLst>
                <a:path w="1781175" h="1045845">
                  <a:moveTo>
                    <a:pt x="161205" y="344010"/>
                  </a:moveTo>
                  <a:lnTo>
                    <a:pt x="159254" y="298999"/>
                  </a:lnTo>
                  <a:lnTo>
                    <a:pt x="168285" y="255891"/>
                  </a:lnTo>
                  <a:lnTo>
                    <a:pt x="187342" y="215694"/>
                  </a:lnTo>
                  <a:lnTo>
                    <a:pt x="215466" y="179418"/>
                  </a:lnTo>
                  <a:lnTo>
                    <a:pt x="251698" y="148070"/>
                  </a:lnTo>
                  <a:lnTo>
                    <a:pt x="295079" y="122660"/>
                  </a:lnTo>
                  <a:lnTo>
                    <a:pt x="344652" y="104198"/>
                  </a:lnTo>
                  <a:lnTo>
                    <a:pt x="399457" y="93693"/>
                  </a:lnTo>
                  <a:lnTo>
                    <a:pt x="445782" y="91762"/>
                  </a:lnTo>
                  <a:lnTo>
                    <a:pt x="491548" y="95963"/>
                  </a:lnTo>
                  <a:lnTo>
                    <a:pt x="535814" y="106141"/>
                  </a:lnTo>
                  <a:lnTo>
                    <a:pt x="577638" y="122141"/>
                  </a:lnTo>
                  <a:lnTo>
                    <a:pt x="606390" y="88725"/>
                  </a:lnTo>
                  <a:lnTo>
                    <a:pt x="642686" y="62249"/>
                  </a:lnTo>
                  <a:lnTo>
                    <a:pt x="684740" y="43154"/>
                  </a:lnTo>
                  <a:lnTo>
                    <a:pt x="730767" y="31878"/>
                  </a:lnTo>
                  <a:lnTo>
                    <a:pt x="778979" y="28862"/>
                  </a:lnTo>
                  <a:lnTo>
                    <a:pt x="827592" y="34546"/>
                  </a:lnTo>
                  <a:lnTo>
                    <a:pt x="874818" y="49370"/>
                  </a:lnTo>
                  <a:lnTo>
                    <a:pt x="914145" y="70747"/>
                  </a:lnTo>
                  <a:lnTo>
                    <a:pt x="925872" y="79342"/>
                  </a:lnTo>
                  <a:lnTo>
                    <a:pt x="952953" y="47408"/>
                  </a:lnTo>
                  <a:lnTo>
                    <a:pt x="988342" y="23132"/>
                  </a:lnTo>
                  <a:lnTo>
                    <a:pt x="1029742" y="7126"/>
                  </a:lnTo>
                  <a:lnTo>
                    <a:pt x="1074857" y="0"/>
                  </a:lnTo>
                  <a:lnTo>
                    <a:pt x="1121390" y="2363"/>
                  </a:lnTo>
                  <a:lnTo>
                    <a:pt x="1167045" y="14826"/>
                  </a:lnTo>
                  <a:lnTo>
                    <a:pt x="1201415" y="32685"/>
                  </a:lnTo>
                  <a:lnTo>
                    <a:pt x="1229783" y="56355"/>
                  </a:lnTo>
                  <a:lnTo>
                    <a:pt x="1269648" y="27650"/>
                  </a:lnTo>
                  <a:lnTo>
                    <a:pt x="1315950" y="8960"/>
                  </a:lnTo>
                  <a:lnTo>
                    <a:pt x="1366007" y="459"/>
                  </a:lnTo>
                  <a:lnTo>
                    <a:pt x="1417132" y="2318"/>
                  </a:lnTo>
                  <a:lnTo>
                    <a:pt x="1466641" y="14712"/>
                  </a:lnTo>
                  <a:lnTo>
                    <a:pt x="1511850" y="37813"/>
                  </a:lnTo>
                  <a:lnTo>
                    <a:pt x="1555824" y="79786"/>
                  </a:lnTo>
                  <a:lnTo>
                    <a:pt x="1579414" y="131285"/>
                  </a:lnTo>
                  <a:lnTo>
                    <a:pt x="1626504" y="146364"/>
                  </a:lnTo>
                  <a:lnTo>
                    <a:pt x="1666789" y="168858"/>
                  </a:lnTo>
                  <a:lnTo>
                    <a:pt x="1699343" y="197475"/>
                  </a:lnTo>
                  <a:lnTo>
                    <a:pt x="1723239" y="230922"/>
                  </a:lnTo>
                  <a:lnTo>
                    <a:pt x="1737551" y="267906"/>
                  </a:lnTo>
                  <a:lnTo>
                    <a:pt x="1741354" y="307133"/>
                  </a:lnTo>
                  <a:lnTo>
                    <a:pt x="1733719" y="347312"/>
                  </a:lnTo>
                  <a:lnTo>
                    <a:pt x="1731052" y="355186"/>
                  </a:lnTo>
                  <a:lnTo>
                    <a:pt x="1727623" y="362933"/>
                  </a:lnTo>
                  <a:lnTo>
                    <a:pt x="1723686" y="370426"/>
                  </a:lnTo>
                  <a:lnTo>
                    <a:pt x="1753438" y="408828"/>
                  </a:lnTo>
                  <a:lnTo>
                    <a:pt x="1772442" y="449947"/>
                  </a:lnTo>
                  <a:lnTo>
                    <a:pt x="1780903" y="492526"/>
                  </a:lnTo>
                  <a:lnTo>
                    <a:pt x="1779026" y="535303"/>
                  </a:lnTo>
                  <a:lnTo>
                    <a:pt x="1767017" y="577021"/>
                  </a:lnTo>
                  <a:lnTo>
                    <a:pt x="1745082" y="616421"/>
                  </a:lnTo>
                  <a:lnTo>
                    <a:pt x="1713424" y="652242"/>
                  </a:lnTo>
                  <a:lnTo>
                    <a:pt x="1672251" y="683227"/>
                  </a:lnTo>
                  <a:lnTo>
                    <a:pt x="1610609" y="711960"/>
                  </a:lnTo>
                  <a:lnTo>
                    <a:pt x="1541822" y="727169"/>
                  </a:lnTo>
                  <a:lnTo>
                    <a:pt x="1535057" y="770787"/>
                  </a:lnTo>
                  <a:lnTo>
                    <a:pt x="1516701" y="810750"/>
                  </a:lnTo>
                  <a:lnTo>
                    <a:pt x="1488198" y="845924"/>
                  </a:lnTo>
                  <a:lnTo>
                    <a:pt x="1450988" y="875173"/>
                  </a:lnTo>
                  <a:lnTo>
                    <a:pt x="1406513" y="897362"/>
                  </a:lnTo>
                  <a:lnTo>
                    <a:pt x="1356216" y="911355"/>
                  </a:lnTo>
                  <a:lnTo>
                    <a:pt x="1301538" y="916018"/>
                  </a:lnTo>
                  <a:lnTo>
                    <a:pt x="1268770" y="914013"/>
                  </a:lnTo>
                  <a:lnTo>
                    <a:pt x="1236848" y="908461"/>
                  </a:lnTo>
                  <a:lnTo>
                    <a:pt x="1206187" y="899480"/>
                  </a:lnTo>
                  <a:lnTo>
                    <a:pt x="1177205" y="887189"/>
                  </a:lnTo>
                  <a:lnTo>
                    <a:pt x="1158408" y="924508"/>
                  </a:lnTo>
                  <a:lnTo>
                    <a:pt x="1132387" y="957615"/>
                  </a:lnTo>
                  <a:lnTo>
                    <a:pt x="1100121" y="986089"/>
                  </a:lnTo>
                  <a:lnTo>
                    <a:pt x="1062590" y="1009507"/>
                  </a:lnTo>
                  <a:lnTo>
                    <a:pt x="1020774" y="1027450"/>
                  </a:lnTo>
                  <a:lnTo>
                    <a:pt x="975651" y="1039495"/>
                  </a:lnTo>
                  <a:lnTo>
                    <a:pt x="928202" y="1045221"/>
                  </a:lnTo>
                  <a:lnTo>
                    <a:pt x="879406" y="1044207"/>
                  </a:lnTo>
                  <a:lnTo>
                    <a:pt x="830241" y="1036033"/>
                  </a:lnTo>
                  <a:lnTo>
                    <a:pt x="785757" y="1021757"/>
                  </a:lnTo>
                  <a:lnTo>
                    <a:pt x="745262" y="1001743"/>
                  </a:lnTo>
                  <a:lnTo>
                    <a:pt x="709601" y="976489"/>
                  </a:lnTo>
                  <a:lnTo>
                    <a:pt x="679619" y="946498"/>
                  </a:lnTo>
                  <a:lnTo>
                    <a:pt x="633241" y="964968"/>
                  </a:lnTo>
                  <a:lnTo>
                    <a:pt x="585077" y="976914"/>
                  </a:lnTo>
                  <a:lnTo>
                    <a:pt x="536025" y="982515"/>
                  </a:lnTo>
                  <a:lnTo>
                    <a:pt x="486982" y="981952"/>
                  </a:lnTo>
                  <a:lnTo>
                    <a:pt x="438843" y="975406"/>
                  </a:lnTo>
                  <a:lnTo>
                    <a:pt x="392507" y="963057"/>
                  </a:lnTo>
                  <a:lnTo>
                    <a:pt x="348869" y="945087"/>
                  </a:lnTo>
                  <a:lnTo>
                    <a:pt x="308828" y="921675"/>
                  </a:lnTo>
                  <a:lnTo>
                    <a:pt x="273279" y="893002"/>
                  </a:lnTo>
                  <a:lnTo>
                    <a:pt x="243120" y="859249"/>
                  </a:lnTo>
                  <a:lnTo>
                    <a:pt x="241977" y="857725"/>
                  </a:lnTo>
                  <a:lnTo>
                    <a:pt x="240834" y="856201"/>
                  </a:lnTo>
                  <a:lnTo>
                    <a:pt x="239691" y="854677"/>
                  </a:lnTo>
                  <a:lnTo>
                    <a:pt x="191514" y="854051"/>
                  </a:lnTo>
                  <a:lnTo>
                    <a:pt x="146798" y="843703"/>
                  </a:lnTo>
                  <a:lnTo>
                    <a:pt x="107437" y="824832"/>
                  </a:lnTo>
                  <a:lnTo>
                    <a:pt x="75325" y="798637"/>
                  </a:lnTo>
                  <a:lnTo>
                    <a:pt x="52357" y="766318"/>
                  </a:lnTo>
                  <a:lnTo>
                    <a:pt x="40428" y="729074"/>
                  </a:lnTo>
                  <a:lnTo>
                    <a:pt x="40095" y="697887"/>
                  </a:lnTo>
                  <a:lnTo>
                    <a:pt x="48143" y="667701"/>
                  </a:lnTo>
                  <a:lnTo>
                    <a:pt x="64145" y="639562"/>
                  </a:lnTo>
                  <a:lnTo>
                    <a:pt x="87672" y="614520"/>
                  </a:lnTo>
                  <a:lnTo>
                    <a:pt x="43440" y="585220"/>
                  </a:lnTo>
                  <a:lnTo>
                    <a:pt x="13862" y="547642"/>
                  </a:lnTo>
                  <a:lnTo>
                    <a:pt x="0" y="505029"/>
                  </a:lnTo>
                  <a:lnTo>
                    <a:pt x="2913" y="460624"/>
                  </a:lnTo>
                  <a:lnTo>
                    <a:pt x="23664" y="417670"/>
                  </a:lnTo>
                  <a:lnTo>
                    <a:pt x="81259" y="369441"/>
                  </a:lnTo>
                  <a:lnTo>
                    <a:pt x="118640" y="354733"/>
                  </a:lnTo>
                  <a:lnTo>
                    <a:pt x="159808" y="347312"/>
                  </a:lnTo>
                  <a:lnTo>
                    <a:pt x="161205" y="344010"/>
                  </a:lnTo>
                  <a:close/>
                </a:path>
                <a:path w="1781175" h="1045845">
                  <a:moveTo>
                    <a:pt x="193971" y="629760"/>
                  </a:moveTo>
                  <a:lnTo>
                    <a:pt x="166712" y="629797"/>
                  </a:lnTo>
                  <a:lnTo>
                    <a:pt x="139917" y="626537"/>
                  </a:lnTo>
                  <a:lnTo>
                    <a:pt x="114050" y="620062"/>
                  </a:lnTo>
                  <a:lnTo>
                    <a:pt x="89577" y="610456"/>
                  </a:lnTo>
                </a:path>
                <a:path w="1781175" h="1045845">
                  <a:moveTo>
                    <a:pt x="286046" y="840834"/>
                  </a:moveTo>
                  <a:lnTo>
                    <a:pt x="274902" y="844050"/>
                  </a:lnTo>
                  <a:lnTo>
                    <a:pt x="263567" y="846660"/>
                  </a:lnTo>
                  <a:lnTo>
                    <a:pt x="252042" y="848674"/>
                  </a:lnTo>
                  <a:lnTo>
                    <a:pt x="240326" y="850105"/>
                  </a:lnTo>
                </a:path>
                <a:path w="1781175" h="1045845">
                  <a:moveTo>
                    <a:pt x="679492" y="942307"/>
                  </a:moveTo>
                  <a:lnTo>
                    <a:pt x="671563" y="932236"/>
                  </a:lnTo>
                  <a:lnTo>
                    <a:pt x="664347" y="921844"/>
                  </a:lnTo>
                  <a:lnTo>
                    <a:pt x="657847" y="911142"/>
                  </a:lnTo>
                  <a:lnTo>
                    <a:pt x="652060" y="900143"/>
                  </a:lnTo>
                </a:path>
                <a:path w="1781175" h="1045845">
                  <a:moveTo>
                    <a:pt x="1188381" y="837278"/>
                  </a:moveTo>
                  <a:lnTo>
                    <a:pt x="1186762" y="848966"/>
                  </a:lnTo>
                  <a:lnTo>
                    <a:pt x="1184381" y="860582"/>
                  </a:lnTo>
                  <a:lnTo>
                    <a:pt x="1181237" y="872103"/>
                  </a:lnTo>
                  <a:lnTo>
                    <a:pt x="1177332" y="883506"/>
                  </a:lnTo>
                </a:path>
                <a:path w="1781175" h="1045845">
                  <a:moveTo>
                    <a:pt x="1406821" y="551782"/>
                  </a:moveTo>
                  <a:lnTo>
                    <a:pt x="1452528" y="575036"/>
                  </a:lnTo>
                  <a:lnTo>
                    <a:pt x="1489865" y="605319"/>
                  </a:lnTo>
                  <a:lnTo>
                    <a:pt x="1517747" y="641246"/>
                  </a:lnTo>
                  <a:lnTo>
                    <a:pt x="1535089" y="681435"/>
                  </a:lnTo>
                  <a:lnTo>
                    <a:pt x="1540806" y="724502"/>
                  </a:lnTo>
                </a:path>
                <a:path w="1781175" h="1045845">
                  <a:moveTo>
                    <a:pt x="1722797" y="367886"/>
                  </a:moveTo>
                  <a:lnTo>
                    <a:pt x="1711488" y="386078"/>
                  </a:lnTo>
                  <a:lnTo>
                    <a:pt x="1697667" y="403033"/>
                  </a:lnTo>
                  <a:lnTo>
                    <a:pt x="1681488" y="418606"/>
                  </a:lnTo>
                  <a:lnTo>
                    <a:pt x="1663107" y="432656"/>
                  </a:lnTo>
                </a:path>
                <a:path w="1781175" h="1045845">
                  <a:moveTo>
                    <a:pt x="1579668" y="127602"/>
                  </a:moveTo>
                  <a:lnTo>
                    <a:pt x="1581147" y="135170"/>
                  </a:lnTo>
                  <a:lnTo>
                    <a:pt x="1582161" y="142810"/>
                  </a:lnTo>
                  <a:lnTo>
                    <a:pt x="1582722" y="150497"/>
                  </a:lnTo>
                  <a:lnTo>
                    <a:pt x="1582843" y="158209"/>
                  </a:lnTo>
                </a:path>
                <a:path w="1781175" h="1045845">
                  <a:moveTo>
                    <a:pt x="1198668" y="91915"/>
                  </a:moveTo>
                  <a:lnTo>
                    <a:pt x="1204951" y="81536"/>
                  </a:lnTo>
                  <a:lnTo>
                    <a:pt x="1212162" y="71563"/>
                  </a:lnTo>
                  <a:lnTo>
                    <a:pt x="1220278" y="62018"/>
                  </a:lnTo>
                  <a:lnTo>
                    <a:pt x="1229275" y="52926"/>
                  </a:lnTo>
                </a:path>
                <a:path w="1781175" h="1045845">
                  <a:moveTo>
                    <a:pt x="912918" y="110457"/>
                  </a:moveTo>
                  <a:lnTo>
                    <a:pt x="915577" y="101842"/>
                  </a:lnTo>
                  <a:lnTo>
                    <a:pt x="918951" y="93359"/>
                  </a:lnTo>
                  <a:lnTo>
                    <a:pt x="922991" y="85043"/>
                  </a:lnTo>
                  <a:lnTo>
                    <a:pt x="927650" y="76929"/>
                  </a:lnTo>
                </a:path>
                <a:path w="1781175" h="1045845">
                  <a:moveTo>
                    <a:pt x="577384" y="121887"/>
                  </a:moveTo>
                  <a:lnTo>
                    <a:pt x="591688" y="129076"/>
                  </a:lnTo>
                  <a:lnTo>
                    <a:pt x="605419" y="136920"/>
                  </a:lnTo>
                  <a:lnTo>
                    <a:pt x="618532" y="145407"/>
                  </a:lnTo>
                  <a:lnTo>
                    <a:pt x="630978" y="154526"/>
                  </a:lnTo>
                </a:path>
                <a:path w="1781175" h="1045845">
                  <a:moveTo>
                    <a:pt x="170603" y="378427"/>
                  </a:moveTo>
                  <a:lnTo>
                    <a:pt x="167652" y="369924"/>
                  </a:lnTo>
                  <a:lnTo>
                    <a:pt x="165095" y="361361"/>
                  </a:lnTo>
                  <a:lnTo>
                    <a:pt x="162942" y="352727"/>
                  </a:lnTo>
                  <a:lnTo>
                    <a:pt x="161205" y="344010"/>
                  </a:lnTo>
                </a:path>
              </a:pathLst>
            </a:custGeom>
            <a:ln w="9525">
              <a:solidFill>
                <a:srgbClr val="497DBA"/>
              </a:solidFill>
            </a:ln>
          </p:spPr>
          <p:txBody>
            <a:bodyPr wrap="square" lIns="0" tIns="0" rIns="0" bIns="0" rtlCol="0"/>
            <a:lstStyle/>
            <a:p>
              <a:endParaRPr/>
            </a:p>
          </p:txBody>
        </p:sp>
      </p:grpSp>
      <p:sp>
        <p:nvSpPr>
          <p:cNvPr id="7" name="object 7"/>
          <p:cNvSpPr txBox="1"/>
          <p:nvPr/>
        </p:nvSpPr>
        <p:spPr>
          <a:xfrm>
            <a:off x="7651497" y="3852164"/>
            <a:ext cx="779145" cy="299720"/>
          </a:xfrm>
          <a:prstGeom prst="rect">
            <a:avLst/>
          </a:prstGeom>
        </p:spPr>
        <p:txBody>
          <a:bodyPr vert="horz" wrap="square" lIns="0" tIns="12700" rIns="0" bIns="0" rtlCol="0">
            <a:spAutoFit/>
          </a:bodyPr>
          <a:lstStyle/>
          <a:p>
            <a:pPr marL="12700">
              <a:spcBef>
                <a:spcPts val="100"/>
              </a:spcBef>
            </a:pPr>
            <a:r>
              <a:rPr spc="-10" dirty="0">
                <a:latin typeface="Calibri"/>
                <a:cs typeface="Calibri"/>
              </a:rPr>
              <a:t>Internet</a:t>
            </a:r>
            <a:endParaRPr>
              <a:latin typeface="Calibri"/>
              <a:cs typeface="Calibri"/>
            </a:endParaRPr>
          </a:p>
        </p:txBody>
      </p:sp>
      <p:grpSp>
        <p:nvGrpSpPr>
          <p:cNvPr id="8" name="object 8"/>
          <p:cNvGrpSpPr/>
          <p:nvPr/>
        </p:nvGrpSpPr>
        <p:grpSpPr>
          <a:xfrm>
            <a:off x="9261289" y="3317736"/>
            <a:ext cx="1163320" cy="1450975"/>
            <a:chOff x="7737289" y="3317735"/>
            <a:chExt cx="1163320" cy="1450975"/>
          </a:xfrm>
        </p:grpSpPr>
        <p:pic>
          <p:nvPicPr>
            <p:cNvPr id="9" name="object 9"/>
            <p:cNvPicPr/>
            <p:nvPr/>
          </p:nvPicPr>
          <p:blipFill>
            <a:blip r:embed="rId4" cstate="print"/>
            <a:stretch>
              <a:fillRect/>
            </a:stretch>
          </p:blipFill>
          <p:spPr>
            <a:xfrm>
              <a:off x="7737289" y="3346675"/>
              <a:ext cx="1162941" cy="1421949"/>
            </a:xfrm>
            <a:prstGeom prst="rect">
              <a:avLst/>
            </a:prstGeom>
          </p:spPr>
        </p:pic>
        <p:pic>
          <p:nvPicPr>
            <p:cNvPr id="10" name="object 10"/>
            <p:cNvPicPr/>
            <p:nvPr/>
          </p:nvPicPr>
          <p:blipFill>
            <a:blip r:embed="rId5" cstate="print"/>
            <a:stretch>
              <a:fillRect/>
            </a:stretch>
          </p:blipFill>
          <p:spPr>
            <a:xfrm>
              <a:off x="7757160" y="3317735"/>
              <a:ext cx="1120140" cy="560844"/>
            </a:xfrm>
            <a:prstGeom prst="rect">
              <a:avLst/>
            </a:prstGeom>
          </p:spPr>
        </p:pic>
        <p:pic>
          <p:nvPicPr>
            <p:cNvPr id="11" name="object 11"/>
            <p:cNvPicPr/>
            <p:nvPr/>
          </p:nvPicPr>
          <p:blipFill>
            <a:blip r:embed="rId6" cstate="print"/>
            <a:stretch>
              <a:fillRect/>
            </a:stretch>
          </p:blipFill>
          <p:spPr>
            <a:xfrm>
              <a:off x="7775448" y="3364992"/>
              <a:ext cx="1091183" cy="1350263"/>
            </a:xfrm>
            <a:prstGeom prst="rect">
              <a:avLst/>
            </a:prstGeom>
          </p:spPr>
        </p:pic>
      </p:grpSp>
      <p:sp>
        <p:nvSpPr>
          <p:cNvPr id="12" name="object 12"/>
          <p:cNvSpPr txBox="1"/>
          <p:nvPr/>
        </p:nvSpPr>
        <p:spPr>
          <a:xfrm>
            <a:off x="9299448" y="3364991"/>
            <a:ext cx="1091565" cy="308418"/>
          </a:xfrm>
          <a:prstGeom prst="rect">
            <a:avLst/>
          </a:prstGeom>
          <a:ln w="9525">
            <a:solidFill>
              <a:srgbClr val="000000"/>
            </a:solidFill>
          </a:ln>
        </p:spPr>
        <p:txBody>
          <a:bodyPr vert="horz" wrap="square" lIns="0" tIns="31115" rIns="0" bIns="0" rtlCol="0">
            <a:spAutoFit/>
          </a:bodyPr>
          <a:lstStyle/>
          <a:p>
            <a:pPr marL="163195">
              <a:spcBef>
                <a:spcPts val="245"/>
              </a:spcBef>
            </a:pPr>
            <a:r>
              <a:rPr spc="-10" dirty="0">
                <a:latin typeface="Calibri"/>
                <a:cs typeface="Calibri"/>
              </a:rPr>
              <a:t>Browser</a:t>
            </a:r>
            <a:endParaRPr>
              <a:latin typeface="Calibri"/>
              <a:cs typeface="Calibri"/>
            </a:endParaRPr>
          </a:p>
        </p:txBody>
      </p:sp>
      <p:grpSp>
        <p:nvGrpSpPr>
          <p:cNvPr id="13" name="object 13"/>
          <p:cNvGrpSpPr/>
          <p:nvPr/>
        </p:nvGrpSpPr>
        <p:grpSpPr>
          <a:xfrm>
            <a:off x="3354324" y="5114556"/>
            <a:ext cx="1181735" cy="1537970"/>
            <a:chOff x="1830323" y="5114556"/>
            <a:chExt cx="1181735" cy="1537970"/>
          </a:xfrm>
        </p:grpSpPr>
        <p:pic>
          <p:nvPicPr>
            <p:cNvPr id="14" name="object 14"/>
            <p:cNvPicPr/>
            <p:nvPr/>
          </p:nvPicPr>
          <p:blipFill>
            <a:blip r:embed="rId7" cstate="print"/>
            <a:stretch>
              <a:fillRect/>
            </a:stretch>
          </p:blipFill>
          <p:spPr>
            <a:xfrm>
              <a:off x="1830323" y="5114556"/>
              <a:ext cx="1181112" cy="1537716"/>
            </a:xfrm>
            <a:prstGeom prst="rect">
              <a:avLst/>
            </a:prstGeom>
          </p:spPr>
        </p:pic>
        <p:pic>
          <p:nvPicPr>
            <p:cNvPr id="15" name="object 15"/>
            <p:cNvPicPr/>
            <p:nvPr/>
          </p:nvPicPr>
          <p:blipFill>
            <a:blip r:embed="rId8" cstate="print"/>
            <a:stretch>
              <a:fillRect/>
            </a:stretch>
          </p:blipFill>
          <p:spPr>
            <a:xfrm>
              <a:off x="1877567" y="5141976"/>
              <a:ext cx="1091183" cy="1447800"/>
            </a:xfrm>
            <a:prstGeom prst="rect">
              <a:avLst/>
            </a:prstGeom>
          </p:spPr>
        </p:pic>
        <p:sp>
          <p:nvSpPr>
            <p:cNvPr id="16" name="object 16"/>
            <p:cNvSpPr/>
            <p:nvPr/>
          </p:nvSpPr>
          <p:spPr>
            <a:xfrm>
              <a:off x="1877567" y="5141976"/>
              <a:ext cx="1091565" cy="1447800"/>
            </a:xfrm>
            <a:custGeom>
              <a:avLst/>
              <a:gdLst/>
              <a:ahLst/>
              <a:cxnLst/>
              <a:rect l="l" t="t" r="r" b="b"/>
              <a:pathLst>
                <a:path w="1091564" h="1447800">
                  <a:moveTo>
                    <a:pt x="1091183" y="136398"/>
                  </a:moveTo>
                  <a:lnTo>
                    <a:pt x="1071698" y="172651"/>
                  </a:lnTo>
                  <a:lnTo>
                    <a:pt x="1016705" y="205232"/>
                  </a:lnTo>
                  <a:lnTo>
                    <a:pt x="977517" y="219738"/>
                  </a:lnTo>
                  <a:lnTo>
                    <a:pt x="931402" y="232838"/>
                  </a:lnTo>
                  <a:lnTo>
                    <a:pt x="879007" y="244369"/>
                  </a:lnTo>
                  <a:lnTo>
                    <a:pt x="820984" y="254169"/>
                  </a:lnTo>
                  <a:lnTo>
                    <a:pt x="757981" y="262074"/>
                  </a:lnTo>
                  <a:lnTo>
                    <a:pt x="690648" y="267922"/>
                  </a:lnTo>
                  <a:lnTo>
                    <a:pt x="619635" y="271550"/>
                  </a:lnTo>
                  <a:lnTo>
                    <a:pt x="545592" y="272796"/>
                  </a:lnTo>
                  <a:lnTo>
                    <a:pt x="471548" y="271550"/>
                  </a:lnTo>
                  <a:lnTo>
                    <a:pt x="400535" y="267922"/>
                  </a:lnTo>
                  <a:lnTo>
                    <a:pt x="333202" y="262074"/>
                  </a:lnTo>
                  <a:lnTo>
                    <a:pt x="270199" y="254169"/>
                  </a:lnTo>
                  <a:lnTo>
                    <a:pt x="212176" y="244369"/>
                  </a:lnTo>
                  <a:lnTo>
                    <a:pt x="159781" y="232838"/>
                  </a:lnTo>
                  <a:lnTo>
                    <a:pt x="113666" y="219738"/>
                  </a:lnTo>
                  <a:lnTo>
                    <a:pt x="74478" y="205231"/>
                  </a:lnTo>
                  <a:lnTo>
                    <a:pt x="19485" y="172651"/>
                  </a:lnTo>
                  <a:lnTo>
                    <a:pt x="0" y="136398"/>
                  </a:lnTo>
                  <a:lnTo>
                    <a:pt x="4979" y="117893"/>
                  </a:lnTo>
                  <a:lnTo>
                    <a:pt x="42868" y="83313"/>
                  </a:lnTo>
                  <a:lnTo>
                    <a:pt x="113666" y="53057"/>
                  </a:lnTo>
                  <a:lnTo>
                    <a:pt x="159781" y="39957"/>
                  </a:lnTo>
                  <a:lnTo>
                    <a:pt x="212176" y="28426"/>
                  </a:lnTo>
                  <a:lnTo>
                    <a:pt x="270199" y="18626"/>
                  </a:lnTo>
                  <a:lnTo>
                    <a:pt x="333202" y="10721"/>
                  </a:lnTo>
                  <a:lnTo>
                    <a:pt x="400535" y="4873"/>
                  </a:lnTo>
                  <a:lnTo>
                    <a:pt x="471548" y="1245"/>
                  </a:lnTo>
                  <a:lnTo>
                    <a:pt x="545592" y="0"/>
                  </a:lnTo>
                  <a:lnTo>
                    <a:pt x="619635" y="1245"/>
                  </a:lnTo>
                  <a:lnTo>
                    <a:pt x="690648" y="4873"/>
                  </a:lnTo>
                  <a:lnTo>
                    <a:pt x="757981" y="10721"/>
                  </a:lnTo>
                  <a:lnTo>
                    <a:pt x="820984" y="18626"/>
                  </a:lnTo>
                  <a:lnTo>
                    <a:pt x="879007" y="28426"/>
                  </a:lnTo>
                  <a:lnTo>
                    <a:pt x="931402" y="39957"/>
                  </a:lnTo>
                  <a:lnTo>
                    <a:pt x="977517" y="53057"/>
                  </a:lnTo>
                  <a:lnTo>
                    <a:pt x="1016705" y="67563"/>
                  </a:lnTo>
                  <a:lnTo>
                    <a:pt x="1071698" y="100144"/>
                  </a:lnTo>
                  <a:lnTo>
                    <a:pt x="1091183" y="136398"/>
                  </a:lnTo>
                  <a:lnTo>
                    <a:pt x="1091183" y="1311402"/>
                  </a:lnTo>
                  <a:lnTo>
                    <a:pt x="1071698" y="1347664"/>
                  </a:lnTo>
                  <a:lnTo>
                    <a:pt x="1016705" y="1380247"/>
                  </a:lnTo>
                  <a:lnTo>
                    <a:pt x="977517" y="1394753"/>
                  </a:lnTo>
                  <a:lnTo>
                    <a:pt x="931402" y="1407852"/>
                  </a:lnTo>
                  <a:lnTo>
                    <a:pt x="879007" y="1419381"/>
                  </a:lnTo>
                  <a:lnTo>
                    <a:pt x="820984" y="1429178"/>
                  </a:lnTo>
                  <a:lnTo>
                    <a:pt x="757981" y="1437081"/>
                  </a:lnTo>
                  <a:lnTo>
                    <a:pt x="690648" y="1442928"/>
                  </a:lnTo>
                  <a:lnTo>
                    <a:pt x="619635" y="1446554"/>
                  </a:lnTo>
                  <a:lnTo>
                    <a:pt x="545592" y="1447800"/>
                  </a:lnTo>
                  <a:lnTo>
                    <a:pt x="471548" y="1446554"/>
                  </a:lnTo>
                  <a:lnTo>
                    <a:pt x="400535" y="1442928"/>
                  </a:lnTo>
                  <a:lnTo>
                    <a:pt x="333202" y="1437081"/>
                  </a:lnTo>
                  <a:lnTo>
                    <a:pt x="270199" y="1429178"/>
                  </a:lnTo>
                  <a:lnTo>
                    <a:pt x="212176" y="1419381"/>
                  </a:lnTo>
                  <a:lnTo>
                    <a:pt x="159781" y="1407852"/>
                  </a:lnTo>
                  <a:lnTo>
                    <a:pt x="113666" y="1394753"/>
                  </a:lnTo>
                  <a:lnTo>
                    <a:pt x="74478" y="1380247"/>
                  </a:lnTo>
                  <a:lnTo>
                    <a:pt x="19485" y="1347664"/>
                  </a:lnTo>
                  <a:lnTo>
                    <a:pt x="0" y="1311402"/>
                  </a:lnTo>
                  <a:lnTo>
                    <a:pt x="0" y="136398"/>
                  </a:lnTo>
                </a:path>
              </a:pathLst>
            </a:custGeom>
            <a:ln w="9525">
              <a:solidFill>
                <a:srgbClr val="497DBA"/>
              </a:solidFill>
            </a:ln>
          </p:spPr>
          <p:txBody>
            <a:bodyPr wrap="square" lIns="0" tIns="0" rIns="0" bIns="0" rtlCol="0"/>
            <a:lstStyle/>
            <a:p>
              <a:endParaRPr/>
            </a:p>
          </p:txBody>
        </p:sp>
      </p:grpSp>
      <p:sp>
        <p:nvSpPr>
          <p:cNvPr id="17" name="object 17"/>
          <p:cNvSpPr txBox="1"/>
          <p:nvPr/>
        </p:nvSpPr>
        <p:spPr>
          <a:xfrm>
            <a:off x="3638804" y="5632805"/>
            <a:ext cx="617220" cy="574040"/>
          </a:xfrm>
          <a:prstGeom prst="rect">
            <a:avLst/>
          </a:prstGeom>
        </p:spPr>
        <p:txBody>
          <a:bodyPr vert="horz" wrap="square" lIns="0" tIns="12700" rIns="0" bIns="0" rtlCol="0">
            <a:spAutoFit/>
          </a:bodyPr>
          <a:lstStyle/>
          <a:p>
            <a:pPr marL="27305" marR="5080" indent="-15240">
              <a:spcBef>
                <a:spcPts val="100"/>
              </a:spcBef>
            </a:pPr>
            <a:r>
              <a:rPr spc="-10" dirty="0">
                <a:latin typeface="Calibri"/>
                <a:cs typeface="Calibri"/>
              </a:rPr>
              <a:t>Media Cache</a:t>
            </a:r>
            <a:endParaRPr>
              <a:latin typeface="Calibri"/>
              <a:cs typeface="Calibri"/>
            </a:endParaRPr>
          </a:p>
        </p:txBody>
      </p:sp>
      <p:grpSp>
        <p:nvGrpSpPr>
          <p:cNvPr id="18" name="object 18"/>
          <p:cNvGrpSpPr/>
          <p:nvPr/>
        </p:nvGrpSpPr>
        <p:grpSpPr>
          <a:xfrm>
            <a:off x="3214060" y="3171431"/>
            <a:ext cx="7127875" cy="1969770"/>
            <a:chOff x="1690059" y="3171431"/>
            <a:chExt cx="7127875" cy="1969770"/>
          </a:xfrm>
        </p:grpSpPr>
        <p:pic>
          <p:nvPicPr>
            <p:cNvPr id="19" name="object 19"/>
            <p:cNvPicPr/>
            <p:nvPr/>
          </p:nvPicPr>
          <p:blipFill>
            <a:blip r:embed="rId9" cstate="print"/>
            <a:stretch>
              <a:fillRect/>
            </a:stretch>
          </p:blipFill>
          <p:spPr>
            <a:xfrm>
              <a:off x="1690059" y="3200367"/>
              <a:ext cx="1463152" cy="1713040"/>
            </a:xfrm>
            <a:prstGeom prst="rect">
              <a:avLst/>
            </a:prstGeom>
          </p:spPr>
        </p:pic>
        <p:pic>
          <p:nvPicPr>
            <p:cNvPr id="20" name="object 20"/>
            <p:cNvPicPr/>
            <p:nvPr/>
          </p:nvPicPr>
          <p:blipFill>
            <a:blip r:embed="rId10" cstate="print"/>
            <a:stretch>
              <a:fillRect/>
            </a:stretch>
          </p:blipFill>
          <p:spPr>
            <a:xfrm>
              <a:off x="2090927" y="3171431"/>
              <a:ext cx="662939" cy="560844"/>
            </a:xfrm>
            <a:prstGeom prst="rect">
              <a:avLst/>
            </a:prstGeom>
          </p:spPr>
        </p:pic>
        <p:pic>
          <p:nvPicPr>
            <p:cNvPr id="21" name="object 21"/>
            <p:cNvPicPr/>
            <p:nvPr/>
          </p:nvPicPr>
          <p:blipFill>
            <a:blip r:embed="rId11" cstate="print"/>
            <a:stretch>
              <a:fillRect/>
            </a:stretch>
          </p:blipFill>
          <p:spPr>
            <a:xfrm>
              <a:off x="1728215" y="3218687"/>
              <a:ext cx="1391412" cy="1641348"/>
            </a:xfrm>
            <a:prstGeom prst="rect">
              <a:avLst/>
            </a:prstGeom>
          </p:spPr>
        </p:pic>
        <p:sp>
          <p:nvSpPr>
            <p:cNvPr id="22" name="object 22"/>
            <p:cNvSpPr/>
            <p:nvPr/>
          </p:nvSpPr>
          <p:spPr>
            <a:xfrm>
              <a:off x="1728215" y="3218687"/>
              <a:ext cx="1391920" cy="1641475"/>
            </a:xfrm>
            <a:custGeom>
              <a:avLst/>
              <a:gdLst/>
              <a:ahLst/>
              <a:cxnLst/>
              <a:rect l="l" t="t" r="r" b="b"/>
              <a:pathLst>
                <a:path w="1391920" h="1641475">
                  <a:moveTo>
                    <a:pt x="0" y="1641348"/>
                  </a:moveTo>
                  <a:lnTo>
                    <a:pt x="1391412" y="1641348"/>
                  </a:lnTo>
                  <a:lnTo>
                    <a:pt x="1391412" y="0"/>
                  </a:lnTo>
                  <a:lnTo>
                    <a:pt x="0" y="0"/>
                  </a:lnTo>
                  <a:lnTo>
                    <a:pt x="0" y="1641348"/>
                  </a:lnTo>
                  <a:close/>
                </a:path>
              </a:pathLst>
            </a:custGeom>
            <a:ln w="9525">
              <a:solidFill>
                <a:srgbClr val="000000"/>
              </a:solidFill>
            </a:ln>
          </p:spPr>
          <p:txBody>
            <a:bodyPr wrap="square" lIns="0" tIns="0" rIns="0" bIns="0" rtlCol="0"/>
            <a:lstStyle/>
            <a:p>
              <a:endParaRPr/>
            </a:p>
          </p:txBody>
        </p:sp>
        <p:pic>
          <p:nvPicPr>
            <p:cNvPr id="23" name="object 23"/>
            <p:cNvPicPr/>
            <p:nvPr/>
          </p:nvPicPr>
          <p:blipFill>
            <a:blip r:embed="rId12" cstate="print"/>
            <a:stretch>
              <a:fillRect/>
            </a:stretch>
          </p:blipFill>
          <p:spPr>
            <a:xfrm>
              <a:off x="7836407" y="3779519"/>
              <a:ext cx="981455" cy="783336"/>
            </a:xfrm>
            <a:prstGeom prst="rect">
              <a:avLst/>
            </a:prstGeom>
          </p:spPr>
        </p:pic>
        <p:pic>
          <p:nvPicPr>
            <p:cNvPr id="24" name="object 24"/>
            <p:cNvPicPr/>
            <p:nvPr/>
          </p:nvPicPr>
          <p:blipFill>
            <a:blip r:embed="rId13" cstate="print"/>
            <a:stretch>
              <a:fillRect/>
            </a:stretch>
          </p:blipFill>
          <p:spPr>
            <a:xfrm>
              <a:off x="3835898" y="3200367"/>
              <a:ext cx="1461534" cy="1713040"/>
            </a:xfrm>
            <a:prstGeom prst="rect">
              <a:avLst/>
            </a:prstGeom>
          </p:spPr>
        </p:pic>
        <p:pic>
          <p:nvPicPr>
            <p:cNvPr id="25" name="object 25"/>
            <p:cNvPicPr/>
            <p:nvPr/>
          </p:nvPicPr>
          <p:blipFill>
            <a:blip r:embed="rId14" cstate="print"/>
            <a:stretch>
              <a:fillRect/>
            </a:stretch>
          </p:blipFill>
          <p:spPr>
            <a:xfrm>
              <a:off x="3938015" y="3171431"/>
              <a:ext cx="1255776" cy="560844"/>
            </a:xfrm>
            <a:prstGeom prst="rect">
              <a:avLst/>
            </a:prstGeom>
          </p:spPr>
        </p:pic>
        <p:pic>
          <p:nvPicPr>
            <p:cNvPr id="26" name="object 26"/>
            <p:cNvPicPr/>
            <p:nvPr/>
          </p:nvPicPr>
          <p:blipFill>
            <a:blip r:embed="rId15" cstate="print"/>
            <a:stretch>
              <a:fillRect/>
            </a:stretch>
          </p:blipFill>
          <p:spPr>
            <a:xfrm>
              <a:off x="3874007" y="3218687"/>
              <a:ext cx="1389888" cy="1641348"/>
            </a:xfrm>
            <a:prstGeom prst="rect">
              <a:avLst/>
            </a:prstGeom>
          </p:spPr>
        </p:pic>
        <p:sp>
          <p:nvSpPr>
            <p:cNvPr id="27" name="object 27"/>
            <p:cNvSpPr/>
            <p:nvPr/>
          </p:nvSpPr>
          <p:spPr>
            <a:xfrm>
              <a:off x="3874007" y="3218687"/>
              <a:ext cx="1390015" cy="1641475"/>
            </a:xfrm>
            <a:custGeom>
              <a:avLst/>
              <a:gdLst/>
              <a:ahLst/>
              <a:cxnLst/>
              <a:rect l="l" t="t" r="r" b="b"/>
              <a:pathLst>
                <a:path w="1390014" h="1641475">
                  <a:moveTo>
                    <a:pt x="0" y="1641348"/>
                  </a:moveTo>
                  <a:lnTo>
                    <a:pt x="1389888" y="1641348"/>
                  </a:lnTo>
                  <a:lnTo>
                    <a:pt x="1389888" y="0"/>
                  </a:lnTo>
                  <a:lnTo>
                    <a:pt x="0" y="0"/>
                  </a:lnTo>
                  <a:lnTo>
                    <a:pt x="0" y="1641348"/>
                  </a:lnTo>
                  <a:close/>
                </a:path>
              </a:pathLst>
            </a:custGeom>
            <a:ln w="9525">
              <a:solidFill>
                <a:srgbClr val="000000"/>
              </a:solidFill>
            </a:ln>
          </p:spPr>
          <p:txBody>
            <a:bodyPr wrap="square" lIns="0" tIns="0" rIns="0" bIns="0" rtlCol="0"/>
            <a:lstStyle/>
            <a:p>
              <a:endParaRPr/>
            </a:p>
          </p:txBody>
        </p:sp>
        <p:sp>
          <p:nvSpPr>
            <p:cNvPr id="28" name="object 28"/>
            <p:cNvSpPr/>
            <p:nvPr/>
          </p:nvSpPr>
          <p:spPr>
            <a:xfrm>
              <a:off x="2386584" y="3997959"/>
              <a:ext cx="5389880" cy="1143635"/>
            </a:xfrm>
            <a:custGeom>
              <a:avLst/>
              <a:gdLst/>
              <a:ahLst/>
              <a:cxnLst/>
              <a:rect l="l" t="t" r="r" b="b"/>
              <a:pathLst>
                <a:path w="5389880" h="1143635">
                  <a:moveTo>
                    <a:pt x="76200" y="938276"/>
                  </a:moveTo>
                  <a:lnTo>
                    <a:pt x="69850" y="925576"/>
                  </a:lnTo>
                  <a:lnTo>
                    <a:pt x="38100" y="862076"/>
                  </a:lnTo>
                  <a:lnTo>
                    <a:pt x="0" y="938276"/>
                  </a:lnTo>
                  <a:lnTo>
                    <a:pt x="31750" y="938276"/>
                  </a:lnTo>
                  <a:lnTo>
                    <a:pt x="31750" y="1143127"/>
                  </a:lnTo>
                  <a:lnTo>
                    <a:pt x="44450" y="1143127"/>
                  </a:lnTo>
                  <a:lnTo>
                    <a:pt x="44450" y="938276"/>
                  </a:lnTo>
                  <a:lnTo>
                    <a:pt x="76200" y="938276"/>
                  </a:lnTo>
                  <a:close/>
                </a:path>
                <a:path w="5389880" h="1143635">
                  <a:moveTo>
                    <a:pt x="3308223" y="42926"/>
                  </a:moveTo>
                  <a:lnTo>
                    <a:pt x="3279559" y="28575"/>
                  </a:lnTo>
                  <a:lnTo>
                    <a:pt x="3222498" y="0"/>
                  </a:lnTo>
                  <a:lnTo>
                    <a:pt x="3222498" y="28575"/>
                  </a:lnTo>
                  <a:lnTo>
                    <a:pt x="2963799" y="28575"/>
                  </a:lnTo>
                  <a:lnTo>
                    <a:pt x="2963799" y="0"/>
                  </a:lnTo>
                  <a:lnTo>
                    <a:pt x="2878074" y="42926"/>
                  </a:lnTo>
                  <a:lnTo>
                    <a:pt x="2963799" y="85725"/>
                  </a:lnTo>
                  <a:lnTo>
                    <a:pt x="2963799" y="57150"/>
                  </a:lnTo>
                  <a:lnTo>
                    <a:pt x="3222498" y="57150"/>
                  </a:lnTo>
                  <a:lnTo>
                    <a:pt x="3222498" y="85725"/>
                  </a:lnTo>
                  <a:lnTo>
                    <a:pt x="3279724" y="57150"/>
                  </a:lnTo>
                  <a:lnTo>
                    <a:pt x="3308223" y="42926"/>
                  </a:lnTo>
                  <a:close/>
                </a:path>
                <a:path w="5389880" h="1143635">
                  <a:moveTo>
                    <a:pt x="5389753" y="42926"/>
                  </a:moveTo>
                  <a:lnTo>
                    <a:pt x="5361089" y="28575"/>
                  </a:lnTo>
                  <a:lnTo>
                    <a:pt x="5304028" y="0"/>
                  </a:lnTo>
                  <a:lnTo>
                    <a:pt x="5304028" y="28575"/>
                  </a:lnTo>
                  <a:lnTo>
                    <a:pt x="5167503" y="28575"/>
                  </a:lnTo>
                  <a:lnTo>
                    <a:pt x="5167503" y="0"/>
                  </a:lnTo>
                  <a:lnTo>
                    <a:pt x="5081778" y="42926"/>
                  </a:lnTo>
                  <a:lnTo>
                    <a:pt x="5167503" y="85725"/>
                  </a:lnTo>
                  <a:lnTo>
                    <a:pt x="5167503" y="57150"/>
                  </a:lnTo>
                  <a:lnTo>
                    <a:pt x="5304028" y="57150"/>
                  </a:lnTo>
                  <a:lnTo>
                    <a:pt x="5304028" y="85725"/>
                  </a:lnTo>
                  <a:lnTo>
                    <a:pt x="5361254" y="57150"/>
                  </a:lnTo>
                  <a:lnTo>
                    <a:pt x="5389753" y="42926"/>
                  </a:lnTo>
                  <a:close/>
                </a:path>
              </a:pathLst>
            </a:custGeom>
            <a:solidFill>
              <a:srgbClr val="497DBA"/>
            </a:solidFill>
          </p:spPr>
          <p:txBody>
            <a:bodyPr wrap="square" lIns="0" tIns="0" rIns="0" bIns="0" rtlCol="0"/>
            <a:lstStyle/>
            <a:p>
              <a:endParaRPr/>
            </a:p>
          </p:txBody>
        </p:sp>
        <p:sp>
          <p:nvSpPr>
            <p:cNvPr id="29" name="object 29"/>
            <p:cNvSpPr/>
            <p:nvPr/>
          </p:nvSpPr>
          <p:spPr>
            <a:xfrm>
              <a:off x="3120389" y="3983735"/>
              <a:ext cx="754380" cy="114300"/>
            </a:xfrm>
            <a:custGeom>
              <a:avLst/>
              <a:gdLst/>
              <a:ahLst/>
              <a:cxnLst/>
              <a:rect l="l" t="t" r="r" b="b"/>
              <a:pathLst>
                <a:path w="754379" h="114300">
                  <a:moveTo>
                    <a:pt x="114300" y="0"/>
                  </a:moveTo>
                  <a:lnTo>
                    <a:pt x="0" y="57150"/>
                  </a:lnTo>
                  <a:lnTo>
                    <a:pt x="114300" y="114300"/>
                  </a:lnTo>
                  <a:lnTo>
                    <a:pt x="114300" y="76200"/>
                  </a:lnTo>
                  <a:lnTo>
                    <a:pt x="95250" y="76200"/>
                  </a:lnTo>
                  <a:lnTo>
                    <a:pt x="95250" y="38100"/>
                  </a:lnTo>
                  <a:lnTo>
                    <a:pt x="114300" y="38100"/>
                  </a:lnTo>
                  <a:lnTo>
                    <a:pt x="114300" y="0"/>
                  </a:lnTo>
                  <a:close/>
                </a:path>
                <a:path w="754379" h="114300">
                  <a:moveTo>
                    <a:pt x="639699" y="0"/>
                  </a:moveTo>
                  <a:lnTo>
                    <a:pt x="639699" y="114300"/>
                  </a:lnTo>
                  <a:lnTo>
                    <a:pt x="715899" y="76200"/>
                  </a:lnTo>
                  <a:lnTo>
                    <a:pt x="658749" y="76200"/>
                  </a:lnTo>
                  <a:lnTo>
                    <a:pt x="658749" y="38100"/>
                  </a:lnTo>
                  <a:lnTo>
                    <a:pt x="715899" y="38100"/>
                  </a:lnTo>
                  <a:lnTo>
                    <a:pt x="639699" y="0"/>
                  </a:lnTo>
                  <a:close/>
                </a:path>
                <a:path w="754379" h="114300">
                  <a:moveTo>
                    <a:pt x="114300" y="38100"/>
                  </a:moveTo>
                  <a:lnTo>
                    <a:pt x="95250" y="38100"/>
                  </a:lnTo>
                  <a:lnTo>
                    <a:pt x="95250" y="76200"/>
                  </a:lnTo>
                  <a:lnTo>
                    <a:pt x="114300" y="76200"/>
                  </a:lnTo>
                  <a:lnTo>
                    <a:pt x="114300" y="38100"/>
                  </a:lnTo>
                  <a:close/>
                </a:path>
                <a:path w="754379" h="114300">
                  <a:moveTo>
                    <a:pt x="639699" y="38100"/>
                  </a:moveTo>
                  <a:lnTo>
                    <a:pt x="114300" y="38100"/>
                  </a:lnTo>
                  <a:lnTo>
                    <a:pt x="114300" y="76200"/>
                  </a:lnTo>
                  <a:lnTo>
                    <a:pt x="639699" y="76200"/>
                  </a:lnTo>
                  <a:lnTo>
                    <a:pt x="639699" y="38100"/>
                  </a:lnTo>
                  <a:close/>
                </a:path>
                <a:path w="754379" h="114300">
                  <a:moveTo>
                    <a:pt x="715899" y="38100"/>
                  </a:moveTo>
                  <a:lnTo>
                    <a:pt x="658749" y="38100"/>
                  </a:lnTo>
                  <a:lnTo>
                    <a:pt x="658749" y="76200"/>
                  </a:lnTo>
                  <a:lnTo>
                    <a:pt x="715899" y="76200"/>
                  </a:lnTo>
                  <a:lnTo>
                    <a:pt x="753999" y="57150"/>
                  </a:lnTo>
                  <a:lnTo>
                    <a:pt x="715899" y="38100"/>
                  </a:lnTo>
                  <a:close/>
                </a:path>
              </a:pathLst>
            </a:custGeom>
            <a:solidFill>
              <a:srgbClr val="000000"/>
            </a:solidFill>
          </p:spPr>
          <p:txBody>
            <a:bodyPr wrap="square" lIns="0" tIns="0" rIns="0" bIns="0" rtlCol="0"/>
            <a:lstStyle/>
            <a:p>
              <a:endParaRPr/>
            </a:p>
          </p:txBody>
        </p:sp>
      </p:grpSp>
      <p:sp>
        <p:nvSpPr>
          <p:cNvPr id="30" name="object 30"/>
          <p:cNvSpPr txBox="1"/>
          <p:nvPr/>
        </p:nvSpPr>
        <p:spPr>
          <a:xfrm>
            <a:off x="4705351" y="3737609"/>
            <a:ext cx="635635" cy="299720"/>
          </a:xfrm>
          <a:prstGeom prst="rect">
            <a:avLst/>
          </a:prstGeom>
        </p:spPr>
        <p:txBody>
          <a:bodyPr vert="horz" wrap="square" lIns="0" tIns="12700" rIns="0" bIns="0" rtlCol="0">
            <a:spAutoFit/>
          </a:bodyPr>
          <a:lstStyle/>
          <a:p>
            <a:pPr marL="12700">
              <a:spcBef>
                <a:spcPts val="100"/>
              </a:spcBef>
            </a:pPr>
            <a:r>
              <a:rPr spc="-20" dirty="0">
                <a:latin typeface="Arial"/>
                <a:cs typeface="Arial"/>
              </a:rPr>
              <a:t>JSON</a:t>
            </a:r>
            <a:endParaRPr>
              <a:latin typeface="Arial"/>
              <a:cs typeface="Arial"/>
            </a:endParaRPr>
          </a:p>
        </p:txBody>
      </p:sp>
      <p:grpSp>
        <p:nvGrpSpPr>
          <p:cNvPr id="31" name="object 31"/>
          <p:cNvGrpSpPr/>
          <p:nvPr/>
        </p:nvGrpSpPr>
        <p:grpSpPr>
          <a:xfrm>
            <a:off x="1766250" y="3346688"/>
            <a:ext cx="1017269" cy="1679575"/>
            <a:chOff x="242249" y="3346687"/>
            <a:chExt cx="1017269" cy="1679575"/>
          </a:xfrm>
        </p:grpSpPr>
        <p:pic>
          <p:nvPicPr>
            <p:cNvPr id="32" name="object 32"/>
            <p:cNvPicPr/>
            <p:nvPr/>
          </p:nvPicPr>
          <p:blipFill>
            <a:blip r:embed="rId16" cstate="print"/>
            <a:stretch>
              <a:fillRect/>
            </a:stretch>
          </p:blipFill>
          <p:spPr>
            <a:xfrm>
              <a:off x="242249" y="3346687"/>
              <a:ext cx="1016654" cy="1679480"/>
            </a:xfrm>
            <a:prstGeom prst="rect">
              <a:avLst/>
            </a:prstGeom>
          </p:spPr>
        </p:pic>
        <p:pic>
          <p:nvPicPr>
            <p:cNvPr id="33" name="object 33"/>
            <p:cNvPicPr/>
            <p:nvPr/>
          </p:nvPicPr>
          <p:blipFill>
            <a:blip r:embed="rId17" cstate="print"/>
            <a:stretch>
              <a:fillRect/>
            </a:stretch>
          </p:blipFill>
          <p:spPr>
            <a:xfrm>
              <a:off x="266699" y="4046232"/>
              <a:ext cx="967727" cy="454139"/>
            </a:xfrm>
            <a:prstGeom prst="rect">
              <a:avLst/>
            </a:prstGeom>
          </p:spPr>
        </p:pic>
        <p:pic>
          <p:nvPicPr>
            <p:cNvPr id="34" name="object 34"/>
            <p:cNvPicPr/>
            <p:nvPr/>
          </p:nvPicPr>
          <p:blipFill>
            <a:blip r:embed="rId18" cstate="print"/>
            <a:stretch>
              <a:fillRect/>
            </a:stretch>
          </p:blipFill>
          <p:spPr>
            <a:xfrm>
              <a:off x="280415" y="3364991"/>
              <a:ext cx="944880" cy="1607820"/>
            </a:xfrm>
            <a:prstGeom prst="rect">
              <a:avLst/>
            </a:prstGeom>
          </p:spPr>
        </p:pic>
        <p:sp>
          <p:nvSpPr>
            <p:cNvPr id="35" name="object 35"/>
            <p:cNvSpPr/>
            <p:nvPr/>
          </p:nvSpPr>
          <p:spPr>
            <a:xfrm>
              <a:off x="280415" y="3364991"/>
              <a:ext cx="944880" cy="1607820"/>
            </a:xfrm>
            <a:custGeom>
              <a:avLst/>
              <a:gdLst/>
              <a:ahLst/>
              <a:cxnLst/>
              <a:rect l="l" t="t" r="r" b="b"/>
              <a:pathLst>
                <a:path w="944880" h="1607820">
                  <a:moveTo>
                    <a:pt x="944880" y="118110"/>
                  </a:moveTo>
                  <a:lnTo>
                    <a:pt x="924877" y="152239"/>
                  </a:lnTo>
                  <a:lnTo>
                    <a:pt x="868767" y="182443"/>
                  </a:lnTo>
                  <a:lnTo>
                    <a:pt x="828998" y="195618"/>
                  </a:lnTo>
                  <a:lnTo>
                    <a:pt x="782395" y="207265"/>
                  </a:lnTo>
                  <a:lnTo>
                    <a:pt x="729688" y="217203"/>
                  </a:lnTo>
                  <a:lnTo>
                    <a:pt x="671608" y="225250"/>
                  </a:lnTo>
                  <a:lnTo>
                    <a:pt x="608886" y="231223"/>
                  </a:lnTo>
                  <a:lnTo>
                    <a:pt x="542253" y="234940"/>
                  </a:lnTo>
                  <a:lnTo>
                    <a:pt x="472440" y="236220"/>
                  </a:lnTo>
                  <a:lnTo>
                    <a:pt x="402626" y="234940"/>
                  </a:lnTo>
                  <a:lnTo>
                    <a:pt x="335993" y="231223"/>
                  </a:lnTo>
                  <a:lnTo>
                    <a:pt x="273271" y="225250"/>
                  </a:lnTo>
                  <a:lnTo>
                    <a:pt x="215191" y="217203"/>
                  </a:lnTo>
                  <a:lnTo>
                    <a:pt x="162484" y="207265"/>
                  </a:lnTo>
                  <a:lnTo>
                    <a:pt x="115881" y="195618"/>
                  </a:lnTo>
                  <a:lnTo>
                    <a:pt x="76112" y="182443"/>
                  </a:lnTo>
                  <a:lnTo>
                    <a:pt x="20002" y="152239"/>
                  </a:lnTo>
                  <a:lnTo>
                    <a:pt x="0" y="118110"/>
                  </a:lnTo>
                  <a:lnTo>
                    <a:pt x="5122" y="100645"/>
                  </a:lnTo>
                  <a:lnTo>
                    <a:pt x="43909" y="68297"/>
                  </a:lnTo>
                  <a:lnTo>
                    <a:pt x="115881" y="40601"/>
                  </a:lnTo>
                  <a:lnTo>
                    <a:pt x="162484" y="28954"/>
                  </a:lnTo>
                  <a:lnTo>
                    <a:pt x="215191" y="19016"/>
                  </a:lnTo>
                  <a:lnTo>
                    <a:pt x="273271" y="10969"/>
                  </a:lnTo>
                  <a:lnTo>
                    <a:pt x="335993" y="4996"/>
                  </a:lnTo>
                  <a:lnTo>
                    <a:pt x="402626" y="1279"/>
                  </a:lnTo>
                  <a:lnTo>
                    <a:pt x="472440" y="0"/>
                  </a:lnTo>
                  <a:lnTo>
                    <a:pt x="542253" y="1279"/>
                  </a:lnTo>
                  <a:lnTo>
                    <a:pt x="608886" y="4996"/>
                  </a:lnTo>
                  <a:lnTo>
                    <a:pt x="671608" y="10969"/>
                  </a:lnTo>
                  <a:lnTo>
                    <a:pt x="729688" y="19016"/>
                  </a:lnTo>
                  <a:lnTo>
                    <a:pt x="782395" y="28954"/>
                  </a:lnTo>
                  <a:lnTo>
                    <a:pt x="828998" y="40601"/>
                  </a:lnTo>
                  <a:lnTo>
                    <a:pt x="868767" y="53776"/>
                  </a:lnTo>
                  <a:lnTo>
                    <a:pt x="924877" y="83980"/>
                  </a:lnTo>
                  <a:lnTo>
                    <a:pt x="944880" y="118110"/>
                  </a:lnTo>
                  <a:lnTo>
                    <a:pt x="944880" y="1489710"/>
                  </a:lnTo>
                  <a:lnTo>
                    <a:pt x="924877" y="1523839"/>
                  </a:lnTo>
                  <a:lnTo>
                    <a:pt x="868767" y="1554043"/>
                  </a:lnTo>
                  <a:lnTo>
                    <a:pt x="828998" y="1567218"/>
                  </a:lnTo>
                  <a:lnTo>
                    <a:pt x="782395" y="1578865"/>
                  </a:lnTo>
                  <a:lnTo>
                    <a:pt x="729688" y="1588803"/>
                  </a:lnTo>
                  <a:lnTo>
                    <a:pt x="671608" y="1596850"/>
                  </a:lnTo>
                  <a:lnTo>
                    <a:pt x="608886" y="1602823"/>
                  </a:lnTo>
                  <a:lnTo>
                    <a:pt x="542253" y="1606540"/>
                  </a:lnTo>
                  <a:lnTo>
                    <a:pt x="472440" y="1607820"/>
                  </a:lnTo>
                  <a:lnTo>
                    <a:pt x="402626" y="1606540"/>
                  </a:lnTo>
                  <a:lnTo>
                    <a:pt x="335993" y="1602823"/>
                  </a:lnTo>
                  <a:lnTo>
                    <a:pt x="273271" y="1596850"/>
                  </a:lnTo>
                  <a:lnTo>
                    <a:pt x="215191" y="1588803"/>
                  </a:lnTo>
                  <a:lnTo>
                    <a:pt x="162484" y="1578865"/>
                  </a:lnTo>
                  <a:lnTo>
                    <a:pt x="115881" y="1567218"/>
                  </a:lnTo>
                  <a:lnTo>
                    <a:pt x="76112" y="1554043"/>
                  </a:lnTo>
                  <a:lnTo>
                    <a:pt x="20002" y="1523839"/>
                  </a:lnTo>
                  <a:lnTo>
                    <a:pt x="0" y="1489710"/>
                  </a:lnTo>
                  <a:lnTo>
                    <a:pt x="0" y="118110"/>
                  </a:lnTo>
                </a:path>
              </a:pathLst>
            </a:custGeom>
            <a:ln w="9525">
              <a:solidFill>
                <a:srgbClr val="497DBA"/>
              </a:solidFill>
            </a:ln>
          </p:spPr>
          <p:txBody>
            <a:bodyPr wrap="square" lIns="0" tIns="0" rIns="0" bIns="0" rtlCol="0"/>
            <a:lstStyle/>
            <a:p>
              <a:endParaRPr/>
            </a:p>
          </p:txBody>
        </p:sp>
      </p:grpSp>
      <p:sp>
        <p:nvSpPr>
          <p:cNvPr id="36" name="object 36"/>
          <p:cNvSpPr txBox="1"/>
          <p:nvPr/>
        </p:nvSpPr>
        <p:spPr>
          <a:xfrm>
            <a:off x="1927047" y="4097224"/>
            <a:ext cx="699770" cy="228909"/>
          </a:xfrm>
          <a:prstGeom prst="rect">
            <a:avLst/>
          </a:prstGeom>
        </p:spPr>
        <p:txBody>
          <a:bodyPr vert="horz" wrap="square" lIns="0" tIns="13335" rIns="0" bIns="0" rtlCol="0">
            <a:spAutoFit/>
          </a:bodyPr>
          <a:lstStyle/>
          <a:p>
            <a:pPr marL="12700">
              <a:spcBef>
                <a:spcPts val="105"/>
              </a:spcBef>
            </a:pPr>
            <a:r>
              <a:rPr sz="1400" spc="-10" dirty="0">
                <a:latin typeface="Calibri"/>
                <a:cs typeface="Calibri"/>
              </a:rPr>
              <a:t>Database</a:t>
            </a:r>
            <a:endParaRPr sz="1400">
              <a:latin typeface="Calibri"/>
              <a:cs typeface="Calibri"/>
            </a:endParaRPr>
          </a:p>
        </p:txBody>
      </p:sp>
      <p:grpSp>
        <p:nvGrpSpPr>
          <p:cNvPr id="37" name="object 37"/>
          <p:cNvGrpSpPr/>
          <p:nvPr/>
        </p:nvGrpSpPr>
        <p:grpSpPr>
          <a:xfrm>
            <a:off x="3034283" y="3665232"/>
            <a:ext cx="3695700" cy="1049020"/>
            <a:chOff x="1510283" y="3665232"/>
            <a:chExt cx="3695700" cy="1049020"/>
          </a:xfrm>
        </p:grpSpPr>
        <p:pic>
          <p:nvPicPr>
            <p:cNvPr id="38" name="object 38"/>
            <p:cNvPicPr/>
            <p:nvPr/>
          </p:nvPicPr>
          <p:blipFill>
            <a:blip r:embed="rId19" cstate="print"/>
            <a:stretch>
              <a:fillRect/>
            </a:stretch>
          </p:blipFill>
          <p:spPr>
            <a:xfrm>
              <a:off x="3933444" y="3817620"/>
              <a:ext cx="1272539" cy="745236"/>
            </a:xfrm>
            <a:prstGeom prst="rect">
              <a:avLst/>
            </a:prstGeom>
          </p:spPr>
        </p:pic>
        <p:pic>
          <p:nvPicPr>
            <p:cNvPr id="39" name="object 39"/>
            <p:cNvPicPr/>
            <p:nvPr/>
          </p:nvPicPr>
          <p:blipFill>
            <a:blip r:embed="rId20" cstate="print"/>
            <a:stretch>
              <a:fillRect/>
            </a:stretch>
          </p:blipFill>
          <p:spPr>
            <a:xfrm>
              <a:off x="1510283" y="3665232"/>
              <a:ext cx="1229867" cy="1048499"/>
            </a:xfrm>
            <a:prstGeom prst="rect">
              <a:avLst/>
            </a:prstGeom>
          </p:spPr>
        </p:pic>
        <p:pic>
          <p:nvPicPr>
            <p:cNvPr id="40" name="object 40"/>
            <p:cNvPicPr/>
            <p:nvPr/>
          </p:nvPicPr>
          <p:blipFill>
            <a:blip r:embed="rId21" cstate="print"/>
            <a:stretch>
              <a:fillRect/>
            </a:stretch>
          </p:blipFill>
          <p:spPr>
            <a:xfrm>
              <a:off x="1557527" y="3692652"/>
              <a:ext cx="1139952" cy="958596"/>
            </a:xfrm>
            <a:prstGeom prst="rect">
              <a:avLst/>
            </a:prstGeom>
          </p:spPr>
        </p:pic>
        <p:sp>
          <p:nvSpPr>
            <p:cNvPr id="41" name="object 41"/>
            <p:cNvSpPr/>
            <p:nvPr/>
          </p:nvSpPr>
          <p:spPr>
            <a:xfrm>
              <a:off x="1557527" y="3692652"/>
              <a:ext cx="1140460" cy="958850"/>
            </a:xfrm>
            <a:custGeom>
              <a:avLst/>
              <a:gdLst/>
              <a:ahLst/>
              <a:cxnLst/>
              <a:rect l="l" t="t" r="r" b="b"/>
              <a:pathLst>
                <a:path w="1140460" h="958850">
                  <a:moveTo>
                    <a:pt x="0" y="958596"/>
                  </a:moveTo>
                  <a:lnTo>
                    <a:pt x="1139952" y="958596"/>
                  </a:lnTo>
                  <a:lnTo>
                    <a:pt x="1139952" y="0"/>
                  </a:lnTo>
                  <a:lnTo>
                    <a:pt x="0" y="0"/>
                  </a:lnTo>
                  <a:lnTo>
                    <a:pt x="0" y="958596"/>
                  </a:lnTo>
                  <a:close/>
                </a:path>
              </a:pathLst>
            </a:custGeom>
            <a:ln w="9525">
              <a:solidFill>
                <a:srgbClr val="000000"/>
              </a:solidFill>
            </a:ln>
          </p:spPr>
          <p:txBody>
            <a:bodyPr wrap="square" lIns="0" tIns="0" rIns="0" bIns="0" rtlCol="0"/>
            <a:lstStyle/>
            <a:p>
              <a:endParaRPr/>
            </a:p>
          </p:txBody>
        </p:sp>
      </p:grpSp>
      <p:sp>
        <p:nvSpPr>
          <p:cNvPr id="42" name="object 42"/>
          <p:cNvSpPr txBox="1"/>
          <p:nvPr/>
        </p:nvSpPr>
        <p:spPr>
          <a:xfrm>
            <a:off x="3252216" y="3692653"/>
            <a:ext cx="969644" cy="618759"/>
          </a:xfrm>
          <a:prstGeom prst="rect">
            <a:avLst/>
          </a:prstGeom>
          <a:ln w="9525">
            <a:solidFill>
              <a:srgbClr val="000000"/>
            </a:solidFill>
          </a:ln>
        </p:spPr>
        <p:txBody>
          <a:bodyPr vert="horz" wrap="square" lIns="0" tIns="64135" rIns="0" bIns="0" rtlCol="0">
            <a:spAutoFit/>
          </a:bodyPr>
          <a:lstStyle/>
          <a:p>
            <a:pPr>
              <a:spcBef>
                <a:spcPts val="505"/>
              </a:spcBef>
            </a:pPr>
            <a:endParaRPr>
              <a:latin typeface="Times New Roman"/>
              <a:cs typeface="Times New Roman"/>
            </a:endParaRPr>
          </a:p>
          <a:p>
            <a:pPr marL="161925"/>
            <a:r>
              <a:rPr spc="-10" dirty="0">
                <a:latin typeface="Calibri"/>
                <a:cs typeface="Calibri"/>
              </a:rPr>
              <a:t>Logic</a:t>
            </a:r>
            <a:endParaRPr>
              <a:latin typeface="Calibri"/>
              <a:cs typeface="Calibri"/>
            </a:endParaRPr>
          </a:p>
        </p:txBody>
      </p:sp>
      <p:grpSp>
        <p:nvGrpSpPr>
          <p:cNvPr id="43" name="object 43"/>
          <p:cNvGrpSpPr/>
          <p:nvPr/>
        </p:nvGrpSpPr>
        <p:grpSpPr>
          <a:xfrm>
            <a:off x="1836229" y="3038666"/>
            <a:ext cx="8585200" cy="1170305"/>
            <a:chOff x="312229" y="3038665"/>
            <a:chExt cx="8585200" cy="1170305"/>
          </a:xfrm>
        </p:grpSpPr>
        <p:sp>
          <p:nvSpPr>
            <p:cNvPr id="44" name="object 44"/>
            <p:cNvSpPr/>
            <p:nvPr/>
          </p:nvSpPr>
          <p:spPr>
            <a:xfrm>
              <a:off x="1225295" y="4130802"/>
              <a:ext cx="332105" cy="78105"/>
            </a:xfrm>
            <a:custGeom>
              <a:avLst/>
              <a:gdLst/>
              <a:ahLst/>
              <a:cxnLst/>
              <a:rect l="l" t="t" r="r" b="b"/>
              <a:pathLst>
                <a:path w="332105" h="78104">
                  <a:moveTo>
                    <a:pt x="255904" y="1650"/>
                  </a:moveTo>
                  <a:lnTo>
                    <a:pt x="255283" y="76200"/>
                  </a:lnTo>
                  <a:lnTo>
                    <a:pt x="255269" y="77850"/>
                  </a:lnTo>
                  <a:lnTo>
                    <a:pt x="320021" y="46228"/>
                  </a:lnTo>
                  <a:lnTo>
                    <a:pt x="268223" y="46228"/>
                  </a:lnTo>
                  <a:lnTo>
                    <a:pt x="268312" y="37337"/>
                  </a:lnTo>
                  <a:lnTo>
                    <a:pt x="268350" y="33528"/>
                  </a:lnTo>
                  <a:lnTo>
                    <a:pt x="318096" y="33528"/>
                  </a:lnTo>
                  <a:lnTo>
                    <a:pt x="255904" y="1650"/>
                  </a:lnTo>
                  <a:close/>
                </a:path>
                <a:path w="332105" h="78104">
                  <a:moveTo>
                    <a:pt x="76581" y="0"/>
                  </a:moveTo>
                  <a:lnTo>
                    <a:pt x="0" y="37337"/>
                  </a:lnTo>
                  <a:lnTo>
                    <a:pt x="75818" y="76200"/>
                  </a:lnTo>
                  <a:lnTo>
                    <a:pt x="76118" y="46228"/>
                  </a:lnTo>
                  <a:lnTo>
                    <a:pt x="76136" y="44441"/>
                  </a:lnTo>
                  <a:lnTo>
                    <a:pt x="63371" y="44441"/>
                  </a:lnTo>
                  <a:lnTo>
                    <a:pt x="63480" y="33528"/>
                  </a:lnTo>
                  <a:lnTo>
                    <a:pt x="63498" y="31741"/>
                  </a:lnTo>
                  <a:lnTo>
                    <a:pt x="76263" y="31741"/>
                  </a:lnTo>
                  <a:lnTo>
                    <a:pt x="76564" y="1650"/>
                  </a:lnTo>
                  <a:lnTo>
                    <a:pt x="76581" y="0"/>
                  </a:lnTo>
                  <a:close/>
                </a:path>
                <a:path w="332105" h="78104">
                  <a:moveTo>
                    <a:pt x="76263" y="31741"/>
                  </a:moveTo>
                  <a:lnTo>
                    <a:pt x="76245" y="33528"/>
                  </a:lnTo>
                  <a:lnTo>
                    <a:pt x="76136" y="44441"/>
                  </a:lnTo>
                  <a:lnTo>
                    <a:pt x="268224" y="46228"/>
                  </a:lnTo>
                  <a:lnTo>
                    <a:pt x="255533" y="46228"/>
                  </a:lnTo>
                  <a:lnTo>
                    <a:pt x="255639" y="33528"/>
                  </a:lnTo>
                  <a:lnTo>
                    <a:pt x="268351" y="33528"/>
                  </a:lnTo>
                  <a:lnTo>
                    <a:pt x="76263" y="31741"/>
                  </a:lnTo>
                  <a:close/>
                </a:path>
                <a:path w="332105" h="78104">
                  <a:moveTo>
                    <a:pt x="318096" y="33528"/>
                  </a:moveTo>
                  <a:lnTo>
                    <a:pt x="268350" y="33528"/>
                  </a:lnTo>
                  <a:lnTo>
                    <a:pt x="268312" y="37337"/>
                  </a:lnTo>
                  <a:lnTo>
                    <a:pt x="268223" y="46228"/>
                  </a:lnTo>
                  <a:lnTo>
                    <a:pt x="320021" y="46228"/>
                  </a:lnTo>
                  <a:lnTo>
                    <a:pt x="331723" y="40512"/>
                  </a:lnTo>
                  <a:lnTo>
                    <a:pt x="318096" y="33528"/>
                  </a:lnTo>
                  <a:close/>
                </a:path>
                <a:path w="332105" h="78104">
                  <a:moveTo>
                    <a:pt x="76263" y="31741"/>
                  </a:moveTo>
                  <a:lnTo>
                    <a:pt x="63498" y="31741"/>
                  </a:lnTo>
                  <a:lnTo>
                    <a:pt x="63480" y="33528"/>
                  </a:lnTo>
                  <a:lnTo>
                    <a:pt x="63371" y="44441"/>
                  </a:lnTo>
                  <a:lnTo>
                    <a:pt x="76136" y="44441"/>
                  </a:lnTo>
                  <a:lnTo>
                    <a:pt x="76245" y="33528"/>
                  </a:lnTo>
                  <a:lnTo>
                    <a:pt x="76263" y="31741"/>
                  </a:lnTo>
                  <a:close/>
                </a:path>
              </a:pathLst>
            </a:custGeom>
            <a:solidFill>
              <a:srgbClr val="497DBA"/>
            </a:solidFill>
          </p:spPr>
          <p:txBody>
            <a:bodyPr wrap="square" lIns="0" tIns="0" rIns="0" bIns="0" rtlCol="0"/>
            <a:lstStyle/>
            <a:p>
              <a:endParaRPr/>
            </a:p>
          </p:txBody>
        </p:sp>
        <p:sp>
          <p:nvSpPr>
            <p:cNvPr id="45" name="object 45"/>
            <p:cNvSpPr/>
            <p:nvPr/>
          </p:nvSpPr>
          <p:spPr>
            <a:xfrm>
              <a:off x="7659623" y="3043427"/>
              <a:ext cx="1233170" cy="208915"/>
            </a:xfrm>
            <a:custGeom>
              <a:avLst/>
              <a:gdLst/>
              <a:ahLst/>
              <a:cxnLst/>
              <a:rect l="l" t="t" r="r" b="b"/>
              <a:pathLst>
                <a:path w="1233170" h="208914">
                  <a:moveTo>
                    <a:pt x="0" y="208787"/>
                  </a:moveTo>
                  <a:lnTo>
                    <a:pt x="1361" y="168151"/>
                  </a:lnTo>
                  <a:lnTo>
                    <a:pt x="5079" y="134969"/>
                  </a:lnTo>
                  <a:lnTo>
                    <a:pt x="10608" y="112597"/>
                  </a:lnTo>
                  <a:lnTo>
                    <a:pt x="17399" y="104394"/>
                  </a:lnTo>
                  <a:lnTo>
                    <a:pt x="599058" y="104394"/>
                  </a:lnTo>
                  <a:lnTo>
                    <a:pt x="605849" y="96190"/>
                  </a:lnTo>
                  <a:lnTo>
                    <a:pt x="611377" y="73818"/>
                  </a:lnTo>
                  <a:lnTo>
                    <a:pt x="615096" y="40636"/>
                  </a:lnTo>
                  <a:lnTo>
                    <a:pt x="616457" y="0"/>
                  </a:lnTo>
                  <a:lnTo>
                    <a:pt x="617819" y="40636"/>
                  </a:lnTo>
                  <a:lnTo>
                    <a:pt x="621537" y="73818"/>
                  </a:lnTo>
                  <a:lnTo>
                    <a:pt x="627066" y="96190"/>
                  </a:lnTo>
                  <a:lnTo>
                    <a:pt x="633856" y="104394"/>
                  </a:lnTo>
                  <a:lnTo>
                    <a:pt x="1215517" y="104394"/>
                  </a:lnTo>
                  <a:lnTo>
                    <a:pt x="1222307" y="112597"/>
                  </a:lnTo>
                  <a:lnTo>
                    <a:pt x="1227836" y="134969"/>
                  </a:lnTo>
                  <a:lnTo>
                    <a:pt x="1231554" y="168151"/>
                  </a:lnTo>
                  <a:lnTo>
                    <a:pt x="1232916" y="208787"/>
                  </a:lnTo>
                </a:path>
              </a:pathLst>
            </a:custGeom>
            <a:ln w="9524">
              <a:solidFill>
                <a:srgbClr val="000000"/>
              </a:solidFill>
            </a:ln>
          </p:spPr>
          <p:txBody>
            <a:bodyPr wrap="square" lIns="0" tIns="0" rIns="0" bIns="0" rtlCol="0"/>
            <a:lstStyle/>
            <a:p>
              <a:endParaRPr/>
            </a:p>
          </p:txBody>
        </p:sp>
        <p:sp>
          <p:nvSpPr>
            <p:cNvPr id="46" name="object 46"/>
            <p:cNvSpPr/>
            <p:nvPr/>
          </p:nvSpPr>
          <p:spPr>
            <a:xfrm>
              <a:off x="316991" y="3043427"/>
              <a:ext cx="4945380" cy="193675"/>
            </a:xfrm>
            <a:custGeom>
              <a:avLst/>
              <a:gdLst/>
              <a:ahLst/>
              <a:cxnLst/>
              <a:rect l="l" t="t" r="r" b="b"/>
              <a:pathLst>
                <a:path w="4945380" h="193675">
                  <a:moveTo>
                    <a:pt x="0" y="193548"/>
                  </a:moveTo>
                  <a:lnTo>
                    <a:pt x="1268" y="155870"/>
                  </a:lnTo>
                  <a:lnTo>
                    <a:pt x="4725" y="125110"/>
                  </a:lnTo>
                  <a:lnTo>
                    <a:pt x="9853" y="104376"/>
                  </a:lnTo>
                  <a:lnTo>
                    <a:pt x="16128" y="96774"/>
                  </a:lnTo>
                  <a:lnTo>
                    <a:pt x="2451862" y="96774"/>
                  </a:lnTo>
                  <a:lnTo>
                    <a:pt x="2458132" y="89171"/>
                  </a:lnTo>
                  <a:lnTo>
                    <a:pt x="2463260" y="68437"/>
                  </a:lnTo>
                  <a:lnTo>
                    <a:pt x="2466721" y="37677"/>
                  </a:lnTo>
                  <a:lnTo>
                    <a:pt x="2467991" y="0"/>
                  </a:lnTo>
                  <a:lnTo>
                    <a:pt x="2469243" y="37677"/>
                  </a:lnTo>
                  <a:lnTo>
                    <a:pt x="2472674" y="68437"/>
                  </a:lnTo>
                  <a:lnTo>
                    <a:pt x="2477795" y="89171"/>
                  </a:lnTo>
                  <a:lnTo>
                    <a:pt x="2484120" y="96774"/>
                  </a:lnTo>
                  <a:lnTo>
                    <a:pt x="4929251" y="96774"/>
                  </a:lnTo>
                  <a:lnTo>
                    <a:pt x="4935521" y="104376"/>
                  </a:lnTo>
                  <a:lnTo>
                    <a:pt x="4940649" y="125110"/>
                  </a:lnTo>
                  <a:lnTo>
                    <a:pt x="4944110" y="155870"/>
                  </a:lnTo>
                  <a:lnTo>
                    <a:pt x="4945380" y="193548"/>
                  </a:lnTo>
                </a:path>
              </a:pathLst>
            </a:custGeom>
            <a:ln w="9524">
              <a:solidFill>
                <a:srgbClr val="000000"/>
              </a:solidFill>
            </a:ln>
          </p:spPr>
          <p:txBody>
            <a:bodyPr wrap="square" lIns="0" tIns="0" rIns="0" bIns="0" rtlCol="0"/>
            <a:lstStyle/>
            <a:p>
              <a:endParaRPr/>
            </a:p>
          </p:txBody>
        </p:sp>
      </p:grpSp>
      <p:sp>
        <p:nvSpPr>
          <p:cNvPr id="47" name="object 47"/>
          <p:cNvSpPr txBox="1"/>
          <p:nvPr/>
        </p:nvSpPr>
        <p:spPr>
          <a:xfrm>
            <a:off x="9470518" y="2707004"/>
            <a:ext cx="607695" cy="299720"/>
          </a:xfrm>
          <a:prstGeom prst="rect">
            <a:avLst/>
          </a:prstGeom>
        </p:spPr>
        <p:txBody>
          <a:bodyPr vert="horz" wrap="square" lIns="0" tIns="12700" rIns="0" bIns="0" rtlCol="0">
            <a:spAutoFit/>
          </a:bodyPr>
          <a:lstStyle/>
          <a:p>
            <a:pPr marL="12700">
              <a:spcBef>
                <a:spcPts val="100"/>
              </a:spcBef>
            </a:pPr>
            <a:r>
              <a:rPr spc="-10" dirty="0">
                <a:latin typeface="Arial"/>
                <a:cs typeface="Arial"/>
              </a:rPr>
              <a:t>Client</a:t>
            </a:r>
            <a:endParaRPr>
              <a:latin typeface="Arial"/>
              <a:cs typeface="Arial"/>
            </a:endParaRPr>
          </a:p>
        </p:txBody>
      </p:sp>
      <p:sp>
        <p:nvSpPr>
          <p:cNvPr id="50" name="object 50"/>
          <p:cNvSpPr txBox="1"/>
          <p:nvPr/>
        </p:nvSpPr>
        <p:spPr>
          <a:xfrm>
            <a:off x="9757410" y="6509715"/>
            <a:ext cx="180975" cy="156068"/>
          </a:xfrm>
          <a:prstGeom prst="rect">
            <a:avLst/>
          </a:prstGeom>
        </p:spPr>
        <p:txBody>
          <a:bodyPr vert="horz" wrap="square" lIns="0" tIns="0" rIns="0" bIns="0" rtlCol="0">
            <a:spAutoFit/>
          </a:bodyPr>
          <a:lstStyle/>
          <a:p>
            <a:pPr marL="12700">
              <a:lnSpc>
                <a:spcPts val="1240"/>
              </a:lnSpc>
            </a:pPr>
            <a:r>
              <a:rPr sz="1200" spc="-25" dirty="0">
                <a:solidFill>
                  <a:srgbClr val="888888"/>
                </a:solidFill>
                <a:latin typeface="Calibri"/>
                <a:cs typeface="Calibri"/>
              </a:rPr>
              <a:t>34</a:t>
            </a:r>
            <a:endParaRPr sz="1200">
              <a:latin typeface="Calibri"/>
              <a:cs typeface="Calibri"/>
            </a:endParaRPr>
          </a:p>
        </p:txBody>
      </p:sp>
      <p:sp>
        <p:nvSpPr>
          <p:cNvPr id="48" name="object 48"/>
          <p:cNvSpPr txBox="1"/>
          <p:nvPr/>
        </p:nvSpPr>
        <p:spPr>
          <a:xfrm>
            <a:off x="4206494" y="3161107"/>
            <a:ext cx="234038" cy="83185"/>
          </a:xfrm>
          <a:prstGeom prst="rect">
            <a:avLst/>
          </a:prstGeom>
        </p:spPr>
        <p:txBody>
          <a:bodyPr vert="vert270" wrap="square" lIns="0" tIns="0" rIns="0" bIns="0" rtlCol="0">
            <a:spAutoFit/>
          </a:bodyPr>
          <a:lstStyle/>
          <a:p>
            <a:pPr marL="12700">
              <a:lnSpc>
                <a:spcPts val="1810"/>
              </a:lnSpc>
            </a:pPr>
            <a:r>
              <a:rPr spc="-50" dirty="0">
                <a:latin typeface="Calibri"/>
                <a:cs typeface="Calibri"/>
              </a:rPr>
              <a:t>.</a:t>
            </a:r>
            <a:endParaRPr>
              <a:latin typeface="Calibri"/>
              <a:cs typeface="Calibri"/>
            </a:endParaRPr>
          </a:p>
        </p:txBody>
      </p:sp>
      <p:sp>
        <p:nvSpPr>
          <p:cNvPr id="49" name="object 49"/>
          <p:cNvSpPr txBox="1"/>
          <p:nvPr/>
        </p:nvSpPr>
        <p:spPr>
          <a:xfrm>
            <a:off x="2059941" y="1405277"/>
            <a:ext cx="4496435" cy="2132330"/>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dirty="0">
                <a:latin typeface="Calibri"/>
                <a:cs typeface="Calibri"/>
              </a:rPr>
              <a:t>UI</a:t>
            </a:r>
            <a:r>
              <a:rPr sz="2200" spc="-45" dirty="0">
                <a:latin typeface="Calibri"/>
                <a:cs typeface="Calibri"/>
              </a:rPr>
              <a:t> </a:t>
            </a:r>
            <a:r>
              <a:rPr sz="2200" dirty="0">
                <a:latin typeface="Calibri"/>
                <a:cs typeface="Calibri"/>
              </a:rPr>
              <a:t>(Front</a:t>
            </a:r>
            <a:r>
              <a:rPr sz="2200" spc="-50" dirty="0">
                <a:latin typeface="Calibri"/>
                <a:cs typeface="Calibri"/>
              </a:rPr>
              <a:t> </a:t>
            </a:r>
            <a:r>
              <a:rPr sz="2200" dirty="0">
                <a:latin typeface="Calibri"/>
                <a:cs typeface="Calibri"/>
              </a:rPr>
              <a:t>End</a:t>
            </a:r>
            <a:r>
              <a:rPr sz="2200" spc="-35" dirty="0">
                <a:latin typeface="Calibri"/>
                <a:cs typeface="Calibri"/>
              </a:rPr>
              <a:t> </a:t>
            </a:r>
            <a:r>
              <a:rPr sz="2200" dirty="0">
                <a:latin typeface="Calibri"/>
                <a:cs typeface="Calibri"/>
              </a:rPr>
              <a:t>(DOM,</a:t>
            </a:r>
            <a:r>
              <a:rPr sz="2200" spc="-25" dirty="0">
                <a:latin typeface="Calibri"/>
                <a:cs typeface="Calibri"/>
              </a:rPr>
              <a:t> </a:t>
            </a:r>
            <a:r>
              <a:rPr sz="2200" spc="-10" dirty="0">
                <a:latin typeface="Calibri"/>
                <a:cs typeface="Calibri"/>
              </a:rPr>
              <a:t>Framework))</a:t>
            </a:r>
            <a:endParaRPr sz="2200">
              <a:latin typeface="Calibri"/>
              <a:cs typeface="Calibri"/>
            </a:endParaRPr>
          </a:p>
          <a:p>
            <a:pPr marL="354965" indent="-342265">
              <a:spcBef>
                <a:spcPts val="525"/>
              </a:spcBef>
              <a:buFont typeface="Arial"/>
              <a:buChar char="•"/>
              <a:tabLst>
                <a:tab pos="354965" algn="l"/>
              </a:tabLst>
            </a:pPr>
            <a:r>
              <a:rPr sz="2200" spc="-10" dirty="0">
                <a:latin typeface="Calibri"/>
                <a:cs typeface="Calibri"/>
              </a:rPr>
              <a:t>Request</a:t>
            </a:r>
            <a:r>
              <a:rPr sz="2200" spc="-75" dirty="0">
                <a:latin typeface="Calibri"/>
                <a:cs typeface="Calibri"/>
              </a:rPr>
              <a:t> </a:t>
            </a:r>
            <a:r>
              <a:rPr sz="2200" dirty="0">
                <a:latin typeface="Calibri"/>
                <a:cs typeface="Calibri"/>
              </a:rPr>
              <a:t>Layer</a:t>
            </a:r>
            <a:r>
              <a:rPr sz="2200" spc="-95" dirty="0">
                <a:latin typeface="Calibri"/>
                <a:cs typeface="Calibri"/>
              </a:rPr>
              <a:t> </a:t>
            </a:r>
            <a:r>
              <a:rPr sz="2200" spc="-10" dirty="0">
                <a:latin typeface="Calibri"/>
                <a:cs typeface="Calibri"/>
              </a:rPr>
              <a:t>(Web</a:t>
            </a:r>
            <a:r>
              <a:rPr sz="2200" spc="-75" dirty="0">
                <a:latin typeface="Calibri"/>
                <a:cs typeface="Calibri"/>
              </a:rPr>
              <a:t> </a:t>
            </a:r>
            <a:r>
              <a:rPr sz="2200" spc="-20" dirty="0">
                <a:latin typeface="Calibri"/>
                <a:cs typeface="Calibri"/>
              </a:rPr>
              <a:t>API)</a:t>
            </a:r>
            <a:endParaRPr sz="2200">
              <a:latin typeface="Calibri"/>
              <a:cs typeface="Calibri"/>
            </a:endParaRPr>
          </a:p>
          <a:p>
            <a:pPr marL="354965" indent="-342265">
              <a:spcBef>
                <a:spcPts val="535"/>
              </a:spcBef>
              <a:buFont typeface="Arial"/>
              <a:buChar char="•"/>
              <a:tabLst>
                <a:tab pos="354965" algn="l"/>
              </a:tabLst>
            </a:pPr>
            <a:r>
              <a:rPr sz="2200" dirty="0">
                <a:latin typeface="Calibri"/>
                <a:cs typeface="Calibri"/>
              </a:rPr>
              <a:t>Back</a:t>
            </a:r>
            <a:r>
              <a:rPr sz="2200" spc="-35" dirty="0">
                <a:latin typeface="Calibri"/>
                <a:cs typeface="Calibri"/>
              </a:rPr>
              <a:t> </a:t>
            </a:r>
            <a:r>
              <a:rPr sz="2200" dirty="0">
                <a:latin typeface="Calibri"/>
                <a:cs typeface="Calibri"/>
              </a:rPr>
              <a:t>End</a:t>
            </a:r>
            <a:r>
              <a:rPr sz="2200" spc="-45" dirty="0">
                <a:latin typeface="Calibri"/>
                <a:cs typeface="Calibri"/>
              </a:rPr>
              <a:t> </a:t>
            </a:r>
            <a:r>
              <a:rPr sz="2200" dirty="0">
                <a:latin typeface="Calibri"/>
                <a:cs typeface="Calibri"/>
              </a:rPr>
              <a:t>(Database,</a:t>
            </a:r>
            <a:r>
              <a:rPr sz="2200" spc="-35" dirty="0">
                <a:latin typeface="Calibri"/>
                <a:cs typeface="Calibri"/>
              </a:rPr>
              <a:t> </a:t>
            </a:r>
            <a:r>
              <a:rPr sz="2200" spc="-10" dirty="0">
                <a:latin typeface="Calibri"/>
                <a:cs typeface="Calibri"/>
              </a:rPr>
              <a:t>Logic)</a:t>
            </a:r>
            <a:endParaRPr sz="2200">
              <a:latin typeface="Calibri"/>
              <a:cs typeface="Calibri"/>
            </a:endParaRPr>
          </a:p>
          <a:p>
            <a:pPr marR="20955" algn="ctr">
              <a:spcBef>
                <a:spcPts val="940"/>
              </a:spcBef>
            </a:pPr>
            <a:r>
              <a:rPr spc="-10" dirty="0">
                <a:latin typeface="Arial"/>
                <a:cs typeface="Arial"/>
              </a:rPr>
              <a:t>Server</a:t>
            </a:r>
            <a:endParaRPr>
              <a:latin typeface="Arial"/>
              <a:cs typeface="Arial"/>
            </a:endParaRPr>
          </a:p>
          <a:p>
            <a:pPr marL="1734820">
              <a:spcBef>
                <a:spcPts val="1820"/>
              </a:spcBef>
              <a:tabLst>
                <a:tab pos="3582670" algn="l"/>
              </a:tabLst>
            </a:pPr>
            <a:r>
              <a:rPr spc="-25" dirty="0">
                <a:latin typeface="Calibri"/>
                <a:cs typeface="Calibri"/>
              </a:rPr>
              <a:t>API</a:t>
            </a:r>
            <a:r>
              <a:rPr dirty="0">
                <a:latin typeface="Calibri"/>
                <a:cs typeface="Calibri"/>
              </a:rPr>
              <a:t>	Front</a:t>
            </a:r>
            <a:r>
              <a:rPr spc="-70" dirty="0">
                <a:latin typeface="Calibri"/>
                <a:cs typeface="Calibri"/>
              </a:rPr>
              <a:t> </a:t>
            </a:r>
            <a:r>
              <a:rPr spc="-25" dirty="0">
                <a:latin typeface="Calibri"/>
                <a:cs typeface="Calibri"/>
              </a:rPr>
              <a:t>End</a:t>
            </a:r>
            <a:endParaRPr>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40F40-F1CF-44E0-A26F-2E59C4960D4F}"/>
              </a:ext>
            </a:extLst>
          </p:cNvPr>
          <p:cNvSpPr>
            <a:spLocks noGrp="1"/>
          </p:cNvSpPr>
          <p:nvPr>
            <p:ph type="title"/>
          </p:nvPr>
        </p:nvSpPr>
        <p:spPr/>
        <p:txBody>
          <a:bodyPr/>
          <a:lstStyle/>
          <a:p>
            <a:r>
              <a:rPr lang="en-US" dirty="0"/>
              <a:t>Components of a web application</a:t>
            </a:r>
          </a:p>
        </p:txBody>
      </p:sp>
      <p:sp>
        <p:nvSpPr>
          <p:cNvPr id="3" name="Content Placeholder 2">
            <a:extLst>
              <a:ext uri="{FF2B5EF4-FFF2-40B4-BE49-F238E27FC236}">
                <a16:creationId xmlns:a16="http://schemas.microsoft.com/office/drawing/2014/main" id="{D8EBD216-D686-4C7F-A933-8A57E35B1CD8}"/>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581D4FDA-C35C-4896-B226-B1DECA55FABD}"/>
              </a:ext>
            </a:extLst>
          </p:cNvPr>
          <p:cNvPicPr>
            <a:picLocks noChangeAspect="1"/>
          </p:cNvPicPr>
          <p:nvPr/>
        </p:nvPicPr>
        <p:blipFill rotWithShape="1">
          <a:blip r:embed="rId2"/>
          <a:srcRect l="17619" t="21997" r="36905" b="14403"/>
          <a:stretch/>
        </p:blipFill>
        <p:spPr>
          <a:xfrm>
            <a:off x="3106057" y="1845734"/>
            <a:ext cx="5544457" cy="4359608"/>
          </a:xfrm>
          <a:prstGeom prst="rect">
            <a:avLst/>
          </a:prstGeom>
        </p:spPr>
      </p:pic>
      <p:sp>
        <p:nvSpPr>
          <p:cNvPr id="5" name="Rectangle 4">
            <a:extLst>
              <a:ext uri="{FF2B5EF4-FFF2-40B4-BE49-F238E27FC236}">
                <a16:creationId xmlns:a16="http://schemas.microsoft.com/office/drawing/2014/main" id="{79258FD6-C712-49A9-82DD-43F96D8ECF45}"/>
              </a:ext>
            </a:extLst>
          </p:cNvPr>
          <p:cNvSpPr/>
          <p:nvPr/>
        </p:nvSpPr>
        <p:spPr>
          <a:xfrm>
            <a:off x="3610479" y="6313716"/>
            <a:ext cx="5400646" cy="369332"/>
          </a:xfrm>
          <a:prstGeom prst="rect">
            <a:avLst/>
          </a:prstGeom>
        </p:spPr>
        <p:txBody>
          <a:bodyPr wrap="none">
            <a:spAutoFit/>
          </a:bodyPr>
          <a:lstStyle/>
          <a:p>
            <a:r>
              <a:rPr lang="en-US" dirty="0">
                <a:latin typeface="TimesNewRomanPS"/>
              </a:rPr>
              <a:t>Fig: Basic components of Web application architectures.</a:t>
            </a:r>
            <a:endParaRPr lang="en-US" dirty="0"/>
          </a:p>
        </p:txBody>
      </p:sp>
    </p:spTree>
    <p:extLst>
      <p:ext uri="{BB962C8B-B14F-4D97-AF65-F5344CB8AC3E}">
        <p14:creationId xmlns:p14="http://schemas.microsoft.com/office/powerpoint/2010/main" val="2384847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762" y="273558"/>
            <a:ext cx="9142095" cy="0"/>
          </a:xfrm>
          <a:custGeom>
            <a:avLst/>
            <a:gdLst/>
            <a:ahLst/>
            <a:cxnLst/>
            <a:rect l="l" t="t" r="r" b="b"/>
            <a:pathLst>
              <a:path w="9142095">
                <a:moveTo>
                  <a:pt x="0" y="0"/>
                </a:moveTo>
                <a:lnTo>
                  <a:pt x="9141587" y="0"/>
                </a:lnTo>
              </a:path>
            </a:pathLst>
          </a:custGeom>
          <a:ln w="50800">
            <a:solidFill>
              <a:srgbClr val="404040"/>
            </a:solidFill>
          </a:ln>
        </p:spPr>
        <p:txBody>
          <a:bodyPr wrap="square" lIns="0" tIns="0" rIns="0" bIns="0" rtlCol="0"/>
          <a:lstStyle/>
          <a:p>
            <a:endParaRPr/>
          </a:p>
        </p:txBody>
      </p:sp>
      <p:sp>
        <p:nvSpPr>
          <p:cNvPr id="3" name="object 3"/>
          <p:cNvSpPr/>
          <p:nvPr/>
        </p:nvSpPr>
        <p:spPr>
          <a:xfrm>
            <a:off x="1524000" y="368809"/>
            <a:ext cx="9144000" cy="1736089"/>
          </a:xfrm>
          <a:custGeom>
            <a:avLst/>
            <a:gdLst/>
            <a:ahLst/>
            <a:cxnLst/>
            <a:rect l="l" t="t" r="r" b="b"/>
            <a:pathLst>
              <a:path w="9144000" h="1736089">
                <a:moveTo>
                  <a:pt x="9144000" y="0"/>
                </a:moveTo>
                <a:lnTo>
                  <a:pt x="0" y="0"/>
                </a:lnTo>
                <a:lnTo>
                  <a:pt x="0" y="1735836"/>
                </a:lnTo>
                <a:lnTo>
                  <a:pt x="9144000" y="1735836"/>
                </a:lnTo>
                <a:lnTo>
                  <a:pt x="9144000" y="0"/>
                </a:lnTo>
                <a:close/>
              </a:path>
            </a:pathLst>
          </a:custGeom>
          <a:solidFill>
            <a:srgbClr val="404040"/>
          </a:solidFill>
        </p:spPr>
        <p:txBody>
          <a:bodyPr wrap="square" lIns="0" tIns="0" rIns="0" bIns="0" rtlCol="0"/>
          <a:lstStyle/>
          <a:p>
            <a:endParaRPr/>
          </a:p>
        </p:txBody>
      </p:sp>
      <p:sp>
        <p:nvSpPr>
          <p:cNvPr id="4" name="object 4"/>
          <p:cNvSpPr txBox="1">
            <a:spLocks noGrp="1"/>
          </p:cNvSpPr>
          <p:nvPr>
            <p:ph type="title"/>
          </p:nvPr>
        </p:nvSpPr>
        <p:spPr>
          <a:xfrm>
            <a:off x="2362200" y="450083"/>
            <a:ext cx="10515600" cy="1155649"/>
          </a:xfrm>
          <a:prstGeom prst="rect">
            <a:avLst/>
          </a:prstGeom>
        </p:spPr>
        <p:txBody>
          <a:bodyPr vert="horz" wrap="square" lIns="0" tIns="428193" rIns="0" bIns="0" rtlCol="0" anchor="ctr">
            <a:spAutoFit/>
          </a:bodyPr>
          <a:lstStyle/>
          <a:p>
            <a:pPr marL="447675">
              <a:lnSpc>
                <a:spcPct val="100000"/>
              </a:lnSpc>
              <a:spcBef>
                <a:spcPts val="105"/>
              </a:spcBef>
            </a:pPr>
            <a:r>
              <a:rPr sz="4700" b="1" dirty="0">
                <a:solidFill>
                  <a:srgbClr val="FFFFFF"/>
                </a:solidFill>
                <a:latin typeface="Calibri"/>
                <a:cs typeface="Calibri"/>
              </a:rPr>
              <a:t>FRONTEND</a:t>
            </a:r>
            <a:r>
              <a:rPr sz="4700" b="1" spc="-125" dirty="0">
                <a:solidFill>
                  <a:srgbClr val="FFFFFF"/>
                </a:solidFill>
                <a:latin typeface="Calibri"/>
                <a:cs typeface="Calibri"/>
              </a:rPr>
              <a:t> </a:t>
            </a:r>
            <a:r>
              <a:rPr sz="4700" b="1" spc="-10" dirty="0">
                <a:solidFill>
                  <a:srgbClr val="FFFFFF"/>
                </a:solidFill>
                <a:latin typeface="Calibri"/>
                <a:cs typeface="Calibri"/>
              </a:rPr>
              <a:t>DEVELOPMENT</a:t>
            </a:r>
            <a:endParaRPr sz="4700">
              <a:latin typeface="Calibri"/>
              <a:cs typeface="Calibri"/>
            </a:endParaRPr>
          </a:p>
        </p:txBody>
      </p:sp>
      <p:sp>
        <p:nvSpPr>
          <p:cNvPr id="5" name="object 5"/>
          <p:cNvSpPr/>
          <p:nvPr/>
        </p:nvSpPr>
        <p:spPr>
          <a:xfrm>
            <a:off x="5068061" y="1480566"/>
            <a:ext cx="2057400" cy="0"/>
          </a:xfrm>
          <a:custGeom>
            <a:avLst/>
            <a:gdLst/>
            <a:ahLst/>
            <a:cxnLst/>
            <a:rect l="l" t="t" r="r" b="b"/>
            <a:pathLst>
              <a:path w="2057400">
                <a:moveTo>
                  <a:pt x="0" y="0"/>
                </a:moveTo>
                <a:lnTo>
                  <a:pt x="2057400" y="0"/>
                </a:lnTo>
              </a:path>
            </a:pathLst>
          </a:custGeom>
          <a:ln w="19050">
            <a:solidFill>
              <a:srgbClr val="FFFFFF"/>
            </a:solidFill>
          </a:ln>
        </p:spPr>
        <p:txBody>
          <a:bodyPr wrap="square" lIns="0" tIns="0" rIns="0" bIns="0" rtlCol="0"/>
          <a:lstStyle/>
          <a:p>
            <a:endParaRPr/>
          </a:p>
        </p:txBody>
      </p:sp>
      <p:sp>
        <p:nvSpPr>
          <p:cNvPr id="6" name="object 6"/>
          <p:cNvSpPr/>
          <p:nvPr/>
        </p:nvSpPr>
        <p:spPr>
          <a:xfrm>
            <a:off x="1524762" y="2201417"/>
            <a:ext cx="9142095" cy="0"/>
          </a:xfrm>
          <a:custGeom>
            <a:avLst/>
            <a:gdLst/>
            <a:ahLst/>
            <a:cxnLst/>
            <a:rect l="l" t="t" r="r" b="b"/>
            <a:pathLst>
              <a:path w="9142095">
                <a:moveTo>
                  <a:pt x="0" y="0"/>
                </a:moveTo>
                <a:lnTo>
                  <a:pt x="9141587" y="0"/>
                </a:lnTo>
              </a:path>
            </a:pathLst>
          </a:custGeom>
          <a:ln w="50800">
            <a:solidFill>
              <a:srgbClr val="404040"/>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657855" y="2880776"/>
            <a:ext cx="6833616" cy="309136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429385">
              <a:lnSpc>
                <a:spcPct val="100000"/>
              </a:lnSpc>
              <a:spcBef>
                <a:spcPts val="105"/>
              </a:spcBef>
            </a:pPr>
            <a:r>
              <a:rPr dirty="0"/>
              <a:t>Front</a:t>
            </a:r>
            <a:r>
              <a:rPr spc="-100" dirty="0"/>
              <a:t> </a:t>
            </a:r>
            <a:r>
              <a:rPr dirty="0"/>
              <a:t>End</a:t>
            </a:r>
            <a:r>
              <a:rPr spc="-100" dirty="0"/>
              <a:t> </a:t>
            </a:r>
            <a:r>
              <a:rPr spc="-10" dirty="0"/>
              <a:t>Languages</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26</a:t>
            </a:fld>
            <a:endParaRPr spc="-25" dirty="0"/>
          </a:p>
        </p:txBody>
      </p:sp>
      <p:grpSp>
        <p:nvGrpSpPr>
          <p:cNvPr id="3" name="object 3"/>
          <p:cNvGrpSpPr/>
          <p:nvPr/>
        </p:nvGrpSpPr>
        <p:grpSpPr>
          <a:xfrm>
            <a:off x="4646168" y="4814059"/>
            <a:ext cx="3127375" cy="2043430"/>
            <a:chOff x="3122167" y="4716779"/>
            <a:chExt cx="3127375" cy="2043430"/>
          </a:xfrm>
        </p:grpSpPr>
        <p:pic>
          <p:nvPicPr>
            <p:cNvPr id="4" name="object 4"/>
            <p:cNvPicPr/>
            <p:nvPr/>
          </p:nvPicPr>
          <p:blipFill>
            <a:blip r:embed="rId2" cstate="print"/>
            <a:stretch>
              <a:fillRect/>
            </a:stretch>
          </p:blipFill>
          <p:spPr>
            <a:xfrm>
              <a:off x="3122167" y="4786827"/>
              <a:ext cx="3127247" cy="1972878"/>
            </a:xfrm>
            <a:prstGeom prst="rect">
              <a:avLst/>
            </a:prstGeom>
          </p:spPr>
        </p:pic>
        <p:sp>
          <p:nvSpPr>
            <p:cNvPr id="5" name="object 5"/>
            <p:cNvSpPr/>
            <p:nvPr/>
          </p:nvSpPr>
          <p:spPr>
            <a:xfrm>
              <a:off x="4372355" y="4716779"/>
              <a:ext cx="1690370" cy="422275"/>
            </a:xfrm>
            <a:custGeom>
              <a:avLst/>
              <a:gdLst/>
              <a:ahLst/>
              <a:cxnLst/>
              <a:rect l="l" t="t" r="r" b="b"/>
              <a:pathLst>
                <a:path w="1690370" h="422275">
                  <a:moveTo>
                    <a:pt x="1690116" y="0"/>
                  </a:moveTo>
                  <a:lnTo>
                    <a:pt x="0" y="0"/>
                  </a:lnTo>
                  <a:lnTo>
                    <a:pt x="0" y="422148"/>
                  </a:lnTo>
                  <a:lnTo>
                    <a:pt x="1690116" y="422148"/>
                  </a:lnTo>
                  <a:lnTo>
                    <a:pt x="1690116" y="0"/>
                  </a:lnTo>
                  <a:close/>
                </a:path>
              </a:pathLst>
            </a:custGeom>
            <a:solidFill>
              <a:srgbClr val="FFFFFF"/>
            </a:solidFill>
          </p:spPr>
          <p:txBody>
            <a:bodyPr wrap="square" lIns="0" tIns="0" rIns="0" bIns="0" rtlCol="0"/>
            <a:lstStyle/>
            <a:p>
              <a:endParaRPr/>
            </a:p>
          </p:txBody>
        </p:sp>
      </p:grpSp>
      <p:sp>
        <p:nvSpPr>
          <p:cNvPr id="6" name="object 6"/>
          <p:cNvSpPr txBox="1"/>
          <p:nvPr/>
        </p:nvSpPr>
        <p:spPr>
          <a:xfrm>
            <a:off x="2059940" y="1646706"/>
            <a:ext cx="7834630" cy="3533775"/>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spc="-10" dirty="0">
                <a:solidFill>
                  <a:srgbClr val="E36C09"/>
                </a:solidFill>
                <a:latin typeface="Calibri"/>
                <a:cs typeface="Calibri"/>
              </a:rPr>
              <a:t>HTML/CSS</a:t>
            </a:r>
            <a:endParaRPr sz="2200" dirty="0">
              <a:latin typeface="Calibri"/>
              <a:cs typeface="Calibri"/>
            </a:endParaRPr>
          </a:p>
          <a:p>
            <a:pPr marL="354965" indent="-342265">
              <a:spcBef>
                <a:spcPts val="530"/>
              </a:spcBef>
              <a:buFont typeface="Arial"/>
              <a:buChar char="•"/>
              <a:tabLst>
                <a:tab pos="354965" algn="l"/>
              </a:tabLst>
            </a:pPr>
            <a:r>
              <a:rPr sz="2200" spc="-10" dirty="0">
                <a:solidFill>
                  <a:srgbClr val="E36C09"/>
                </a:solidFill>
                <a:latin typeface="Calibri"/>
                <a:cs typeface="Calibri"/>
              </a:rPr>
              <a:t>JavaScript</a:t>
            </a:r>
            <a:endParaRPr sz="2200" dirty="0">
              <a:latin typeface="Calibri"/>
              <a:cs typeface="Calibri"/>
            </a:endParaRPr>
          </a:p>
          <a:p>
            <a:pPr marL="354965" indent="-342265">
              <a:spcBef>
                <a:spcPts val="530"/>
              </a:spcBef>
              <a:buFont typeface="Arial"/>
              <a:buChar char="•"/>
              <a:tabLst>
                <a:tab pos="354965" algn="l"/>
              </a:tabLst>
            </a:pPr>
            <a:r>
              <a:rPr sz="2200" dirty="0">
                <a:solidFill>
                  <a:srgbClr val="E36C09"/>
                </a:solidFill>
                <a:latin typeface="Calibri"/>
                <a:cs typeface="Calibri"/>
              </a:rPr>
              <a:t>Java</a:t>
            </a:r>
            <a:r>
              <a:rPr sz="2200" spc="-75" dirty="0">
                <a:solidFill>
                  <a:srgbClr val="E36C09"/>
                </a:solidFill>
                <a:latin typeface="Calibri"/>
                <a:cs typeface="Calibri"/>
              </a:rPr>
              <a:t> </a:t>
            </a:r>
            <a:r>
              <a:rPr sz="2200" spc="-10" dirty="0">
                <a:solidFill>
                  <a:srgbClr val="E36C09"/>
                </a:solidFill>
                <a:latin typeface="Calibri"/>
                <a:cs typeface="Calibri"/>
              </a:rPr>
              <a:t>(applets)</a:t>
            </a:r>
            <a:endParaRPr sz="2200" dirty="0">
              <a:latin typeface="Calibri"/>
              <a:cs typeface="Calibri"/>
            </a:endParaRPr>
          </a:p>
          <a:p>
            <a:pPr>
              <a:spcBef>
                <a:spcPts val="1010"/>
              </a:spcBef>
              <a:buFont typeface="Arial"/>
              <a:buChar char="•"/>
            </a:pPr>
            <a:endParaRPr sz="2200" dirty="0">
              <a:latin typeface="Calibri"/>
              <a:cs typeface="Calibri"/>
            </a:endParaRPr>
          </a:p>
          <a:p>
            <a:pPr marL="355600" indent="-342900" algn="just">
              <a:buFont typeface="Arial"/>
              <a:buChar char="•"/>
              <a:tabLst>
                <a:tab pos="355600" algn="l"/>
              </a:tabLst>
            </a:pPr>
            <a:r>
              <a:rPr sz="2200" dirty="0">
                <a:latin typeface="Calibri"/>
                <a:cs typeface="Calibri"/>
              </a:rPr>
              <a:t>What</a:t>
            </a:r>
            <a:r>
              <a:rPr sz="2200" spc="-50" dirty="0">
                <a:latin typeface="Calibri"/>
                <a:cs typeface="Calibri"/>
              </a:rPr>
              <a:t> </a:t>
            </a:r>
            <a:r>
              <a:rPr sz="2200" dirty="0">
                <a:latin typeface="Calibri"/>
                <a:cs typeface="Calibri"/>
              </a:rPr>
              <a:t>is</a:t>
            </a:r>
            <a:r>
              <a:rPr sz="2200" spc="-40"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most</a:t>
            </a:r>
            <a:r>
              <a:rPr sz="2200" spc="-30" dirty="0">
                <a:latin typeface="Calibri"/>
                <a:cs typeface="Calibri"/>
              </a:rPr>
              <a:t> </a:t>
            </a:r>
            <a:r>
              <a:rPr sz="2200" spc="-10" dirty="0">
                <a:latin typeface="Calibri"/>
                <a:cs typeface="Calibri"/>
              </a:rPr>
              <a:t>popular?</a:t>
            </a:r>
            <a:endParaRPr sz="2200" dirty="0">
              <a:latin typeface="Calibri"/>
              <a:cs typeface="Calibri"/>
            </a:endParaRPr>
          </a:p>
          <a:p>
            <a:pPr marL="355600" marR="5080" indent="-342900" algn="just">
              <a:spcBef>
                <a:spcPts val="530"/>
              </a:spcBef>
              <a:buFont typeface="Arial"/>
              <a:buChar char="•"/>
              <a:tabLst>
                <a:tab pos="355600" algn="l"/>
              </a:tabLst>
            </a:pPr>
            <a:r>
              <a:rPr sz="2200" dirty="0">
                <a:latin typeface="Calibri"/>
                <a:cs typeface="Calibri"/>
              </a:rPr>
              <a:t>Answer:</a:t>
            </a:r>
            <a:r>
              <a:rPr sz="2200" spc="-35" dirty="0">
                <a:latin typeface="Calibri"/>
                <a:cs typeface="Calibri"/>
              </a:rPr>
              <a:t> </a:t>
            </a:r>
            <a:r>
              <a:rPr sz="2200" spc="-10" dirty="0">
                <a:solidFill>
                  <a:srgbClr val="E36C09"/>
                </a:solidFill>
                <a:latin typeface="Calibri"/>
                <a:cs typeface="Calibri"/>
              </a:rPr>
              <a:t>JavaScript/HTML/CSS</a:t>
            </a:r>
            <a:r>
              <a:rPr sz="2200" spc="-30" dirty="0">
                <a:solidFill>
                  <a:srgbClr val="E36C09"/>
                </a:solidFill>
                <a:latin typeface="Calibri"/>
                <a:cs typeface="Calibri"/>
              </a:rPr>
              <a:t> </a:t>
            </a:r>
            <a:r>
              <a:rPr sz="2200" dirty="0">
                <a:latin typeface="Calibri"/>
                <a:cs typeface="Calibri"/>
              </a:rPr>
              <a:t>is</a:t>
            </a:r>
            <a:r>
              <a:rPr sz="2200" spc="-45" dirty="0">
                <a:latin typeface="Calibri"/>
                <a:cs typeface="Calibri"/>
              </a:rPr>
              <a:t> </a:t>
            </a:r>
            <a:r>
              <a:rPr sz="2200" dirty="0">
                <a:latin typeface="Calibri"/>
                <a:cs typeface="Calibri"/>
              </a:rPr>
              <a:t>the</a:t>
            </a:r>
            <a:r>
              <a:rPr sz="2200" spc="-35" dirty="0">
                <a:latin typeface="Calibri"/>
                <a:cs typeface="Calibri"/>
              </a:rPr>
              <a:t> </a:t>
            </a:r>
            <a:r>
              <a:rPr sz="2200" dirty="0">
                <a:latin typeface="Calibri"/>
                <a:cs typeface="Calibri"/>
              </a:rPr>
              <a:t>only</a:t>
            </a:r>
            <a:r>
              <a:rPr sz="2200" spc="-45" dirty="0">
                <a:latin typeface="Calibri"/>
                <a:cs typeface="Calibri"/>
              </a:rPr>
              <a:t> </a:t>
            </a:r>
            <a:r>
              <a:rPr sz="2200" dirty="0">
                <a:latin typeface="Calibri"/>
                <a:cs typeface="Calibri"/>
              </a:rPr>
              <a:t>real</a:t>
            </a:r>
            <a:r>
              <a:rPr sz="2200" spc="-40" dirty="0">
                <a:latin typeface="Calibri"/>
                <a:cs typeface="Calibri"/>
              </a:rPr>
              <a:t> </a:t>
            </a:r>
            <a:r>
              <a:rPr sz="2200" dirty="0">
                <a:latin typeface="Calibri"/>
                <a:cs typeface="Calibri"/>
              </a:rPr>
              <a:t>option</a:t>
            </a:r>
            <a:r>
              <a:rPr sz="2200" spc="-45" dirty="0">
                <a:latin typeface="Calibri"/>
                <a:cs typeface="Calibri"/>
              </a:rPr>
              <a:t> </a:t>
            </a:r>
            <a:r>
              <a:rPr sz="2200" dirty="0">
                <a:latin typeface="Calibri"/>
                <a:cs typeface="Calibri"/>
              </a:rPr>
              <a:t>for</a:t>
            </a:r>
            <a:r>
              <a:rPr sz="2200" spc="-40" dirty="0">
                <a:latin typeface="Calibri"/>
                <a:cs typeface="Calibri"/>
              </a:rPr>
              <a:t> </a:t>
            </a:r>
            <a:r>
              <a:rPr sz="2200" spc="-25" dirty="0">
                <a:latin typeface="Calibri"/>
                <a:cs typeface="Calibri"/>
              </a:rPr>
              <a:t>front-end </a:t>
            </a:r>
            <a:r>
              <a:rPr sz="2200" dirty="0">
                <a:latin typeface="Calibri"/>
                <a:cs typeface="Calibri"/>
              </a:rPr>
              <a:t>native</a:t>
            </a:r>
            <a:r>
              <a:rPr sz="2200" spc="-40" dirty="0">
                <a:latin typeface="Calibri"/>
                <a:cs typeface="Calibri"/>
              </a:rPr>
              <a:t> </a:t>
            </a:r>
            <a:r>
              <a:rPr sz="2200" dirty="0">
                <a:latin typeface="Calibri"/>
                <a:cs typeface="Calibri"/>
              </a:rPr>
              <a:t>languages</a:t>
            </a:r>
            <a:r>
              <a:rPr sz="2200" spc="-35" dirty="0">
                <a:latin typeface="Calibri"/>
                <a:cs typeface="Calibri"/>
              </a:rPr>
              <a:t> </a:t>
            </a:r>
            <a:r>
              <a:rPr sz="2200" dirty="0">
                <a:latin typeface="Calibri"/>
                <a:cs typeface="Calibri"/>
              </a:rPr>
              <a:t>and</a:t>
            </a:r>
            <a:r>
              <a:rPr sz="2200" spc="-50" dirty="0">
                <a:latin typeface="Calibri"/>
                <a:cs typeface="Calibri"/>
              </a:rPr>
              <a:t> </a:t>
            </a:r>
            <a:r>
              <a:rPr sz="2200" dirty="0">
                <a:latin typeface="Calibri"/>
                <a:cs typeface="Calibri"/>
              </a:rPr>
              <a:t>is</a:t>
            </a:r>
            <a:r>
              <a:rPr sz="2200" spc="-35" dirty="0">
                <a:latin typeface="Calibri"/>
                <a:cs typeface="Calibri"/>
              </a:rPr>
              <a:t> </a:t>
            </a:r>
            <a:r>
              <a:rPr sz="2200" dirty="0">
                <a:latin typeface="Calibri"/>
                <a:cs typeface="Calibri"/>
              </a:rPr>
              <a:t>basically</a:t>
            </a:r>
            <a:r>
              <a:rPr sz="2200" spc="-50" dirty="0">
                <a:latin typeface="Calibri"/>
                <a:cs typeface="Calibri"/>
              </a:rPr>
              <a:t> </a:t>
            </a:r>
            <a:r>
              <a:rPr sz="2200" dirty="0">
                <a:latin typeface="Calibri"/>
                <a:cs typeface="Calibri"/>
              </a:rPr>
              <a:t>the</a:t>
            </a:r>
            <a:r>
              <a:rPr sz="2200" spc="-40" dirty="0">
                <a:latin typeface="Calibri"/>
                <a:cs typeface="Calibri"/>
              </a:rPr>
              <a:t> </a:t>
            </a:r>
            <a:r>
              <a:rPr sz="2200" dirty="0">
                <a:latin typeface="Calibri"/>
                <a:cs typeface="Calibri"/>
              </a:rPr>
              <a:t>standard.</a:t>
            </a:r>
            <a:r>
              <a:rPr sz="2200" spc="-55" dirty="0">
                <a:latin typeface="Calibri"/>
                <a:cs typeface="Calibri"/>
              </a:rPr>
              <a:t> </a:t>
            </a:r>
            <a:r>
              <a:rPr sz="2200" dirty="0">
                <a:latin typeface="Calibri"/>
                <a:cs typeface="Calibri"/>
              </a:rPr>
              <a:t>But</a:t>
            </a:r>
            <a:r>
              <a:rPr sz="2200" spc="-45" dirty="0">
                <a:latin typeface="Calibri"/>
                <a:cs typeface="Calibri"/>
              </a:rPr>
              <a:t> </a:t>
            </a:r>
            <a:r>
              <a:rPr sz="2200" dirty="0">
                <a:latin typeface="Calibri"/>
                <a:cs typeface="Calibri"/>
              </a:rPr>
              <a:t>there</a:t>
            </a:r>
            <a:r>
              <a:rPr sz="2200" spc="-25" dirty="0">
                <a:latin typeface="Calibri"/>
                <a:cs typeface="Calibri"/>
              </a:rPr>
              <a:t> </a:t>
            </a:r>
            <a:r>
              <a:rPr sz="2200" dirty="0">
                <a:latin typeface="Calibri"/>
                <a:cs typeface="Calibri"/>
              </a:rPr>
              <a:t>are</a:t>
            </a:r>
            <a:r>
              <a:rPr sz="2200" spc="-40" dirty="0">
                <a:latin typeface="Calibri"/>
                <a:cs typeface="Calibri"/>
              </a:rPr>
              <a:t> </a:t>
            </a:r>
            <a:r>
              <a:rPr sz="2200" spc="-20" dirty="0">
                <a:latin typeface="Calibri"/>
                <a:cs typeface="Calibri"/>
              </a:rPr>
              <a:t>many </a:t>
            </a:r>
            <a:r>
              <a:rPr sz="2200" spc="-10" dirty="0">
                <a:latin typeface="Calibri"/>
                <a:cs typeface="Calibri"/>
              </a:rPr>
              <a:t>variations</a:t>
            </a:r>
            <a:r>
              <a:rPr sz="2200" spc="-50" dirty="0">
                <a:latin typeface="Calibri"/>
                <a:cs typeface="Calibri"/>
              </a:rPr>
              <a:t> </a:t>
            </a:r>
            <a:r>
              <a:rPr sz="2200" dirty="0">
                <a:latin typeface="Calibri"/>
                <a:cs typeface="Calibri"/>
              </a:rPr>
              <a:t>on</a:t>
            </a:r>
            <a:r>
              <a:rPr sz="2200" spc="-20" dirty="0">
                <a:latin typeface="Calibri"/>
                <a:cs typeface="Calibri"/>
              </a:rPr>
              <a:t> </a:t>
            </a:r>
            <a:r>
              <a:rPr sz="2200" spc="-10" dirty="0">
                <a:latin typeface="Calibri"/>
                <a:cs typeface="Calibri"/>
              </a:rPr>
              <a:t>JavaScript</a:t>
            </a:r>
            <a:r>
              <a:rPr sz="2200" spc="-35" dirty="0">
                <a:latin typeface="Calibri"/>
                <a:cs typeface="Calibri"/>
              </a:rPr>
              <a:t> </a:t>
            </a:r>
            <a:r>
              <a:rPr sz="2200" dirty="0">
                <a:latin typeface="Calibri"/>
                <a:cs typeface="Calibri"/>
              </a:rPr>
              <a:t>that</a:t>
            </a:r>
            <a:r>
              <a:rPr sz="2200" spc="-25" dirty="0">
                <a:latin typeface="Calibri"/>
                <a:cs typeface="Calibri"/>
              </a:rPr>
              <a:t> </a:t>
            </a:r>
            <a:r>
              <a:rPr sz="2200" dirty="0">
                <a:latin typeface="Calibri"/>
                <a:cs typeface="Calibri"/>
              </a:rPr>
              <a:t>are</a:t>
            </a:r>
            <a:r>
              <a:rPr sz="2200" spc="-30" dirty="0">
                <a:latin typeface="Calibri"/>
                <a:cs typeface="Calibri"/>
              </a:rPr>
              <a:t> </a:t>
            </a:r>
            <a:r>
              <a:rPr sz="2200" spc="-10" dirty="0">
                <a:latin typeface="Calibri"/>
                <a:cs typeface="Calibri"/>
              </a:rPr>
              <a:t>used.</a:t>
            </a:r>
            <a:endParaRPr sz="2200" dirty="0">
              <a:latin typeface="Calibri"/>
              <a:cs typeface="Calibri"/>
            </a:endParaRPr>
          </a:p>
          <a:p>
            <a:pPr marL="1531620" algn="ctr">
              <a:spcBef>
                <a:spcPts val="210"/>
              </a:spcBef>
            </a:pPr>
            <a:r>
              <a:rPr sz="2600" spc="-10" dirty="0">
                <a:latin typeface="Calibri"/>
                <a:cs typeface="Calibri"/>
              </a:rPr>
              <a:t>Today</a:t>
            </a:r>
            <a:endParaRPr sz="2600" dirty="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56845">
              <a:lnSpc>
                <a:spcPct val="100000"/>
              </a:lnSpc>
              <a:spcBef>
                <a:spcPts val="105"/>
              </a:spcBef>
            </a:pPr>
            <a:r>
              <a:rPr dirty="0"/>
              <a:t>DOM</a:t>
            </a:r>
            <a:r>
              <a:rPr spc="-40" dirty="0"/>
              <a:t> </a:t>
            </a:r>
            <a:r>
              <a:rPr dirty="0"/>
              <a:t>(Document</a:t>
            </a:r>
            <a:r>
              <a:rPr spc="-65" dirty="0"/>
              <a:t> </a:t>
            </a:r>
            <a:r>
              <a:rPr dirty="0"/>
              <a:t>Object</a:t>
            </a:r>
            <a:r>
              <a:rPr spc="-40" dirty="0"/>
              <a:t> </a:t>
            </a:r>
            <a:r>
              <a:rPr spc="-10" dirty="0"/>
              <a:t>Model)</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27</a:t>
            </a:fld>
            <a:endParaRPr spc="-25" dirty="0"/>
          </a:p>
        </p:txBody>
      </p:sp>
      <p:sp>
        <p:nvSpPr>
          <p:cNvPr id="3" name="object 3"/>
          <p:cNvSpPr txBox="1"/>
          <p:nvPr/>
        </p:nvSpPr>
        <p:spPr>
          <a:xfrm>
            <a:off x="2050212" y="1834792"/>
            <a:ext cx="7660640" cy="1433195"/>
          </a:xfrm>
          <a:prstGeom prst="rect">
            <a:avLst/>
          </a:prstGeom>
        </p:spPr>
        <p:txBody>
          <a:bodyPr vert="horz" wrap="square" lIns="0" tIns="12065" rIns="0" bIns="0" rtlCol="0">
            <a:spAutoFit/>
          </a:bodyPr>
          <a:lstStyle/>
          <a:p>
            <a:pPr marL="355600" marR="5080" indent="-342900">
              <a:spcBef>
                <a:spcPts val="95"/>
              </a:spcBef>
              <a:buFont typeface="Arial"/>
              <a:buChar char="•"/>
              <a:tabLst>
                <a:tab pos="355600" algn="l"/>
              </a:tabLst>
            </a:pPr>
            <a:r>
              <a:rPr sz="2200" dirty="0">
                <a:solidFill>
                  <a:srgbClr val="E36C09"/>
                </a:solidFill>
                <a:latin typeface="Calibri"/>
                <a:cs typeface="Calibri"/>
              </a:rPr>
              <a:t>Document</a:t>
            </a:r>
            <a:r>
              <a:rPr sz="2200" spc="-50" dirty="0">
                <a:solidFill>
                  <a:srgbClr val="E36C09"/>
                </a:solidFill>
                <a:latin typeface="Calibri"/>
                <a:cs typeface="Calibri"/>
              </a:rPr>
              <a:t> </a:t>
            </a:r>
            <a:r>
              <a:rPr sz="2200" dirty="0">
                <a:solidFill>
                  <a:srgbClr val="E36C09"/>
                </a:solidFill>
                <a:latin typeface="Calibri"/>
                <a:cs typeface="Calibri"/>
              </a:rPr>
              <a:t>Object</a:t>
            </a:r>
            <a:r>
              <a:rPr sz="2200" spc="-50" dirty="0">
                <a:solidFill>
                  <a:srgbClr val="E36C09"/>
                </a:solidFill>
                <a:latin typeface="Calibri"/>
                <a:cs typeface="Calibri"/>
              </a:rPr>
              <a:t> </a:t>
            </a:r>
            <a:r>
              <a:rPr sz="2200" dirty="0">
                <a:solidFill>
                  <a:srgbClr val="E36C09"/>
                </a:solidFill>
                <a:latin typeface="Calibri"/>
                <a:cs typeface="Calibri"/>
              </a:rPr>
              <a:t>Model</a:t>
            </a:r>
            <a:r>
              <a:rPr sz="2200" spc="-65" dirty="0">
                <a:solidFill>
                  <a:srgbClr val="E36C09"/>
                </a:solidFill>
                <a:latin typeface="Calibri"/>
                <a:cs typeface="Calibri"/>
              </a:rPr>
              <a:t> </a:t>
            </a:r>
            <a:r>
              <a:rPr sz="2200" dirty="0">
                <a:latin typeface="Calibri"/>
                <a:cs typeface="Calibri"/>
              </a:rPr>
              <a:t>makes</a:t>
            </a:r>
            <a:r>
              <a:rPr sz="2200" spc="-40" dirty="0">
                <a:latin typeface="Calibri"/>
                <a:cs typeface="Calibri"/>
              </a:rPr>
              <a:t> </a:t>
            </a:r>
            <a:r>
              <a:rPr sz="2200" dirty="0">
                <a:latin typeface="Calibri"/>
                <a:cs typeface="Calibri"/>
              </a:rPr>
              <a:t>every</a:t>
            </a:r>
            <a:r>
              <a:rPr sz="2200" spc="-45" dirty="0">
                <a:latin typeface="Calibri"/>
                <a:cs typeface="Calibri"/>
              </a:rPr>
              <a:t> </a:t>
            </a:r>
            <a:r>
              <a:rPr sz="2200" dirty="0">
                <a:latin typeface="Calibri"/>
                <a:cs typeface="Calibri"/>
              </a:rPr>
              <a:t>addressable</a:t>
            </a:r>
            <a:r>
              <a:rPr sz="2200" spc="-75" dirty="0">
                <a:latin typeface="Calibri"/>
                <a:cs typeface="Calibri"/>
              </a:rPr>
              <a:t> </a:t>
            </a:r>
            <a:r>
              <a:rPr sz="2200" dirty="0">
                <a:latin typeface="Calibri"/>
                <a:cs typeface="Calibri"/>
              </a:rPr>
              <a:t>item</a:t>
            </a:r>
            <a:r>
              <a:rPr sz="2200" spc="-50" dirty="0">
                <a:latin typeface="Calibri"/>
                <a:cs typeface="Calibri"/>
              </a:rPr>
              <a:t> </a:t>
            </a:r>
            <a:r>
              <a:rPr sz="2200" dirty="0">
                <a:latin typeface="Calibri"/>
                <a:cs typeface="Calibri"/>
              </a:rPr>
              <a:t>in</a:t>
            </a:r>
            <a:r>
              <a:rPr sz="2200" spc="-65" dirty="0">
                <a:latin typeface="Calibri"/>
                <a:cs typeface="Calibri"/>
              </a:rPr>
              <a:t> </a:t>
            </a:r>
            <a:r>
              <a:rPr sz="2200" dirty="0">
                <a:latin typeface="Calibri"/>
                <a:cs typeface="Calibri"/>
              </a:rPr>
              <a:t>a</a:t>
            </a:r>
            <a:r>
              <a:rPr sz="2200" spc="-60" dirty="0">
                <a:latin typeface="Calibri"/>
                <a:cs typeface="Calibri"/>
              </a:rPr>
              <a:t> </a:t>
            </a:r>
            <a:r>
              <a:rPr sz="2200" spc="-25" dirty="0">
                <a:latin typeface="Calibri"/>
                <a:cs typeface="Calibri"/>
              </a:rPr>
              <a:t>web </a:t>
            </a:r>
            <a:r>
              <a:rPr sz="2200" dirty="0">
                <a:latin typeface="Calibri"/>
                <a:cs typeface="Calibri"/>
              </a:rPr>
              <a:t>application</a:t>
            </a:r>
            <a:r>
              <a:rPr sz="2200" spc="-55" dirty="0">
                <a:latin typeface="Calibri"/>
                <a:cs typeface="Calibri"/>
              </a:rPr>
              <a:t> </a:t>
            </a:r>
            <a:r>
              <a:rPr sz="2200" dirty="0">
                <a:latin typeface="Calibri"/>
                <a:cs typeface="Calibri"/>
              </a:rPr>
              <a:t>an</a:t>
            </a:r>
            <a:r>
              <a:rPr sz="2200" spc="-35" dirty="0">
                <a:latin typeface="Calibri"/>
                <a:cs typeface="Calibri"/>
              </a:rPr>
              <a:t> </a:t>
            </a:r>
            <a:r>
              <a:rPr sz="2200" dirty="0">
                <a:latin typeface="Calibri"/>
                <a:cs typeface="Calibri"/>
              </a:rPr>
              <a:t>Object</a:t>
            </a:r>
            <a:r>
              <a:rPr sz="2200" spc="-15" dirty="0">
                <a:latin typeface="Calibri"/>
                <a:cs typeface="Calibri"/>
              </a:rPr>
              <a:t> </a:t>
            </a:r>
            <a:r>
              <a:rPr sz="2200" dirty="0">
                <a:latin typeface="Calibri"/>
                <a:cs typeface="Calibri"/>
              </a:rPr>
              <a:t>that</a:t>
            </a:r>
            <a:r>
              <a:rPr sz="2200" spc="-45" dirty="0">
                <a:latin typeface="Calibri"/>
                <a:cs typeface="Calibri"/>
              </a:rPr>
              <a:t> </a:t>
            </a:r>
            <a:r>
              <a:rPr sz="2200" dirty="0">
                <a:latin typeface="Calibri"/>
                <a:cs typeface="Calibri"/>
              </a:rPr>
              <a:t>can</a:t>
            </a:r>
            <a:r>
              <a:rPr sz="2200" spc="-35" dirty="0">
                <a:latin typeface="Calibri"/>
                <a:cs typeface="Calibri"/>
              </a:rPr>
              <a:t> </a:t>
            </a:r>
            <a:r>
              <a:rPr sz="2200" dirty="0">
                <a:latin typeface="Calibri"/>
                <a:cs typeface="Calibri"/>
              </a:rPr>
              <a:t>be</a:t>
            </a:r>
            <a:r>
              <a:rPr sz="2200" spc="-20" dirty="0">
                <a:latin typeface="Calibri"/>
                <a:cs typeface="Calibri"/>
              </a:rPr>
              <a:t> </a:t>
            </a:r>
            <a:r>
              <a:rPr sz="2200" spc="-10" dirty="0">
                <a:latin typeface="Calibri"/>
                <a:cs typeface="Calibri"/>
              </a:rPr>
              <a:t>manipulated</a:t>
            </a:r>
            <a:r>
              <a:rPr sz="2200" spc="-45" dirty="0">
                <a:latin typeface="Calibri"/>
                <a:cs typeface="Calibri"/>
              </a:rPr>
              <a:t> </a:t>
            </a:r>
            <a:r>
              <a:rPr sz="2200" dirty="0">
                <a:latin typeface="Calibri"/>
                <a:cs typeface="Calibri"/>
              </a:rPr>
              <a:t>for</a:t>
            </a:r>
            <a:r>
              <a:rPr sz="2200" spc="-30" dirty="0">
                <a:latin typeface="Calibri"/>
                <a:cs typeface="Calibri"/>
              </a:rPr>
              <a:t> </a:t>
            </a:r>
            <a:r>
              <a:rPr sz="2200" spc="-10" dirty="0">
                <a:latin typeface="Calibri"/>
                <a:cs typeface="Calibri"/>
              </a:rPr>
              <a:t>color, </a:t>
            </a:r>
            <a:r>
              <a:rPr sz="2200" spc="-20" dirty="0">
                <a:latin typeface="Calibri"/>
                <a:cs typeface="Calibri"/>
              </a:rPr>
              <a:t>transparency,</a:t>
            </a:r>
            <a:r>
              <a:rPr sz="2200" spc="-50" dirty="0">
                <a:latin typeface="Calibri"/>
                <a:cs typeface="Calibri"/>
              </a:rPr>
              <a:t> </a:t>
            </a:r>
            <a:r>
              <a:rPr sz="2200" dirty="0">
                <a:latin typeface="Calibri"/>
                <a:cs typeface="Calibri"/>
              </a:rPr>
              <a:t>position,</a:t>
            </a:r>
            <a:r>
              <a:rPr sz="2200" spc="-30" dirty="0">
                <a:latin typeface="Calibri"/>
                <a:cs typeface="Calibri"/>
              </a:rPr>
              <a:t> </a:t>
            </a:r>
            <a:r>
              <a:rPr sz="2200" dirty="0">
                <a:latin typeface="Calibri"/>
                <a:cs typeface="Calibri"/>
              </a:rPr>
              <a:t>sound</a:t>
            </a:r>
            <a:r>
              <a:rPr sz="2200" spc="-35" dirty="0">
                <a:latin typeface="Calibri"/>
                <a:cs typeface="Calibri"/>
              </a:rPr>
              <a:t> </a:t>
            </a:r>
            <a:r>
              <a:rPr sz="2200" dirty="0">
                <a:latin typeface="Calibri"/>
                <a:cs typeface="Calibri"/>
              </a:rPr>
              <a:t>and</a:t>
            </a:r>
            <a:r>
              <a:rPr sz="2200" spc="-35" dirty="0">
                <a:latin typeface="Calibri"/>
                <a:cs typeface="Calibri"/>
              </a:rPr>
              <a:t> </a:t>
            </a:r>
            <a:r>
              <a:rPr sz="2200" spc="-10" dirty="0">
                <a:latin typeface="Calibri"/>
                <a:cs typeface="Calibri"/>
              </a:rPr>
              <a:t>behaviors.</a:t>
            </a:r>
            <a:endParaRPr sz="2200" dirty="0">
              <a:latin typeface="Calibri"/>
              <a:cs typeface="Calibri"/>
            </a:endParaRPr>
          </a:p>
          <a:p>
            <a:pPr marL="354965" indent="-342265">
              <a:spcBef>
                <a:spcPts val="525"/>
              </a:spcBef>
              <a:buFont typeface="Arial"/>
              <a:buChar char="•"/>
              <a:tabLst>
                <a:tab pos="354965" algn="l"/>
              </a:tabLst>
            </a:pPr>
            <a:r>
              <a:rPr sz="2200" dirty="0">
                <a:latin typeface="Calibri"/>
                <a:cs typeface="Calibri"/>
              </a:rPr>
              <a:t>Every</a:t>
            </a:r>
            <a:r>
              <a:rPr sz="2200" spc="-45" dirty="0">
                <a:latin typeface="Calibri"/>
                <a:cs typeface="Calibri"/>
              </a:rPr>
              <a:t> </a:t>
            </a:r>
            <a:r>
              <a:rPr sz="2200" dirty="0">
                <a:solidFill>
                  <a:srgbClr val="E36C09"/>
                </a:solidFill>
                <a:latin typeface="Calibri"/>
                <a:cs typeface="Calibri"/>
              </a:rPr>
              <a:t>HTML</a:t>
            </a:r>
            <a:r>
              <a:rPr sz="2200" spc="-25" dirty="0">
                <a:solidFill>
                  <a:srgbClr val="E36C09"/>
                </a:solidFill>
                <a:latin typeface="Calibri"/>
                <a:cs typeface="Calibri"/>
              </a:rPr>
              <a:t> </a:t>
            </a:r>
            <a:r>
              <a:rPr sz="2200" spc="-40" dirty="0">
                <a:latin typeface="Calibri"/>
                <a:cs typeface="Calibri"/>
              </a:rPr>
              <a:t>Tag</a:t>
            </a:r>
            <a:r>
              <a:rPr sz="2200" spc="-45" dirty="0">
                <a:latin typeface="Calibri"/>
                <a:cs typeface="Calibri"/>
              </a:rPr>
              <a:t> </a:t>
            </a:r>
            <a:r>
              <a:rPr sz="2200" dirty="0">
                <a:latin typeface="Calibri"/>
                <a:cs typeface="Calibri"/>
              </a:rPr>
              <a:t>is</a:t>
            </a:r>
            <a:r>
              <a:rPr sz="2200" spc="-45" dirty="0">
                <a:latin typeface="Calibri"/>
                <a:cs typeface="Calibri"/>
              </a:rPr>
              <a:t> </a:t>
            </a:r>
            <a:r>
              <a:rPr sz="2200" dirty="0">
                <a:latin typeface="Calibri"/>
                <a:cs typeface="Calibri"/>
              </a:rPr>
              <a:t>a</a:t>
            </a:r>
            <a:r>
              <a:rPr sz="2200" spc="-45" dirty="0">
                <a:latin typeface="Calibri"/>
                <a:cs typeface="Calibri"/>
              </a:rPr>
              <a:t> </a:t>
            </a:r>
            <a:r>
              <a:rPr sz="2200" dirty="0">
                <a:solidFill>
                  <a:srgbClr val="E36C09"/>
                </a:solidFill>
                <a:latin typeface="Calibri"/>
                <a:cs typeface="Calibri"/>
              </a:rPr>
              <a:t>DOM</a:t>
            </a:r>
            <a:r>
              <a:rPr sz="2200" spc="-30" dirty="0">
                <a:solidFill>
                  <a:srgbClr val="E36C09"/>
                </a:solidFill>
                <a:latin typeface="Calibri"/>
                <a:cs typeface="Calibri"/>
              </a:rPr>
              <a:t> </a:t>
            </a:r>
            <a:r>
              <a:rPr sz="2200" spc="-10" dirty="0">
                <a:solidFill>
                  <a:srgbClr val="E36C09"/>
                </a:solidFill>
                <a:latin typeface="Calibri"/>
                <a:cs typeface="Calibri"/>
              </a:rPr>
              <a:t>object</a:t>
            </a:r>
            <a:endParaRPr sz="2200" dirty="0">
              <a:latin typeface="Calibri"/>
              <a:cs typeface="Calibri"/>
            </a:endParaRPr>
          </a:p>
        </p:txBody>
      </p:sp>
      <p:pic>
        <p:nvPicPr>
          <p:cNvPr id="4" name="object 4"/>
          <p:cNvPicPr/>
          <p:nvPr/>
        </p:nvPicPr>
        <p:blipFill>
          <a:blip r:embed="rId2" cstate="print"/>
          <a:stretch>
            <a:fillRect/>
          </a:stretch>
        </p:blipFill>
        <p:spPr>
          <a:xfrm>
            <a:off x="3467344" y="3286339"/>
            <a:ext cx="5246172" cy="271762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56845">
              <a:lnSpc>
                <a:spcPct val="100000"/>
              </a:lnSpc>
              <a:spcBef>
                <a:spcPts val="105"/>
              </a:spcBef>
            </a:pPr>
            <a:r>
              <a:rPr dirty="0"/>
              <a:t>DOM</a:t>
            </a:r>
            <a:r>
              <a:rPr spc="-40" dirty="0"/>
              <a:t> </a:t>
            </a:r>
            <a:r>
              <a:rPr dirty="0"/>
              <a:t>(Document</a:t>
            </a:r>
            <a:r>
              <a:rPr spc="-65" dirty="0"/>
              <a:t> </a:t>
            </a:r>
            <a:r>
              <a:rPr dirty="0"/>
              <a:t>Object</a:t>
            </a:r>
            <a:r>
              <a:rPr spc="-40" dirty="0"/>
              <a:t> </a:t>
            </a:r>
            <a:r>
              <a:rPr spc="-10" dirty="0"/>
              <a:t>Model)</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rgbClr val="888888"/>
                </a:solidFill>
                <a:latin typeface="Calibri"/>
                <a:cs typeface="Calibri"/>
              </a:defRPr>
            </a:lvl1pPr>
          </a:lstStyle>
          <a:p>
            <a:pPr marL="38100">
              <a:lnSpc>
                <a:spcPts val="1240"/>
              </a:lnSpc>
            </a:pPr>
            <a:fld id="{81D60167-4931-47E6-BA6A-407CBD079E47}" type="slidenum">
              <a:rPr lang="en-PK" spc="-50" smtClean="0"/>
              <a:pPr marL="38100">
                <a:lnSpc>
                  <a:spcPts val="1240"/>
                </a:lnSpc>
              </a:pPr>
              <a:t>28</a:t>
            </a:fld>
            <a:endParaRPr spc="-25" dirty="0"/>
          </a:p>
        </p:txBody>
      </p:sp>
      <p:pic>
        <p:nvPicPr>
          <p:cNvPr id="3" name="object 3"/>
          <p:cNvPicPr/>
          <p:nvPr/>
        </p:nvPicPr>
        <p:blipFill>
          <a:blip r:embed="rId2" cstate="print"/>
          <a:stretch>
            <a:fillRect/>
          </a:stretch>
        </p:blipFill>
        <p:spPr>
          <a:xfrm>
            <a:off x="4115328" y="1986850"/>
            <a:ext cx="3973494" cy="417389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1" y="1417319"/>
            <a:ext cx="9143999" cy="5241036"/>
          </a:xfrm>
          <a:prstGeom prst="rect">
            <a:avLst/>
          </a:prstGeom>
        </p:spPr>
      </p:pic>
      <p:sp>
        <p:nvSpPr>
          <p:cNvPr id="3" name="object 3"/>
          <p:cNvSpPr txBox="1">
            <a:spLocks noGrp="1"/>
          </p:cNvSpPr>
          <p:nvPr>
            <p:ph type="title"/>
          </p:nvPr>
        </p:nvSpPr>
        <p:spPr>
          <a:xfrm>
            <a:off x="2362200" y="560151"/>
            <a:ext cx="10515600" cy="935513"/>
          </a:xfrm>
          <a:prstGeom prst="rect">
            <a:avLst/>
          </a:prstGeom>
        </p:spPr>
        <p:txBody>
          <a:bodyPr vert="horz" wrap="square" lIns="0" tIns="316865" rIns="0" bIns="0" rtlCol="0" anchor="ctr">
            <a:spAutoFit/>
          </a:bodyPr>
          <a:lstStyle/>
          <a:p>
            <a:pPr marL="76200">
              <a:lnSpc>
                <a:spcPct val="100000"/>
              </a:lnSpc>
              <a:spcBef>
                <a:spcPts val="95"/>
              </a:spcBef>
            </a:pPr>
            <a:r>
              <a:rPr sz="4000" dirty="0"/>
              <a:t>Three</a:t>
            </a:r>
            <a:r>
              <a:rPr sz="4000" spc="-105" dirty="0"/>
              <a:t> </a:t>
            </a:r>
            <a:r>
              <a:rPr sz="4000" spc="-10" dirty="0"/>
              <a:t>representations</a:t>
            </a:r>
            <a:r>
              <a:rPr sz="4000" spc="-125" dirty="0"/>
              <a:t> </a:t>
            </a:r>
            <a:r>
              <a:rPr sz="4000" dirty="0"/>
              <a:t>of</a:t>
            </a:r>
            <a:r>
              <a:rPr sz="4000" spc="-110" dirty="0"/>
              <a:t> </a:t>
            </a:r>
            <a:r>
              <a:rPr sz="4000" dirty="0"/>
              <a:t>same</a:t>
            </a:r>
            <a:r>
              <a:rPr sz="4000" spc="-95" dirty="0"/>
              <a:t> </a:t>
            </a:r>
            <a:r>
              <a:rPr sz="4000" spc="-20" dirty="0"/>
              <a:t>page</a:t>
            </a:r>
            <a:endParaRPr sz="4000"/>
          </a:p>
        </p:txBody>
      </p:sp>
      <p:sp>
        <p:nvSpPr>
          <p:cNvPr id="4" name="object 4"/>
          <p:cNvSpPr txBox="1"/>
          <p:nvPr/>
        </p:nvSpPr>
        <p:spPr>
          <a:xfrm>
            <a:off x="9978391" y="6584391"/>
            <a:ext cx="180975" cy="156068"/>
          </a:xfrm>
          <a:prstGeom prst="rect">
            <a:avLst/>
          </a:prstGeom>
        </p:spPr>
        <p:txBody>
          <a:bodyPr vert="horz" wrap="square" lIns="0" tIns="0" rIns="0" bIns="0" rtlCol="0">
            <a:spAutoFit/>
          </a:bodyPr>
          <a:lstStyle/>
          <a:p>
            <a:pPr marL="12700">
              <a:lnSpc>
                <a:spcPts val="1240"/>
              </a:lnSpc>
            </a:pPr>
            <a:r>
              <a:rPr sz="1200" spc="-25" dirty="0">
                <a:solidFill>
                  <a:srgbClr val="888888"/>
                </a:solidFill>
                <a:latin typeface="Calibri"/>
                <a:cs typeface="Calibri"/>
              </a:rPr>
              <a:t>39</a:t>
            </a:r>
            <a:endParaRPr sz="120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37065"/>
            <a:ext cx="10515600" cy="627736"/>
          </a:xfrm>
          <a:prstGeom prst="rect">
            <a:avLst/>
          </a:prstGeom>
        </p:spPr>
        <p:txBody>
          <a:bodyPr vert="horz" wrap="square" lIns="0" tIns="12065" rIns="0" bIns="0" rtlCol="0" anchor="ctr">
            <a:spAutoFit/>
          </a:bodyPr>
          <a:lstStyle/>
          <a:p>
            <a:pPr marL="2618105" marR="5080" indent="-2404110">
              <a:lnSpc>
                <a:spcPct val="100000"/>
              </a:lnSpc>
              <a:spcBef>
                <a:spcPts val="95"/>
              </a:spcBef>
            </a:pPr>
            <a:r>
              <a:rPr sz="4000" dirty="0"/>
              <a:t>Software</a:t>
            </a:r>
            <a:r>
              <a:rPr sz="4000" spc="-190" dirty="0"/>
              <a:t> </a:t>
            </a:r>
            <a:r>
              <a:rPr sz="4000" spc="-10" dirty="0"/>
              <a:t>Architectural</a:t>
            </a:r>
            <a:r>
              <a:rPr sz="4000" spc="-200" dirty="0"/>
              <a:t> </a:t>
            </a:r>
            <a:r>
              <a:rPr sz="4000" spc="-20" dirty="0"/>
              <a:t>Pattern</a:t>
            </a:r>
            <a:r>
              <a:rPr sz="4000" spc="-195" dirty="0"/>
              <a:t> </a:t>
            </a:r>
            <a:r>
              <a:rPr sz="4000" spc="-25" dirty="0"/>
              <a:t>and </a:t>
            </a:r>
            <a:r>
              <a:rPr sz="4000" spc="-10" dirty="0"/>
              <a:t>Framework</a:t>
            </a:r>
            <a:endParaRPr sz="4000" dirty="0"/>
          </a:p>
        </p:txBody>
      </p:sp>
      <p:sp>
        <p:nvSpPr>
          <p:cNvPr id="3" name="object 3"/>
          <p:cNvSpPr txBox="1">
            <a:spLocks noGrp="1"/>
          </p:cNvSpPr>
          <p:nvPr>
            <p:ph idx="1"/>
          </p:nvPr>
        </p:nvSpPr>
        <p:spPr>
          <a:xfrm>
            <a:off x="912778" y="1942358"/>
            <a:ext cx="10515600" cy="3973267"/>
          </a:xfrm>
          <a:prstGeom prst="rect">
            <a:avLst/>
          </a:prstGeom>
        </p:spPr>
        <p:txBody>
          <a:bodyPr vert="horz" wrap="square" lIns="0" tIns="12065" rIns="0" bIns="0" rtlCol="0">
            <a:spAutoFit/>
          </a:bodyPr>
          <a:lstStyle/>
          <a:p>
            <a:pPr marL="354965" indent="-342265">
              <a:lnSpc>
                <a:spcPct val="100000"/>
              </a:lnSpc>
              <a:spcBef>
                <a:spcPts val="95"/>
              </a:spcBef>
              <a:buFont typeface="Arial"/>
              <a:buChar char="•"/>
              <a:tabLst>
                <a:tab pos="354965" algn="l"/>
              </a:tabLst>
            </a:pPr>
            <a:r>
              <a:rPr dirty="0">
                <a:solidFill>
                  <a:srgbClr val="000000"/>
                </a:solidFill>
              </a:rPr>
              <a:t>Software</a:t>
            </a:r>
            <a:r>
              <a:rPr spc="-65" dirty="0">
                <a:solidFill>
                  <a:srgbClr val="000000"/>
                </a:solidFill>
              </a:rPr>
              <a:t> </a:t>
            </a:r>
            <a:r>
              <a:rPr spc="-10" dirty="0">
                <a:solidFill>
                  <a:srgbClr val="000000"/>
                </a:solidFill>
              </a:rPr>
              <a:t>Architectural</a:t>
            </a:r>
            <a:r>
              <a:rPr spc="-65" dirty="0">
                <a:solidFill>
                  <a:srgbClr val="000000"/>
                </a:solidFill>
              </a:rPr>
              <a:t> </a:t>
            </a:r>
            <a:r>
              <a:rPr spc="-10" dirty="0">
                <a:solidFill>
                  <a:srgbClr val="000000"/>
                </a:solidFill>
              </a:rPr>
              <a:t>Pattern</a:t>
            </a:r>
          </a:p>
          <a:p>
            <a:pPr marL="756285" marR="541655" lvl="1" indent="-287020">
              <a:lnSpc>
                <a:spcPct val="80000"/>
              </a:lnSpc>
              <a:spcBef>
                <a:spcPts val="530"/>
              </a:spcBef>
              <a:buFont typeface="Arial"/>
              <a:buChar char="–"/>
              <a:tabLst>
                <a:tab pos="756285" algn="l"/>
              </a:tabLst>
            </a:pPr>
            <a:r>
              <a:rPr sz="2200" dirty="0">
                <a:latin typeface="Calibri"/>
                <a:cs typeface="Calibri"/>
              </a:rPr>
              <a:t>An</a:t>
            </a:r>
            <a:r>
              <a:rPr sz="2200" spc="-50" dirty="0">
                <a:latin typeface="Calibri"/>
                <a:cs typeface="Calibri"/>
              </a:rPr>
              <a:t> </a:t>
            </a:r>
            <a:r>
              <a:rPr sz="2200" spc="-10" dirty="0">
                <a:latin typeface="Calibri"/>
                <a:cs typeface="Calibri"/>
              </a:rPr>
              <a:t>architectural</a:t>
            </a:r>
            <a:r>
              <a:rPr sz="2200" spc="-45" dirty="0">
                <a:latin typeface="Calibri"/>
                <a:cs typeface="Calibri"/>
              </a:rPr>
              <a:t> </a:t>
            </a:r>
            <a:r>
              <a:rPr sz="2200" spc="-10" dirty="0">
                <a:latin typeface="Calibri"/>
                <a:cs typeface="Calibri"/>
              </a:rPr>
              <a:t>pattern</a:t>
            </a:r>
            <a:r>
              <a:rPr sz="2200" spc="-35" dirty="0">
                <a:latin typeface="Calibri"/>
                <a:cs typeface="Calibri"/>
              </a:rPr>
              <a:t> </a:t>
            </a:r>
            <a:r>
              <a:rPr sz="2200" spc="-10" dirty="0">
                <a:latin typeface="Calibri"/>
                <a:cs typeface="Calibri"/>
              </a:rPr>
              <a:t>expresses</a:t>
            </a:r>
            <a:r>
              <a:rPr sz="2200" spc="-40" dirty="0">
                <a:latin typeface="Calibri"/>
                <a:cs typeface="Calibri"/>
              </a:rPr>
              <a:t> </a:t>
            </a:r>
            <a:r>
              <a:rPr sz="2200" dirty="0">
                <a:latin typeface="Calibri"/>
                <a:cs typeface="Calibri"/>
              </a:rPr>
              <a:t>a</a:t>
            </a:r>
            <a:r>
              <a:rPr sz="2200" spc="-55" dirty="0">
                <a:latin typeface="Calibri"/>
                <a:cs typeface="Calibri"/>
              </a:rPr>
              <a:t> </a:t>
            </a:r>
            <a:r>
              <a:rPr sz="2200" spc="-10" dirty="0">
                <a:latin typeface="Calibri"/>
                <a:cs typeface="Calibri"/>
              </a:rPr>
              <a:t>fundamental</a:t>
            </a:r>
            <a:r>
              <a:rPr sz="2200" spc="-40" dirty="0">
                <a:latin typeface="Calibri"/>
                <a:cs typeface="Calibri"/>
              </a:rPr>
              <a:t> </a:t>
            </a:r>
            <a:r>
              <a:rPr sz="2200" spc="-10" dirty="0">
                <a:latin typeface="Calibri"/>
                <a:cs typeface="Calibri"/>
              </a:rPr>
              <a:t>structural organization</a:t>
            </a:r>
            <a:r>
              <a:rPr sz="2200" spc="-100" dirty="0">
                <a:latin typeface="Calibri"/>
                <a:cs typeface="Calibri"/>
              </a:rPr>
              <a:t> </a:t>
            </a:r>
            <a:r>
              <a:rPr sz="2200" dirty="0">
                <a:latin typeface="Calibri"/>
                <a:cs typeface="Calibri"/>
              </a:rPr>
              <a:t>schema</a:t>
            </a:r>
            <a:r>
              <a:rPr sz="2200" spc="-60" dirty="0">
                <a:latin typeface="Calibri"/>
                <a:cs typeface="Calibri"/>
              </a:rPr>
              <a:t> </a:t>
            </a:r>
            <a:r>
              <a:rPr sz="2200" dirty="0">
                <a:latin typeface="Calibri"/>
                <a:cs typeface="Calibri"/>
              </a:rPr>
              <a:t>for</a:t>
            </a:r>
            <a:r>
              <a:rPr sz="2200" spc="-75" dirty="0">
                <a:latin typeface="Calibri"/>
                <a:cs typeface="Calibri"/>
              </a:rPr>
              <a:t> </a:t>
            </a:r>
            <a:r>
              <a:rPr sz="2200" dirty="0">
                <a:latin typeface="Calibri"/>
                <a:cs typeface="Calibri"/>
              </a:rPr>
              <a:t>software</a:t>
            </a:r>
            <a:r>
              <a:rPr sz="2200" spc="-75" dirty="0">
                <a:latin typeface="Calibri"/>
                <a:cs typeface="Calibri"/>
              </a:rPr>
              <a:t> </a:t>
            </a:r>
            <a:r>
              <a:rPr sz="2200" spc="-10" dirty="0">
                <a:latin typeface="Calibri"/>
                <a:cs typeface="Calibri"/>
              </a:rPr>
              <a:t>systems</a:t>
            </a:r>
            <a:endParaRPr sz="2200" dirty="0">
              <a:latin typeface="Calibri"/>
              <a:cs typeface="Calibri"/>
            </a:endParaRPr>
          </a:p>
          <a:p>
            <a:pPr marL="756285" marR="5080" lvl="1" indent="-287020">
              <a:lnSpc>
                <a:spcPct val="80000"/>
              </a:lnSpc>
              <a:spcBef>
                <a:spcPts val="525"/>
              </a:spcBef>
              <a:buFont typeface="Arial"/>
              <a:buChar char="–"/>
              <a:tabLst>
                <a:tab pos="756285" algn="l"/>
              </a:tabLst>
            </a:pPr>
            <a:r>
              <a:rPr sz="2200" dirty="0">
                <a:latin typeface="Calibri"/>
                <a:cs typeface="Calibri"/>
              </a:rPr>
              <a:t>It</a:t>
            </a:r>
            <a:r>
              <a:rPr sz="2200" spc="-45" dirty="0">
                <a:latin typeface="Calibri"/>
                <a:cs typeface="Calibri"/>
              </a:rPr>
              <a:t> </a:t>
            </a:r>
            <a:r>
              <a:rPr sz="2200" spc="-10" dirty="0">
                <a:latin typeface="Calibri"/>
                <a:cs typeface="Calibri"/>
              </a:rPr>
              <a:t>provides</a:t>
            </a:r>
            <a:r>
              <a:rPr sz="2200" spc="-50" dirty="0">
                <a:latin typeface="Calibri"/>
                <a:cs typeface="Calibri"/>
              </a:rPr>
              <a:t> </a:t>
            </a:r>
            <a:r>
              <a:rPr sz="2200" dirty="0">
                <a:latin typeface="Calibri"/>
                <a:cs typeface="Calibri"/>
              </a:rPr>
              <a:t>a</a:t>
            </a:r>
            <a:r>
              <a:rPr sz="2200" spc="-35" dirty="0">
                <a:latin typeface="Calibri"/>
                <a:cs typeface="Calibri"/>
              </a:rPr>
              <a:t> </a:t>
            </a:r>
            <a:r>
              <a:rPr sz="2200" dirty="0">
                <a:latin typeface="Calibri"/>
                <a:cs typeface="Calibri"/>
              </a:rPr>
              <a:t>set</a:t>
            </a:r>
            <a:r>
              <a:rPr sz="2200" spc="-40" dirty="0">
                <a:latin typeface="Calibri"/>
                <a:cs typeface="Calibri"/>
              </a:rPr>
              <a:t> </a:t>
            </a:r>
            <a:r>
              <a:rPr sz="2200" dirty="0">
                <a:latin typeface="Calibri"/>
                <a:cs typeface="Calibri"/>
              </a:rPr>
              <a:t>of</a:t>
            </a:r>
            <a:r>
              <a:rPr sz="2200" spc="-30" dirty="0">
                <a:latin typeface="Calibri"/>
                <a:cs typeface="Calibri"/>
              </a:rPr>
              <a:t> </a:t>
            </a:r>
            <a:r>
              <a:rPr sz="2200" spc="-10" dirty="0">
                <a:latin typeface="Calibri"/>
                <a:cs typeface="Calibri"/>
              </a:rPr>
              <a:t>predefined</a:t>
            </a:r>
            <a:r>
              <a:rPr sz="2200" spc="-25" dirty="0">
                <a:latin typeface="Calibri"/>
                <a:cs typeface="Calibri"/>
              </a:rPr>
              <a:t> </a:t>
            </a:r>
            <a:r>
              <a:rPr sz="2200" spc="-10" dirty="0">
                <a:latin typeface="Calibri"/>
                <a:cs typeface="Calibri"/>
              </a:rPr>
              <a:t>subsystems,</a:t>
            </a:r>
            <a:r>
              <a:rPr sz="2200" spc="-15" dirty="0">
                <a:latin typeface="Calibri"/>
                <a:cs typeface="Calibri"/>
              </a:rPr>
              <a:t> </a:t>
            </a:r>
            <a:r>
              <a:rPr sz="2200" dirty="0">
                <a:latin typeface="Calibri"/>
                <a:cs typeface="Calibri"/>
              </a:rPr>
              <a:t>their</a:t>
            </a:r>
            <a:r>
              <a:rPr sz="2200" spc="-40" dirty="0">
                <a:latin typeface="Calibri"/>
                <a:cs typeface="Calibri"/>
              </a:rPr>
              <a:t> </a:t>
            </a:r>
            <a:r>
              <a:rPr sz="2200" spc="-10" dirty="0">
                <a:latin typeface="Calibri"/>
                <a:cs typeface="Calibri"/>
              </a:rPr>
              <a:t>responsibilities, </a:t>
            </a:r>
            <a:r>
              <a:rPr sz="2200" dirty="0">
                <a:latin typeface="Calibri"/>
                <a:cs typeface="Calibri"/>
              </a:rPr>
              <a:t>and</a:t>
            </a:r>
            <a:r>
              <a:rPr sz="2200" spc="-50" dirty="0">
                <a:latin typeface="Calibri"/>
                <a:cs typeface="Calibri"/>
              </a:rPr>
              <a:t> </a:t>
            </a:r>
            <a:r>
              <a:rPr sz="2200" dirty="0">
                <a:latin typeface="Calibri"/>
                <a:cs typeface="Calibri"/>
              </a:rPr>
              <a:t>includes</a:t>
            </a:r>
            <a:r>
              <a:rPr sz="2200" spc="-45" dirty="0">
                <a:latin typeface="Calibri"/>
                <a:cs typeface="Calibri"/>
              </a:rPr>
              <a:t> </a:t>
            </a:r>
            <a:r>
              <a:rPr sz="2200" dirty="0">
                <a:latin typeface="Calibri"/>
                <a:cs typeface="Calibri"/>
              </a:rPr>
              <a:t>rules</a:t>
            </a:r>
            <a:r>
              <a:rPr sz="2200" spc="-50" dirty="0">
                <a:latin typeface="Calibri"/>
                <a:cs typeface="Calibri"/>
              </a:rPr>
              <a:t> </a:t>
            </a:r>
            <a:r>
              <a:rPr sz="2200" dirty="0">
                <a:latin typeface="Calibri"/>
                <a:cs typeface="Calibri"/>
              </a:rPr>
              <a:t>and</a:t>
            </a:r>
            <a:r>
              <a:rPr sz="2200" spc="-45" dirty="0">
                <a:latin typeface="Calibri"/>
                <a:cs typeface="Calibri"/>
              </a:rPr>
              <a:t> </a:t>
            </a:r>
            <a:r>
              <a:rPr sz="2200" dirty="0">
                <a:latin typeface="Calibri"/>
                <a:cs typeface="Calibri"/>
              </a:rPr>
              <a:t>guidelines</a:t>
            </a:r>
            <a:r>
              <a:rPr sz="2200" spc="-35" dirty="0">
                <a:latin typeface="Calibri"/>
                <a:cs typeface="Calibri"/>
              </a:rPr>
              <a:t> </a:t>
            </a:r>
            <a:r>
              <a:rPr sz="2200" dirty="0">
                <a:latin typeface="Calibri"/>
                <a:cs typeface="Calibri"/>
              </a:rPr>
              <a:t>for</a:t>
            </a:r>
            <a:r>
              <a:rPr sz="2200" spc="-40" dirty="0">
                <a:latin typeface="Calibri"/>
                <a:cs typeface="Calibri"/>
              </a:rPr>
              <a:t> </a:t>
            </a:r>
            <a:r>
              <a:rPr sz="2200" dirty="0">
                <a:latin typeface="Calibri"/>
                <a:cs typeface="Calibri"/>
              </a:rPr>
              <a:t>organizing</a:t>
            </a:r>
            <a:r>
              <a:rPr sz="2200" spc="-55" dirty="0">
                <a:latin typeface="Calibri"/>
                <a:cs typeface="Calibri"/>
              </a:rPr>
              <a:t> </a:t>
            </a:r>
            <a:r>
              <a:rPr sz="2200" spc="-25" dirty="0">
                <a:latin typeface="Calibri"/>
                <a:cs typeface="Calibri"/>
              </a:rPr>
              <a:t>the</a:t>
            </a:r>
            <a:r>
              <a:rPr sz="2200" spc="550" dirty="0">
                <a:latin typeface="Calibri"/>
                <a:cs typeface="Calibri"/>
              </a:rPr>
              <a:t> </a:t>
            </a:r>
            <a:r>
              <a:rPr sz="2200" spc="-10" dirty="0">
                <a:latin typeface="Calibri"/>
                <a:cs typeface="Calibri"/>
              </a:rPr>
              <a:t>relationships</a:t>
            </a:r>
            <a:r>
              <a:rPr sz="2200" spc="-80" dirty="0">
                <a:latin typeface="Calibri"/>
                <a:cs typeface="Calibri"/>
              </a:rPr>
              <a:t> </a:t>
            </a:r>
            <a:r>
              <a:rPr sz="2200" dirty="0">
                <a:latin typeface="Calibri"/>
                <a:cs typeface="Calibri"/>
              </a:rPr>
              <a:t>between</a:t>
            </a:r>
            <a:r>
              <a:rPr sz="2200" spc="-50" dirty="0">
                <a:latin typeface="Calibri"/>
                <a:cs typeface="Calibri"/>
              </a:rPr>
              <a:t> </a:t>
            </a:r>
            <a:r>
              <a:rPr sz="2200" spc="-20" dirty="0">
                <a:latin typeface="Calibri"/>
                <a:cs typeface="Calibri"/>
              </a:rPr>
              <a:t>them</a:t>
            </a:r>
            <a:endParaRPr sz="2200" dirty="0">
              <a:latin typeface="Calibri"/>
              <a:cs typeface="Calibri"/>
            </a:endParaRPr>
          </a:p>
          <a:p>
            <a:pPr marL="354965" indent="-342265">
              <a:lnSpc>
                <a:spcPct val="100000"/>
              </a:lnSpc>
              <a:spcBef>
                <a:spcPts val="2640"/>
              </a:spcBef>
              <a:buFont typeface="Arial"/>
              <a:buChar char="•"/>
              <a:tabLst>
                <a:tab pos="354965" algn="l"/>
              </a:tabLst>
            </a:pPr>
            <a:r>
              <a:rPr dirty="0">
                <a:solidFill>
                  <a:srgbClr val="000000"/>
                </a:solidFill>
              </a:rPr>
              <a:t>Software</a:t>
            </a:r>
            <a:r>
              <a:rPr spc="-100" dirty="0">
                <a:solidFill>
                  <a:srgbClr val="000000"/>
                </a:solidFill>
              </a:rPr>
              <a:t> </a:t>
            </a:r>
            <a:r>
              <a:rPr spc="-10" dirty="0">
                <a:solidFill>
                  <a:srgbClr val="000000"/>
                </a:solidFill>
              </a:rPr>
              <a:t>Framework</a:t>
            </a:r>
          </a:p>
          <a:p>
            <a:pPr marL="756285" lvl="1" indent="-286385">
              <a:lnSpc>
                <a:spcPct val="100000"/>
              </a:lnSpc>
              <a:spcBef>
                <a:spcPts val="5"/>
              </a:spcBef>
              <a:buFont typeface="Arial"/>
              <a:buChar char="–"/>
              <a:tabLst>
                <a:tab pos="756285" algn="l"/>
              </a:tabLst>
            </a:pPr>
            <a:r>
              <a:rPr sz="2200" dirty="0">
                <a:latin typeface="Calibri"/>
                <a:cs typeface="Calibri"/>
              </a:rPr>
              <a:t>A</a:t>
            </a:r>
            <a:r>
              <a:rPr sz="2200" spc="-50" dirty="0">
                <a:latin typeface="Calibri"/>
                <a:cs typeface="Calibri"/>
              </a:rPr>
              <a:t> </a:t>
            </a:r>
            <a:r>
              <a:rPr sz="2200" spc="-10" dirty="0">
                <a:latin typeface="Calibri"/>
                <a:cs typeface="Calibri"/>
              </a:rPr>
              <a:t>platform</a:t>
            </a:r>
            <a:r>
              <a:rPr sz="2200" spc="-55" dirty="0">
                <a:latin typeface="Calibri"/>
                <a:cs typeface="Calibri"/>
              </a:rPr>
              <a:t> </a:t>
            </a:r>
            <a:r>
              <a:rPr sz="2200" dirty="0">
                <a:latin typeface="Calibri"/>
                <a:cs typeface="Calibri"/>
              </a:rPr>
              <a:t>for</a:t>
            </a:r>
            <a:r>
              <a:rPr sz="2200" spc="-50" dirty="0">
                <a:latin typeface="Calibri"/>
                <a:cs typeface="Calibri"/>
              </a:rPr>
              <a:t> </a:t>
            </a:r>
            <a:r>
              <a:rPr sz="2200" spc="-10" dirty="0">
                <a:latin typeface="Calibri"/>
                <a:cs typeface="Calibri"/>
              </a:rPr>
              <a:t>developing</a:t>
            </a:r>
            <a:r>
              <a:rPr sz="2200" spc="-65" dirty="0">
                <a:latin typeface="Calibri"/>
                <a:cs typeface="Calibri"/>
              </a:rPr>
              <a:t> </a:t>
            </a:r>
            <a:r>
              <a:rPr sz="2200" dirty="0">
                <a:latin typeface="Calibri"/>
                <a:cs typeface="Calibri"/>
              </a:rPr>
              <a:t>software</a:t>
            </a:r>
            <a:r>
              <a:rPr sz="2200" spc="-60" dirty="0">
                <a:latin typeface="Calibri"/>
                <a:cs typeface="Calibri"/>
              </a:rPr>
              <a:t> </a:t>
            </a:r>
            <a:r>
              <a:rPr sz="2200" spc="-10" dirty="0">
                <a:latin typeface="Calibri"/>
                <a:cs typeface="Calibri"/>
              </a:rPr>
              <a:t>applications</a:t>
            </a:r>
            <a:endParaRPr sz="2200" dirty="0">
              <a:latin typeface="Calibri"/>
              <a:cs typeface="Calibri"/>
            </a:endParaRPr>
          </a:p>
          <a:p>
            <a:pPr marL="756285" marR="17145" lvl="1" indent="-287020">
              <a:lnSpc>
                <a:spcPct val="80000"/>
              </a:lnSpc>
              <a:spcBef>
                <a:spcPts val="525"/>
              </a:spcBef>
              <a:buFont typeface="Arial"/>
              <a:buChar char="–"/>
              <a:tabLst>
                <a:tab pos="756285" algn="l"/>
              </a:tabLst>
            </a:pPr>
            <a:r>
              <a:rPr sz="2200" dirty="0">
                <a:latin typeface="Calibri"/>
                <a:cs typeface="Calibri"/>
              </a:rPr>
              <a:t>It</a:t>
            </a:r>
            <a:r>
              <a:rPr sz="2200" spc="-50" dirty="0">
                <a:latin typeface="Calibri"/>
                <a:cs typeface="Calibri"/>
              </a:rPr>
              <a:t> </a:t>
            </a:r>
            <a:r>
              <a:rPr sz="2200" spc="-10" dirty="0">
                <a:latin typeface="Calibri"/>
                <a:cs typeface="Calibri"/>
              </a:rPr>
              <a:t>provides</a:t>
            </a:r>
            <a:r>
              <a:rPr sz="2200" spc="-60"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foundation</a:t>
            </a:r>
            <a:r>
              <a:rPr sz="2200" spc="-50" dirty="0">
                <a:latin typeface="Calibri"/>
                <a:cs typeface="Calibri"/>
              </a:rPr>
              <a:t> </a:t>
            </a:r>
            <a:r>
              <a:rPr sz="2200" dirty="0">
                <a:latin typeface="Calibri"/>
                <a:cs typeface="Calibri"/>
              </a:rPr>
              <a:t>on</a:t>
            </a:r>
            <a:r>
              <a:rPr sz="2200" spc="-45" dirty="0">
                <a:latin typeface="Calibri"/>
                <a:cs typeface="Calibri"/>
              </a:rPr>
              <a:t> </a:t>
            </a:r>
            <a:r>
              <a:rPr sz="2200" dirty="0">
                <a:latin typeface="Calibri"/>
                <a:cs typeface="Calibri"/>
              </a:rPr>
              <a:t>which</a:t>
            </a:r>
            <a:r>
              <a:rPr sz="2200" spc="-50" dirty="0">
                <a:latin typeface="Calibri"/>
                <a:cs typeface="Calibri"/>
              </a:rPr>
              <a:t> </a:t>
            </a:r>
            <a:r>
              <a:rPr sz="2200" dirty="0">
                <a:latin typeface="Calibri"/>
                <a:cs typeface="Calibri"/>
              </a:rPr>
              <a:t>software</a:t>
            </a:r>
            <a:r>
              <a:rPr sz="2200" spc="-45" dirty="0">
                <a:latin typeface="Calibri"/>
                <a:cs typeface="Calibri"/>
              </a:rPr>
              <a:t> </a:t>
            </a:r>
            <a:r>
              <a:rPr sz="2200" spc="-10" dirty="0">
                <a:latin typeface="Calibri"/>
                <a:cs typeface="Calibri"/>
              </a:rPr>
              <a:t>developers</a:t>
            </a:r>
            <a:r>
              <a:rPr sz="2200" spc="-40" dirty="0">
                <a:latin typeface="Calibri"/>
                <a:cs typeface="Calibri"/>
              </a:rPr>
              <a:t> </a:t>
            </a:r>
            <a:r>
              <a:rPr sz="2200" dirty="0">
                <a:latin typeface="Calibri"/>
                <a:cs typeface="Calibri"/>
              </a:rPr>
              <a:t>can</a:t>
            </a:r>
            <a:r>
              <a:rPr sz="2200" spc="-45" dirty="0">
                <a:latin typeface="Calibri"/>
                <a:cs typeface="Calibri"/>
              </a:rPr>
              <a:t> </a:t>
            </a:r>
            <a:r>
              <a:rPr sz="2200" spc="-10" dirty="0">
                <a:latin typeface="Calibri"/>
                <a:cs typeface="Calibri"/>
              </a:rPr>
              <a:t>build programs</a:t>
            </a:r>
            <a:r>
              <a:rPr sz="2200" spc="-40" dirty="0">
                <a:latin typeface="Calibri"/>
                <a:cs typeface="Calibri"/>
              </a:rPr>
              <a:t> </a:t>
            </a:r>
            <a:r>
              <a:rPr sz="2200" dirty="0">
                <a:latin typeface="Calibri"/>
                <a:cs typeface="Calibri"/>
              </a:rPr>
              <a:t>for</a:t>
            </a:r>
            <a:r>
              <a:rPr sz="2200" spc="-35" dirty="0">
                <a:latin typeface="Calibri"/>
                <a:cs typeface="Calibri"/>
              </a:rPr>
              <a:t> </a:t>
            </a:r>
            <a:r>
              <a:rPr sz="2200" dirty="0">
                <a:latin typeface="Calibri"/>
                <a:cs typeface="Calibri"/>
              </a:rPr>
              <a:t>a</a:t>
            </a:r>
            <a:r>
              <a:rPr sz="2200" spc="-45" dirty="0">
                <a:latin typeface="Calibri"/>
                <a:cs typeface="Calibri"/>
              </a:rPr>
              <a:t> </a:t>
            </a:r>
            <a:r>
              <a:rPr sz="2200" dirty="0">
                <a:latin typeface="Calibri"/>
                <a:cs typeface="Calibri"/>
              </a:rPr>
              <a:t>specific</a:t>
            </a:r>
            <a:r>
              <a:rPr sz="2200" spc="-40" dirty="0">
                <a:latin typeface="Calibri"/>
                <a:cs typeface="Calibri"/>
              </a:rPr>
              <a:t> </a:t>
            </a:r>
            <a:r>
              <a:rPr sz="2200" spc="-10" dirty="0">
                <a:latin typeface="Calibri"/>
                <a:cs typeface="Calibri"/>
              </a:rPr>
              <a:t>platform</a:t>
            </a:r>
            <a:endParaRPr sz="2200" dirty="0">
              <a:latin typeface="Calibri"/>
              <a:cs typeface="Calibri"/>
            </a:endParaRPr>
          </a:p>
          <a:p>
            <a:pPr marL="756285" marR="293370" lvl="1" indent="-287020">
              <a:lnSpc>
                <a:spcPts val="2110"/>
              </a:lnSpc>
              <a:spcBef>
                <a:spcPts val="515"/>
              </a:spcBef>
              <a:buFont typeface="Arial"/>
              <a:buChar char="–"/>
              <a:tabLst>
                <a:tab pos="756285" algn="l"/>
              </a:tabLst>
            </a:pPr>
            <a:r>
              <a:rPr sz="2200" dirty="0">
                <a:latin typeface="Calibri"/>
                <a:cs typeface="Calibri"/>
              </a:rPr>
              <a:t>May</a:t>
            </a:r>
            <a:r>
              <a:rPr sz="2200" spc="-45" dirty="0">
                <a:latin typeface="Calibri"/>
                <a:cs typeface="Calibri"/>
              </a:rPr>
              <a:t> </a:t>
            </a:r>
            <a:r>
              <a:rPr sz="2200" dirty="0">
                <a:latin typeface="Calibri"/>
                <a:cs typeface="Calibri"/>
              </a:rPr>
              <a:t>include</a:t>
            </a:r>
            <a:r>
              <a:rPr sz="2200" spc="-45" dirty="0">
                <a:latin typeface="Calibri"/>
                <a:cs typeface="Calibri"/>
              </a:rPr>
              <a:t> </a:t>
            </a:r>
            <a:r>
              <a:rPr sz="2200" spc="-10" dirty="0">
                <a:latin typeface="Calibri"/>
                <a:cs typeface="Calibri"/>
              </a:rPr>
              <a:t>predefined</a:t>
            </a:r>
            <a:r>
              <a:rPr sz="2200" spc="-45" dirty="0">
                <a:latin typeface="Calibri"/>
                <a:cs typeface="Calibri"/>
              </a:rPr>
              <a:t> </a:t>
            </a:r>
            <a:r>
              <a:rPr sz="2200" dirty="0">
                <a:latin typeface="Calibri"/>
                <a:cs typeface="Calibri"/>
              </a:rPr>
              <a:t>classes</a:t>
            </a:r>
            <a:r>
              <a:rPr sz="2200" spc="-35" dirty="0">
                <a:latin typeface="Calibri"/>
                <a:cs typeface="Calibri"/>
              </a:rPr>
              <a:t> </a:t>
            </a:r>
            <a:r>
              <a:rPr sz="2200" dirty="0">
                <a:latin typeface="Calibri"/>
                <a:cs typeface="Calibri"/>
              </a:rPr>
              <a:t>and</a:t>
            </a:r>
            <a:r>
              <a:rPr sz="2200" spc="-45" dirty="0">
                <a:latin typeface="Calibri"/>
                <a:cs typeface="Calibri"/>
              </a:rPr>
              <a:t> </a:t>
            </a:r>
            <a:r>
              <a:rPr sz="2200" dirty="0">
                <a:latin typeface="Calibri"/>
                <a:cs typeface="Calibri"/>
              </a:rPr>
              <a:t>functions</a:t>
            </a:r>
            <a:r>
              <a:rPr sz="2200" spc="-45" dirty="0">
                <a:latin typeface="Calibri"/>
                <a:cs typeface="Calibri"/>
              </a:rPr>
              <a:t> </a:t>
            </a:r>
            <a:r>
              <a:rPr sz="2200" dirty="0">
                <a:latin typeface="Calibri"/>
                <a:cs typeface="Calibri"/>
              </a:rPr>
              <a:t>or</a:t>
            </a:r>
            <a:r>
              <a:rPr sz="2200" spc="-35" dirty="0">
                <a:latin typeface="Calibri"/>
                <a:cs typeface="Calibri"/>
              </a:rPr>
              <a:t> </a:t>
            </a:r>
            <a:r>
              <a:rPr sz="2200" dirty="0">
                <a:latin typeface="Calibri"/>
                <a:cs typeface="Calibri"/>
              </a:rPr>
              <a:t>APIs</a:t>
            </a:r>
            <a:r>
              <a:rPr sz="2200" spc="-35" dirty="0">
                <a:latin typeface="Calibri"/>
                <a:cs typeface="Calibri"/>
              </a:rPr>
              <a:t> </a:t>
            </a:r>
            <a:r>
              <a:rPr sz="2200" dirty="0">
                <a:latin typeface="Calibri"/>
                <a:cs typeface="Calibri"/>
              </a:rPr>
              <a:t>that</a:t>
            </a:r>
            <a:r>
              <a:rPr sz="2200" spc="-45" dirty="0">
                <a:latin typeface="Calibri"/>
                <a:cs typeface="Calibri"/>
              </a:rPr>
              <a:t> </a:t>
            </a:r>
            <a:r>
              <a:rPr sz="2200" spc="-25" dirty="0">
                <a:latin typeface="Calibri"/>
                <a:cs typeface="Calibri"/>
              </a:rPr>
              <a:t>can </a:t>
            </a:r>
            <a:r>
              <a:rPr sz="2200" dirty="0">
                <a:latin typeface="Calibri"/>
                <a:cs typeface="Calibri"/>
              </a:rPr>
              <a:t>be</a:t>
            </a:r>
            <a:r>
              <a:rPr sz="2200" spc="-60" dirty="0">
                <a:latin typeface="Calibri"/>
                <a:cs typeface="Calibri"/>
              </a:rPr>
              <a:t> </a:t>
            </a:r>
            <a:r>
              <a:rPr sz="2200" dirty="0">
                <a:latin typeface="Calibri"/>
                <a:cs typeface="Calibri"/>
              </a:rPr>
              <a:t>used</a:t>
            </a:r>
            <a:r>
              <a:rPr sz="2200" spc="-55" dirty="0">
                <a:latin typeface="Calibri"/>
                <a:cs typeface="Calibri"/>
              </a:rPr>
              <a:t> </a:t>
            </a:r>
            <a:r>
              <a:rPr sz="2200" dirty="0">
                <a:latin typeface="Calibri"/>
                <a:cs typeface="Calibri"/>
              </a:rPr>
              <a:t>to</a:t>
            </a:r>
            <a:r>
              <a:rPr sz="2200" spc="-45" dirty="0">
                <a:latin typeface="Calibri"/>
                <a:cs typeface="Calibri"/>
              </a:rPr>
              <a:t> </a:t>
            </a:r>
            <a:r>
              <a:rPr sz="2200" dirty="0">
                <a:latin typeface="Calibri"/>
                <a:cs typeface="Calibri"/>
              </a:rPr>
              <a:t>process</a:t>
            </a:r>
            <a:r>
              <a:rPr sz="2200" spc="-45" dirty="0">
                <a:latin typeface="Calibri"/>
                <a:cs typeface="Calibri"/>
              </a:rPr>
              <a:t> </a:t>
            </a:r>
            <a:r>
              <a:rPr sz="2200" dirty="0">
                <a:latin typeface="Calibri"/>
                <a:cs typeface="Calibri"/>
              </a:rPr>
              <a:t>input,</a:t>
            </a:r>
            <a:r>
              <a:rPr sz="2200" spc="-50" dirty="0">
                <a:latin typeface="Calibri"/>
                <a:cs typeface="Calibri"/>
              </a:rPr>
              <a:t> </a:t>
            </a:r>
            <a:r>
              <a:rPr sz="2200" dirty="0">
                <a:latin typeface="Calibri"/>
                <a:cs typeface="Calibri"/>
              </a:rPr>
              <a:t>manage</a:t>
            </a:r>
            <a:r>
              <a:rPr sz="2200" spc="-40" dirty="0">
                <a:latin typeface="Calibri"/>
                <a:cs typeface="Calibri"/>
              </a:rPr>
              <a:t> </a:t>
            </a:r>
            <a:r>
              <a:rPr sz="2200" spc="-10" dirty="0">
                <a:latin typeface="Calibri"/>
                <a:cs typeface="Calibri"/>
              </a:rPr>
              <a:t>hardware/software components,</a:t>
            </a:r>
            <a:r>
              <a:rPr sz="2200" spc="-60" dirty="0">
                <a:latin typeface="Calibri"/>
                <a:cs typeface="Calibri"/>
              </a:rPr>
              <a:t> </a:t>
            </a:r>
            <a:r>
              <a:rPr sz="2200" spc="-20" dirty="0">
                <a:latin typeface="Calibri"/>
                <a:cs typeface="Calibri"/>
              </a:rPr>
              <a:t>etc.</a:t>
            </a:r>
            <a:endParaRPr sz="2200" dirty="0">
              <a:latin typeface="Calibri"/>
              <a:cs typeface="Calibri"/>
            </a:endParaRPr>
          </a:p>
        </p:txBody>
      </p:sp>
      <p:sp>
        <p:nvSpPr>
          <p:cNvPr id="4" name="object 4"/>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40</a:t>
            </a:r>
            <a:endParaRPr sz="120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441959">
              <a:lnSpc>
                <a:spcPct val="100000"/>
              </a:lnSpc>
              <a:spcBef>
                <a:spcPts val="105"/>
              </a:spcBef>
            </a:pPr>
            <a:r>
              <a:rPr dirty="0"/>
              <a:t>MVC</a:t>
            </a:r>
            <a:r>
              <a:rPr spc="-65" dirty="0"/>
              <a:t> </a:t>
            </a:r>
            <a:r>
              <a:rPr dirty="0"/>
              <a:t>(Model</a:t>
            </a:r>
            <a:r>
              <a:rPr spc="-70" dirty="0"/>
              <a:t> </a:t>
            </a:r>
            <a:r>
              <a:rPr dirty="0"/>
              <a:t>View</a:t>
            </a:r>
            <a:r>
              <a:rPr spc="-65" dirty="0"/>
              <a:t> </a:t>
            </a:r>
            <a:r>
              <a:rPr spc="-10" dirty="0"/>
              <a:t>Controller)</a:t>
            </a:r>
          </a:p>
        </p:txBody>
      </p:sp>
      <p:sp>
        <p:nvSpPr>
          <p:cNvPr id="4" name="object 4"/>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41</a:t>
            </a:r>
            <a:endParaRPr sz="1200">
              <a:latin typeface="Arial"/>
              <a:cs typeface="Arial"/>
            </a:endParaRPr>
          </a:p>
        </p:txBody>
      </p:sp>
      <p:sp>
        <p:nvSpPr>
          <p:cNvPr id="3" name="object 3"/>
          <p:cNvSpPr txBox="1"/>
          <p:nvPr/>
        </p:nvSpPr>
        <p:spPr>
          <a:xfrm>
            <a:off x="2059941" y="1525042"/>
            <a:ext cx="6880225" cy="3132909"/>
          </a:xfrm>
          <a:prstGeom prst="rect">
            <a:avLst/>
          </a:prstGeom>
        </p:spPr>
        <p:txBody>
          <a:bodyPr vert="horz" wrap="square" lIns="0" tIns="97790" rIns="0" bIns="0" rtlCol="0">
            <a:spAutoFit/>
          </a:bodyPr>
          <a:lstStyle/>
          <a:p>
            <a:pPr marL="354965" indent="-342265">
              <a:spcBef>
                <a:spcPts val="770"/>
              </a:spcBef>
              <a:buFont typeface="Arial"/>
              <a:buChar char="•"/>
              <a:tabLst>
                <a:tab pos="354965" algn="l"/>
              </a:tabLst>
            </a:pPr>
            <a:r>
              <a:rPr sz="2800" dirty="0">
                <a:latin typeface="Calibri"/>
                <a:cs typeface="Calibri"/>
              </a:rPr>
              <a:t>Software</a:t>
            </a:r>
            <a:r>
              <a:rPr sz="2800" spc="-110" dirty="0">
                <a:latin typeface="Calibri"/>
                <a:cs typeface="Calibri"/>
              </a:rPr>
              <a:t> </a:t>
            </a:r>
            <a:r>
              <a:rPr sz="2800" spc="-10" dirty="0">
                <a:latin typeface="Calibri"/>
                <a:cs typeface="Calibri"/>
              </a:rPr>
              <a:t>architectural</a:t>
            </a:r>
            <a:r>
              <a:rPr sz="2800" spc="-110" dirty="0">
                <a:latin typeface="Calibri"/>
                <a:cs typeface="Calibri"/>
              </a:rPr>
              <a:t> </a:t>
            </a:r>
            <a:r>
              <a:rPr sz="2800" dirty="0">
                <a:latin typeface="Calibri"/>
                <a:cs typeface="Calibri"/>
              </a:rPr>
              <a:t>design</a:t>
            </a:r>
            <a:r>
              <a:rPr sz="2800" spc="-90" dirty="0">
                <a:latin typeface="Calibri"/>
                <a:cs typeface="Calibri"/>
              </a:rPr>
              <a:t> </a:t>
            </a:r>
            <a:r>
              <a:rPr sz="2800" spc="-10" dirty="0">
                <a:latin typeface="Calibri"/>
                <a:cs typeface="Calibri"/>
              </a:rPr>
              <a:t>pattern</a:t>
            </a:r>
            <a:endParaRPr sz="2800">
              <a:latin typeface="Calibri"/>
              <a:cs typeface="Calibri"/>
            </a:endParaRPr>
          </a:p>
          <a:p>
            <a:pPr marL="354965" indent="-342265">
              <a:spcBef>
                <a:spcPts val="675"/>
              </a:spcBef>
              <a:buFont typeface="Arial"/>
              <a:buChar char="•"/>
              <a:tabLst>
                <a:tab pos="354965" algn="l"/>
              </a:tabLst>
            </a:pPr>
            <a:r>
              <a:rPr sz="2800" dirty="0">
                <a:latin typeface="Calibri"/>
                <a:cs typeface="Calibri"/>
              </a:rPr>
              <a:t>Designed</a:t>
            </a:r>
            <a:r>
              <a:rPr sz="2800" spc="-65" dirty="0">
                <a:latin typeface="Calibri"/>
                <a:cs typeface="Calibri"/>
              </a:rPr>
              <a:t> </a:t>
            </a:r>
            <a:r>
              <a:rPr sz="2800" dirty="0">
                <a:latin typeface="Calibri"/>
                <a:cs typeface="Calibri"/>
              </a:rPr>
              <a:t>in</a:t>
            </a:r>
            <a:r>
              <a:rPr sz="2800" spc="-85" dirty="0">
                <a:latin typeface="Calibri"/>
                <a:cs typeface="Calibri"/>
              </a:rPr>
              <a:t> </a:t>
            </a:r>
            <a:r>
              <a:rPr sz="2800" spc="-20" dirty="0">
                <a:latin typeface="Calibri"/>
                <a:cs typeface="Calibri"/>
              </a:rPr>
              <a:t>1970</a:t>
            </a:r>
            <a:endParaRPr sz="2800">
              <a:latin typeface="Calibri"/>
              <a:cs typeface="Calibri"/>
            </a:endParaRPr>
          </a:p>
          <a:p>
            <a:pPr marL="354965" indent="-342265">
              <a:spcBef>
                <a:spcPts val="670"/>
              </a:spcBef>
              <a:buFont typeface="Arial"/>
              <a:buChar char="•"/>
              <a:tabLst>
                <a:tab pos="354965" algn="l"/>
              </a:tabLst>
            </a:pPr>
            <a:r>
              <a:rPr sz="2800" dirty="0">
                <a:latin typeface="Calibri"/>
                <a:cs typeface="Calibri"/>
              </a:rPr>
              <a:t>Originally</a:t>
            </a:r>
            <a:r>
              <a:rPr sz="2800" spc="-70" dirty="0">
                <a:latin typeface="Calibri"/>
                <a:cs typeface="Calibri"/>
              </a:rPr>
              <a:t> </a:t>
            </a:r>
            <a:r>
              <a:rPr sz="2800" dirty="0">
                <a:latin typeface="Calibri"/>
                <a:cs typeface="Calibri"/>
              </a:rPr>
              <a:t>developed</a:t>
            </a:r>
            <a:r>
              <a:rPr sz="2800" spc="-55" dirty="0">
                <a:latin typeface="Calibri"/>
                <a:cs typeface="Calibri"/>
              </a:rPr>
              <a:t> </a:t>
            </a:r>
            <a:r>
              <a:rPr sz="2800" dirty="0">
                <a:latin typeface="Calibri"/>
                <a:cs typeface="Calibri"/>
              </a:rPr>
              <a:t>for</a:t>
            </a:r>
            <a:r>
              <a:rPr sz="2800" spc="-70" dirty="0">
                <a:latin typeface="Calibri"/>
                <a:cs typeface="Calibri"/>
              </a:rPr>
              <a:t> </a:t>
            </a:r>
            <a:r>
              <a:rPr sz="2800" dirty="0">
                <a:latin typeface="Calibri"/>
                <a:cs typeface="Calibri"/>
              </a:rPr>
              <a:t>desktop</a:t>
            </a:r>
            <a:r>
              <a:rPr sz="2800" spc="-55" dirty="0">
                <a:latin typeface="Calibri"/>
                <a:cs typeface="Calibri"/>
              </a:rPr>
              <a:t> </a:t>
            </a:r>
            <a:r>
              <a:rPr sz="2800" spc="-10" dirty="0">
                <a:latin typeface="Calibri"/>
                <a:cs typeface="Calibri"/>
              </a:rPr>
              <a:t>applications</a:t>
            </a:r>
            <a:endParaRPr sz="2800">
              <a:latin typeface="Calibri"/>
              <a:cs typeface="Calibri"/>
            </a:endParaRPr>
          </a:p>
          <a:p>
            <a:pPr marL="469900">
              <a:spcBef>
                <a:spcPts val="675"/>
              </a:spcBef>
            </a:pPr>
            <a:r>
              <a:rPr sz="2800" dirty="0">
                <a:latin typeface="Arial"/>
                <a:cs typeface="Arial"/>
              </a:rPr>
              <a:t>–</a:t>
            </a:r>
            <a:r>
              <a:rPr sz="2800" spc="-175" dirty="0">
                <a:latin typeface="Arial"/>
                <a:cs typeface="Arial"/>
              </a:rPr>
              <a:t> </a:t>
            </a:r>
            <a:r>
              <a:rPr sz="2800" dirty="0">
                <a:latin typeface="Calibri"/>
                <a:cs typeface="Calibri"/>
              </a:rPr>
              <a:t>Most</a:t>
            </a:r>
            <a:r>
              <a:rPr sz="2800" spc="-65" dirty="0">
                <a:latin typeface="Calibri"/>
                <a:cs typeface="Calibri"/>
              </a:rPr>
              <a:t> </a:t>
            </a:r>
            <a:r>
              <a:rPr sz="2800" dirty="0">
                <a:latin typeface="Calibri"/>
                <a:cs typeface="Calibri"/>
              </a:rPr>
              <a:t>frequently</a:t>
            </a:r>
            <a:r>
              <a:rPr sz="2800" spc="-65" dirty="0">
                <a:latin typeface="Calibri"/>
                <a:cs typeface="Calibri"/>
              </a:rPr>
              <a:t> </a:t>
            </a:r>
            <a:r>
              <a:rPr sz="2800" dirty="0">
                <a:latin typeface="Calibri"/>
                <a:cs typeface="Calibri"/>
              </a:rPr>
              <a:t>used</a:t>
            </a:r>
            <a:r>
              <a:rPr sz="2800" spc="-75" dirty="0">
                <a:latin typeface="Calibri"/>
                <a:cs typeface="Calibri"/>
              </a:rPr>
              <a:t> </a:t>
            </a:r>
            <a:r>
              <a:rPr sz="2800" dirty="0">
                <a:latin typeface="Calibri"/>
                <a:cs typeface="Calibri"/>
              </a:rPr>
              <a:t>for</a:t>
            </a:r>
            <a:r>
              <a:rPr sz="2800" spc="-90" dirty="0">
                <a:latin typeface="Calibri"/>
                <a:cs typeface="Calibri"/>
              </a:rPr>
              <a:t> </a:t>
            </a:r>
            <a:r>
              <a:rPr sz="2800" dirty="0">
                <a:latin typeface="Calibri"/>
                <a:cs typeface="Calibri"/>
              </a:rPr>
              <a:t>web</a:t>
            </a:r>
            <a:r>
              <a:rPr sz="2800" spc="-85" dirty="0">
                <a:latin typeface="Calibri"/>
                <a:cs typeface="Calibri"/>
              </a:rPr>
              <a:t> </a:t>
            </a:r>
            <a:r>
              <a:rPr sz="2800" spc="-10" dirty="0">
                <a:latin typeface="Calibri"/>
                <a:cs typeface="Calibri"/>
              </a:rPr>
              <a:t>applications</a:t>
            </a:r>
            <a:endParaRPr sz="2800">
              <a:latin typeface="Calibri"/>
              <a:cs typeface="Calibri"/>
            </a:endParaRPr>
          </a:p>
          <a:p>
            <a:pPr marL="354965" indent="-342265">
              <a:spcBef>
                <a:spcPts val="670"/>
              </a:spcBef>
              <a:buFont typeface="Arial"/>
              <a:buChar char="•"/>
              <a:tabLst>
                <a:tab pos="354965" algn="l"/>
              </a:tabLst>
            </a:pPr>
            <a:r>
              <a:rPr sz="2800" dirty="0">
                <a:latin typeface="Calibri"/>
                <a:cs typeface="Calibri"/>
              </a:rPr>
              <a:t>Separates</a:t>
            </a:r>
            <a:r>
              <a:rPr sz="2800" spc="-145" dirty="0">
                <a:latin typeface="Calibri"/>
                <a:cs typeface="Calibri"/>
              </a:rPr>
              <a:t> </a:t>
            </a:r>
            <a:r>
              <a:rPr sz="2800" dirty="0">
                <a:latin typeface="Calibri"/>
                <a:cs typeface="Calibri"/>
              </a:rPr>
              <a:t>application</a:t>
            </a:r>
            <a:r>
              <a:rPr sz="2800" spc="-125" dirty="0">
                <a:latin typeface="Calibri"/>
                <a:cs typeface="Calibri"/>
              </a:rPr>
              <a:t> </a:t>
            </a:r>
            <a:r>
              <a:rPr sz="2800" spc="-10" dirty="0">
                <a:latin typeface="Calibri"/>
                <a:cs typeface="Calibri"/>
              </a:rPr>
              <a:t>functionality</a:t>
            </a:r>
            <a:endParaRPr sz="2800">
              <a:latin typeface="Calibri"/>
              <a:cs typeface="Calibri"/>
            </a:endParaRPr>
          </a:p>
          <a:p>
            <a:pPr marL="354965" indent="-342265">
              <a:spcBef>
                <a:spcPts val="675"/>
              </a:spcBef>
              <a:buFont typeface="Arial"/>
              <a:buChar char="•"/>
              <a:tabLst>
                <a:tab pos="354965" algn="l"/>
              </a:tabLst>
            </a:pPr>
            <a:r>
              <a:rPr sz="2800" spc="-10" dirty="0">
                <a:latin typeface="Calibri"/>
                <a:cs typeface="Calibri"/>
              </a:rPr>
              <a:t>Promotes</a:t>
            </a:r>
            <a:r>
              <a:rPr sz="2800" spc="-90" dirty="0">
                <a:latin typeface="Calibri"/>
                <a:cs typeface="Calibri"/>
              </a:rPr>
              <a:t> </a:t>
            </a:r>
            <a:r>
              <a:rPr sz="2800" dirty="0">
                <a:latin typeface="Calibri"/>
                <a:cs typeface="Calibri"/>
              </a:rPr>
              <a:t>modular</a:t>
            </a:r>
            <a:r>
              <a:rPr sz="2800" spc="-85" dirty="0">
                <a:latin typeface="Calibri"/>
                <a:cs typeface="Calibri"/>
              </a:rPr>
              <a:t> </a:t>
            </a:r>
            <a:r>
              <a:rPr sz="2800" spc="-10" dirty="0">
                <a:latin typeface="Calibri"/>
                <a:cs typeface="Calibri"/>
              </a:rPr>
              <a:t>programming</a:t>
            </a:r>
            <a:endParaRPr sz="280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2100580">
              <a:lnSpc>
                <a:spcPct val="100000"/>
              </a:lnSpc>
              <a:spcBef>
                <a:spcPts val="105"/>
              </a:spcBef>
            </a:pPr>
            <a:r>
              <a:rPr dirty="0"/>
              <a:t>MVC</a:t>
            </a:r>
            <a:r>
              <a:rPr spc="-75" dirty="0"/>
              <a:t> </a:t>
            </a:r>
            <a:r>
              <a:rPr spc="-10" dirty="0"/>
              <a:t>Overview</a:t>
            </a:r>
          </a:p>
        </p:txBody>
      </p:sp>
      <p:grpSp>
        <p:nvGrpSpPr>
          <p:cNvPr id="3" name="object 3"/>
          <p:cNvGrpSpPr/>
          <p:nvPr/>
        </p:nvGrpSpPr>
        <p:grpSpPr>
          <a:xfrm>
            <a:off x="4709150" y="1575778"/>
            <a:ext cx="2969260" cy="1800225"/>
            <a:chOff x="3185150" y="1575777"/>
            <a:chExt cx="2969260" cy="1800225"/>
          </a:xfrm>
        </p:grpSpPr>
        <p:pic>
          <p:nvPicPr>
            <p:cNvPr id="4" name="object 4"/>
            <p:cNvPicPr/>
            <p:nvPr/>
          </p:nvPicPr>
          <p:blipFill>
            <a:blip r:embed="rId2" cstate="print"/>
            <a:stretch>
              <a:fillRect/>
            </a:stretch>
          </p:blipFill>
          <p:spPr>
            <a:xfrm>
              <a:off x="3185150" y="1575777"/>
              <a:ext cx="2968770" cy="1784680"/>
            </a:xfrm>
            <a:prstGeom prst="rect">
              <a:avLst/>
            </a:prstGeom>
          </p:spPr>
        </p:pic>
        <p:pic>
          <p:nvPicPr>
            <p:cNvPr id="5" name="object 5"/>
            <p:cNvPicPr/>
            <p:nvPr/>
          </p:nvPicPr>
          <p:blipFill>
            <a:blip r:embed="rId3" cstate="print"/>
            <a:stretch>
              <a:fillRect/>
            </a:stretch>
          </p:blipFill>
          <p:spPr>
            <a:xfrm>
              <a:off x="3217164" y="1604772"/>
              <a:ext cx="2743200" cy="1770888"/>
            </a:xfrm>
            <a:prstGeom prst="rect">
              <a:avLst/>
            </a:prstGeom>
          </p:spPr>
        </p:pic>
        <p:pic>
          <p:nvPicPr>
            <p:cNvPr id="6" name="object 6"/>
            <p:cNvPicPr/>
            <p:nvPr/>
          </p:nvPicPr>
          <p:blipFill>
            <a:blip r:embed="rId4" cstate="print"/>
            <a:stretch>
              <a:fillRect/>
            </a:stretch>
          </p:blipFill>
          <p:spPr>
            <a:xfrm>
              <a:off x="3223260" y="1591056"/>
              <a:ext cx="2897124" cy="1712976"/>
            </a:xfrm>
            <a:prstGeom prst="rect">
              <a:avLst/>
            </a:prstGeom>
          </p:spPr>
        </p:pic>
        <p:sp>
          <p:nvSpPr>
            <p:cNvPr id="7" name="object 7"/>
            <p:cNvSpPr/>
            <p:nvPr/>
          </p:nvSpPr>
          <p:spPr>
            <a:xfrm>
              <a:off x="3223260" y="1591056"/>
              <a:ext cx="2897505" cy="1713230"/>
            </a:xfrm>
            <a:custGeom>
              <a:avLst/>
              <a:gdLst/>
              <a:ahLst/>
              <a:cxnLst/>
              <a:rect l="l" t="t" r="r" b="b"/>
              <a:pathLst>
                <a:path w="2897504" h="1713229">
                  <a:moveTo>
                    <a:pt x="0" y="285496"/>
                  </a:moveTo>
                  <a:lnTo>
                    <a:pt x="3735" y="239172"/>
                  </a:lnTo>
                  <a:lnTo>
                    <a:pt x="14549" y="195234"/>
                  </a:lnTo>
                  <a:lnTo>
                    <a:pt x="31855" y="154268"/>
                  </a:lnTo>
                  <a:lnTo>
                    <a:pt x="55067" y="116860"/>
                  </a:lnTo>
                  <a:lnTo>
                    <a:pt x="83597" y="83597"/>
                  </a:lnTo>
                  <a:lnTo>
                    <a:pt x="116860" y="55067"/>
                  </a:lnTo>
                  <a:lnTo>
                    <a:pt x="154268" y="31855"/>
                  </a:lnTo>
                  <a:lnTo>
                    <a:pt x="195234" y="14549"/>
                  </a:lnTo>
                  <a:lnTo>
                    <a:pt x="239172" y="3735"/>
                  </a:lnTo>
                  <a:lnTo>
                    <a:pt x="285495" y="0"/>
                  </a:lnTo>
                  <a:lnTo>
                    <a:pt x="2611628" y="0"/>
                  </a:lnTo>
                  <a:lnTo>
                    <a:pt x="2657951" y="3735"/>
                  </a:lnTo>
                  <a:lnTo>
                    <a:pt x="2701889" y="14549"/>
                  </a:lnTo>
                  <a:lnTo>
                    <a:pt x="2742855" y="31855"/>
                  </a:lnTo>
                  <a:lnTo>
                    <a:pt x="2780263" y="55067"/>
                  </a:lnTo>
                  <a:lnTo>
                    <a:pt x="2813526" y="83597"/>
                  </a:lnTo>
                  <a:lnTo>
                    <a:pt x="2842056" y="116860"/>
                  </a:lnTo>
                  <a:lnTo>
                    <a:pt x="2865268" y="154268"/>
                  </a:lnTo>
                  <a:lnTo>
                    <a:pt x="2882574" y="195234"/>
                  </a:lnTo>
                  <a:lnTo>
                    <a:pt x="2893388" y="239172"/>
                  </a:lnTo>
                  <a:lnTo>
                    <a:pt x="2897124" y="285496"/>
                  </a:lnTo>
                  <a:lnTo>
                    <a:pt x="2897124" y="1427480"/>
                  </a:lnTo>
                  <a:lnTo>
                    <a:pt x="2893388" y="1473803"/>
                  </a:lnTo>
                  <a:lnTo>
                    <a:pt x="2882574" y="1517741"/>
                  </a:lnTo>
                  <a:lnTo>
                    <a:pt x="2865268" y="1558707"/>
                  </a:lnTo>
                  <a:lnTo>
                    <a:pt x="2842056" y="1596115"/>
                  </a:lnTo>
                  <a:lnTo>
                    <a:pt x="2813526" y="1629378"/>
                  </a:lnTo>
                  <a:lnTo>
                    <a:pt x="2780263" y="1657908"/>
                  </a:lnTo>
                  <a:lnTo>
                    <a:pt x="2742855" y="1681120"/>
                  </a:lnTo>
                  <a:lnTo>
                    <a:pt x="2701889" y="1698426"/>
                  </a:lnTo>
                  <a:lnTo>
                    <a:pt x="2657951" y="1709240"/>
                  </a:lnTo>
                  <a:lnTo>
                    <a:pt x="2611628" y="1712976"/>
                  </a:lnTo>
                  <a:lnTo>
                    <a:pt x="285495" y="1712976"/>
                  </a:lnTo>
                  <a:lnTo>
                    <a:pt x="239172" y="1709240"/>
                  </a:lnTo>
                  <a:lnTo>
                    <a:pt x="195234" y="1698426"/>
                  </a:lnTo>
                  <a:lnTo>
                    <a:pt x="154268" y="1681120"/>
                  </a:lnTo>
                  <a:lnTo>
                    <a:pt x="116860" y="1657908"/>
                  </a:lnTo>
                  <a:lnTo>
                    <a:pt x="83597" y="1629378"/>
                  </a:lnTo>
                  <a:lnTo>
                    <a:pt x="55067" y="1596115"/>
                  </a:lnTo>
                  <a:lnTo>
                    <a:pt x="31855" y="1558707"/>
                  </a:lnTo>
                  <a:lnTo>
                    <a:pt x="14549" y="1517741"/>
                  </a:lnTo>
                  <a:lnTo>
                    <a:pt x="3735" y="1473803"/>
                  </a:lnTo>
                  <a:lnTo>
                    <a:pt x="0" y="1427480"/>
                  </a:lnTo>
                  <a:lnTo>
                    <a:pt x="0" y="285496"/>
                  </a:lnTo>
                  <a:close/>
                </a:path>
              </a:pathLst>
            </a:custGeom>
            <a:ln w="9525">
              <a:solidFill>
                <a:srgbClr val="497DBA"/>
              </a:solidFill>
            </a:ln>
          </p:spPr>
          <p:txBody>
            <a:bodyPr wrap="square" lIns="0" tIns="0" rIns="0" bIns="0" rtlCol="0"/>
            <a:lstStyle/>
            <a:p>
              <a:endParaRPr/>
            </a:p>
          </p:txBody>
        </p:sp>
      </p:grpSp>
      <p:sp>
        <p:nvSpPr>
          <p:cNvPr id="8" name="object 8"/>
          <p:cNvSpPr txBox="1"/>
          <p:nvPr/>
        </p:nvSpPr>
        <p:spPr>
          <a:xfrm>
            <a:off x="5546597" y="1683765"/>
            <a:ext cx="1296670" cy="391160"/>
          </a:xfrm>
          <a:prstGeom prst="rect">
            <a:avLst/>
          </a:prstGeom>
        </p:spPr>
        <p:txBody>
          <a:bodyPr vert="horz" wrap="square" lIns="0" tIns="12700" rIns="0" bIns="0" rtlCol="0">
            <a:spAutoFit/>
          </a:bodyPr>
          <a:lstStyle/>
          <a:p>
            <a:pPr marL="12700">
              <a:spcBef>
                <a:spcPts val="100"/>
              </a:spcBef>
            </a:pPr>
            <a:r>
              <a:rPr sz="2400" b="1" spc="-10" dirty="0">
                <a:solidFill>
                  <a:srgbClr val="FFFFFF"/>
                </a:solidFill>
                <a:latin typeface="Calibri"/>
                <a:cs typeface="Calibri"/>
              </a:rPr>
              <a:t>Controller</a:t>
            </a:r>
            <a:endParaRPr sz="2400">
              <a:latin typeface="Calibri"/>
              <a:cs typeface="Calibri"/>
            </a:endParaRPr>
          </a:p>
        </p:txBody>
      </p:sp>
      <p:sp>
        <p:nvSpPr>
          <p:cNvPr id="9" name="object 9"/>
          <p:cNvSpPr txBox="1"/>
          <p:nvPr/>
        </p:nvSpPr>
        <p:spPr>
          <a:xfrm>
            <a:off x="4909566" y="2603119"/>
            <a:ext cx="2414905" cy="574040"/>
          </a:xfrm>
          <a:prstGeom prst="rect">
            <a:avLst/>
          </a:prstGeom>
        </p:spPr>
        <p:txBody>
          <a:bodyPr vert="horz" wrap="square" lIns="0" tIns="12700" rIns="0" bIns="0" rtlCol="0">
            <a:spAutoFit/>
          </a:bodyPr>
          <a:lstStyle/>
          <a:p>
            <a:pPr marL="134620" indent="-121920">
              <a:spcBef>
                <a:spcPts val="100"/>
              </a:spcBef>
              <a:buChar char="-"/>
              <a:tabLst>
                <a:tab pos="134620" algn="l"/>
              </a:tabLst>
            </a:pPr>
            <a:r>
              <a:rPr dirty="0">
                <a:solidFill>
                  <a:srgbClr val="FFFFFF"/>
                </a:solidFill>
                <a:latin typeface="Calibri"/>
                <a:cs typeface="Calibri"/>
              </a:rPr>
              <a:t>Handles</a:t>
            </a:r>
            <a:r>
              <a:rPr spc="-70" dirty="0">
                <a:solidFill>
                  <a:srgbClr val="FFFFFF"/>
                </a:solidFill>
                <a:latin typeface="Calibri"/>
                <a:cs typeface="Calibri"/>
              </a:rPr>
              <a:t> </a:t>
            </a:r>
            <a:r>
              <a:rPr dirty="0">
                <a:solidFill>
                  <a:srgbClr val="FFFFFF"/>
                </a:solidFill>
                <a:latin typeface="Calibri"/>
                <a:cs typeface="Calibri"/>
              </a:rPr>
              <a:t>request</a:t>
            </a:r>
            <a:r>
              <a:rPr spc="-70" dirty="0">
                <a:solidFill>
                  <a:srgbClr val="FFFFFF"/>
                </a:solidFill>
                <a:latin typeface="Calibri"/>
                <a:cs typeface="Calibri"/>
              </a:rPr>
              <a:t> </a:t>
            </a:r>
            <a:r>
              <a:rPr spc="-20" dirty="0">
                <a:solidFill>
                  <a:srgbClr val="FFFFFF"/>
                </a:solidFill>
                <a:latin typeface="Calibri"/>
                <a:cs typeface="Calibri"/>
              </a:rPr>
              <a:t>flow</a:t>
            </a:r>
            <a:endParaRPr>
              <a:latin typeface="Calibri"/>
              <a:cs typeface="Calibri"/>
            </a:endParaRPr>
          </a:p>
          <a:p>
            <a:pPr marL="134620" indent="-121920">
              <a:buChar char="-"/>
              <a:tabLst>
                <a:tab pos="134620" algn="l"/>
              </a:tabLst>
            </a:pPr>
            <a:r>
              <a:rPr dirty="0">
                <a:solidFill>
                  <a:srgbClr val="FFFFFF"/>
                </a:solidFill>
                <a:latin typeface="Calibri"/>
                <a:cs typeface="Calibri"/>
              </a:rPr>
              <a:t>Do</a:t>
            </a:r>
            <a:r>
              <a:rPr spc="-35" dirty="0">
                <a:solidFill>
                  <a:srgbClr val="FFFFFF"/>
                </a:solidFill>
                <a:latin typeface="Calibri"/>
                <a:cs typeface="Calibri"/>
              </a:rPr>
              <a:t> </a:t>
            </a:r>
            <a:r>
              <a:rPr dirty="0">
                <a:solidFill>
                  <a:srgbClr val="FFFFFF"/>
                </a:solidFill>
                <a:latin typeface="Calibri"/>
                <a:cs typeface="Calibri"/>
              </a:rPr>
              <a:t>not</a:t>
            </a:r>
            <a:r>
              <a:rPr spc="-35" dirty="0">
                <a:solidFill>
                  <a:srgbClr val="FFFFFF"/>
                </a:solidFill>
                <a:latin typeface="Calibri"/>
                <a:cs typeface="Calibri"/>
              </a:rPr>
              <a:t> </a:t>
            </a:r>
            <a:r>
              <a:rPr dirty="0">
                <a:solidFill>
                  <a:srgbClr val="FFFFFF"/>
                </a:solidFill>
                <a:latin typeface="Calibri"/>
                <a:cs typeface="Calibri"/>
              </a:rPr>
              <a:t>handle</a:t>
            </a:r>
            <a:r>
              <a:rPr spc="-30" dirty="0">
                <a:solidFill>
                  <a:srgbClr val="FFFFFF"/>
                </a:solidFill>
                <a:latin typeface="Calibri"/>
                <a:cs typeface="Calibri"/>
              </a:rPr>
              <a:t> </a:t>
            </a:r>
            <a:r>
              <a:rPr dirty="0">
                <a:solidFill>
                  <a:srgbClr val="FFFFFF"/>
                </a:solidFill>
                <a:latin typeface="Calibri"/>
                <a:cs typeface="Calibri"/>
              </a:rPr>
              <a:t>data</a:t>
            </a:r>
            <a:r>
              <a:rPr spc="-45" dirty="0">
                <a:solidFill>
                  <a:srgbClr val="FFFFFF"/>
                </a:solidFill>
                <a:latin typeface="Calibri"/>
                <a:cs typeface="Calibri"/>
              </a:rPr>
              <a:t> </a:t>
            </a:r>
            <a:r>
              <a:rPr spc="-10" dirty="0">
                <a:solidFill>
                  <a:srgbClr val="FFFFFF"/>
                </a:solidFill>
                <a:latin typeface="Calibri"/>
                <a:cs typeface="Calibri"/>
              </a:rPr>
              <a:t>logic</a:t>
            </a:r>
            <a:endParaRPr>
              <a:latin typeface="Calibri"/>
              <a:cs typeface="Calibri"/>
            </a:endParaRPr>
          </a:p>
        </p:txBody>
      </p:sp>
      <p:grpSp>
        <p:nvGrpSpPr>
          <p:cNvPr id="10" name="object 10"/>
          <p:cNvGrpSpPr/>
          <p:nvPr/>
        </p:nvGrpSpPr>
        <p:grpSpPr>
          <a:xfrm>
            <a:off x="2427727" y="4346423"/>
            <a:ext cx="2970530" cy="1800225"/>
            <a:chOff x="903727" y="4346422"/>
            <a:chExt cx="2970530" cy="1800225"/>
          </a:xfrm>
        </p:grpSpPr>
        <p:pic>
          <p:nvPicPr>
            <p:cNvPr id="11" name="object 11"/>
            <p:cNvPicPr/>
            <p:nvPr/>
          </p:nvPicPr>
          <p:blipFill>
            <a:blip r:embed="rId5" cstate="print"/>
            <a:stretch>
              <a:fillRect/>
            </a:stretch>
          </p:blipFill>
          <p:spPr>
            <a:xfrm>
              <a:off x="903727" y="4346422"/>
              <a:ext cx="2970285" cy="1784680"/>
            </a:xfrm>
            <a:prstGeom prst="rect">
              <a:avLst/>
            </a:prstGeom>
          </p:spPr>
        </p:pic>
        <p:pic>
          <p:nvPicPr>
            <p:cNvPr id="12" name="object 12"/>
            <p:cNvPicPr/>
            <p:nvPr/>
          </p:nvPicPr>
          <p:blipFill>
            <a:blip r:embed="rId6" cstate="print"/>
            <a:stretch>
              <a:fillRect/>
            </a:stretch>
          </p:blipFill>
          <p:spPr>
            <a:xfrm>
              <a:off x="937259" y="4375404"/>
              <a:ext cx="2650236" cy="1770888"/>
            </a:xfrm>
            <a:prstGeom prst="rect">
              <a:avLst/>
            </a:prstGeom>
          </p:spPr>
        </p:pic>
        <p:pic>
          <p:nvPicPr>
            <p:cNvPr id="13" name="object 13"/>
            <p:cNvPicPr/>
            <p:nvPr/>
          </p:nvPicPr>
          <p:blipFill>
            <a:blip r:embed="rId7" cstate="print"/>
            <a:stretch>
              <a:fillRect/>
            </a:stretch>
          </p:blipFill>
          <p:spPr>
            <a:xfrm>
              <a:off x="941831" y="4361688"/>
              <a:ext cx="2898647" cy="1712976"/>
            </a:xfrm>
            <a:prstGeom prst="rect">
              <a:avLst/>
            </a:prstGeom>
          </p:spPr>
        </p:pic>
        <p:sp>
          <p:nvSpPr>
            <p:cNvPr id="14" name="object 14"/>
            <p:cNvSpPr/>
            <p:nvPr/>
          </p:nvSpPr>
          <p:spPr>
            <a:xfrm>
              <a:off x="941831" y="4361688"/>
              <a:ext cx="2898775" cy="1713230"/>
            </a:xfrm>
            <a:custGeom>
              <a:avLst/>
              <a:gdLst/>
              <a:ahLst/>
              <a:cxnLst/>
              <a:rect l="l" t="t" r="r" b="b"/>
              <a:pathLst>
                <a:path w="2898775" h="1713229">
                  <a:moveTo>
                    <a:pt x="0" y="285495"/>
                  </a:moveTo>
                  <a:lnTo>
                    <a:pt x="3736" y="239172"/>
                  </a:lnTo>
                  <a:lnTo>
                    <a:pt x="14555" y="195234"/>
                  </a:lnTo>
                  <a:lnTo>
                    <a:pt x="31867" y="154268"/>
                  </a:lnTo>
                  <a:lnTo>
                    <a:pt x="55085" y="116860"/>
                  </a:lnTo>
                  <a:lnTo>
                    <a:pt x="83621" y="83597"/>
                  </a:lnTo>
                  <a:lnTo>
                    <a:pt x="116887" y="55067"/>
                  </a:lnTo>
                  <a:lnTo>
                    <a:pt x="154296" y="31855"/>
                  </a:lnTo>
                  <a:lnTo>
                    <a:pt x="195258" y="14549"/>
                  </a:lnTo>
                  <a:lnTo>
                    <a:pt x="239188" y="3735"/>
                  </a:lnTo>
                  <a:lnTo>
                    <a:pt x="285496" y="0"/>
                  </a:lnTo>
                  <a:lnTo>
                    <a:pt x="2613152" y="0"/>
                  </a:lnTo>
                  <a:lnTo>
                    <a:pt x="2659475" y="3735"/>
                  </a:lnTo>
                  <a:lnTo>
                    <a:pt x="2703413" y="14549"/>
                  </a:lnTo>
                  <a:lnTo>
                    <a:pt x="2744379" y="31855"/>
                  </a:lnTo>
                  <a:lnTo>
                    <a:pt x="2781787" y="55067"/>
                  </a:lnTo>
                  <a:lnTo>
                    <a:pt x="2815050" y="83597"/>
                  </a:lnTo>
                  <a:lnTo>
                    <a:pt x="2843580" y="116860"/>
                  </a:lnTo>
                  <a:lnTo>
                    <a:pt x="2866792" y="154268"/>
                  </a:lnTo>
                  <a:lnTo>
                    <a:pt x="2884098" y="195234"/>
                  </a:lnTo>
                  <a:lnTo>
                    <a:pt x="2894912" y="239172"/>
                  </a:lnTo>
                  <a:lnTo>
                    <a:pt x="2898647" y="285495"/>
                  </a:lnTo>
                  <a:lnTo>
                    <a:pt x="2898647" y="1427480"/>
                  </a:lnTo>
                  <a:lnTo>
                    <a:pt x="2894912" y="1473787"/>
                  </a:lnTo>
                  <a:lnTo>
                    <a:pt x="2884098" y="1517717"/>
                  </a:lnTo>
                  <a:lnTo>
                    <a:pt x="2866792" y="1558679"/>
                  </a:lnTo>
                  <a:lnTo>
                    <a:pt x="2843580" y="1596088"/>
                  </a:lnTo>
                  <a:lnTo>
                    <a:pt x="2815050" y="1629354"/>
                  </a:lnTo>
                  <a:lnTo>
                    <a:pt x="2781787" y="1657890"/>
                  </a:lnTo>
                  <a:lnTo>
                    <a:pt x="2744379" y="1681108"/>
                  </a:lnTo>
                  <a:lnTo>
                    <a:pt x="2703413" y="1698420"/>
                  </a:lnTo>
                  <a:lnTo>
                    <a:pt x="2659475" y="1709239"/>
                  </a:lnTo>
                  <a:lnTo>
                    <a:pt x="2613152" y="1712976"/>
                  </a:lnTo>
                  <a:lnTo>
                    <a:pt x="285496" y="1712976"/>
                  </a:lnTo>
                  <a:lnTo>
                    <a:pt x="239188" y="1709239"/>
                  </a:lnTo>
                  <a:lnTo>
                    <a:pt x="195258" y="1698420"/>
                  </a:lnTo>
                  <a:lnTo>
                    <a:pt x="154296" y="1681108"/>
                  </a:lnTo>
                  <a:lnTo>
                    <a:pt x="116887" y="1657890"/>
                  </a:lnTo>
                  <a:lnTo>
                    <a:pt x="83621" y="1629354"/>
                  </a:lnTo>
                  <a:lnTo>
                    <a:pt x="55085" y="1596088"/>
                  </a:lnTo>
                  <a:lnTo>
                    <a:pt x="31867" y="1558679"/>
                  </a:lnTo>
                  <a:lnTo>
                    <a:pt x="14555" y="1517717"/>
                  </a:lnTo>
                  <a:lnTo>
                    <a:pt x="3736" y="1473787"/>
                  </a:lnTo>
                  <a:lnTo>
                    <a:pt x="0" y="1427480"/>
                  </a:lnTo>
                  <a:lnTo>
                    <a:pt x="0" y="285495"/>
                  </a:lnTo>
                  <a:close/>
                </a:path>
              </a:pathLst>
            </a:custGeom>
            <a:ln w="9524">
              <a:solidFill>
                <a:srgbClr val="497DBA"/>
              </a:solidFill>
            </a:ln>
          </p:spPr>
          <p:txBody>
            <a:bodyPr wrap="square" lIns="0" tIns="0" rIns="0" bIns="0" rtlCol="0"/>
            <a:lstStyle/>
            <a:p>
              <a:endParaRPr/>
            </a:p>
          </p:txBody>
        </p:sp>
      </p:grpSp>
      <p:sp>
        <p:nvSpPr>
          <p:cNvPr id="15" name="object 15"/>
          <p:cNvSpPr txBox="1"/>
          <p:nvPr/>
        </p:nvSpPr>
        <p:spPr>
          <a:xfrm>
            <a:off x="3491864" y="4455921"/>
            <a:ext cx="848994" cy="391160"/>
          </a:xfrm>
          <a:prstGeom prst="rect">
            <a:avLst/>
          </a:prstGeom>
        </p:spPr>
        <p:txBody>
          <a:bodyPr vert="horz" wrap="square" lIns="0" tIns="12700" rIns="0" bIns="0" rtlCol="0">
            <a:spAutoFit/>
          </a:bodyPr>
          <a:lstStyle/>
          <a:p>
            <a:pPr marL="12700">
              <a:spcBef>
                <a:spcPts val="100"/>
              </a:spcBef>
            </a:pPr>
            <a:r>
              <a:rPr sz="2400" b="1" spc="-10" dirty="0">
                <a:solidFill>
                  <a:srgbClr val="FFFFFF"/>
                </a:solidFill>
                <a:latin typeface="Calibri"/>
                <a:cs typeface="Calibri"/>
              </a:rPr>
              <a:t>Model</a:t>
            </a:r>
            <a:endParaRPr sz="2400">
              <a:latin typeface="Calibri"/>
              <a:cs typeface="Calibri"/>
            </a:endParaRPr>
          </a:p>
        </p:txBody>
      </p:sp>
      <p:sp>
        <p:nvSpPr>
          <p:cNvPr id="16" name="object 16"/>
          <p:cNvSpPr txBox="1"/>
          <p:nvPr/>
        </p:nvSpPr>
        <p:spPr>
          <a:xfrm>
            <a:off x="2629002" y="5374945"/>
            <a:ext cx="2320925" cy="574675"/>
          </a:xfrm>
          <a:prstGeom prst="rect">
            <a:avLst/>
          </a:prstGeom>
        </p:spPr>
        <p:txBody>
          <a:bodyPr vert="horz" wrap="square" lIns="0" tIns="12700" rIns="0" bIns="0" rtlCol="0">
            <a:spAutoFit/>
          </a:bodyPr>
          <a:lstStyle/>
          <a:p>
            <a:pPr marL="134620" indent="-121920">
              <a:spcBef>
                <a:spcPts val="100"/>
              </a:spcBef>
              <a:buChar char="-"/>
              <a:tabLst>
                <a:tab pos="134620" algn="l"/>
              </a:tabLst>
            </a:pPr>
            <a:r>
              <a:rPr dirty="0">
                <a:solidFill>
                  <a:srgbClr val="FFFFFF"/>
                </a:solidFill>
                <a:latin typeface="Calibri"/>
                <a:cs typeface="Calibri"/>
              </a:rPr>
              <a:t>Handles</a:t>
            </a:r>
            <a:r>
              <a:rPr spc="-55" dirty="0">
                <a:solidFill>
                  <a:srgbClr val="FFFFFF"/>
                </a:solidFill>
                <a:latin typeface="Calibri"/>
                <a:cs typeface="Calibri"/>
              </a:rPr>
              <a:t> </a:t>
            </a:r>
            <a:r>
              <a:rPr dirty="0">
                <a:solidFill>
                  <a:srgbClr val="FFFFFF"/>
                </a:solidFill>
                <a:latin typeface="Calibri"/>
                <a:cs typeface="Calibri"/>
              </a:rPr>
              <a:t>data</a:t>
            </a:r>
            <a:r>
              <a:rPr spc="-75" dirty="0">
                <a:solidFill>
                  <a:srgbClr val="FFFFFF"/>
                </a:solidFill>
                <a:latin typeface="Calibri"/>
                <a:cs typeface="Calibri"/>
              </a:rPr>
              <a:t> </a:t>
            </a:r>
            <a:r>
              <a:rPr spc="-10" dirty="0">
                <a:solidFill>
                  <a:srgbClr val="FFFFFF"/>
                </a:solidFill>
                <a:latin typeface="Calibri"/>
                <a:cs typeface="Calibri"/>
              </a:rPr>
              <a:t>logic</a:t>
            </a:r>
            <a:endParaRPr>
              <a:latin typeface="Calibri"/>
              <a:cs typeface="Calibri"/>
            </a:endParaRPr>
          </a:p>
          <a:p>
            <a:pPr marL="134620" indent="-121920">
              <a:buChar char="-"/>
              <a:tabLst>
                <a:tab pos="134620" algn="l"/>
              </a:tabLst>
            </a:pPr>
            <a:r>
              <a:rPr dirty="0">
                <a:solidFill>
                  <a:srgbClr val="FFFFFF"/>
                </a:solidFill>
                <a:latin typeface="Calibri"/>
                <a:cs typeface="Calibri"/>
              </a:rPr>
              <a:t>Interacts</a:t>
            </a:r>
            <a:r>
              <a:rPr spc="-60" dirty="0">
                <a:solidFill>
                  <a:srgbClr val="FFFFFF"/>
                </a:solidFill>
                <a:latin typeface="Calibri"/>
                <a:cs typeface="Calibri"/>
              </a:rPr>
              <a:t> </a:t>
            </a:r>
            <a:r>
              <a:rPr dirty="0">
                <a:solidFill>
                  <a:srgbClr val="FFFFFF"/>
                </a:solidFill>
                <a:latin typeface="Calibri"/>
                <a:cs typeface="Calibri"/>
              </a:rPr>
              <a:t>with</a:t>
            </a:r>
            <a:r>
              <a:rPr spc="-45" dirty="0">
                <a:solidFill>
                  <a:srgbClr val="FFFFFF"/>
                </a:solidFill>
                <a:latin typeface="Calibri"/>
                <a:cs typeface="Calibri"/>
              </a:rPr>
              <a:t> </a:t>
            </a:r>
            <a:r>
              <a:rPr spc="-10" dirty="0">
                <a:solidFill>
                  <a:srgbClr val="FFFFFF"/>
                </a:solidFill>
                <a:latin typeface="Calibri"/>
                <a:cs typeface="Calibri"/>
              </a:rPr>
              <a:t>database</a:t>
            </a:r>
            <a:endParaRPr>
              <a:latin typeface="Calibri"/>
              <a:cs typeface="Calibri"/>
            </a:endParaRPr>
          </a:p>
        </p:txBody>
      </p:sp>
      <p:grpSp>
        <p:nvGrpSpPr>
          <p:cNvPr id="17" name="object 17"/>
          <p:cNvGrpSpPr/>
          <p:nvPr/>
        </p:nvGrpSpPr>
        <p:grpSpPr>
          <a:xfrm>
            <a:off x="6961627" y="4346423"/>
            <a:ext cx="2970530" cy="1800225"/>
            <a:chOff x="5437627" y="4346422"/>
            <a:chExt cx="2970530" cy="1800225"/>
          </a:xfrm>
        </p:grpSpPr>
        <p:pic>
          <p:nvPicPr>
            <p:cNvPr id="18" name="object 18"/>
            <p:cNvPicPr/>
            <p:nvPr/>
          </p:nvPicPr>
          <p:blipFill>
            <a:blip r:embed="rId5" cstate="print"/>
            <a:stretch>
              <a:fillRect/>
            </a:stretch>
          </p:blipFill>
          <p:spPr>
            <a:xfrm>
              <a:off x="5437627" y="4346422"/>
              <a:ext cx="2970285" cy="1784680"/>
            </a:xfrm>
            <a:prstGeom prst="rect">
              <a:avLst/>
            </a:prstGeom>
          </p:spPr>
        </p:pic>
        <p:pic>
          <p:nvPicPr>
            <p:cNvPr id="19" name="object 19"/>
            <p:cNvPicPr/>
            <p:nvPr/>
          </p:nvPicPr>
          <p:blipFill>
            <a:blip r:embed="rId8" cstate="print"/>
            <a:stretch>
              <a:fillRect/>
            </a:stretch>
          </p:blipFill>
          <p:spPr>
            <a:xfrm>
              <a:off x="5471160" y="4375404"/>
              <a:ext cx="2276856" cy="1770888"/>
            </a:xfrm>
            <a:prstGeom prst="rect">
              <a:avLst/>
            </a:prstGeom>
          </p:spPr>
        </p:pic>
        <p:pic>
          <p:nvPicPr>
            <p:cNvPr id="20" name="object 20"/>
            <p:cNvPicPr/>
            <p:nvPr/>
          </p:nvPicPr>
          <p:blipFill>
            <a:blip r:embed="rId9" cstate="print"/>
            <a:stretch>
              <a:fillRect/>
            </a:stretch>
          </p:blipFill>
          <p:spPr>
            <a:xfrm>
              <a:off x="5475732" y="4361688"/>
              <a:ext cx="2898647" cy="1712976"/>
            </a:xfrm>
            <a:prstGeom prst="rect">
              <a:avLst/>
            </a:prstGeom>
          </p:spPr>
        </p:pic>
        <p:sp>
          <p:nvSpPr>
            <p:cNvPr id="21" name="object 21"/>
            <p:cNvSpPr/>
            <p:nvPr/>
          </p:nvSpPr>
          <p:spPr>
            <a:xfrm>
              <a:off x="5475732" y="4361688"/>
              <a:ext cx="2898775" cy="1713230"/>
            </a:xfrm>
            <a:custGeom>
              <a:avLst/>
              <a:gdLst/>
              <a:ahLst/>
              <a:cxnLst/>
              <a:rect l="l" t="t" r="r" b="b"/>
              <a:pathLst>
                <a:path w="2898775" h="1713229">
                  <a:moveTo>
                    <a:pt x="0" y="285495"/>
                  </a:moveTo>
                  <a:lnTo>
                    <a:pt x="3735" y="239172"/>
                  </a:lnTo>
                  <a:lnTo>
                    <a:pt x="14549" y="195234"/>
                  </a:lnTo>
                  <a:lnTo>
                    <a:pt x="31855" y="154268"/>
                  </a:lnTo>
                  <a:lnTo>
                    <a:pt x="55067" y="116860"/>
                  </a:lnTo>
                  <a:lnTo>
                    <a:pt x="83597" y="83597"/>
                  </a:lnTo>
                  <a:lnTo>
                    <a:pt x="116860" y="55067"/>
                  </a:lnTo>
                  <a:lnTo>
                    <a:pt x="154268" y="31855"/>
                  </a:lnTo>
                  <a:lnTo>
                    <a:pt x="195234" y="14549"/>
                  </a:lnTo>
                  <a:lnTo>
                    <a:pt x="239172" y="3735"/>
                  </a:lnTo>
                  <a:lnTo>
                    <a:pt x="285495" y="0"/>
                  </a:lnTo>
                  <a:lnTo>
                    <a:pt x="2613151" y="0"/>
                  </a:lnTo>
                  <a:lnTo>
                    <a:pt x="2659475" y="3735"/>
                  </a:lnTo>
                  <a:lnTo>
                    <a:pt x="2703413" y="14549"/>
                  </a:lnTo>
                  <a:lnTo>
                    <a:pt x="2744379" y="31855"/>
                  </a:lnTo>
                  <a:lnTo>
                    <a:pt x="2781787" y="55067"/>
                  </a:lnTo>
                  <a:lnTo>
                    <a:pt x="2815050" y="83597"/>
                  </a:lnTo>
                  <a:lnTo>
                    <a:pt x="2843580" y="116860"/>
                  </a:lnTo>
                  <a:lnTo>
                    <a:pt x="2866792" y="154268"/>
                  </a:lnTo>
                  <a:lnTo>
                    <a:pt x="2884098" y="195234"/>
                  </a:lnTo>
                  <a:lnTo>
                    <a:pt x="2894912" y="239172"/>
                  </a:lnTo>
                  <a:lnTo>
                    <a:pt x="2898647" y="285495"/>
                  </a:lnTo>
                  <a:lnTo>
                    <a:pt x="2898647" y="1427480"/>
                  </a:lnTo>
                  <a:lnTo>
                    <a:pt x="2894912" y="1473787"/>
                  </a:lnTo>
                  <a:lnTo>
                    <a:pt x="2884098" y="1517717"/>
                  </a:lnTo>
                  <a:lnTo>
                    <a:pt x="2866792" y="1558679"/>
                  </a:lnTo>
                  <a:lnTo>
                    <a:pt x="2843580" y="1596088"/>
                  </a:lnTo>
                  <a:lnTo>
                    <a:pt x="2815050" y="1629354"/>
                  </a:lnTo>
                  <a:lnTo>
                    <a:pt x="2781787" y="1657890"/>
                  </a:lnTo>
                  <a:lnTo>
                    <a:pt x="2744379" y="1681108"/>
                  </a:lnTo>
                  <a:lnTo>
                    <a:pt x="2703413" y="1698420"/>
                  </a:lnTo>
                  <a:lnTo>
                    <a:pt x="2659475" y="1709239"/>
                  </a:lnTo>
                  <a:lnTo>
                    <a:pt x="2613151" y="1712976"/>
                  </a:lnTo>
                  <a:lnTo>
                    <a:pt x="285495" y="1712976"/>
                  </a:lnTo>
                  <a:lnTo>
                    <a:pt x="239172" y="1709239"/>
                  </a:lnTo>
                  <a:lnTo>
                    <a:pt x="195234" y="1698420"/>
                  </a:lnTo>
                  <a:lnTo>
                    <a:pt x="154268" y="1681108"/>
                  </a:lnTo>
                  <a:lnTo>
                    <a:pt x="116860" y="1657890"/>
                  </a:lnTo>
                  <a:lnTo>
                    <a:pt x="83597" y="1629354"/>
                  </a:lnTo>
                  <a:lnTo>
                    <a:pt x="55067" y="1596088"/>
                  </a:lnTo>
                  <a:lnTo>
                    <a:pt x="31855" y="1558679"/>
                  </a:lnTo>
                  <a:lnTo>
                    <a:pt x="14549" y="1517717"/>
                  </a:lnTo>
                  <a:lnTo>
                    <a:pt x="3735" y="1473787"/>
                  </a:lnTo>
                  <a:lnTo>
                    <a:pt x="0" y="1427480"/>
                  </a:lnTo>
                  <a:lnTo>
                    <a:pt x="0" y="285495"/>
                  </a:lnTo>
                  <a:close/>
                </a:path>
              </a:pathLst>
            </a:custGeom>
            <a:ln w="9525">
              <a:solidFill>
                <a:srgbClr val="497DBA"/>
              </a:solidFill>
            </a:ln>
          </p:spPr>
          <p:txBody>
            <a:bodyPr wrap="square" lIns="0" tIns="0" rIns="0" bIns="0" rtlCol="0"/>
            <a:lstStyle/>
            <a:p>
              <a:endParaRPr/>
            </a:p>
          </p:txBody>
        </p:sp>
      </p:grpSp>
      <p:sp>
        <p:nvSpPr>
          <p:cNvPr id="22" name="object 22"/>
          <p:cNvSpPr txBox="1"/>
          <p:nvPr/>
        </p:nvSpPr>
        <p:spPr>
          <a:xfrm>
            <a:off x="8120634" y="4455921"/>
            <a:ext cx="659765" cy="391160"/>
          </a:xfrm>
          <a:prstGeom prst="rect">
            <a:avLst/>
          </a:prstGeom>
        </p:spPr>
        <p:txBody>
          <a:bodyPr vert="horz" wrap="square" lIns="0" tIns="12700" rIns="0" bIns="0" rtlCol="0">
            <a:spAutoFit/>
          </a:bodyPr>
          <a:lstStyle/>
          <a:p>
            <a:pPr marL="12700">
              <a:spcBef>
                <a:spcPts val="100"/>
              </a:spcBef>
            </a:pPr>
            <a:r>
              <a:rPr sz="2400" b="1" spc="-20" dirty="0">
                <a:solidFill>
                  <a:srgbClr val="FFFFFF"/>
                </a:solidFill>
                <a:latin typeface="Calibri"/>
                <a:cs typeface="Calibri"/>
              </a:rPr>
              <a:t>View</a:t>
            </a:r>
            <a:endParaRPr sz="2400">
              <a:latin typeface="Calibri"/>
              <a:cs typeface="Calibri"/>
            </a:endParaRPr>
          </a:p>
        </p:txBody>
      </p:sp>
      <p:sp>
        <p:nvSpPr>
          <p:cNvPr id="23" name="object 23"/>
          <p:cNvSpPr txBox="1"/>
          <p:nvPr/>
        </p:nvSpPr>
        <p:spPr>
          <a:xfrm>
            <a:off x="7163562" y="5374945"/>
            <a:ext cx="1947545" cy="574675"/>
          </a:xfrm>
          <a:prstGeom prst="rect">
            <a:avLst/>
          </a:prstGeom>
        </p:spPr>
        <p:txBody>
          <a:bodyPr vert="horz" wrap="square" lIns="0" tIns="12700" rIns="0" bIns="0" rtlCol="0">
            <a:spAutoFit/>
          </a:bodyPr>
          <a:lstStyle/>
          <a:p>
            <a:pPr marL="134620" indent="-121920">
              <a:spcBef>
                <a:spcPts val="100"/>
              </a:spcBef>
              <a:buChar char="-"/>
              <a:tabLst>
                <a:tab pos="134620" algn="l"/>
              </a:tabLst>
            </a:pPr>
            <a:r>
              <a:rPr dirty="0">
                <a:solidFill>
                  <a:srgbClr val="FFFFFF"/>
                </a:solidFill>
                <a:latin typeface="Calibri"/>
                <a:cs typeface="Calibri"/>
              </a:rPr>
              <a:t>Handles</a:t>
            </a:r>
            <a:r>
              <a:rPr spc="-60" dirty="0">
                <a:solidFill>
                  <a:srgbClr val="FFFFFF"/>
                </a:solidFill>
                <a:latin typeface="Calibri"/>
                <a:cs typeface="Calibri"/>
              </a:rPr>
              <a:t> </a:t>
            </a:r>
            <a:r>
              <a:rPr dirty="0">
                <a:solidFill>
                  <a:srgbClr val="FFFFFF"/>
                </a:solidFill>
                <a:latin typeface="Calibri"/>
                <a:cs typeface="Calibri"/>
              </a:rPr>
              <a:t>data</a:t>
            </a:r>
            <a:r>
              <a:rPr spc="-75" dirty="0">
                <a:solidFill>
                  <a:srgbClr val="FFFFFF"/>
                </a:solidFill>
                <a:latin typeface="Calibri"/>
                <a:cs typeface="Calibri"/>
              </a:rPr>
              <a:t> </a:t>
            </a:r>
            <a:r>
              <a:rPr spc="-20" dirty="0">
                <a:solidFill>
                  <a:srgbClr val="FFFFFF"/>
                </a:solidFill>
                <a:latin typeface="Calibri"/>
                <a:cs typeface="Calibri"/>
              </a:rPr>
              <a:t>view</a:t>
            </a:r>
            <a:endParaRPr>
              <a:latin typeface="Calibri"/>
              <a:cs typeface="Calibri"/>
            </a:endParaRPr>
          </a:p>
          <a:p>
            <a:pPr marL="134620" indent="-121920">
              <a:buChar char="-"/>
              <a:tabLst>
                <a:tab pos="134620" algn="l"/>
              </a:tabLst>
            </a:pPr>
            <a:r>
              <a:rPr dirty="0">
                <a:solidFill>
                  <a:srgbClr val="FFFFFF"/>
                </a:solidFill>
                <a:latin typeface="Calibri"/>
                <a:cs typeface="Calibri"/>
              </a:rPr>
              <a:t>Dynamically</a:t>
            </a:r>
            <a:r>
              <a:rPr spc="-40" dirty="0">
                <a:solidFill>
                  <a:srgbClr val="FFFFFF"/>
                </a:solidFill>
                <a:latin typeface="Calibri"/>
                <a:cs typeface="Calibri"/>
              </a:rPr>
              <a:t> </a:t>
            </a:r>
            <a:r>
              <a:rPr spc="-10" dirty="0">
                <a:solidFill>
                  <a:srgbClr val="FFFFFF"/>
                </a:solidFill>
                <a:latin typeface="Calibri"/>
                <a:cs typeface="Calibri"/>
              </a:rPr>
              <a:t>render</a:t>
            </a:r>
            <a:endParaRPr>
              <a:latin typeface="Calibri"/>
              <a:cs typeface="Calibri"/>
            </a:endParaRPr>
          </a:p>
        </p:txBody>
      </p:sp>
      <p:grpSp>
        <p:nvGrpSpPr>
          <p:cNvPr id="24" name="object 24"/>
          <p:cNvGrpSpPr/>
          <p:nvPr/>
        </p:nvGrpSpPr>
        <p:grpSpPr>
          <a:xfrm>
            <a:off x="2484194" y="1967852"/>
            <a:ext cx="2365375" cy="959485"/>
            <a:chOff x="960193" y="1967851"/>
            <a:chExt cx="2365375" cy="959485"/>
          </a:xfrm>
        </p:grpSpPr>
        <p:pic>
          <p:nvPicPr>
            <p:cNvPr id="25" name="object 25"/>
            <p:cNvPicPr/>
            <p:nvPr/>
          </p:nvPicPr>
          <p:blipFill>
            <a:blip r:embed="rId10" cstate="print"/>
            <a:stretch>
              <a:fillRect/>
            </a:stretch>
          </p:blipFill>
          <p:spPr>
            <a:xfrm>
              <a:off x="960193" y="1967851"/>
              <a:ext cx="1106277" cy="959385"/>
            </a:xfrm>
            <a:prstGeom prst="rect">
              <a:avLst/>
            </a:prstGeom>
          </p:spPr>
        </p:pic>
        <p:pic>
          <p:nvPicPr>
            <p:cNvPr id="26" name="object 26"/>
            <p:cNvPicPr/>
            <p:nvPr/>
          </p:nvPicPr>
          <p:blipFill>
            <a:blip r:embed="rId11" cstate="print"/>
            <a:stretch>
              <a:fillRect/>
            </a:stretch>
          </p:blipFill>
          <p:spPr>
            <a:xfrm>
              <a:off x="2029967" y="2154961"/>
              <a:ext cx="1295400" cy="234670"/>
            </a:xfrm>
            <a:prstGeom prst="rect">
              <a:avLst/>
            </a:prstGeom>
          </p:spPr>
        </p:pic>
        <p:sp>
          <p:nvSpPr>
            <p:cNvPr id="27" name="object 27"/>
            <p:cNvSpPr/>
            <p:nvPr/>
          </p:nvSpPr>
          <p:spPr>
            <a:xfrm>
              <a:off x="2073402" y="2216657"/>
              <a:ext cx="1137285" cy="76200"/>
            </a:xfrm>
            <a:custGeom>
              <a:avLst/>
              <a:gdLst/>
              <a:ahLst/>
              <a:cxnLst/>
              <a:rect l="l" t="t" r="r" b="b"/>
              <a:pathLst>
                <a:path w="1137285" h="76200">
                  <a:moveTo>
                    <a:pt x="1060831" y="0"/>
                  </a:moveTo>
                  <a:lnTo>
                    <a:pt x="1060831" y="76200"/>
                  </a:lnTo>
                  <a:lnTo>
                    <a:pt x="1111631" y="50800"/>
                  </a:lnTo>
                  <a:lnTo>
                    <a:pt x="1073531" y="50800"/>
                  </a:lnTo>
                  <a:lnTo>
                    <a:pt x="1073531" y="25400"/>
                  </a:lnTo>
                  <a:lnTo>
                    <a:pt x="1111631" y="25400"/>
                  </a:lnTo>
                  <a:lnTo>
                    <a:pt x="1060831" y="0"/>
                  </a:lnTo>
                  <a:close/>
                </a:path>
                <a:path w="1137285" h="76200">
                  <a:moveTo>
                    <a:pt x="1060831" y="25400"/>
                  </a:moveTo>
                  <a:lnTo>
                    <a:pt x="0" y="25400"/>
                  </a:lnTo>
                  <a:lnTo>
                    <a:pt x="0" y="50800"/>
                  </a:lnTo>
                  <a:lnTo>
                    <a:pt x="1060831" y="50800"/>
                  </a:lnTo>
                  <a:lnTo>
                    <a:pt x="1060831" y="25400"/>
                  </a:lnTo>
                  <a:close/>
                </a:path>
                <a:path w="1137285" h="76200">
                  <a:moveTo>
                    <a:pt x="1111631" y="25400"/>
                  </a:moveTo>
                  <a:lnTo>
                    <a:pt x="1073531" y="25400"/>
                  </a:lnTo>
                  <a:lnTo>
                    <a:pt x="1073531" y="50800"/>
                  </a:lnTo>
                  <a:lnTo>
                    <a:pt x="1111631" y="50800"/>
                  </a:lnTo>
                  <a:lnTo>
                    <a:pt x="1137031" y="38100"/>
                  </a:lnTo>
                  <a:lnTo>
                    <a:pt x="1111631" y="25400"/>
                  </a:lnTo>
                  <a:close/>
                </a:path>
              </a:pathLst>
            </a:custGeom>
            <a:solidFill>
              <a:srgbClr val="4F81BC"/>
            </a:solidFill>
          </p:spPr>
          <p:txBody>
            <a:bodyPr wrap="square" lIns="0" tIns="0" rIns="0" bIns="0" rtlCol="0"/>
            <a:lstStyle/>
            <a:p>
              <a:endParaRPr/>
            </a:p>
          </p:txBody>
        </p:sp>
      </p:grpSp>
      <p:sp>
        <p:nvSpPr>
          <p:cNvPr id="28" name="object 28"/>
          <p:cNvSpPr txBox="1"/>
          <p:nvPr/>
        </p:nvSpPr>
        <p:spPr>
          <a:xfrm>
            <a:off x="3639693" y="1902967"/>
            <a:ext cx="1002665" cy="299720"/>
          </a:xfrm>
          <a:prstGeom prst="rect">
            <a:avLst/>
          </a:prstGeom>
        </p:spPr>
        <p:txBody>
          <a:bodyPr vert="horz" wrap="square" lIns="0" tIns="12700" rIns="0" bIns="0" rtlCol="0">
            <a:spAutoFit/>
          </a:bodyPr>
          <a:lstStyle/>
          <a:p>
            <a:pPr marL="12700">
              <a:spcBef>
                <a:spcPts val="100"/>
              </a:spcBef>
            </a:pPr>
            <a:r>
              <a:rPr dirty="0">
                <a:latin typeface="Calibri"/>
                <a:cs typeface="Calibri"/>
              </a:rPr>
              <a:t>1.</a:t>
            </a:r>
            <a:r>
              <a:rPr spc="-10" dirty="0">
                <a:latin typeface="Calibri"/>
                <a:cs typeface="Calibri"/>
              </a:rPr>
              <a:t> Request</a:t>
            </a:r>
            <a:endParaRPr>
              <a:latin typeface="Calibri"/>
              <a:cs typeface="Calibri"/>
            </a:endParaRPr>
          </a:p>
        </p:txBody>
      </p:sp>
      <p:grpSp>
        <p:nvGrpSpPr>
          <p:cNvPr id="29" name="object 29"/>
          <p:cNvGrpSpPr/>
          <p:nvPr/>
        </p:nvGrpSpPr>
        <p:grpSpPr>
          <a:xfrm>
            <a:off x="3922777" y="3264408"/>
            <a:ext cx="1823085" cy="1242060"/>
            <a:chOff x="2398776" y="3264408"/>
            <a:chExt cx="1823085" cy="1242060"/>
          </a:xfrm>
        </p:grpSpPr>
        <p:pic>
          <p:nvPicPr>
            <p:cNvPr id="30" name="object 30"/>
            <p:cNvPicPr/>
            <p:nvPr/>
          </p:nvPicPr>
          <p:blipFill>
            <a:blip r:embed="rId12" cstate="print"/>
            <a:stretch>
              <a:fillRect/>
            </a:stretch>
          </p:blipFill>
          <p:spPr>
            <a:xfrm>
              <a:off x="2398776" y="3273564"/>
              <a:ext cx="1289303" cy="1232903"/>
            </a:xfrm>
            <a:prstGeom prst="rect">
              <a:avLst/>
            </a:prstGeom>
          </p:spPr>
        </p:pic>
        <p:sp>
          <p:nvSpPr>
            <p:cNvPr id="31" name="object 31"/>
            <p:cNvSpPr/>
            <p:nvPr/>
          </p:nvSpPr>
          <p:spPr>
            <a:xfrm>
              <a:off x="2518410" y="3295523"/>
              <a:ext cx="1132205" cy="1076325"/>
            </a:xfrm>
            <a:custGeom>
              <a:avLst/>
              <a:gdLst/>
              <a:ahLst/>
              <a:cxnLst/>
              <a:rect l="l" t="t" r="r" b="b"/>
              <a:pathLst>
                <a:path w="1132204" h="1076325">
                  <a:moveTo>
                    <a:pt x="28956" y="995933"/>
                  </a:moveTo>
                  <a:lnTo>
                    <a:pt x="0" y="1076070"/>
                  </a:lnTo>
                  <a:lnTo>
                    <a:pt x="81533" y="1051178"/>
                  </a:lnTo>
                  <a:lnTo>
                    <a:pt x="72347" y="1041526"/>
                  </a:lnTo>
                  <a:lnTo>
                    <a:pt x="54737" y="1041526"/>
                  </a:lnTo>
                  <a:lnTo>
                    <a:pt x="37337" y="1023112"/>
                  </a:lnTo>
                  <a:lnTo>
                    <a:pt x="46520" y="1014389"/>
                  </a:lnTo>
                  <a:lnTo>
                    <a:pt x="28956" y="995933"/>
                  </a:lnTo>
                  <a:close/>
                </a:path>
                <a:path w="1132204" h="1076325">
                  <a:moveTo>
                    <a:pt x="46520" y="1014389"/>
                  </a:moveTo>
                  <a:lnTo>
                    <a:pt x="37337" y="1023112"/>
                  </a:lnTo>
                  <a:lnTo>
                    <a:pt x="54737" y="1041526"/>
                  </a:lnTo>
                  <a:lnTo>
                    <a:pt x="63986" y="1032741"/>
                  </a:lnTo>
                  <a:lnTo>
                    <a:pt x="46520" y="1014389"/>
                  </a:lnTo>
                  <a:close/>
                </a:path>
                <a:path w="1132204" h="1076325">
                  <a:moveTo>
                    <a:pt x="63986" y="1032741"/>
                  </a:moveTo>
                  <a:lnTo>
                    <a:pt x="54737" y="1041526"/>
                  </a:lnTo>
                  <a:lnTo>
                    <a:pt x="72347" y="1041526"/>
                  </a:lnTo>
                  <a:lnTo>
                    <a:pt x="63986" y="1032741"/>
                  </a:lnTo>
                  <a:close/>
                </a:path>
                <a:path w="1132204" h="1076325">
                  <a:moveTo>
                    <a:pt x="1114298" y="0"/>
                  </a:moveTo>
                  <a:lnTo>
                    <a:pt x="46520" y="1014389"/>
                  </a:lnTo>
                  <a:lnTo>
                    <a:pt x="63986" y="1032741"/>
                  </a:lnTo>
                  <a:lnTo>
                    <a:pt x="1131824" y="18414"/>
                  </a:lnTo>
                  <a:lnTo>
                    <a:pt x="1114298" y="0"/>
                  </a:lnTo>
                  <a:close/>
                </a:path>
              </a:pathLst>
            </a:custGeom>
            <a:solidFill>
              <a:srgbClr val="4F81BC"/>
            </a:solidFill>
          </p:spPr>
          <p:txBody>
            <a:bodyPr wrap="square" lIns="0" tIns="0" rIns="0" bIns="0" rtlCol="0"/>
            <a:lstStyle/>
            <a:p>
              <a:endParaRPr/>
            </a:p>
          </p:txBody>
        </p:sp>
        <p:pic>
          <p:nvPicPr>
            <p:cNvPr id="32" name="object 32"/>
            <p:cNvPicPr/>
            <p:nvPr/>
          </p:nvPicPr>
          <p:blipFill>
            <a:blip r:embed="rId13" cstate="print"/>
            <a:stretch>
              <a:fillRect/>
            </a:stretch>
          </p:blipFill>
          <p:spPr>
            <a:xfrm>
              <a:off x="3040380" y="3264408"/>
              <a:ext cx="1181112" cy="1156715"/>
            </a:xfrm>
            <a:prstGeom prst="rect">
              <a:avLst/>
            </a:prstGeom>
          </p:spPr>
        </p:pic>
        <p:sp>
          <p:nvSpPr>
            <p:cNvPr id="33" name="object 33"/>
            <p:cNvSpPr/>
            <p:nvPr/>
          </p:nvSpPr>
          <p:spPr>
            <a:xfrm>
              <a:off x="3082544" y="3364230"/>
              <a:ext cx="1024255" cy="999490"/>
            </a:xfrm>
            <a:custGeom>
              <a:avLst/>
              <a:gdLst/>
              <a:ahLst/>
              <a:cxnLst/>
              <a:rect l="l" t="t" r="r" b="b"/>
              <a:pathLst>
                <a:path w="1024254" h="999489">
                  <a:moveTo>
                    <a:pt x="960598" y="44124"/>
                  </a:moveTo>
                  <a:lnTo>
                    <a:pt x="0" y="980948"/>
                  </a:lnTo>
                  <a:lnTo>
                    <a:pt x="17780" y="999109"/>
                  </a:lnTo>
                  <a:lnTo>
                    <a:pt x="978337" y="62329"/>
                  </a:lnTo>
                  <a:lnTo>
                    <a:pt x="960598" y="44124"/>
                  </a:lnTo>
                  <a:close/>
                </a:path>
                <a:path w="1024254" h="999489">
                  <a:moveTo>
                    <a:pt x="1011793" y="35179"/>
                  </a:moveTo>
                  <a:lnTo>
                    <a:pt x="969771" y="35179"/>
                  </a:lnTo>
                  <a:lnTo>
                    <a:pt x="987425" y="53467"/>
                  </a:lnTo>
                  <a:lnTo>
                    <a:pt x="978337" y="62329"/>
                  </a:lnTo>
                  <a:lnTo>
                    <a:pt x="996060" y="80518"/>
                  </a:lnTo>
                  <a:lnTo>
                    <a:pt x="1011793" y="35179"/>
                  </a:lnTo>
                  <a:close/>
                </a:path>
                <a:path w="1024254" h="999489">
                  <a:moveTo>
                    <a:pt x="969771" y="35179"/>
                  </a:moveTo>
                  <a:lnTo>
                    <a:pt x="960598" y="44124"/>
                  </a:lnTo>
                  <a:lnTo>
                    <a:pt x="978337" y="62329"/>
                  </a:lnTo>
                  <a:lnTo>
                    <a:pt x="987425" y="53467"/>
                  </a:lnTo>
                  <a:lnTo>
                    <a:pt x="969771" y="35179"/>
                  </a:lnTo>
                  <a:close/>
                </a:path>
                <a:path w="1024254" h="999489">
                  <a:moveTo>
                    <a:pt x="1024001" y="0"/>
                  </a:moveTo>
                  <a:lnTo>
                    <a:pt x="942847" y="25908"/>
                  </a:lnTo>
                  <a:lnTo>
                    <a:pt x="960598" y="44124"/>
                  </a:lnTo>
                  <a:lnTo>
                    <a:pt x="969771" y="35179"/>
                  </a:lnTo>
                  <a:lnTo>
                    <a:pt x="1011793" y="35179"/>
                  </a:lnTo>
                  <a:lnTo>
                    <a:pt x="1024001" y="0"/>
                  </a:lnTo>
                  <a:close/>
                </a:path>
              </a:pathLst>
            </a:custGeom>
            <a:solidFill>
              <a:srgbClr val="4F81BC"/>
            </a:solidFill>
          </p:spPr>
          <p:txBody>
            <a:bodyPr wrap="square" lIns="0" tIns="0" rIns="0" bIns="0" rtlCol="0"/>
            <a:lstStyle/>
            <a:p>
              <a:endParaRPr/>
            </a:p>
          </p:txBody>
        </p:sp>
      </p:grpSp>
      <p:sp>
        <p:nvSpPr>
          <p:cNvPr id="34" name="object 34"/>
          <p:cNvSpPr txBox="1"/>
          <p:nvPr/>
        </p:nvSpPr>
        <p:spPr>
          <a:xfrm>
            <a:off x="3626611" y="3436111"/>
            <a:ext cx="1047750" cy="299720"/>
          </a:xfrm>
          <a:prstGeom prst="rect">
            <a:avLst/>
          </a:prstGeom>
        </p:spPr>
        <p:txBody>
          <a:bodyPr vert="horz" wrap="square" lIns="0" tIns="12700" rIns="0" bIns="0" rtlCol="0">
            <a:spAutoFit/>
          </a:bodyPr>
          <a:lstStyle/>
          <a:p>
            <a:pPr marL="12700">
              <a:spcBef>
                <a:spcPts val="100"/>
              </a:spcBef>
            </a:pPr>
            <a:r>
              <a:rPr dirty="0">
                <a:latin typeface="Calibri"/>
                <a:cs typeface="Calibri"/>
              </a:rPr>
              <a:t>2.</a:t>
            </a:r>
            <a:r>
              <a:rPr spc="-25" dirty="0">
                <a:latin typeface="Calibri"/>
                <a:cs typeface="Calibri"/>
              </a:rPr>
              <a:t> </a:t>
            </a:r>
            <a:r>
              <a:rPr dirty="0">
                <a:latin typeface="Calibri"/>
                <a:cs typeface="Calibri"/>
              </a:rPr>
              <a:t>Get</a:t>
            </a:r>
            <a:r>
              <a:rPr spc="-20" dirty="0">
                <a:latin typeface="Calibri"/>
                <a:cs typeface="Calibri"/>
              </a:rPr>
              <a:t> data</a:t>
            </a:r>
            <a:endParaRPr>
              <a:latin typeface="Calibri"/>
              <a:cs typeface="Calibri"/>
            </a:endParaRPr>
          </a:p>
        </p:txBody>
      </p:sp>
      <p:grpSp>
        <p:nvGrpSpPr>
          <p:cNvPr id="35" name="object 35"/>
          <p:cNvGrpSpPr/>
          <p:nvPr/>
        </p:nvGrpSpPr>
        <p:grpSpPr>
          <a:xfrm>
            <a:off x="6554724" y="3197364"/>
            <a:ext cx="1138555" cy="1224280"/>
            <a:chOff x="5030723" y="3197364"/>
            <a:chExt cx="1138555" cy="1224280"/>
          </a:xfrm>
        </p:grpSpPr>
        <p:pic>
          <p:nvPicPr>
            <p:cNvPr id="36" name="object 36"/>
            <p:cNvPicPr/>
            <p:nvPr/>
          </p:nvPicPr>
          <p:blipFill>
            <a:blip r:embed="rId14" cstate="print"/>
            <a:stretch>
              <a:fillRect/>
            </a:stretch>
          </p:blipFill>
          <p:spPr>
            <a:xfrm>
              <a:off x="5030723" y="3197364"/>
              <a:ext cx="1138427" cy="1223759"/>
            </a:xfrm>
            <a:prstGeom prst="rect">
              <a:avLst/>
            </a:prstGeom>
          </p:spPr>
        </p:pic>
        <p:sp>
          <p:nvSpPr>
            <p:cNvPr id="37" name="object 37"/>
            <p:cNvSpPr/>
            <p:nvPr/>
          </p:nvSpPr>
          <p:spPr>
            <a:xfrm>
              <a:off x="5150357" y="3297174"/>
              <a:ext cx="980440" cy="1066800"/>
            </a:xfrm>
            <a:custGeom>
              <a:avLst/>
              <a:gdLst/>
              <a:ahLst/>
              <a:cxnLst/>
              <a:rect l="l" t="t" r="r" b="b"/>
              <a:pathLst>
                <a:path w="980439" h="1066800">
                  <a:moveTo>
                    <a:pt x="60892" y="47563"/>
                  </a:moveTo>
                  <a:lnTo>
                    <a:pt x="42155" y="64774"/>
                  </a:lnTo>
                  <a:lnTo>
                    <a:pt x="961389" y="1066545"/>
                  </a:lnTo>
                  <a:lnTo>
                    <a:pt x="980186" y="1049274"/>
                  </a:lnTo>
                  <a:lnTo>
                    <a:pt x="60892" y="47563"/>
                  </a:lnTo>
                  <a:close/>
                </a:path>
                <a:path w="980439" h="1066800">
                  <a:moveTo>
                    <a:pt x="0" y="0"/>
                  </a:moveTo>
                  <a:lnTo>
                    <a:pt x="23494" y="81914"/>
                  </a:lnTo>
                  <a:lnTo>
                    <a:pt x="42155" y="64774"/>
                  </a:lnTo>
                  <a:lnTo>
                    <a:pt x="33527" y="55372"/>
                  </a:lnTo>
                  <a:lnTo>
                    <a:pt x="52324" y="38226"/>
                  </a:lnTo>
                  <a:lnTo>
                    <a:pt x="71056" y="38226"/>
                  </a:lnTo>
                  <a:lnTo>
                    <a:pt x="79628" y="30352"/>
                  </a:lnTo>
                  <a:lnTo>
                    <a:pt x="0" y="0"/>
                  </a:lnTo>
                  <a:close/>
                </a:path>
                <a:path w="980439" h="1066800">
                  <a:moveTo>
                    <a:pt x="52324" y="38226"/>
                  </a:moveTo>
                  <a:lnTo>
                    <a:pt x="33527" y="55372"/>
                  </a:lnTo>
                  <a:lnTo>
                    <a:pt x="42155" y="64774"/>
                  </a:lnTo>
                  <a:lnTo>
                    <a:pt x="60892" y="47563"/>
                  </a:lnTo>
                  <a:lnTo>
                    <a:pt x="52324" y="38226"/>
                  </a:lnTo>
                  <a:close/>
                </a:path>
                <a:path w="980439" h="1066800">
                  <a:moveTo>
                    <a:pt x="71056" y="38226"/>
                  </a:moveTo>
                  <a:lnTo>
                    <a:pt x="52324" y="38226"/>
                  </a:lnTo>
                  <a:lnTo>
                    <a:pt x="60892" y="47563"/>
                  </a:lnTo>
                  <a:lnTo>
                    <a:pt x="71056" y="38226"/>
                  </a:lnTo>
                  <a:close/>
                </a:path>
              </a:pathLst>
            </a:custGeom>
            <a:solidFill>
              <a:srgbClr val="4F81BC"/>
            </a:solidFill>
          </p:spPr>
          <p:txBody>
            <a:bodyPr wrap="square" lIns="0" tIns="0" rIns="0" bIns="0" rtlCol="0"/>
            <a:lstStyle/>
            <a:p>
              <a:endParaRPr/>
            </a:p>
          </p:txBody>
        </p:sp>
      </p:grpSp>
      <p:sp>
        <p:nvSpPr>
          <p:cNvPr id="38" name="object 38"/>
          <p:cNvSpPr txBox="1"/>
          <p:nvPr/>
        </p:nvSpPr>
        <p:spPr>
          <a:xfrm>
            <a:off x="7654797" y="3482467"/>
            <a:ext cx="1068070" cy="299720"/>
          </a:xfrm>
          <a:prstGeom prst="rect">
            <a:avLst/>
          </a:prstGeom>
        </p:spPr>
        <p:txBody>
          <a:bodyPr vert="horz" wrap="square" lIns="0" tIns="12700" rIns="0" bIns="0" rtlCol="0">
            <a:spAutoFit/>
          </a:bodyPr>
          <a:lstStyle/>
          <a:p>
            <a:pPr marL="12700">
              <a:spcBef>
                <a:spcPts val="100"/>
              </a:spcBef>
            </a:pPr>
            <a:r>
              <a:rPr dirty="0">
                <a:latin typeface="Calibri"/>
                <a:cs typeface="Calibri"/>
              </a:rPr>
              <a:t>3.</a:t>
            </a:r>
            <a:r>
              <a:rPr spc="-25" dirty="0">
                <a:latin typeface="Calibri"/>
                <a:cs typeface="Calibri"/>
              </a:rPr>
              <a:t> </a:t>
            </a:r>
            <a:r>
              <a:rPr dirty="0">
                <a:latin typeface="Calibri"/>
                <a:cs typeface="Calibri"/>
              </a:rPr>
              <a:t>Get</a:t>
            </a:r>
            <a:r>
              <a:rPr spc="-20" dirty="0">
                <a:latin typeface="Calibri"/>
                <a:cs typeface="Calibri"/>
              </a:rPr>
              <a:t> view</a:t>
            </a:r>
            <a:endParaRPr>
              <a:latin typeface="Calibri"/>
              <a:cs typeface="Calibri"/>
            </a:endParaRPr>
          </a:p>
        </p:txBody>
      </p:sp>
      <p:grpSp>
        <p:nvGrpSpPr>
          <p:cNvPr id="39" name="object 39"/>
          <p:cNvGrpSpPr/>
          <p:nvPr/>
        </p:nvGrpSpPr>
        <p:grpSpPr>
          <a:xfrm>
            <a:off x="3477767" y="2499385"/>
            <a:ext cx="4767580" cy="1993900"/>
            <a:chOff x="1953767" y="2499385"/>
            <a:chExt cx="4767580" cy="1993900"/>
          </a:xfrm>
        </p:grpSpPr>
        <p:pic>
          <p:nvPicPr>
            <p:cNvPr id="40" name="object 40"/>
            <p:cNvPicPr/>
            <p:nvPr/>
          </p:nvPicPr>
          <p:blipFill>
            <a:blip r:embed="rId15" cstate="print"/>
            <a:stretch>
              <a:fillRect/>
            </a:stretch>
          </p:blipFill>
          <p:spPr>
            <a:xfrm>
              <a:off x="5600700" y="3268992"/>
              <a:ext cx="1120140" cy="1223759"/>
            </a:xfrm>
            <a:prstGeom prst="rect">
              <a:avLst/>
            </a:prstGeom>
          </p:spPr>
        </p:pic>
        <p:sp>
          <p:nvSpPr>
            <p:cNvPr id="41" name="object 41"/>
            <p:cNvSpPr/>
            <p:nvPr/>
          </p:nvSpPr>
          <p:spPr>
            <a:xfrm>
              <a:off x="5643879" y="3291713"/>
              <a:ext cx="962025" cy="1066800"/>
            </a:xfrm>
            <a:custGeom>
              <a:avLst/>
              <a:gdLst/>
              <a:ahLst/>
              <a:cxnLst/>
              <a:rect l="l" t="t" r="r" b="b"/>
              <a:pathLst>
                <a:path w="962025" h="1066800">
                  <a:moveTo>
                    <a:pt x="901510" y="1018304"/>
                  </a:moveTo>
                  <a:lnTo>
                    <a:pt x="882650" y="1035304"/>
                  </a:lnTo>
                  <a:lnTo>
                    <a:pt x="961898" y="1066419"/>
                  </a:lnTo>
                  <a:lnTo>
                    <a:pt x="951241" y="1027684"/>
                  </a:lnTo>
                  <a:lnTo>
                    <a:pt x="909954" y="1027684"/>
                  </a:lnTo>
                  <a:lnTo>
                    <a:pt x="901510" y="1018304"/>
                  </a:lnTo>
                  <a:close/>
                </a:path>
                <a:path w="962025" h="1066800">
                  <a:moveTo>
                    <a:pt x="920350" y="1001322"/>
                  </a:moveTo>
                  <a:lnTo>
                    <a:pt x="901510" y="1018304"/>
                  </a:lnTo>
                  <a:lnTo>
                    <a:pt x="909954" y="1027684"/>
                  </a:lnTo>
                  <a:lnTo>
                    <a:pt x="928877" y="1010793"/>
                  </a:lnTo>
                  <a:lnTo>
                    <a:pt x="920350" y="1001322"/>
                  </a:lnTo>
                  <a:close/>
                </a:path>
                <a:path w="962025" h="1066800">
                  <a:moveTo>
                    <a:pt x="939292" y="984250"/>
                  </a:moveTo>
                  <a:lnTo>
                    <a:pt x="920350" y="1001322"/>
                  </a:lnTo>
                  <a:lnTo>
                    <a:pt x="928877" y="1010793"/>
                  </a:lnTo>
                  <a:lnTo>
                    <a:pt x="909954" y="1027684"/>
                  </a:lnTo>
                  <a:lnTo>
                    <a:pt x="951241" y="1027684"/>
                  </a:lnTo>
                  <a:lnTo>
                    <a:pt x="939292" y="984250"/>
                  </a:lnTo>
                  <a:close/>
                </a:path>
                <a:path w="962025" h="1066800">
                  <a:moveTo>
                    <a:pt x="18796" y="0"/>
                  </a:moveTo>
                  <a:lnTo>
                    <a:pt x="0" y="17017"/>
                  </a:lnTo>
                  <a:lnTo>
                    <a:pt x="901510" y="1018304"/>
                  </a:lnTo>
                  <a:lnTo>
                    <a:pt x="920350" y="1001322"/>
                  </a:lnTo>
                  <a:lnTo>
                    <a:pt x="18796" y="0"/>
                  </a:lnTo>
                  <a:close/>
                </a:path>
              </a:pathLst>
            </a:custGeom>
            <a:solidFill>
              <a:srgbClr val="4F81BC"/>
            </a:solidFill>
          </p:spPr>
          <p:txBody>
            <a:bodyPr wrap="square" lIns="0" tIns="0" rIns="0" bIns="0" rtlCol="0"/>
            <a:lstStyle/>
            <a:p>
              <a:endParaRPr/>
            </a:p>
          </p:txBody>
        </p:sp>
        <p:pic>
          <p:nvPicPr>
            <p:cNvPr id="42" name="object 42"/>
            <p:cNvPicPr/>
            <p:nvPr/>
          </p:nvPicPr>
          <p:blipFill>
            <a:blip r:embed="rId16" cstate="print"/>
            <a:stretch>
              <a:fillRect/>
            </a:stretch>
          </p:blipFill>
          <p:spPr>
            <a:xfrm>
              <a:off x="1953767" y="2499385"/>
              <a:ext cx="1295400" cy="234670"/>
            </a:xfrm>
            <a:prstGeom prst="rect">
              <a:avLst/>
            </a:prstGeom>
          </p:spPr>
        </p:pic>
        <p:sp>
          <p:nvSpPr>
            <p:cNvPr id="43" name="object 43"/>
            <p:cNvSpPr/>
            <p:nvPr/>
          </p:nvSpPr>
          <p:spPr>
            <a:xfrm>
              <a:off x="2073401" y="2561082"/>
              <a:ext cx="1137285" cy="76200"/>
            </a:xfrm>
            <a:custGeom>
              <a:avLst/>
              <a:gdLst/>
              <a:ahLst/>
              <a:cxnLst/>
              <a:rect l="l" t="t" r="r" b="b"/>
              <a:pathLst>
                <a:path w="1137285" h="76200">
                  <a:moveTo>
                    <a:pt x="76200" y="0"/>
                  </a:moveTo>
                  <a:lnTo>
                    <a:pt x="0" y="38100"/>
                  </a:lnTo>
                  <a:lnTo>
                    <a:pt x="76200" y="76200"/>
                  </a:lnTo>
                  <a:lnTo>
                    <a:pt x="76200" y="50800"/>
                  </a:lnTo>
                  <a:lnTo>
                    <a:pt x="63500" y="50800"/>
                  </a:lnTo>
                  <a:lnTo>
                    <a:pt x="63500" y="25400"/>
                  </a:lnTo>
                  <a:lnTo>
                    <a:pt x="76200" y="25400"/>
                  </a:lnTo>
                  <a:lnTo>
                    <a:pt x="76200" y="0"/>
                  </a:lnTo>
                  <a:close/>
                </a:path>
                <a:path w="1137285" h="76200">
                  <a:moveTo>
                    <a:pt x="76200" y="25400"/>
                  </a:moveTo>
                  <a:lnTo>
                    <a:pt x="63500" y="25400"/>
                  </a:lnTo>
                  <a:lnTo>
                    <a:pt x="63500" y="50800"/>
                  </a:lnTo>
                  <a:lnTo>
                    <a:pt x="76200" y="50800"/>
                  </a:lnTo>
                  <a:lnTo>
                    <a:pt x="76200" y="25400"/>
                  </a:lnTo>
                  <a:close/>
                </a:path>
                <a:path w="1137285" h="76200">
                  <a:moveTo>
                    <a:pt x="1137031" y="25400"/>
                  </a:moveTo>
                  <a:lnTo>
                    <a:pt x="76200" y="25400"/>
                  </a:lnTo>
                  <a:lnTo>
                    <a:pt x="76200" y="50800"/>
                  </a:lnTo>
                  <a:lnTo>
                    <a:pt x="1137031" y="50800"/>
                  </a:lnTo>
                  <a:lnTo>
                    <a:pt x="1137031" y="25400"/>
                  </a:lnTo>
                  <a:close/>
                </a:path>
              </a:pathLst>
            </a:custGeom>
            <a:solidFill>
              <a:srgbClr val="4F81BC"/>
            </a:solidFill>
          </p:spPr>
          <p:txBody>
            <a:bodyPr wrap="square" lIns="0" tIns="0" rIns="0" bIns="0" rtlCol="0"/>
            <a:lstStyle/>
            <a:p>
              <a:endParaRPr/>
            </a:p>
          </p:txBody>
        </p:sp>
      </p:grpSp>
      <p:sp>
        <p:nvSpPr>
          <p:cNvPr id="44" name="object 44"/>
          <p:cNvSpPr txBox="1"/>
          <p:nvPr/>
        </p:nvSpPr>
        <p:spPr>
          <a:xfrm>
            <a:off x="3546476" y="2675890"/>
            <a:ext cx="1138555" cy="299720"/>
          </a:xfrm>
          <a:prstGeom prst="rect">
            <a:avLst/>
          </a:prstGeom>
        </p:spPr>
        <p:txBody>
          <a:bodyPr vert="horz" wrap="square" lIns="0" tIns="12700" rIns="0" bIns="0" rtlCol="0">
            <a:spAutoFit/>
          </a:bodyPr>
          <a:lstStyle/>
          <a:p>
            <a:pPr marL="12700">
              <a:spcBef>
                <a:spcPts val="100"/>
              </a:spcBef>
            </a:pPr>
            <a:r>
              <a:rPr dirty="0">
                <a:latin typeface="Calibri"/>
                <a:cs typeface="Calibri"/>
              </a:rPr>
              <a:t>4.</a:t>
            </a:r>
            <a:r>
              <a:rPr spc="-10" dirty="0">
                <a:latin typeface="Calibri"/>
                <a:cs typeface="Calibri"/>
              </a:rPr>
              <a:t> Response</a:t>
            </a:r>
            <a:endParaRPr>
              <a:latin typeface="Calibri"/>
              <a:cs typeface="Calibri"/>
            </a:endParaRPr>
          </a:p>
        </p:txBody>
      </p:sp>
      <p:sp>
        <p:nvSpPr>
          <p:cNvPr id="45" name="object 45"/>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42</a:t>
            </a:r>
            <a:endParaRPr sz="120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33985">
              <a:lnSpc>
                <a:spcPct val="100000"/>
              </a:lnSpc>
              <a:spcBef>
                <a:spcPts val="105"/>
              </a:spcBef>
            </a:pPr>
            <a:r>
              <a:rPr dirty="0"/>
              <a:t>Web</a:t>
            </a:r>
            <a:r>
              <a:rPr spc="-140" dirty="0"/>
              <a:t> </a:t>
            </a:r>
            <a:r>
              <a:rPr spc="-10" dirty="0"/>
              <a:t>Frameworks</a:t>
            </a:r>
            <a:r>
              <a:rPr spc="-135" dirty="0"/>
              <a:t> </a:t>
            </a:r>
            <a:r>
              <a:rPr dirty="0"/>
              <a:t>That</a:t>
            </a:r>
            <a:r>
              <a:rPr spc="-120" dirty="0"/>
              <a:t> </a:t>
            </a:r>
            <a:r>
              <a:rPr dirty="0"/>
              <a:t>Use</a:t>
            </a:r>
            <a:r>
              <a:rPr spc="-114" dirty="0"/>
              <a:t> </a:t>
            </a:r>
            <a:r>
              <a:rPr spc="-25" dirty="0"/>
              <a:t>MVC</a:t>
            </a:r>
          </a:p>
        </p:txBody>
      </p:sp>
      <p:sp>
        <p:nvSpPr>
          <p:cNvPr id="5" name="object 5"/>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43</a:t>
            </a:r>
            <a:endParaRPr sz="1200">
              <a:latin typeface="Arial"/>
              <a:cs typeface="Arial"/>
            </a:endParaRPr>
          </a:p>
        </p:txBody>
      </p:sp>
      <p:sp>
        <p:nvSpPr>
          <p:cNvPr id="3" name="object 3"/>
          <p:cNvSpPr txBox="1"/>
          <p:nvPr/>
        </p:nvSpPr>
        <p:spPr>
          <a:xfrm>
            <a:off x="2059941" y="1525042"/>
            <a:ext cx="3321685" cy="3132909"/>
          </a:xfrm>
          <a:prstGeom prst="rect">
            <a:avLst/>
          </a:prstGeom>
        </p:spPr>
        <p:txBody>
          <a:bodyPr vert="horz" wrap="square" lIns="0" tIns="97790" rIns="0" bIns="0" rtlCol="0">
            <a:spAutoFit/>
          </a:bodyPr>
          <a:lstStyle/>
          <a:p>
            <a:pPr marL="354965" indent="-342265">
              <a:spcBef>
                <a:spcPts val="770"/>
              </a:spcBef>
              <a:buFont typeface="Arial"/>
              <a:buChar char="•"/>
              <a:tabLst>
                <a:tab pos="354965" algn="l"/>
              </a:tabLst>
            </a:pPr>
            <a:r>
              <a:rPr sz="2800" dirty="0">
                <a:latin typeface="Calibri"/>
                <a:cs typeface="Calibri"/>
              </a:rPr>
              <a:t>Spring</a:t>
            </a:r>
            <a:r>
              <a:rPr sz="2800" spc="-60" dirty="0">
                <a:latin typeface="Calibri"/>
                <a:cs typeface="Calibri"/>
              </a:rPr>
              <a:t> </a:t>
            </a:r>
            <a:r>
              <a:rPr sz="2800" spc="-10" dirty="0">
                <a:latin typeface="Calibri"/>
                <a:cs typeface="Calibri"/>
              </a:rPr>
              <a:t>(Java)</a:t>
            </a:r>
            <a:endParaRPr sz="2800">
              <a:latin typeface="Calibri"/>
              <a:cs typeface="Calibri"/>
            </a:endParaRPr>
          </a:p>
          <a:p>
            <a:pPr marL="354965" indent="-342265">
              <a:spcBef>
                <a:spcPts val="675"/>
              </a:spcBef>
              <a:buFont typeface="Arial"/>
              <a:buChar char="•"/>
              <a:tabLst>
                <a:tab pos="354965" algn="l"/>
              </a:tabLst>
            </a:pPr>
            <a:r>
              <a:rPr sz="2800" spc="-50" dirty="0">
                <a:latin typeface="Calibri"/>
                <a:cs typeface="Calibri"/>
              </a:rPr>
              <a:t>ASP.NET</a:t>
            </a:r>
            <a:r>
              <a:rPr sz="2800" spc="-70" dirty="0">
                <a:latin typeface="Calibri"/>
                <a:cs typeface="Calibri"/>
              </a:rPr>
              <a:t> </a:t>
            </a:r>
            <a:r>
              <a:rPr sz="2800" dirty="0">
                <a:latin typeface="Calibri"/>
                <a:cs typeface="Calibri"/>
              </a:rPr>
              <a:t>MVC</a:t>
            </a:r>
            <a:r>
              <a:rPr sz="2800" spc="-75" dirty="0">
                <a:latin typeface="Calibri"/>
                <a:cs typeface="Calibri"/>
              </a:rPr>
              <a:t> </a:t>
            </a:r>
            <a:r>
              <a:rPr sz="2800" spc="-20" dirty="0">
                <a:latin typeface="Calibri"/>
                <a:cs typeface="Calibri"/>
              </a:rPr>
              <a:t>(C#)</a:t>
            </a:r>
            <a:endParaRPr sz="2800">
              <a:latin typeface="Calibri"/>
              <a:cs typeface="Calibri"/>
            </a:endParaRPr>
          </a:p>
          <a:p>
            <a:pPr marL="354965" indent="-342265">
              <a:spcBef>
                <a:spcPts val="670"/>
              </a:spcBef>
              <a:buFont typeface="Arial"/>
              <a:buChar char="•"/>
              <a:tabLst>
                <a:tab pos="354965" algn="l"/>
              </a:tabLst>
            </a:pPr>
            <a:r>
              <a:rPr sz="2800" dirty="0">
                <a:latin typeface="Calibri"/>
                <a:cs typeface="Calibri"/>
              </a:rPr>
              <a:t>Ruby</a:t>
            </a:r>
            <a:r>
              <a:rPr sz="2800" spc="-35" dirty="0">
                <a:latin typeface="Calibri"/>
                <a:cs typeface="Calibri"/>
              </a:rPr>
              <a:t> </a:t>
            </a:r>
            <a:r>
              <a:rPr sz="2800" dirty="0">
                <a:latin typeface="Calibri"/>
                <a:cs typeface="Calibri"/>
              </a:rPr>
              <a:t>on</a:t>
            </a:r>
            <a:r>
              <a:rPr sz="2800" spc="-35" dirty="0">
                <a:latin typeface="Calibri"/>
                <a:cs typeface="Calibri"/>
              </a:rPr>
              <a:t> </a:t>
            </a:r>
            <a:r>
              <a:rPr sz="2800" dirty="0">
                <a:latin typeface="Calibri"/>
                <a:cs typeface="Calibri"/>
              </a:rPr>
              <a:t>Rails</a:t>
            </a:r>
            <a:r>
              <a:rPr sz="2800" spc="-40" dirty="0">
                <a:latin typeface="Calibri"/>
                <a:cs typeface="Calibri"/>
              </a:rPr>
              <a:t> </a:t>
            </a:r>
            <a:r>
              <a:rPr sz="2800" spc="-10" dirty="0">
                <a:latin typeface="Calibri"/>
                <a:cs typeface="Calibri"/>
              </a:rPr>
              <a:t>(Ruby)</a:t>
            </a:r>
            <a:endParaRPr sz="2800">
              <a:latin typeface="Calibri"/>
              <a:cs typeface="Calibri"/>
            </a:endParaRPr>
          </a:p>
          <a:p>
            <a:pPr marL="354965" indent="-342265">
              <a:spcBef>
                <a:spcPts val="675"/>
              </a:spcBef>
              <a:buFont typeface="Arial"/>
              <a:buChar char="•"/>
              <a:tabLst>
                <a:tab pos="354965" algn="l"/>
              </a:tabLst>
            </a:pPr>
            <a:r>
              <a:rPr sz="2800" dirty="0">
                <a:latin typeface="Calibri"/>
                <a:cs typeface="Calibri"/>
              </a:rPr>
              <a:t>Laravel</a:t>
            </a:r>
            <a:r>
              <a:rPr sz="2800" spc="-155" dirty="0">
                <a:latin typeface="Calibri"/>
                <a:cs typeface="Calibri"/>
              </a:rPr>
              <a:t> </a:t>
            </a:r>
            <a:r>
              <a:rPr sz="2800" spc="-10" dirty="0">
                <a:latin typeface="Calibri"/>
                <a:cs typeface="Calibri"/>
              </a:rPr>
              <a:t>(PHP)</a:t>
            </a:r>
            <a:endParaRPr sz="2800">
              <a:latin typeface="Calibri"/>
              <a:cs typeface="Calibri"/>
            </a:endParaRPr>
          </a:p>
          <a:p>
            <a:pPr marL="354965" indent="-342265">
              <a:spcBef>
                <a:spcPts val="670"/>
              </a:spcBef>
              <a:buFont typeface="Arial"/>
              <a:buChar char="•"/>
              <a:tabLst>
                <a:tab pos="354965" algn="l"/>
              </a:tabLst>
            </a:pPr>
            <a:r>
              <a:rPr sz="2800" dirty="0">
                <a:latin typeface="Calibri"/>
                <a:cs typeface="Calibri"/>
              </a:rPr>
              <a:t>Django</a:t>
            </a:r>
            <a:r>
              <a:rPr sz="2800" spc="-75" dirty="0">
                <a:latin typeface="Calibri"/>
                <a:cs typeface="Calibri"/>
              </a:rPr>
              <a:t> </a:t>
            </a:r>
            <a:r>
              <a:rPr sz="2800" spc="-10" dirty="0">
                <a:latin typeface="Calibri"/>
                <a:cs typeface="Calibri"/>
              </a:rPr>
              <a:t>(Python)</a:t>
            </a:r>
            <a:endParaRPr sz="2800">
              <a:latin typeface="Calibri"/>
              <a:cs typeface="Calibri"/>
            </a:endParaRPr>
          </a:p>
          <a:p>
            <a:pPr marL="354965" indent="-342265">
              <a:spcBef>
                <a:spcPts val="675"/>
              </a:spcBef>
              <a:buFont typeface="Arial"/>
              <a:buChar char="•"/>
              <a:tabLst>
                <a:tab pos="354965" algn="l"/>
              </a:tabLst>
            </a:pPr>
            <a:r>
              <a:rPr sz="2800" spc="-10" dirty="0">
                <a:latin typeface="Calibri"/>
                <a:cs typeface="Calibri"/>
              </a:rPr>
              <a:t>Flask(Python)</a:t>
            </a:r>
            <a:endParaRPr sz="2800">
              <a:latin typeface="Calibri"/>
              <a:cs typeface="Calibri"/>
            </a:endParaRPr>
          </a:p>
        </p:txBody>
      </p:sp>
      <p:sp>
        <p:nvSpPr>
          <p:cNvPr id="4" name="object 4"/>
          <p:cNvSpPr txBox="1"/>
          <p:nvPr/>
        </p:nvSpPr>
        <p:spPr>
          <a:xfrm>
            <a:off x="6459728" y="1525042"/>
            <a:ext cx="2131060" cy="3132909"/>
          </a:xfrm>
          <a:prstGeom prst="rect">
            <a:avLst/>
          </a:prstGeom>
        </p:spPr>
        <p:txBody>
          <a:bodyPr vert="horz" wrap="square" lIns="0" tIns="97790" rIns="0" bIns="0" rtlCol="0">
            <a:spAutoFit/>
          </a:bodyPr>
          <a:lstStyle/>
          <a:p>
            <a:pPr marL="354965" indent="-342265">
              <a:spcBef>
                <a:spcPts val="770"/>
              </a:spcBef>
              <a:buFont typeface="Arial"/>
              <a:buChar char="•"/>
              <a:tabLst>
                <a:tab pos="354965" algn="l"/>
              </a:tabLst>
            </a:pPr>
            <a:r>
              <a:rPr sz="2800" spc="-10" dirty="0">
                <a:latin typeface="Calibri"/>
                <a:cs typeface="Calibri"/>
              </a:rPr>
              <a:t>AngularJS</a:t>
            </a:r>
            <a:endParaRPr sz="2800">
              <a:latin typeface="Calibri"/>
              <a:cs typeface="Calibri"/>
            </a:endParaRPr>
          </a:p>
          <a:p>
            <a:pPr marL="354965" indent="-342265">
              <a:spcBef>
                <a:spcPts val="675"/>
              </a:spcBef>
              <a:buFont typeface="Arial"/>
              <a:buChar char="•"/>
              <a:tabLst>
                <a:tab pos="354965" algn="l"/>
              </a:tabLst>
            </a:pPr>
            <a:r>
              <a:rPr sz="2800" dirty="0">
                <a:latin typeface="Calibri"/>
                <a:cs typeface="Calibri"/>
              </a:rPr>
              <a:t>React</a:t>
            </a:r>
            <a:r>
              <a:rPr sz="2800" spc="-75" dirty="0">
                <a:latin typeface="Calibri"/>
                <a:cs typeface="Calibri"/>
              </a:rPr>
              <a:t> </a:t>
            </a:r>
            <a:r>
              <a:rPr sz="2800" spc="-20" dirty="0">
                <a:latin typeface="Calibri"/>
                <a:cs typeface="Calibri"/>
              </a:rPr>
              <a:t>(JS)</a:t>
            </a:r>
            <a:endParaRPr sz="2800">
              <a:latin typeface="Calibri"/>
              <a:cs typeface="Calibri"/>
            </a:endParaRPr>
          </a:p>
          <a:p>
            <a:pPr marL="354965" indent="-342265">
              <a:spcBef>
                <a:spcPts val="670"/>
              </a:spcBef>
              <a:buFont typeface="Arial"/>
              <a:buChar char="•"/>
              <a:tabLst>
                <a:tab pos="354965" algn="l"/>
              </a:tabLst>
            </a:pPr>
            <a:r>
              <a:rPr sz="2800" dirty="0">
                <a:latin typeface="Calibri"/>
                <a:cs typeface="Calibri"/>
              </a:rPr>
              <a:t>Ember </a:t>
            </a:r>
            <a:r>
              <a:rPr sz="2800" spc="-20" dirty="0">
                <a:latin typeface="Calibri"/>
                <a:cs typeface="Calibri"/>
              </a:rPr>
              <a:t>(JS)</a:t>
            </a:r>
            <a:endParaRPr sz="2800">
              <a:latin typeface="Calibri"/>
              <a:cs typeface="Calibri"/>
            </a:endParaRPr>
          </a:p>
          <a:p>
            <a:pPr marL="354965" indent="-342265">
              <a:spcBef>
                <a:spcPts val="675"/>
              </a:spcBef>
              <a:buFont typeface="Arial"/>
              <a:buChar char="•"/>
              <a:tabLst>
                <a:tab pos="354965" algn="l"/>
              </a:tabLst>
            </a:pPr>
            <a:r>
              <a:rPr sz="2800" dirty="0">
                <a:latin typeface="Calibri"/>
                <a:cs typeface="Calibri"/>
              </a:rPr>
              <a:t>Express</a:t>
            </a:r>
            <a:r>
              <a:rPr sz="2800" spc="-120" dirty="0">
                <a:latin typeface="Calibri"/>
                <a:cs typeface="Calibri"/>
              </a:rPr>
              <a:t> </a:t>
            </a:r>
            <a:r>
              <a:rPr sz="2800" spc="-20" dirty="0">
                <a:latin typeface="Calibri"/>
                <a:cs typeface="Calibri"/>
              </a:rPr>
              <a:t>(JS)</a:t>
            </a:r>
            <a:endParaRPr sz="2800">
              <a:latin typeface="Calibri"/>
              <a:cs typeface="Calibri"/>
            </a:endParaRPr>
          </a:p>
          <a:p>
            <a:pPr marL="354965" indent="-342265">
              <a:spcBef>
                <a:spcPts val="670"/>
              </a:spcBef>
              <a:buFont typeface="Arial"/>
              <a:buChar char="•"/>
              <a:tabLst>
                <a:tab pos="354965" algn="l"/>
              </a:tabLst>
            </a:pPr>
            <a:r>
              <a:rPr sz="2800" dirty="0">
                <a:latin typeface="Calibri"/>
                <a:cs typeface="Calibri"/>
              </a:rPr>
              <a:t>Vue</a:t>
            </a:r>
            <a:r>
              <a:rPr sz="2800" spc="-75" dirty="0">
                <a:latin typeface="Calibri"/>
                <a:cs typeface="Calibri"/>
              </a:rPr>
              <a:t> </a:t>
            </a:r>
            <a:r>
              <a:rPr sz="2800" spc="-20" dirty="0">
                <a:latin typeface="Calibri"/>
                <a:cs typeface="Calibri"/>
              </a:rPr>
              <a:t>(JS)</a:t>
            </a:r>
            <a:endParaRPr sz="2800">
              <a:latin typeface="Calibri"/>
              <a:cs typeface="Calibri"/>
            </a:endParaRPr>
          </a:p>
          <a:p>
            <a:pPr marL="354965" indent="-342265">
              <a:spcBef>
                <a:spcPts val="675"/>
              </a:spcBef>
              <a:buFont typeface="Arial"/>
              <a:buChar char="•"/>
              <a:tabLst>
                <a:tab pos="354965" algn="l"/>
              </a:tabLst>
            </a:pPr>
            <a:r>
              <a:rPr sz="2800" dirty="0">
                <a:latin typeface="Calibri"/>
                <a:cs typeface="Calibri"/>
              </a:rPr>
              <a:t>Polymer</a:t>
            </a:r>
            <a:r>
              <a:rPr sz="2800" spc="-130" dirty="0">
                <a:latin typeface="Calibri"/>
                <a:cs typeface="Calibri"/>
              </a:rPr>
              <a:t> </a:t>
            </a:r>
            <a:r>
              <a:rPr sz="2800" spc="-20" dirty="0">
                <a:latin typeface="Calibri"/>
                <a:cs typeface="Calibri"/>
              </a:rPr>
              <a:t>(JS)</a:t>
            </a:r>
            <a:endParaRPr sz="280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494790">
              <a:lnSpc>
                <a:spcPct val="100000"/>
              </a:lnSpc>
              <a:spcBef>
                <a:spcPts val="105"/>
              </a:spcBef>
            </a:pPr>
            <a:r>
              <a:rPr dirty="0"/>
              <a:t>Popular</a:t>
            </a:r>
            <a:r>
              <a:rPr spc="-150" dirty="0"/>
              <a:t> </a:t>
            </a:r>
            <a:r>
              <a:rPr spc="-10" dirty="0"/>
              <a:t>frameworks</a:t>
            </a:r>
          </a:p>
        </p:txBody>
      </p:sp>
      <p:pic>
        <p:nvPicPr>
          <p:cNvPr id="3" name="object 3"/>
          <p:cNvPicPr/>
          <p:nvPr/>
        </p:nvPicPr>
        <p:blipFill>
          <a:blip r:embed="rId2" cstate="print"/>
          <a:stretch>
            <a:fillRect/>
          </a:stretch>
        </p:blipFill>
        <p:spPr>
          <a:xfrm>
            <a:off x="1589531" y="1417320"/>
            <a:ext cx="8994648" cy="4695005"/>
          </a:xfrm>
          <a:prstGeom prst="rect">
            <a:avLst/>
          </a:prstGeom>
        </p:spPr>
      </p:pic>
      <p:sp>
        <p:nvSpPr>
          <p:cNvPr id="4" name="object 4"/>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44</a:t>
            </a:r>
            <a:endParaRPr sz="1200">
              <a:latin typeface="Arial"/>
              <a:cs typeface="Arial"/>
            </a:endParaRPr>
          </a:p>
        </p:txBody>
      </p:sp>
      <p:sp>
        <p:nvSpPr>
          <p:cNvPr id="5" name="object 5"/>
          <p:cNvSpPr txBox="1"/>
          <p:nvPr/>
        </p:nvSpPr>
        <p:spPr>
          <a:xfrm>
            <a:off x="4646423" y="6434460"/>
            <a:ext cx="2879725" cy="294953"/>
          </a:xfrm>
          <a:prstGeom prst="rect">
            <a:avLst/>
          </a:prstGeom>
        </p:spPr>
        <p:txBody>
          <a:bodyPr vert="horz" wrap="square" lIns="0" tIns="0" rIns="0" bIns="0" rtlCol="0">
            <a:spAutoFit/>
          </a:bodyPr>
          <a:lstStyle/>
          <a:p>
            <a:pPr marL="12700">
              <a:lnSpc>
                <a:spcPts val="2315"/>
              </a:lnSpc>
            </a:pPr>
            <a:r>
              <a:rPr sz="2000" u="sng" spc="-10" dirty="0">
                <a:solidFill>
                  <a:srgbClr val="0000FF"/>
                </a:solidFill>
                <a:uFill>
                  <a:solidFill>
                    <a:srgbClr val="0000FF"/>
                  </a:solidFill>
                </a:uFill>
                <a:latin typeface="Arial"/>
                <a:cs typeface="Arial"/>
                <a:hlinkClick r:id="rId3"/>
              </a:rPr>
              <a:t>http://hotframeworks.com</a:t>
            </a:r>
            <a:endParaRPr sz="2000">
              <a:latin typeface="Arial"/>
              <a:cs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651F4-9B1C-48DF-A26F-CBA54159B1E5}"/>
              </a:ext>
            </a:extLst>
          </p:cNvPr>
          <p:cNvSpPr>
            <a:spLocks noGrp="1"/>
          </p:cNvSpPr>
          <p:nvPr>
            <p:ph type="title"/>
          </p:nvPr>
        </p:nvSpPr>
        <p:spPr/>
        <p:txBody>
          <a:bodyPr/>
          <a:lstStyle/>
          <a:p>
            <a:r>
              <a:rPr lang="en-US" dirty="0"/>
              <a:t>Layered Architectures</a:t>
            </a:r>
          </a:p>
        </p:txBody>
      </p:sp>
      <p:sp>
        <p:nvSpPr>
          <p:cNvPr id="3" name="Content Placeholder 2">
            <a:extLst>
              <a:ext uri="{FF2B5EF4-FFF2-40B4-BE49-F238E27FC236}">
                <a16:creationId xmlns:a16="http://schemas.microsoft.com/office/drawing/2014/main" id="{326F9CDA-79BF-4F61-8974-B6098A0037FD}"/>
              </a:ext>
            </a:extLst>
          </p:cNvPr>
          <p:cNvSpPr>
            <a:spLocks noGrp="1"/>
          </p:cNvSpPr>
          <p:nvPr>
            <p:ph idx="1"/>
          </p:nvPr>
        </p:nvSpPr>
        <p:spPr/>
        <p:txBody>
          <a:bodyPr/>
          <a:lstStyle/>
          <a:p>
            <a:r>
              <a:rPr lang="en-US" dirty="0"/>
              <a:t>2-Layer Architectures</a:t>
            </a:r>
          </a:p>
          <a:p>
            <a:pPr>
              <a:buFont typeface="Arial" panose="020B0604020202020204" pitchFamily="34" charset="0"/>
              <a:buChar char="•"/>
            </a:pPr>
            <a:r>
              <a:rPr lang="en-US" sz="1700" dirty="0"/>
              <a:t>also called client/server architecture, uses a Web server to provide services to a client</a:t>
            </a:r>
          </a:p>
          <a:p>
            <a:pPr>
              <a:buFont typeface="Arial" panose="020B0604020202020204" pitchFamily="34" charset="0"/>
              <a:buChar char="•"/>
            </a:pPr>
            <a:r>
              <a:rPr lang="en-US" sz="1700" dirty="0"/>
              <a:t>This architecture is suitable particularly for simple Web applications.</a:t>
            </a:r>
          </a:p>
        </p:txBody>
      </p:sp>
      <p:pic>
        <p:nvPicPr>
          <p:cNvPr id="4" name="Picture 3">
            <a:extLst>
              <a:ext uri="{FF2B5EF4-FFF2-40B4-BE49-F238E27FC236}">
                <a16:creationId xmlns:a16="http://schemas.microsoft.com/office/drawing/2014/main" id="{69834BA0-A7EC-4DE2-A745-48026BE104BF}"/>
              </a:ext>
            </a:extLst>
          </p:cNvPr>
          <p:cNvPicPr>
            <a:picLocks noChangeAspect="1"/>
          </p:cNvPicPr>
          <p:nvPr/>
        </p:nvPicPr>
        <p:blipFill rotWithShape="1">
          <a:blip r:embed="rId2"/>
          <a:srcRect l="17308" t="25322" r="38616" b="35582"/>
          <a:stretch/>
        </p:blipFill>
        <p:spPr>
          <a:xfrm>
            <a:off x="3038620" y="3048523"/>
            <a:ext cx="5373858" cy="2679895"/>
          </a:xfrm>
          <a:prstGeom prst="rect">
            <a:avLst/>
          </a:prstGeom>
        </p:spPr>
      </p:pic>
    </p:spTree>
    <p:extLst>
      <p:ext uri="{BB962C8B-B14F-4D97-AF65-F5344CB8AC3E}">
        <p14:creationId xmlns:p14="http://schemas.microsoft.com/office/powerpoint/2010/main" val="1957535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E7239-74B1-450F-9A75-8CA0FA303A7A}"/>
              </a:ext>
            </a:extLst>
          </p:cNvPr>
          <p:cNvSpPr>
            <a:spLocks noGrp="1"/>
          </p:cNvSpPr>
          <p:nvPr>
            <p:ph type="title"/>
          </p:nvPr>
        </p:nvSpPr>
        <p:spPr/>
        <p:txBody>
          <a:bodyPr/>
          <a:lstStyle/>
          <a:p>
            <a:r>
              <a:rPr lang="en-US" dirty="0"/>
              <a:t>N-layer architecture</a:t>
            </a:r>
          </a:p>
        </p:txBody>
      </p:sp>
      <p:sp>
        <p:nvSpPr>
          <p:cNvPr id="3" name="Content Placeholder 2">
            <a:extLst>
              <a:ext uri="{FF2B5EF4-FFF2-40B4-BE49-F238E27FC236}">
                <a16:creationId xmlns:a16="http://schemas.microsoft.com/office/drawing/2014/main" id="{3FCC277E-CD6D-47B3-B2B4-1F39B0B24024}"/>
              </a:ext>
            </a:extLst>
          </p:cNvPr>
          <p:cNvSpPr>
            <a:spLocks noGrp="1"/>
          </p:cNvSpPr>
          <p:nvPr>
            <p:ph idx="1"/>
          </p:nvPr>
        </p:nvSpPr>
        <p:spPr/>
        <p:txBody>
          <a:bodyPr/>
          <a:lstStyle/>
          <a:p>
            <a:pPr>
              <a:buFont typeface="Arial" panose="020B0604020202020204" pitchFamily="34" charset="0"/>
              <a:buChar char="•"/>
            </a:pPr>
            <a:r>
              <a:rPr lang="en-US" dirty="0"/>
              <a:t>allow us to organize a Web application in an arbitrary number of layers</a:t>
            </a:r>
          </a:p>
          <a:p>
            <a:pPr>
              <a:buFont typeface="Arial" panose="020B0604020202020204" pitchFamily="34" charset="0"/>
              <a:buChar char="•"/>
            </a:pPr>
            <a:r>
              <a:rPr lang="en-US" dirty="0"/>
              <a:t>typically consist of three layers,</a:t>
            </a:r>
          </a:p>
          <a:p>
            <a:pPr lvl="1"/>
            <a:r>
              <a:rPr lang="en-US" dirty="0"/>
              <a:t>the data layer, providing access to the application data</a:t>
            </a:r>
          </a:p>
          <a:p>
            <a:pPr lvl="1"/>
            <a:r>
              <a:rPr lang="en-US" dirty="0"/>
              <a:t>the business layer, hosting the business logic of the application in an application server</a:t>
            </a:r>
          </a:p>
          <a:p>
            <a:pPr lvl="1"/>
            <a:r>
              <a:rPr lang="en-US" dirty="0"/>
              <a:t>the presentation layer, which renders the result of the request in the desired output format</a:t>
            </a:r>
          </a:p>
          <a:p>
            <a:pPr>
              <a:buFont typeface="Arial" panose="020B0604020202020204" pitchFamily="34" charset="0"/>
              <a:buChar char="•"/>
            </a:pPr>
            <a:r>
              <a:rPr lang="en-US" dirty="0"/>
              <a:t>2-layer and </a:t>
            </a:r>
            <a:r>
              <a:rPr lang="en-US" i="1" dirty="0"/>
              <a:t>n</a:t>
            </a:r>
            <a:r>
              <a:rPr lang="en-US" dirty="0"/>
              <a:t>-layer architectures differ mainly in </a:t>
            </a:r>
            <a:r>
              <a:rPr lang="en-US" dirty="0">
                <a:solidFill>
                  <a:srgbClr val="FF0000"/>
                </a:solidFill>
              </a:rPr>
              <a:t>how they embed services within the application server component</a:t>
            </a:r>
            <a:r>
              <a:rPr lang="en-US" dirty="0"/>
              <a:t>.</a:t>
            </a:r>
          </a:p>
        </p:txBody>
      </p:sp>
    </p:spTree>
    <p:extLst>
      <p:ext uri="{BB962C8B-B14F-4D97-AF65-F5344CB8AC3E}">
        <p14:creationId xmlns:p14="http://schemas.microsoft.com/office/powerpoint/2010/main" val="4212267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1E446-D69D-44E6-922C-BF4AF86E73D7}"/>
              </a:ext>
            </a:extLst>
          </p:cNvPr>
          <p:cNvSpPr>
            <a:spLocks noGrp="1"/>
          </p:cNvSpPr>
          <p:nvPr>
            <p:ph type="title"/>
          </p:nvPr>
        </p:nvSpPr>
        <p:spPr/>
        <p:txBody>
          <a:bodyPr/>
          <a:lstStyle/>
          <a:p>
            <a:r>
              <a:rPr lang="en-US" dirty="0"/>
              <a:t>N-layer architecture</a:t>
            </a:r>
          </a:p>
        </p:txBody>
      </p:sp>
      <p:sp>
        <p:nvSpPr>
          <p:cNvPr id="3" name="Content Placeholder 2">
            <a:extLst>
              <a:ext uri="{FF2B5EF4-FFF2-40B4-BE49-F238E27FC236}">
                <a16:creationId xmlns:a16="http://schemas.microsoft.com/office/drawing/2014/main" id="{D4C98449-DBDD-422F-840A-BCA55178161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A24DCA9-3711-4011-B5A5-79600EB445D8}"/>
              </a:ext>
            </a:extLst>
          </p:cNvPr>
          <p:cNvPicPr>
            <a:picLocks noChangeAspect="1"/>
          </p:cNvPicPr>
          <p:nvPr/>
        </p:nvPicPr>
        <p:blipFill rotWithShape="1">
          <a:blip r:embed="rId2"/>
          <a:srcRect l="19038" t="25322" r="36539" b="7056"/>
          <a:stretch/>
        </p:blipFill>
        <p:spPr>
          <a:xfrm>
            <a:off x="3587261" y="1737360"/>
            <a:ext cx="5416062" cy="4635305"/>
          </a:xfrm>
          <a:prstGeom prst="rect">
            <a:avLst/>
          </a:prstGeom>
        </p:spPr>
      </p:pic>
    </p:spTree>
    <p:extLst>
      <p:ext uri="{BB962C8B-B14F-4D97-AF65-F5344CB8AC3E}">
        <p14:creationId xmlns:p14="http://schemas.microsoft.com/office/powerpoint/2010/main" val="39330011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7271B-729F-26AD-5372-D240785418AF}"/>
              </a:ext>
            </a:extLst>
          </p:cNvPr>
          <p:cNvSpPr>
            <a:spLocks noGrp="1"/>
          </p:cNvSpPr>
          <p:nvPr>
            <p:ph type="title"/>
          </p:nvPr>
        </p:nvSpPr>
        <p:spPr/>
        <p:txBody>
          <a:bodyPr>
            <a:normAutofit/>
          </a:bodyPr>
          <a:lstStyle/>
          <a:p>
            <a:r>
              <a:rPr lang="en-US" sz="3600" i="0" dirty="0">
                <a:solidFill>
                  <a:srgbClr val="323232"/>
                </a:solidFill>
                <a:effectLst/>
                <a:latin typeface="Montserrat" panose="020B0604020202020204" pitchFamily="2" charset="0"/>
              </a:rPr>
              <a:t>Modern Web Application Architecture</a:t>
            </a:r>
            <a:endParaRPr lang="en-PK" sz="3600" dirty="0"/>
          </a:p>
        </p:txBody>
      </p:sp>
      <p:sp>
        <p:nvSpPr>
          <p:cNvPr id="3" name="Content Placeholder 2">
            <a:extLst>
              <a:ext uri="{FF2B5EF4-FFF2-40B4-BE49-F238E27FC236}">
                <a16:creationId xmlns:a16="http://schemas.microsoft.com/office/drawing/2014/main" id="{AF06139A-3966-95F3-DF70-EAECADB2D04A}"/>
              </a:ext>
            </a:extLst>
          </p:cNvPr>
          <p:cNvSpPr>
            <a:spLocks noGrp="1"/>
          </p:cNvSpPr>
          <p:nvPr>
            <p:ph idx="1"/>
          </p:nvPr>
        </p:nvSpPr>
        <p:spPr/>
        <p:txBody>
          <a:bodyPr/>
          <a:lstStyle/>
          <a:p>
            <a:pPr algn="l"/>
            <a:r>
              <a:rPr lang="en-US" b="0" i="0" dirty="0">
                <a:solidFill>
                  <a:srgbClr val="323232"/>
                </a:solidFill>
                <a:effectLst/>
                <a:latin typeface="Montserrat" panose="00000500000000000000" pitchFamily="2" charset="0"/>
              </a:rPr>
              <a:t>SPAs</a:t>
            </a:r>
          </a:p>
          <a:p>
            <a:pPr algn="l"/>
            <a:r>
              <a:rPr lang="en-US" b="0" i="0" dirty="0">
                <a:solidFill>
                  <a:srgbClr val="323232"/>
                </a:solidFill>
                <a:effectLst/>
                <a:latin typeface="Montserrat" panose="00000500000000000000" pitchFamily="2" charset="0"/>
              </a:rPr>
              <a:t>it first loads the relevant web page and then dynamically updates the representation of its content with the requested information only.</a:t>
            </a:r>
          </a:p>
          <a:p>
            <a:pPr algn="l"/>
            <a:r>
              <a:rPr lang="en-US" b="0" i="0" dirty="0">
                <a:solidFill>
                  <a:srgbClr val="323232"/>
                </a:solidFill>
                <a:effectLst/>
                <a:latin typeface="Montserrat" panose="00000500000000000000" pitchFamily="2" charset="0"/>
              </a:rPr>
              <a:t>In other words, it doesn’t refer to the server for loading new pages but sends requests for the needed parts of the webpage only.</a:t>
            </a:r>
          </a:p>
          <a:p>
            <a:pPr algn="l"/>
            <a:r>
              <a:rPr lang="en-US" b="0" i="0" dirty="0">
                <a:solidFill>
                  <a:srgbClr val="323232"/>
                </a:solidFill>
                <a:effectLst/>
                <a:latin typeface="Montserrat" panose="00000500000000000000" pitchFamily="2" charset="0"/>
              </a:rPr>
              <a:t>Single Page Applications contribute to smoother performance and a more intuitive user experience.</a:t>
            </a:r>
          </a:p>
          <a:p>
            <a:endParaRPr lang="en-PK" dirty="0"/>
          </a:p>
        </p:txBody>
      </p:sp>
    </p:spTree>
    <p:extLst>
      <p:ext uri="{BB962C8B-B14F-4D97-AF65-F5344CB8AC3E}">
        <p14:creationId xmlns:p14="http://schemas.microsoft.com/office/powerpoint/2010/main" val="3184966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9275F-7CFF-4362-B3C2-EADAB6A44B86}"/>
              </a:ext>
            </a:extLst>
          </p:cNvPr>
          <p:cNvSpPr>
            <a:spLocks noGrp="1"/>
          </p:cNvSpPr>
          <p:nvPr>
            <p:ph type="title"/>
          </p:nvPr>
        </p:nvSpPr>
        <p:spPr/>
        <p:txBody>
          <a:bodyPr/>
          <a:lstStyle/>
          <a:p>
            <a:r>
              <a:rPr lang="en-US" dirty="0"/>
              <a:t>Single Page Apps- SPA</a:t>
            </a:r>
          </a:p>
        </p:txBody>
      </p:sp>
      <p:sp>
        <p:nvSpPr>
          <p:cNvPr id="3" name="Content Placeholder 2">
            <a:extLst>
              <a:ext uri="{FF2B5EF4-FFF2-40B4-BE49-F238E27FC236}">
                <a16:creationId xmlns:a16="http://schemas.microsoft.com/office/drawing/2014/main" id="{EC9029B9-7BC2-40F6-9256-50C54CBCDB72}"/>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5674D88D-C0FF-4728-A2B7-ECDB1E2436D7}"/>
              </a:ext>
            </a:extLst>
          </p:cNvPr>
          <p:cNvPicPr>
            <a:picLocks noChangeAspect="1"/>
          </p:cNvPicPr>
          <p:nvPr/>
        </p:nvPicPr>
        <p:blipFill>
          <a:blip r:embed="rId2"/>
          <a:stretch>
            <a:fillRect/>
          </a:stretch>
        </p:blipFill>
        <p:spPr>
          <a:xfrm>
            <a:off x="2581502" y="1737360"/>
            <a:ext cx="6492160" cy="4589146"/>
          </a:xfrm>
          <a:prstGeom prst="rect">
            <a:avLst/>
          </a:prstGeom>
        </p:spPr>
      </p:pic>
    </p:spTree>
    <p:extLst>
      <p:ext uri="{BB962C8B-B14F-4D97-AF65-F5344CB8AC3E}">
        <p14:creationId xmlns:p14="http://schemas.microsoft.com/office/powerpoint/2010/main" val="6290238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4D33C-CDEF-9FAB-889C-08D7213C47B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B5CF49F2-E7CE-CDC0-0398-CC836E05A65D}"/>
              </a:ext>
            </a:extLst>
          </p:cNvPr>
          <p:cNvSpPr>
            <a:spLocks noGrp="1"/>
          </p:cNvSpPr>
          <p:nvPr>
            <p:ph idx="1"/>
          </p:nvPr>
        </p:nvSpPr>
        <p:spPr/>
        <p:txBody>
          <a:bodyPr>
            <a:normAutofit/>
          </a:bodyPr>
          <a:lstStyle/>
          <a:p>
            <a:pPr algn="l"/>
            <a:r>
              <a:rPr lang="en-US" b="1" i="0" dirty="0">
                <a:solidFill>
                  <a:srgbClr val="323232"/>
                </a:solidFill>
                <a:effectLst/>
                <a:latin typeface="Montserrat" panose="00000500000000000000" pitchFamily="2" charset="0"/>
              </a:rPr>
              <a:t>Microservice Architecture</a:t>
            </a:r>
          </a:p>
          <a:p>
            <a:pPr algn="l"/>
            <a:r>
              <a:rPr lang="en-US" b="0" i="0" dirty="0">
                <a:solidFill>
                  <a:srgbClr val="323232"/>
                </a:solidFill>
                <a:effectLst/>
                <a:latin typeface="Montserrat" panose="00000500000000000000" pitchFamily="2" charset="0"/>
              </a:rPr>
              <a:t>Being the frequent alternative to an unreliable monolithic web application architecture, microservices disperse the functionality to deliver small and lightweight services separately.</a:t>
            </a:r>
          </a:p>
          <a:p>
            <a:pPr algn="l"/>
            <a:r>
              <a:rPr lang="en-US" dirty="0">
                <a:solidFill>
                  <a:srgbClr val="323232"/>
                </a:solidFill>
                <a:latin typeface="Montserrat" panose="00000500000000000000" pitchFamily="2" charset="0"/>
              </a:rPr>
              <a:t>T</a:t>
            </a:r>
            <a:r>
              <a:rPr lang="en-US" b="0" i="0" dirty="0">
                <a:solidFill>
                  <a:srgbClr val="323232"/>
                </a:solidFill>
                <a:effectLst/>
                <a:latin typeface="Montserrat" panose="00000500000000000000" pitchFamily="2" charset="0"/>
              </a:rPr>
              <a:t>hey are loosely coupled and use APIs for communication if a sophisticated business problem arises. </a:t>
            </a:r>
          </a:p>
          <a:p>
            <a:pPr algn="l"/>
            <a:r>
              <a:rPr lang="en-US" b="0" i="0" dirty="0">
                <a:solidFill>
                  <a:srgbClr val="323232"/>
                </a:solidFill>
                <a:effectLst/>
                <a:latin typeface="Montserrat" panose="00000500000000000000" pitchFamily="2" charset="0"/>
              </a:rPr>
              <a:t>Thanks to its flexibility and stability, microservice architecture has gained popularity these days, with businesses like Amazon, eBay, and Netflix adopting it for their complex needs.</a:t>
            </a:r>
          </a:p>
          <a:p>
            <a:endParaRPr lang="en-PK" dirty="0"/>
          </a:p>
        </p:txBody>
      </p:sp>
    </p:spTree>
    <p:extLst>
      <p:ext uri="{BB962C8B-B14F-4D97-AF65-F5344CB8AC3E}">
        <p14:creationId xmlns:p14="http://schemas.microsoft.com/office/powerpoint/2010/main" val="1751974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757DD-F566-FA92-1592-A683BE76DFE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002BC02-03A8-2995-C7B5-86557F991979}"/>
              </a:ext>
            </a:extLst>
          </p:cNvPr>
          <p:cNvSpPr>
            <a:spLocks noGrp="1"/>
          </p:cNvSpPr>
          <p:nvPr>
            <p:ph idx="1"/>
          </p:nvPr>
        </p:nvSpPr>
        <p:spPr/>
        <p:txBody>
          <a:bodyPr>
            <a:normAutofit/>
          </a:bodyPr>
          <a:lstStyle/>
          <a:p>
            <a:pPr algn="l"/>
            <a:r>
              <a:rPr lang="en-US" b="1" i="0" dirty="0">
                <a:solidFill>
                  <a:srgbClr val="323232"/>
                </a:solidFill>
                <a:effectLst/>
                <a:latin typeface="Montserrat" panose="00000500000000000000" pitchFamily="2" charset="0"/>
              </a:rPr>
              <a:t>Serverless Architecture</a:t>
            </a:r>
          </a:p>
          <a:p>
            <a:r>
              <a:rPr lang="en-US" dirty="0">
                <a:solidFill>
                  <a:srgbClr val="323232"/>
                </a:solidFill>
                <a:latin typeface="Montserrat" panose="00000500000000000000" pitchFamily="2" charset="0"/>
              </a:rPr>
              <a:t>O</a:t>
            </a:r>
            <a:r>
              <a:rPr lang="en-US" b="0" i="0" dirty="0">
                <a:solidFill>
                  <a:srgbClr val="323232"/>
                </a:solidFill>
                <a:effectLst/>
                <a:latin typeface="Montserrat" panose="00000500000000000000" pitchFamily="2" charset="0"/>
              </a:rPr>
              <a:t>utsource both server and infrastructure management to a third-party cloud service provider.</a:t>
            </a:r>
          </a:p>
          <a:p>
            <a:r>
              <a:rPr lang="en-US" b="0" i="0" dirty="0">
                <a:solidFill>
                  <a:srgbClr val="323232"/>
                </a:solidFill>
                <a:effectLst/>
                <a:latin typeface="Montserrat" panose="00000500000000000000" pitchFamily="2" charset="0"/>
              </a:rPr>
              <a:t>Choosing a serverless architecture is good for companies that want to delegate server and hardware management to a reliable tech partner and concentrate on front-end development tasks instead.</a:t>
            </a:r>
          </a:p>
          <a:p>
            <a:r>
              <a:rPr lang="en-US" b="0" i="0" dirty="0">
                <a:solidFill>
                  <a:srgbClr val="323232"/>
                </a:solidFill>
                <a:effectLst/>
                <a:latin typeface="Montserrat" panose="00000500000000000000" pitchFamily="2" charset="0"/>
              </a:rPr>
              <a:t>Also, this web application architecture type allows working on small functions in apps.</a:t>
            </a:r>
          </a:p>
          <a:p>
            <a:r>
              <a:rPr lang="en-US" b="0" i="0" dirty="0">
                <a:solidFill>
                  <a:srgbClr val="323232"/>
                </a:solidFill>
                <a:effectLst/>
                <a:latin typeface="Montserrat" panose="00000500000000000000" pitchFamily="2" charset="0"/>
              </a:rPr>
              <a:t>The service providers that assist in server management are Amazon and Microsoft, among others.</a:t>
            </a:r>
          </a:p>
          <a:p>
            <a:endParaRPr lang="en-PK" dirty="0"/>
          </a:p>
        </p:txBody>
      </p:sp>
    </p:spTree>
    <p:extLst>
      <p:ext uri="{BB962C8B-B14F-4D97-AF65-F5344CB8AC3E}">
        <p14:creationId xmlns:p14="http://schemas.microsoft.com/office/powerpoint/2010/main" val="33803546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12573"/>
            <a:ext cx="10515600" cy="1030666"/>
          </a:xfrm>
          <a:prstGeom prst="rect">
            <a:avLst/>
          </a:prstGeom>
        </p:spPr>
        <p:txBody>
          <a:bodyPr vert="horz" wrap="square" lIns="0" tIns="304418" rIns="0" bIns="0" rtlCol="0" anchor="ctr">
            <a:spAutoFit/>
          </a:bodyPr>
          <a:lstStyle/>
          <a:p>
            <a:pPr marL="633730">
              <a:lnSpc>
                <a:spcPct val="100000"/>
              </a:lnSpc>
              <a:spcBef>
                <a:spcPts val="105"/>
              </a:spcBef>
            </a:pPr>
            <a:r>
              <a:rPr sz="4700" b="1" dirty="0">
                <a:latin typeface="Calibri"/>
                <a:cs typeface="Calibri"/>
              </a:rPr>
              <a:t>BACKEND</a:t>
            </a:r>
            <a:r>
              <a:rPr sz="4700" b="1" spc="-160" dirty="0">
                <a:latin typeface="Calibri"/>
                <a:cs typeface="Calibri"/>
              </a:rPr>
              <a:t> </a:t>
            </a:r>
            <a:r>
              <a:rPr sz="4700" b="1" spc="-10" dirty="0">
                <a:latin typeface="Calibri"/>
                <a:cs typeface="Calibri"/>
              </a:rPr>
              <a:t>DEVELOPMENT</a:t>
            </a:r>
            <a:endParaRPr sz="4700">
              <a:latin typeface="Calibri"/>
              <a:cs typeface="Calibri"/>
            </a:endParaRPr>
          </a:p>
        </p:txBody>
      </p:sp>
      <p:pic>
        <p:nvPicPr>
          <p:cNvPr id="3" name="object 3"/>
          <p:cNvPicPr/>
          <p:nvPr/>
        </p:nvPicPr>
        <p:blipFill>
          <a:blip r:embed="rId2" cstate="print"/>
          <a:stretch>
            <a:fillRect/>
          </a:stretch>
        </p:blipFill>
        <p:spPr>
          <a:xfrm>
            <a:off x="1996440" y="1938527"/>
            <a:ext cx="8199120" cy="399897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580515">
              <a:lnSpc>
                <a:spcPct val="100000"/>
              </a:lnSpc>
              <a:spcBef>
                <a:spcPts val="105"/>
              </a:spcBef>
            </a:pPr>
            <a:r>
              <a:rPr dirty="0"/>
              <a:t>What</a:t>
            </a:r>
            <a:r>
              <a:rPr spc="-35" dirty="0"/>
              <a:t> </a:t>
            </a:r>
            <a:r>
              <a:rPr dirty="0"/>
              <a:t>is</a:t>
            </a:r>
            <a:r>
              <a:rPr spc="-30" dirty="0"/>
              <a:t> </a:t>
            </a:r>
            <a:r>
              <a:rPr dirty="0"/>
              <a:t>a</a:t>
            </a:r>
            <a:r>
              <a:rPr spc="-30" dirty="0"/>
              <a:t> </a:t>
            </a:r>
            <a:r>
              <a:rPr spc="-10" dirty="0"/>
              <a:t>Backend?</a:t>
            </a:r>
          </a:p>
        </p:txBody>
      </p:sp>
      <p:sp>
        <p:nvSpPr>
          <p:cNvPr id="4" name="object 4"/>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46</a:t>
            </a:r>
            <a:endParaRPr sz="1200">
              <a:latin typeface="Arial"/>
              <a:cs typeface="Arial"/>
            </a:endParaRPr>
          </a:p>
        </p:txBody>
      </p:sp>
      <p:sp>
        <p:nvSpPr>
          <p:cNvPr id="3" name="object 3"/>
          <p:cNvSpPr txBox="1"/>
          <p:nvPr/>
        </p:nvSpPr>
        <p:spPr>
          <a:xfrm>
            <a:off x="2059941" y="1549425"/>
            <a:ext cx="7789545" cy="2635250"/>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dirty="0">
                <a:latin typeface="Calibri"/>
                <a:cs typeface="Calibri"/>
              </a:rPr>
              <a:t>All</a:t>
            </a:r>
            <a:r>
              <a:rPr sz="2200" spc="-40" dirty="0">
                <a:latin typeface="Calibri"/>
                <a:cs typeface="Calibri"/>
              </a:rPr>
              <a:t> </a:t>
            </a:r>
            <a:r>
              <a:rPr sz="2200" dirty="0">
                <a:latin typeface="Calibri"/>
                <a:cs typeface="Calibri"/>
              </a:rPr>
              <a:t>of</a:t>
            </a:r>
            <a:r>
              <a:rPr sz="2200" spc="-30"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awesome</a:t>
            </a:r>
            <a:r>
              <a:rPr sz="2200" spc="-25" dirty="0">
                <a:latin typeface="Calibri"/>
                <a:cs typeface="Calibri"/>
              </a:rPr>
              <a:t> </a:t>
            </a:r>
            <a:r>
              <a:rPr sz="2200" dirty="0">
                <a:latin typeface="Calibri"/>
                <a:cs typeface="Calibri"/>
              </a:rPr>
              <a:t>that</a:t>
            </a:r>
            <a:r>
              <a:rPr sz="2200" spc="-45" dirty="0">
                <a:latin typeface="Calibri"/>
                <a:cs typeface="Calibri"/>
              </a:rPr>
              <a:t> </a:t>
            </a:r>
            <a:r>
              <a:rPr sz="2200" dirty="0">
                <a:latin typeface="Calibri"/>
                <a:cs typeface="Calibri"/>
              </a:rPr>
              <a:t>runs</a:t>
            </a:r>
            <a:r>
              <a:rPr sz="2200" spc="-35" dirty="0">
                <a:latin typeface="Calibri"/>
                <a:cs typeface="Calibri"/>
              </a:rPr>
              <a:t> </a:t>
            </a:r>
            <a:r>
              <a:rPr sz="2200" dirty="0">
                <a:latin typeface="Calibri"/>
                <a:cs typeface="Calibri"/>
              </a:rPr>
              <a:t>your</a:t>
            </a:r>
            <a:r>
              <a:rPr sz="2200" spc="-40" dirty="0">
                <a:latin typeface="Calibri"/>
                <a:cs typeface="Calibri"/>
              </a:rPr>
              <a:t> </a:t>
            </a:r>
            <a:r>
              <a:rPr sz="2200" spc="-10" dirty="0">
                <a:latin typeface="Calibri"/>
                <a:cs typeface="Calibri"/>
              </a:rPr>
              <a:t>application.</a:t>
            </a:r>
            <a:endParaRPr sz="2200">
              <a:latin typeface="Calibri"/>
              <a:cs typeface="Calibri"/>
            </a:endParaRPr>
          </a:p>
          <a:p>
            <a:pPr marL="354965" indent="-342265">
              <a:spcBef>
                <a:spcPts val="530"/>
              </a:spcBef>
              <a:buFont typeface="Arial"/>
              <a:buChar char="•"/>
              <a:tabLst>
                <a:tab pos="354965" algn="l"/>
              </a:tabLst>
            </a:pPr>
            <a:r>
              <a:rPr sz="2200" dirty="0">
                <a:solidFill>
                  <a:srgbClr val="E36C09"/>
                </a:solidFill>
                <a:latin typeface="Calibri"/>
                <a:cs typeface="Calibri"/>
              </a:rPr>
              <a:t>Web</a:t>
            </a:r>
            <a:r>
              <a:rPr sz="2200" spc="-114" dirty="0">
                <a:solidFill>
                  <a:srgbClr val="E36C09"/>
                </a:solidFill>
                <a:latin typeface="Calibri"/>
                <a:cs typeface="Calibri"/>
              </a:rPr>
              <a:t> </a:t>
            </a:r>
            <a:r>
              <a:rPr sz="2200" spc="-25" dirty="0">
                <a:solidFill>
                  <a:srgbClr val="E36C09"/>
                </a:solidFill>
                <a:latin typeface="Calibri"/>
                <a:cs typeface="Calibri"/>
              </a:rPr>
              <a:t>API</a:t>
            </a:r>
            <a:endParaRPr sz="2200">
              <a:latin typeface="Calibri"/>
              <a:cs typeface="Calibri"/>
            </a:endParaRPr>
          </a:p>
          <a:p>
            <a:pPr marL="756285" lvl="1" indent="-286385">
              <a:spcBef>
                <a:spcPts val="489"/>
              </a:spcBef>
              <a:buFont typeface="Arial"/>
              <a:buChar char="–"/>
              <a:tabLst>
                <a:tab pos="756285" algn="l"/>
              </a:tabLst>
            </a:pPr>
            <a:r>
              <a:rPr sz="2000" spc="-10" dirty="0">
                <a:latin typeface="Calibri"/>
                <a:cs typeface="Calibri"/>
              </a:rPr>
              <a:t>Connection</a:t>
            </a:r>
            <a:r>
              <a:rPr sz="2000" spc="-75" dirty="0">
                <a:latin typeface="Calibri"/>
                <a:cs typeface="Calibri"/>
              </a:rPr>
              <a:t> </a:t>
            </a:r>
            <a:r>
              <a:rPr sz="2000" dirty="0">
                <a:latin typeface="Calibri"/>
                <a:cs typeface="Calibri"/>
              </a:rPr>
              <a:t>layer</a:t>
            </a:r>
            <a:r>
              <a:rPr sz="2000" spc="-40" dirty="0">
                <a:latin typeface="Calibri"/>
                <a:cs typeface="Calibri"/>
              </a:rPr>
              <a:t> </a:t>
            </a:r>
            <a:r>
              <a:rPr sz="2000" dirty="0">
                <a:latin typeface="Calibri"/>
                <a:cs typeface="Calibri"/>
              </a:rPr>
              <a:t>between</a:t>
            </a:r>
            <a:r>
              <a:rPr sz="2000" spc="-50"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frontend</a:t>
            </a:r>
            <a:r>
              <a:rPr sz="2000" spc="-40" dirty="0">
                <a:latin typeface="Calibri"/>
                <a:cs typeface="Calibri"/>
              </a:rPr>
              <a:t> </a:t>
            </a:r>
            <a:r>
              <a:rPr sz="2000" dirty="0">
                <a:latin typeface="Calibri"/>
                <a:cs typeface="Calibri"/>
              </a:rPr>
              <a:t>and</a:t>
            </a:r>
            <a:r>
              <a:rPr sz="2000" spc="-50" dirty="0">
                <a:latin typeface="Calibri"/>
                <a:cs typeface="Calibri"/>
              </a:rPr>
              <a:t> </a:t>
            </a:r>
            <a:r>
              <a:rPr sz="2000" spc="-10" dirty="0">
                <a:latin typeface="Calibri"/>
                <a:cs typeface="Calibri"/>
              </a:rPr>
              <a:t>backend</a:t>
            </a:r>
            <a:endParaRPr sz="2000">
              <a:latin typeface="Calibri"/>
              <a:cs typeface="Calibri"/>
            </a:endParaRPr>
          </a:p>
          <a:p>
            <a:pPr marL="756285" lvl="1" indent="-286385">
              <a:spcBef>
                <a:spcPts val="480"/>
              </a:spcBef>
              <a:buFont typeface="Arial"/>
              <a:buChar char="–"/>
              <a:tabLst>
                <a:tab pos="756285" algn="l"/>
              </a:tabLst>
            </a:pPr>
            <a:r>
              <a:rPr sz="2000" dirty="0">
                <a:latin typeface="Calibri"/>
                <a:cs typeface="Calibri"/>
              </a:rPr>
              <a:t>Connected</a:t>
            </a:r>
            <a:r>
              <a:rPr sz="2000" spc="-65" dirty="0">
                <a:latin typeface="Calibri"/>
                <a:cs typeface="Calibri"/>
              </a:rPr>
              <a:t> </a:t>
            </a:r>
            <a:r>
              <a:rPr sz="2000" dirty="0">
                <a:latin typeface="Calibri"/>
                <a:cs typeface="Calibri"/>
              </a:rPr>
              <a:t>through</a:t>
            </a:r>
            <a:r>
              <a:rPr sz="2000" spc="-60" dirty="0">
                <a:latin typeface="Calibri"/>
                <a:cs typeface="Calibri"/>
              </a:rPr>
              <a:t> </a:t>
            </a:r>
            <a:r>
              <a:rPr sz="2000" dirty="0">
                <a:latin typeface="Calibri"/>
                <a:cs typeface="Calibri"/>
              </a:rPr>
              <a:t>API</a:t>
            </a:r>
            <a:r>
              <a:rPr sz="2000" spc="-55" dirty="0">
                <a:latin typeface="Calibri"/>
                <a:cs typeface="Calibri"/>
              </a:rPr>
              <a:t> </a:t>
            </a:r>
            <a:r>
              <a:rPr sz="2000" dirty="0">
                <a:latin typeface="Calibri"/>
                <a:cs typeface="Calibri"/>
              </a:rPr>
              <a:t>calls</a:t>
            </a:r>
            <a:r>
              <a:rPr sz="2000" spc="-40" dirty="0">
                <a:latin typeface="Calibri"/>
                <a:cs typeface="Calibri"/>
              </a:rPr>
              <a:t> </a:t>
            </a:r>
            <a:r>
              <a:rPr sz="2000" spc="-35" dirty="0">
                <a:latin typeface="Calibri"/>
                <a:cs typeface="Calibri"/>
              </a:rPr>
              <a:t>(</a:t>
            </a:r>
            <a:r>
              <a:rPr sz="2000" spc="-35" dirty="0">
                <a:solidFill>
                  <a:srgbClr val="E36C09"/>
                </a:solidFill>
                <a:latin typeface="Calibri"/>
                <a:cs typeface="Calibri"/>
              </a:rPr>
              <a:t>POST,</a:t>
            </a:r>
            <a:r>
              <a:rPr sz="2000" spc="-50" dirty="0">
                <a:solidFill>
                  <a:srgbClr val="E36C09"/>
                </a:solidFill>
                <a:latin typeface="Calibri"/>
                <a:cs typeface="Calibri"/>
              </a:rPr>
              <a:t> GET, PUT,</a:t>
            </a:r>
            <a:r>
              <a:rPr sz="2000" spc="-40" dirty="0">
                <a:solidFill>
                  <a:srgbClr val="E36C09"/>
                </a:solidFill>
                <a:latin typeface="Calibri"/>
                <a:cs typeface="Calibri"/>
              </a:rPr>
              <a:t> </a:t>
            </a:r>
            <a:r>
              <a:rPr sz="2000" dirty="0">
                <a:solidFill>
                  <a:srgbClr val="E36C09"/>
                </a:solidFill>
                <a:latin typeface="Calibri"/>
                <a:cs typeface="Calibri"/>
              </a:rPr>
              <a:t>etc.</a:t>
            </a:r>
            <a:r>
              <a:rPr sz="2000" spc="-30" dirty="0">
                <a:solidFill>
                  <a:srgbClr val="E36C09"/>
                </a:solidFill>
                <a:latin typeface="Calibri"/>
                <a:cs typeface="Calibri"/>
              </a:rPr>
              <a:t> </a:t>
            </a:r>
            <a:r>
              <a:rPr sz="2000" spc="-50" dirty="0">
                <a:latin typeface="Calibri"/>
                <a:cs typeface="Calibri"/>
              </a:rPr>
              <a:t>)</a:t>
            </a:r>
            <a:endParaRPr sz="2000">
              <a:latin typeface="Calibri"/>
              <a:cs typeface="Calibri"/>
            </a:endParaRPr>
          </a:p>
          <a:p>
            <a:pPr marL="756285" marR="292100" lvl="1" indent="-287020">
              <a:spcBef>
                <a:spcPts val="480"/>
              </a:spcBef>
              <a:buFont typeface="Arial"/>
              <a:buChar char="–"/>
              <a:tabLst>
                <a:tab pos="756285" algn="l"/>
              </a:tabLst>
            </a:pPr>
            <a:r>
              <a:rPr sz="2000" spc="-20" dirty="0">
                <a:latin typeface="Calibri"/>
                <a:cs typeface="Calibri"/>
              </a:rPr>
              <a:t>Transmit</a:t>
            </a:r>
            <a:r>
              <a:rPr sz="2000" spc="-35" dirty="0">
                <a:latin typeface="Calibri"/>
                <a:cs typeface="Calibri"/>
              </a:rPr>
              <a:t> </a:t>
            </a:r>
            <a:r>
              <a:rPr sz="2000" spc="-10" dirty="0">
                <a:latin typeface="Calibri"/>
                <a:cs typeface="Calibri"/>
              </a:rPr>
              <a:t>Content</a:t>
            </a:r>
            <a:r>
              <a:rPr sz="2000" spc="-50" dirty="0">
                <a:latin typeface="Calibri"/>
                <a:cs typeface="Calibri"/>
              </a:rPr>
              <a:t> </a:t>
            </a:r>
            <a:r>
              <a:rPr sz="2000" dirty="0">
                <a:latin typeface="Calibri"/>
                <a:cs typeface="Calibri"/>
              </a:rPr>
              <a:t>from</a:t>
            </a:r>
            <a:r>
              <a:rPr sz="2000" spc="-40"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Backend</a:t>
            </a:r>
            <a:r>
              <a:rPr sz="2000" spc="-60"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the</a:t>
            </a:r>
            <a:r>
              <a:rPr sz="2000" spc="-50" dirty="0">
                <a:latin typeface="Calibri"/>
                <a:cs typeface="Calibri"/>
              </a:rPr>
              <a:t> </a:t>
            </a:r>
            <a:r>
              <a:rPr sz="2000" spc="-10" dirty="0">
                <a:latin typeface="Calibri"/>
                <a:cs typeface="Calibri"/>
              </a:rPr>
              <a:t>Frontend</a:t>
            </a:r>
            <a:r>
              <a:rPr sz="2000" spc="-35" dirty="0">
                <a:latin typeface="Calibri"/>
                <a:cs typeface="Calibri"/>
              </a:rPr>
              <a:t> </a:t>
            </a:r>
            <a:r>
              <a:rPr sz="2000" dirty="0">
                <a:latin typeface="Calibri"/>
                <a:cs typeface="Calibri"/>
              </a:rPr>
              <a:t>commonly</a:t>
            </a:r>
            <a:r>
              <a:rPr sz="2000" spc="-65" dirty="0">
                <a:latin typeface="Calibri"/>
                <a:cs typeface="Calibri"/>
              </a:rPr>
              <a:t> </a:t>
            </a:r>
            <a:r>
              <a:rPr sz="2000" spc="-25" dirty="0">
                <a:latin typeface="Calibri"/>
                <a:cs typeface="Calibri"/>
              </a:rPr>
              <a:t>in </a:t>
            </a:r>
            <a:r>
              <a:rPr sz="2000" dirty="0">
                <a:solidFill>
                  <a:srgbClr val="E36C09"/>
                </a:solidFill>
                <a:latin typeface="Calibri"/>
                <a:cs typeface="Calibri"/>
              </a:rPr>
              <a:t>JSON</a:t>
            </a:r>
            <a:r>
              <a:rPr sz="2000" spc="-60" dirty="0">
                <a:solidFill>
                  <a:srgbClr val="E36C09"/>
                </a:solidFill>
                <a:latin typeface="Calibri"/>
                <a:cs typeface="Calibri"/>
              </a:rPr>
              <a:t> </a:t>
            </a:r>
            <a:r>
              <a:rPr sz="2000" spc="-20" dirty="0">
                <a:solidFill>
                  <a:srgbClr val="E36C09"/>
                </a:solidFill>
                <a:latin typeface="Calibri"/>
                <a:cs typeface="Calibri"/>
              </a:rPr>
              <a:t>Blobs</a:t>
            </a:r>
            <a:endParaRPr sz="2000">
              <a:latin typeface="Calibri"/>
              <a:cs typeface="Calibri"/>
            </a:endParaRPr>
          </a:p>
          <a:p>
            <a:pPr marL="354965" indent="-342265">
              <a:spcBef>
                <a:spcPts val="520"/>
              </a:spcBef>
              <a:buFont typeface="Arial"/>
              <a:buChar char="•"/>
              <a:tabLst>
                <a:tab pos="354965" algn="l"/>
              </a:tabLst>
            </a:pPr>
            <a:r>
              <a:rPr sz="2200" dirty="0">
                <a:latin typeface="Calibri"/>
                <a:cs typeface="Calibri"/>
              </a:rPr>
              <a:t>Service</a:t>
            </a:r>
            <a:r>
              <a:rPr sz="2200" spc="-30" dirty="0">
                <a:latin typeface="Calibri"/>
                <a:cs typeface="Calibri"/>
              </a:rPr>
              <a:t> </a:t>
            </a:r>
            <a:r>
              <a:rPr sz="2200" spc="-10" dirty="0">
                <a:latin typeface="Calibri"/>
                <a:cs typeface="Calibri"/>
              </a:rPr>
              <a:t>Architecture</a:t>
            </a:r>
            <a:r>
              <a:rPr sz="2200" spc="-25" dirty="0">
                <a:latin typeface="Calibri"/>
                <a:cs typeface="Calibri"/>
              </a:rPr>
              <a:t> </a:t>
            </a:r>
            <a:r>
              <a:rPr sz="2200" dirty="0">
                <a:latin typeface="Calibri"/>
                <a:cs typeface="Calibri"/>
              </a:rPr>
              <a:t>that</a:t>
            </a:r>
            <a:r>
              <a:rPr sz="2200" spc="-20" dirty="0">
                <a:latin typeface="Calibri"/>
                <a:cs typeface="Calibri"/>
              </a:rPr>
              <a:t> </a:t>
            </a:r>
            <a:r>
              <a:rPr sz="2200" dirty="0">
                <a:latin typeface="Calibri"/>
                <a:cs typeface="Calibri"/>
              </a:rPr>
              <a:t>drives</a:t>
            </a:r>
            <a:r>
              <a:rPr sz="2200" spc="-40" dirty="0">
                <a:latin typeface="Calibri"/>
                <a:cs typeface="Calibri"/>
              </a:rPr>
              <a:t> </a:t>
            </a:r>
            <a:r>
              <a:rPr sz="2200" dirty="0">
                <a:latin typeface="Calibri"/>
                <a:cs typeface="Calibri"/>
              </a:rPr>
              <a:t>everything</a:t>
            </a:r>
            <a:r>
              <a:rPr sz="2200" spc="-15" dirty="0">
                <a:latin typeface="Calibri"/>
                <a:cs typeface="Calibri"/>
              </a:rPr>
              <a:t> </a:t>
            </a:r>
            <a:r>
              <a:rPr sz="2200" dirty="0">
                <a:latin typeface="Calibri"/>
                <a:cs typeface="Calibri"/>
              </a:rPr>
              <a:t>(Where</a:t>
            </a:r>
            <a:r>
              <a:rPr sz="2200" spc="-15" dirty="0">
                <a:latin typeface="Calibri"/>
                <a:cs typeface="Calibri"/>
              </a:rPr>
              <a:t> </a:t>
            </a:r>
            <a:r>
              <a:rPr sz="2200" dirty="0">
                <a:latin typeface="Calibri"/>
                <a:cs typeface="Calibri"/>
              </a:rPr>
              <a:t>all</a:t>
            </a:r>
            <a:r>
              <a:rPr sz="2200" spc="-40" dirty="0">
                <a:latin typeface="Calibri"/>
                <a:cs typeface="Calibri"/>
              </a:rPr>
              <a:t> </a:t>
            </a:r>
            <a:r>
              <a:rPr sz="2200" dirty="0">
                <a:latin typeface="Calibri"/>
                <a:cs typeface="Calibri"/>
              </a:rPr>
              <a:t>the</a:t>
            </a:r>
            <a:r>
              <a:rPr sz="2200" spc="-20" dirty="0">
                <a:latin typeface="Calibri"/>
                <a:cs typeface="Calibri"/>
              </a:rPr>
              <a:t> </a:t>
            </a:r>
            <a:r>
              <a:rPr sz="2200" dirty="0">
                <a:latin typeface="Calibri"/>
                <a:cs typeface="Calibri"/>
              </a:rPr>
              <a:t>logic</a:t>
            </a:r>
            <a:r>
              <a:rPr sz="2200" spc="-35" dirty="0">
                <a:latin typeface="Calibri"/>
                <a:cs typeface="Calibri"/>
              </a:rPr>
              <a:t> </a:t>
            </a:r>
            <a:r>
              <a:rPr sz="2200" spc="-25" dirty="0">
                <a:latin typeface="Calibri"/>
                <a:cs typeface="Calibri"/>
              </a:rPr>
              <a:t>is)</a:t>
            </a:r>
            <a:endParaRPr sz="220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2711450">
              <a:lnSpc>
                <a:spcPct val="100000"/>
              </a:lnSpc>
              <a:spcBef>
                <a:spcPts val="105"/>
              </a:spcBef>
            </a:pPr>
            <a:r>
              <a:rPr dirty="0"/>
              <a:t>Web</a:t>
            </a:r>
            <a:r>
              <a:rPr spc="-175" dirty="0"/>
              <a:t> </a:t>
            </a:r>
            <a:r>
              <a:rPr spc="-20" dirty="0"/>
              <a:t>APIs</a:t>
            </a:r>
          </a:p>
        </p:txBody>
      </p:sp>
      <p:sp>
        <p:nvSpPr>
          <p:cNvPr id="3" name="object 3"/>
          <p:cNvSpPr txBox="1">
            <a:spLocks noGrp="1"/>
          </p:cNvSpPr>
          <p:nvPr>
            <p:ph idx="1"/>
          </p:nvPr>
        </p:nvSpPr>
        <p:spPr>
          <a:xfrm>
            <a:off x="951689" y="2117454"/>
            <a:ext cx="10515600" cy="3788858"/>
          </a:xfrm>
          <a:prstGeom prst="rect">
            <a:avLst/>
          </a:prstGeom>
        </p:spPr>
        <p:txBody>
          <a:bodyPr vert="horz" wrap="square" lIns="0" tIns="79375" rIns="0" bIns="0" rtlCol="0">
            <a:spAutoFit/>
          </a:bodyPr>
          <a:lstStyle/>
          <a:p>
            <a:pPr marL="354965" indent="-342265">
              <a:lnSpc>
                <a:spcPct val="100000"/>
              </a:lnSpc>
              <a:spcBef>
                <a:spcPts val="625"/>
              </a:spcBef>
              <a:buFont typeface="Arial"/>
              <a:buChar char="•"/>
              <a:tabLst>
                <a:tab pos="354965" algn="l"/>
              </a:tabLst>
            </a:pPr>
            <a:r>
              <a:rPr dirty="0"/>
              <a:t>Application</a:t>
            </a:r>
            <a:r>
              <a:rPr spc="-80" dirty="0"/>
              <a:t> </a:t>
            </a:r>
            <a:r>
              <a:rPr spc="-10" dirty="0"/>
              <a:t>Programming</a:t>
            </a:r>
            <a:r>
              <a:rPr spc="-65" dirty="0"/>
              <a:t> </a:t>
            </a:r>
            <a:r>
              <a:rPr spc="-10" dirty="0"/>
              <a:t>Interface</a:t>
            </a:r>
            <a:r>
              <a:rPr spc="-50" dirty="0"/>
              <a:t> </a:t>
            </a:r>
            <a:r>
              <a:rPr spc="-10" dirty="0"/>
              <a:t>(API)</a:t>
            </a:r>
          </a:p>
          <a:p>
            <a:pPr marL="756285" marR="690245" lvl="1" indent="-287020">
              <a:lnSpc>
                <a:spcPct val="100000"/>
              </a:lnSpc>
              <a:spcBef>
                <a:spcPts val="490"/>
              </a:spcBef>
              <a:buFont typeface="Arial"/>
              <a:buChar char="–"/>
              <a:tabLst>
                <a:tab pos="756285" algn="l"/>
              </a:tabLst>
            </a:pPr>
            <a:r>
              <a:rPr sz="2000" dirty="0">
                <a:latin typeface="Calibri"/>
                <a:cs typeface="Calibri"/>
              </a:rPr>
              <a:t>Serves</a:t>
            </a:r>
            <a:r>
              <a:rPr sz="2000" spc="-55" dirty="0">
                <a:latin typeface="Calibri"/>
                <a:cs typeface="Calibri"/>
              </a:rPr>
              <a:t> </a:t>
            </a:r>
            <a:r>
              <a:rPr sz="2000" dirty="0">
                <a:latin typeface="Calibri"/>
                <a:cs typeface="Calibri"/>
              </a:rPr>
              <a:t>as</a:t>
            </a:r>
            <a:r>
              <a:rPr sz="2000" spc="-60" dirty="0">
                <a:latin typeface="Calibri"/>
                <a:cs typeface="Calibri"/>
              </a:rPr>
              <a:t> </a:t>
            </a:r>
            <a:r>
              <a:rPr sz="2000" dirty="0">
                <a:latin typeface="Calibri"/>
                <a:cs typeface="Calibri"/>
              </a:rPr>
              <a:t>an</a:t>
            </a:r>
            <a:r>
              <a:rPr sz="2000" spc="-60" dirty="0">
                <a:latin typeface="Calibri"/>
                <a:cs typeface="Calibri"/>
              </a:rPr>
              <a:t> </a:t>
            </a:r>
            <a:r>
              <a:rPr sz="2000" spc="-10" dirty="0">
                <a:latin typeface="Calibri"/>
                <a:cs typeface="Calibri"/>
              </a:rPr>
              <a:t>interface</a:t>
            </a:r>
            <a:r>
              <a:rPr sz="2000" spc="-45" dirty="0">
                <a:latin typeface="Calibri"/>
                <a:cs typeface="Calibri"/>
              </a:rPr>
              <a:t> </a:t>
            </a:r>
            <a:r>
              <a:rPr sz="2000" dirty="0">
                <a:latin typeface="Calibri"/>
                <a:cs typeface="Calibri"/>
              </a:rPr>
              <a:t>between</a:t>
            </a:r>
            <a:r>
              <a:rPr sz="2000" spc="-70" dirty="0">
                <a:latin typeface="Calibri"/>
                <a:cs typeface="Calibri"/>
              </a:rPr>
              <a:t> </a:t>
            </a:r>
            <a:r>
              <a:rPr sz="2000" spc="-10" dirty="0">
                <a:latin typeface="Calibri"/>
                <a:cs typeface="Calibri"/>
              </a:rPr>
              <a:t>different</a:t>
            </a:r>
            <a:r>
              <a:rPr sz="2000" spc="-50" dirty="0">
                <a:latin typeface="Calibri"/>
                <a:cs typeface="Calibri"/>
              </a:rPr>
              <a:t> </a:t>
            </a:r>
            <a:r>
              <a:rPr sz="2000" dirty="0">
                <a:latin typeface="Calibri"/>
                <a:cs typeface="Calibri"/>
              </a:rPr>
              <a:t>software</a:t>
            </a:r>
            <a:r>
              <a:rPr sz="2000" spc="-55" dirty="0">
                <a:latin typeface="Calibri"/>
                <a:cs typeface="Calibri"/>
              </a:rPr>
              <a:t> </a:t>
            </a:r>
            <a:r>
              <a:rPr sz="2000" spc="-10" dirty="0">
                <a:latin typeface="Calibri"/>
                <a:cs typeface="Calibri"/>
              </a:rPr>
              <a:t>programs</a:t>
            </a:r>
            <a:r>
              <a:rPr sz="2000" spc="-70" dirty="0">
                <a:latin typeface="Calibri"/>
                <a:cs typeface="Calibri"/>
              </a:rPr>
              <a:t> </a:t>
            </a:r>
            <a:r>
              <a:rPr sz="2000" spc="-25" dirty="0">
                <a:latin typeface="Calibri"/>
                <a:cs typeface="Calibri"/>
              </a:rPr>
              <a:t>and </a:t>
            </a:r>
            <a:r>
              <a:rPr sz="2000" spc="-10" dirty="0">
                <a:latin typeface="Calibri"/>
                <a:cs typeface="Calibri"/>
              </a:rPr>
              <a:t>facilitates</a:t>
            </a:r>
            <a:r>
              <a:rPr sz="2000" spc="-45" dirty="0">
                <a:latin typeface="Calibri"/>
                <a:cs typeface="Calibri"/>
              </a:rPr>
              <a:t> </a:t>
            </a:r>
            <a:r>
              <a:rPr sz="2000" dirty="0">
                <a:latin typeface="Calibri"/>
                <a:cs typeface="Calibri"/>
              </a:rPr>
              <a:t>their</a:t>
            </a:r>
            <a:r>
              <a:rPr sz="2000" spc="-60" dirty="0">
                <a:latin typeface="Calibri"/>
                <a:cs typeface="Calibri"/>
              </a:rPr>
              <a:t> </a:t>
            </a:r>
            <a:r>
              <a:rPr sz="2000" spc="-10" dirty="0">
                <a:latin typeface="Calibri"/>
                <a:cs typeface="Calibri"/>
              </a:rPr>
              <a:t>interaction</a:t>
            </a:r>
            <a:endParaRPr sz="2000" dirty="0">
              <a:latin typeface="Calibri"/>
              <a:cs typeface="Calibri"/>
            </a:endParaRPr>
          </a:p>
          <a:p>
            <a:pPr marL="756285" marR="5080" lvl="1" indent="-287020">
              <a:lnSpc>
                <a:spcPct val="100000"/>
              </a:lnSpc>
              <a:spcBef>
                <a:spcPts val="480"/>
              </a:spcBef>
              <a:buFont typeface="Arial"/>
              <a:buChar char="–"/>
              <a:tabLst>
                <a:tab pos="756285" algn="l"/>
              </a:tabLst>
            </a:pPr>
            <a:r>
              <a:rPr sz="2000" dirty="0">
                <a:latin typeface="Calibri"/>
                <a:cs typeface="Calibri"/>
              </a:rPr>
              <a:t>A</a:t>
            </a:r>
            <a:r>
              <a:rPr sz="2000" spc="-50" dirty="0">
                <a:latin typeface="Calibri"/>
                <a:cs typeface="Calibri"/>
              </a:rPr>
              <a:t> </a:t>
            </a:r>
            <a:r>
              <a:rPr sz="2000" dirty="0">
                <a:latin typeface="Calibri"/>
                <a:cs typeface="Calibri"/>
              </a:rPr>
              <a:t>particular</a:t>
            </a:r>
            <a:r>
              <a:rPr sz="2000" spc="-30" dirty="0">
                <a:latin typeface="Calibri"/>
                <a:cs typeface="Calibri"/>
              </a:rPr>
              <a:t> </a:t>
            </a:r>
            <a:r>
              <a:rPr sz="2000" dirty="0">
                <a:latin typeface="Calibri"/>
                <a:cs typeface="Calibri"/>
              </a:rPr>
              <a:t>set</a:t>
            </a:r>
            <a:r>
              <a:rPr sz="2000" spc="-30"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rules</a:t>
            </a:r>
            <a:r>
              <a:rPr sz="2000" spc="-35" dirty="0">
                <a:latin typeface="Calibri"/>
                <a:cs typeface="Calibri"/>
              </a:rPr>
              <a:t> </a:t>
            </a:r>
            <a:r>
              <a:rPr sz="2000" dirty="0">
                <a:latin typeface="Calibri"/>
                <a:cs typeface="Calibri"/>
              </a:rPr>
              <a:t>and</a:t>
            </a:r>
            <a:r>
              <a:rPr sz="2000" spc="-40" dirty="0">
                <a:latin typeface="Calibri"/>
                <a:cs typeface="Calibri"/>
              </a:rPr>
              <a:t> </a:t>
            </a:r>
            <a:r>
              <a:rPr sz="2000" spc="-10" dirty="0">
                <a:latin typeface="Calibri"/>
                <a:cs typeface="Calibri"/>
              </a:rPr>
              <a:t>specifications</a:t>
            </a:r>
            <a:r>
              <a:rPr sz="2000" spc="-25" dirty="0">
                <a:latin typeface="Calibri"/>
                <a:cs typeface="Calibri"/>
              </a:rPr>
              <a:t> </a:t>
            </a:r>
            <a:r>
              <a:rPr sz="2000" dirty="0">
                <a:latin typeface="Calibri"/>
                <a:cs typeface="Calibri"/>
              </a:rPr>
              <a:t>that</a:t>
            </a:r>
            <a:r>
              <a:rPr sz="2000" spc="-40"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software</a:t>
            </a:r>
            <a:r>
              <a:rPr sz="2000" spc="-35" dirty="0">
                <a:latin typeface="Calibri"/>
                <a:cs typeface="Calibri"/>
              </a:rPr>
              <a:t> </a:t>
            </a:r>
            <a:r>
              <a:rPr sz="2000" dirty="0">
                <a:latin typeface="Calibri"/>
                <a:cs typeface="Calibri"/>
              </a:rPr>
              <a:t>program</a:t>
            </a:r>
            <a:r>
              <a:rPr sz="2000" spc="-60" dirty="0">
                <a:latin typeface="Calibri"/>
                <a:cs typeface="Calibri"/>
              </a:rPr>
              <a:t> </a:t>
            </a:r>
            <a:r>
              <a:rPr sz="2000" spc="-25" dirty="0">
                <a:latin typeface="Calibri"/>
                <a:cs typeface="Calibri"/>
              </a:rPr>
              <a:t>can </a:t>
            </a:r>
            <a:r>
              <a:rPr sz="2000" dirty="0">
                <a:latin typeface="Calibri"/>
                <a:cs typeface="Calibri"/>
              </a:rPr>
              <a:t>follow</a:t>
            </a:r>
            <a:r>
              <a:rPr sz="2000" spc="-65" dirty="0">
                <a:latin typeface="Calibri"/>
                <a:cs typeface="Calibri"/>
              </a:rPr>
              <a:t> </a:t>
            </a:r>
            <a:r>
              <a:rPr sz="2000" dirty="0">
                <a:latin typeface="Calibri"/>
                <a:cs typeface="Calibri"/>
              </a:rPr>
              <a:t>to</a:t>
            </a:r>
            <a:r>
              <a:rPr sz="2000" spc="-45" dirty="0">
                <a:latin typeface="Calibri"/>
                <a:cs typeface="Calibri"/>
              </a:rPr>
              <a:t> </a:t>
            </a:r>
            <a:r>
              <a:rPr sz="2000" dirty="0">
                <a:latin typeface="Calibri"/>
                <a:cs typeface="Calibri"/>
              </a:rPr>
              <a:t>access</a:t>
            </a:r>
            <a:r>
              <a:rPr sz="2000" spc="-45" dirty="0">
                <a:latin typeface="Calibri"/>
                <a:cs typeface="Calibri"/>
              </a:rPr>
              <a:t> </a:t>
            </a:r>
            <a:r>
              <a:rPr sz="2000" dirty="0">
                <a:latin typeface="Calibri"/>
                <a:cs typeface="Calibri"/>
              </a:rPr>
              <a:t>and</a:t>
            </a:r>
            <a:r>
              <a:rPr sz="2000" spc="-50" dirty="0">
                <a:latin typeface="Calibri"/>
                <a:cs typeface="Calibri"/>
              </a:rPr>
              <a:t> </a:t>
            </a:r>
            <a:r>
              <a:rPr sz="2000" dirty="0">
                <a:latin typeface="Calibri"/>
                <a:cs typeface="Calibri"/>
              </a:rPr>
              <a:t>make</a:t>
            </a:r>
            <a:r>
              <a:rPr sz="2000" spc="-50" dirty="0">
                <a:latin typeface="Calibri"/>
                <a:cs typeface="Calibri"/>
              </a:rPr>
              <a:t> </a:t>
            </a:r>
            <a:r>
              <a:rPr sz="2000" dirty="0">
                <a:latin typeface="Calibri"/>
                <a:cs typeface="Calibri"/>
              </a:rPr>
              <a:t>use</a:t>
            </a:r>
            <a:r>
              <a:rPr sz="2000" spc="-45" dirty="0">
                <a:latin typeface="Calibri"/>
                <a:cs typeface="Calibri"/>
              </a:rPr>
              <a:t> </a:t>
            </a:r>
            <a:r>
              <a:rPr sz="2000" dirty="0">
                <a:latin typeface="Calibri"/>
                <a:cs typeface="Calibri"/>
              </a:rPr>
              <a:t>of</a:t>
            </a:r>
            <a:r>
              <a:rPr sz="2000" spc="-50"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services</a:t>
            </a:r>
            <a:r>
              <a:rPr sz="2000" spc="-30" dirty="0">
                <a:latin typeface="Calibri"/>
                <a:cs typeface="Calibri"/>
              </a:rPr>
              <a:t> </a:t>
            </a:r>
            <a:r>
              <a:rPr sz="2000" dirty="0">
                <a:latin typeface="Calibri"/>
                <a:cs typeface="Calibri"/>
              </a:rPr>
              <a:t>and</a:t>
            </a:r>
            <a:r>
              <a:rPr sz="2000" spc="-50" dirty="0">
                <a:latin typeface="Calibri"/>
                <a:cs typeface="Calibri"/>
              </a:rPr>
              <a:t> </a:t>
            </a:r>
            <a:r>
              <a:rPr sz="2000" dirty="0">
                <a:latin typeface="Calibri"/>
                <a:cs typeface="Calibri"/>
              </a:rPr>
              <a:t>resources</a:t>
            </a:r>
            <a:r>
              <a:rPr sz="2000" spc="-50" dirty="0">
                <a:latin typeface="Calibri"/>
                <a:cs typeface="Calibri"/>
              </a:rPr>
              <a:t> </a:t>
            </a:r>
            <a:r>
              <a:rPr sz="2000" spc="-10" dirty="0">
                <a:latin typeface="Calibri"/>
                <a:cs typeface="Calibri"/>
              </a:rPr>
              <a:t>provided </a:t>
            </a:r>
            <a:r>
              <a:rPr sz="2000" dirty="0">
                <a:latin typeface="Calibri"/>
                <a:cs typeface="Calibri"/>
              </a:rPr>
              <a:t>by</a:t>
            </a:r>
            <a:r>
              <a:rPr sz="2000" spc="-70" dirty="0">
                <a:latin typeface="Calibri"/>
                <a:cs typeface="Calibri"/>
              </a:rPr>
              <a:t> </a:t>
            </a:r>
            <a:r>
              <a:rPr sz="2000" dirty="0">
                <a:latin typeface="Calibri"/>
                <a:cs typeface="Calibri"/>
              </a:rPr>
              <a:t>another</a:t>
            </a:r>
            <a:r>
              <a:rPr sz="2000" spc="-60" dirty="0">
                <a:latin typeface="Calibri"/>
                <a:cs typeface="Calibri"/>
              </a:rPr>
              <a:t> </a:t>
            </a:r>
            <a:r>
              <a:rPr sz="2000" dirty="0">
                <a:latin typeface="Calibri"/>
                <a:cs typeface="Calibri"/>
              </a:rPr>
              <a:t>particular</a:t>
            </a:r>
            <a:r>
              <a:rPr sz="2000" spc="-45" dirty="0">
                <a:latin typeface="Calibri"/>
                <a:cs typeface="Calibri"/>
              </a:rPr>
              <a:t> </a:t>
            </a:r>
            <a:r>
              <a:rPr sz="2000" dirty="0">
                <a:latin typeface="Calibri"/>
                <a:cs typeface="Calibri"/>
              </a:rPr>
              <a:t>software</a:t>
            </a:r>
            <a:r>
              <a:rPr sz="2000" spc="-45" dirty="0">
                <a:latin typeface="Calibri"/>
                <a:cs typeface="Calibri"/>
              </a:rPr>
              <a:t> </a:t>
            </a:r>
            <a:r>
              <a:rPr sz="2000" spc="-10" dirty="0">
                <a:latin typeface="Calibri"/>
                <a:cs typeface="Calibri"/>
              </a:rPr>
              <a:t>program</a:t>
            </a:r>
            <a:endParaRPr sz="2000" dirty="0">
              <a:latin typeface="Calibri"/>
              <a:cs typeface="Calibri"/>
            </a:endParaRPr>
          </a:p>
          <a:p>
            <a:pPr marL="354965" indent="-342265">
              <a:lnSpc>
                <a:spcPct val="100000"/>
              </a:lnSpc>
              <a:spcBef>
                <a:spcPts val="520"/>
              </a:spcBef>
              <a:buFont typeface="Arial"/>
              <a:buChar char="•"/>
              <a:tabLst>
                <a:tab pos="354965" algn="l"/>
              </a:tabLst>
            </a:pPr>
            <a:r>
              <a:rPr dirty="0"/>
              <a:t>Web</a:t>
            </a:r>
            <a:r>
              <a:rPr spc="-114" dirty="0"/>
              <a:t> </a:t>
            </a:r>
            <a:r>
              <a:rPr spc="-25" dirty="0"/>
              <a:t>API</a:t>
            </a:r>
          </a:p>
          <a:p>
            <a:pPr marL="756285" lvl="1" indent="-286385">
              <a:lnSpc>
                <a:spcPct val="100000"/>
              </a:lnSpc>
              <a:spcBef>
                <a:spcPts val="490"/>
              </a:spcBef>
              <a:buFont typeface="Arial"/>
              <a:buChar char="–"/>
              <a:tabLst>
                <a:tab pos="756285" algn="l"/>
              </a:tabLst>
            </a:pPr>
            <a:r>
              <a:rPr sz="2000" dirty="0">
                <a:latin typeface="Calibri"/>
                <a:cs typeface="Calibri"/>
              </a:rPr>
              <a:t>The</a:t>
            </a:r>
            <a:r>
              <a:rPr sz="2000" spc="-45" dirty="0">
                <a:latin typeface="Calibri"/>
                <a:cs typeface="Calibri"/>
              </a:rPr>
              <a:t> </a:t>
            </a:r>
            <a:r>
              <a:rPr sz="2000" spc="-10" dirty="0">
                <a:latin typeface="Calibri"/>
                <a:cs typeface="Calibri"/>
              </a:rPr>
              <a:t>intermediate</a:t>
            </a:r>
            <a:r>
              <a:rPr sz="2000" spc="-15" dirty="0">
                <a:latin typeface="Calibri"/>
                <a:cs typeface="Calibri"/>
              </a:rPr>
              <a:t> </a:t>
            </a:r>
            <a:r>
              <a:rPr sz="2000" dirty="0">
                <a:latin typeface="Calibri"/>
                <a:cs typeface="Calibri"/>
              </a:rPr>
              <a:t>layer</a:t>
            </a:r>
            <a:r>
              <a:rPr sz="2000" spc="-45" dirty="0">
                <a:latin typeface="Calibri"/>
                <a:cs typeface="Calibri"/>
              </a:rPr>
              <a:t> </a:t>
            </a:r>
            <a:r>
              <a:rPr sz="2000" dirty="0">
                <a:latin typeface="Calibri"/>
                <a:cs typeface="Calibri"/>
              </a:rPr>
              <a:t>between</a:t>
            </a:r>
            <a:r>
              <a:rPr sz="2000" spc="-50" dirty="0">
                <a:latin typeface="Calibri"/>
                <a:cs typeface="Calibri"/>
              </a:rPr>
              <a:t> </a:t>
            </a:r>
            <a:r>
              <a:rPr sz="2000" dirty="0">
                <a:latin typeface="Calibri"/>
                <a:cs typeface="Calibri"/>
              </a:rPr>
              <a:t>front</a:t>
            </a:r>
            <a:r>
              <a:rPr sz="2000" spc="-45" dirty="0">
                <a:latin typeface="Calibri"/>
                <a:cs typeface="Calibri"/>
              </a:rPr>
              <a:t> </a:t>
            </a:r>
            <a:r>
              <a:rPr sz="2000" dirty="0">
                <a:latin typeface="Calibri"/>
                <a:cs typeface="Calibri"/>
              </a:rPr>
              <a:t>end</a:t>
            </a:r>
            <a:r>
              <a:rPr sz="2000" spc="-45" dirty="0">
                <a:latin typeface="Calibri"/>
                <a:cs typeface="Calibri"/>
              </a:rPr>
              <a:t> </a:t>
            </a:r>
            <a:r>
              <a:rPr sz="2000" dirty="0">
                <a:latin typeface="Calibri"/>
                <a:cs typeface="Calibri"/>
              </a:rPr>
              <a:t>and</a:t>
            </a:r>
            <a:r>
              <a:rPr sz="2000" spc="-60" dirty="0">
                <a:latin typeface="Calibri"/>
                <a:cs typeface="Calibri"/>
              </a:rPr>
              <a:t> </a:t>
            </a:r>
            <a:r>
              <a:rPr sz="2000" spc="-10" dirty="0">
                <a:latin typeface="Calibri"/>
                <a:cs typeface="Calibri"/>
              </a:rPr>
              <a:t>back-</a:t>
            </a:r>
            <a:r>
              <a:rPr sz="2000" dirty="0">
                <a:latin typeface="Calibri"/>
                <a:cs typeface="Calibri"/>
              </a:rPr>
              <a:t>end</a:t>
            </a:r>
            <a:r>
              <a:rPr sz="2000" spc="-50" dirty="0">
                <a:latin typeface="Calibri"/>
                <a:cs typeface="Calibri"/>
              </a:rPr>
              <a:t> </a:t>
            </a:r>
            <a:r>
              <a:rPr sz="2000" spc="-10" dirty="0">
                <a:latin typeface="Calibri"/>
                <a:cs typeface="Calibri"/>
              </a:rPr>
              <a:t>systems</a:t>
            </a:r>
            <a:endParaRPr sz="2000" dirty="0">
              <a:latin typeface="Calibri"/>
              <a:cs typeface="Calibri"/>
            </a:endParaRPr>
          </a:p>
          <a:p>
            <a:pPr marL="756285" lvl="1" indent="-286385">
              <a:lnSpc>
                <a:spcPct val="100000"/>
              </a:lnSpc>
              <a:spcBef>
                <a:spcPts val="480"/>
              </a:spcBef>
              <a:buFont typeface="Arial"/>
              <a:buChar char="–"/>
              <a:tabLst>
                <a:tab pos="756285" algn="l"/>
              </a:tabLst>
            </a:pPr>
            <a:r>
              <a:rPr sz="2000" dirty="0">
                <a:latin typeface="Calibri"/>
                <a:cs typeface="Calibri"/>
              </a:rPr>
              <a:t>A</a:t>
            </a:r>
            <a:r>
              <a:rPr sz="2000" spc="-35" dirty="0">
                <a:latin typeface="Calibri"/>
                <a:cs typeface="Calibri"/>
              </a:rPr>
              <a:t> </a:t>
            </a:r>
            <a:r>
              <a:rPr sz="2000" dirty="0">
                <a:latin typeface="Calibri"/>
                <a:cs typeface="Calibri"/>
              </a:rPr>
              <a:t>“must</a:t>
            </a:r>
            <a:r>
              <a:rPr sz="2000" spc="-35" dirty="0">
                <a:latin typeface="Calibri"/>
                <a:cs typeface="Calibri"/>
              </a:rPr>
              <a:t> </a:t>
            </a:r>
            <a:r>
              <a:rPr sz="2000" dirty="0">
                <a:latin typeface="Calibri"/>
                <a:cs typeface="Calibri"/>
              </a:rPr>
              <a:t>have”</a:t>
            </a:r>
            <a:r>
              <a:rPr sz="2000" spc="-40" dirty="0">
                <a:latin typeface="Calibri"/>
                <a:cs typeface="Calibri"/>
              </a:rPr>
              <a:t> </a:t>
            </a:r>
            <a:r>
              <a:rPr sz="2000" dirty="0">
                <a:latin typeface="Calibri"/>
                <a:cs typeface="Calibri"/>
              </a:rPr>
              <a:t>if</a:t>
            </a:r>
            <a:r>
              <a:rPr sz="2000" spc="-25" dirty="0">
                <a:latin typeface="Calibri"/>
                <a:cs typeface="Calibri"/>
              </a:rPr>
              <a:t> </a:t>
            </a:r>
            <a:r>
              <a:rPr sz="2000" dirty="0">
                <a:latin typeface="Calibri"/>
                <a:cs typeface="Calibri"/>
              </a:rPr>
              <a:t>your</a:t>
            </a:r>
            <a:r>
              <a:rPr sz="2000" spc="-65" dirty="0">
                <a:latin typeface="Calibri"/>
                <a:cs typeface="Calibri"/>
              </a:rPr>
              <a:t> </a:t>
            </a:r>
            <a:r>
              <a:rPr sz="2000" dirty="0">
                <a:latin typeface="Calibri"/>
                <a:cs typeface="Calibri"/>
              </a:rPr>
              <a:t>APIs</a:t>
            </a:r>
            <a:r>
              <a:rPr sz="2000" spc="-30" dirty="0">
                <a:latin typeface="Calibri"/>
                <a:cs typeface="Calibri"/>
              </a:rPr>
              <a:t> </a:t>
            </a:r>
            <a:r>
              <a:rPr sz="2000" dirty="0">
                <a:latin typeface="Calibri"/>
                <a:cs typeface="Calibri"/>
              </a:rPr>
              <a:t>will</a:t>
            </a:r>
            <a:r>
              <a:rPr sz="2000" spc="-45" dirty="0">
                <a:latin typeface="Calibri"/>
                <a:cs typeface="Calibri"/>
              </a:rPr>
              <a:t> </a:t>
            </a:r>
            <a:r>
              <a:rPr sz="2000" dirty="0">
                <a:latin typeface="Calibri"/>
                <a:cs typeface="Calibri"/>
              </a:rPr>
              <a:t>be</a:t>
            </a:r>
            <a:r>
              <a:rPr sz="2000" spc="-35" dirty="0">
                <a:latin typeface="Calibri"/>
                <a:cs typeface="Calibri"/>
              </a:rPr>
              <a:t> </a:t>
            </a:r>
            <a:r>
              <a:rPr sz="2000" dirty="0">
                <a:latin typeface="Calibri"/>
                <a:cs typeface="Calibri"/>
              </a:rPr>
              <a:t>consumed</a:t>
            </a:r>
            <a:r>
              <a:rPr sz="2000" spc="-55" dirty="0">
                <a:latin typeface="Calibri"/>
                <a:cs typeface="Calibri"/>
              </a:rPr>
              <a:t> </a:t>
            </a:r>
            <a:r>
              <a:rPr sz="2000" dirty="0">
                <a:latin typeface="Calibri"/>
                <a:cs typeface="Calibri"/>
              </a:rPr>
              <a:t>by</a:t>
            </a:r>
            <a:r>
              <a:rPr sz="2000" spc="-50" dirty="0">
                <a:latin typeface="Calibri"/>
                <a:cs typeface="Calibri"/>
              </a:rPr>
              <a:t> </a:t>
            </a:r>
            <a:r>
              <a:rPr sz="2000" spc="-10" dirty="0">
                <a:latin typeface="Calibri"/>
                <a:cs typeface="Calibri"/>
              </a:rPr>
              <a:t>third-</a:t>
            </a:r>
            <a:r>
              <a:rPr sz="2000" dirty="0">
                <a:latin typeface="Calibri"/>
                <a:cs typeface="Calibri"/>
              </a:rPr>
              <a:t>party</a:t>
            </a:r>
            <a:r>
              <a:rPr sz="2000" spc="-40" dirty="0">
                <a:latin typeface="Calibri"/>
                <a:cs typeface="Calibri"/>
              </a:rPr>
              <a:t> </a:t>
            </a:r>
            <a:r>
              <a:rPr sz="2000" spc="-10" dirty="0">
                <a:latin typeface="Calibri"/>
                <a:cs typeface="Calibri"/>
              </a:rPr>
              <a:t>services</a:t>
            </a:r>
            <a:endParaRPr sz="2000" dirty="0">
              <a:latin typeface="Calibri"/>
              <a:cs typeface="Calibri"/>
            </a:endParaRPr>
          </a:p>
          <a:p>
            <a:pPr marL="756285" marR="16510" lvl="1" indent="-287020">
              <a:lnSpc>
                <a:spcPct val="100000"/>
              </a:lnSpc>
              <a:spcBef>
                <a:spcPts val="480"/>
              </a:spcBef>
              <a:buFont typeface="Arial"/>
              <a:buChar char="–"/>
              <a:tabLst>
                <a:tab pos="756285" algn="l"/>
              </a:tabLst>
            </a:pPr>
            <a:r>
              <a:rPr sz="2000" spc="-10" dirty="0">
                <a:latin typeface="Calibri"/>
                <a:cs typeface="Calibri"/>
              </a:rPr>
              <a:t>Typically</a:t>
            </a:r>
            <a:r>
              <a:rPr sz="2000" spc="-50" dirty="0">
                <a:latin typeface="Calibri"/>
                <a:cs typeface="Calibri"/>
              </a:rPr>
              <a:t> </a:t>
            </a:r>
            <a:r>
              <a:rPr sz="2000" dirty="0">
                <a:latin typeface="Calibri"/>
                <a:cs typeface="Calibri"/>
              </a:rPr>
              <a:t>a</a:t>
            </a:r>
            <a:r>
              <a:rPr sz="2000" spc="-45" dirty="0">
                <a:latin typeface="Calibri"/>
                <a:cs typeface="Calibri"/>
              </a:rPr>
              <a:t> </a:t>
            </a:r>
            <a:r>
              <a:rPr sz="2000" dirty="0">
                <a:latin typeface="Calibri"/>
                <a:cs typeface="Calibri"/>
              </a:rPr>
              <a:t>defined</a:t>
            </a:r>
            <a:r>
              <a:rPr sz="2000" spc="-65" dirty="0">
                <a:latin typeface="Calibri"/>
                <a:cs typeface="Calibri"/>
              </a:rPr>
              <a:t> </a:t>
            </a:r>
            <a:r>
              <a:rPr sz="2000" dirty="0">
                <a:latin typeface="Calibri"/>
                <a:cs typeface="Calibri"/>
              </a:rPr>
              <a:t>set</a:t>
            </a:r>
            <a:r>
              <a:rPr sz="2000" spc="-40" dirty="0">
                <a:latin typeface="Calibri"/>
                <a:cs typeface="Calibri"/>
              </a:rPr>
              <a:t> </a:t>
            </a:r>
            <a:r>
              <a:rPr sz="2000" dirty="0">
                <a:latin typeface="Calibri"/>
                <a:cs typeface="Calibri"/>
              </a:rPr>
              <a:t>of</a:t>
            </a:r>
            <a:r>
              <a:rPr sz="2000" spc="-45" dirty="0">
                <a:latin typeface="Calibri"/>
                <a:cs typeface="Calibri"/>
              </a:rPr>
              <a:t> </a:t>
            </a:r>
            <a:r>
              <a:rPr sz="2000" dirty="0">
                <a:solidFill>
                  <a:srgbClr val="E36C09"/>
                </a:solidFill>
                <a:latin typeface="Calibri"/>
                <a:cs typeface="Calibri"/>
              </a:rPr>
              <a:t>HTTP</a:t>
            </a:r>
            <a:r>
              <a:rPr sz="2000" spc="-40" dirty="0">
                <a:solidFill>
                  <a:srgbClr val="E36C09"/>
                </a:solidFill>
                <a:latin typeface="Calibri"/>
                <a:cs typeface="Calibri"/>
              </a:rPr>
              <a:t> </a:t>
            </a:r>
            <a:r>
              <a:rPr sz="2000" spc="-10" dirty="0">
                <a:solidFill>
                  <a:srgbClr val="E36C09"/>
                </a:solidFill>
                <a:latin typeface="Calibri"/>
                <a:cs typeface="Calibri"/>
              </a:rPr>
              <a:t>request</a:t>
            </a:r>
            <a:r>
              <a:rPr sz="2000" spc="-30" dirty="0">
                <a:solidFill>
                  <a:srgbClr val="E36C09"/>
                </a:solidFill>
                <a:latin typeface="Calibri"/>
                <a:cs typeface="Calibri"/>
              </a:rPr>
              <a:t> </a:t>
            </a:r>
            <a:r>
              <a:rPr sz="2000" dirty="0">
                <a:latin typeface="Calibri"/>
                <a:cs typeface="Calibri"/>
              </a:rPr>
              <a:t>messages</a:t>
            </a:r>
            <a:r>
              <a:rPr sz="2000" spc="-40" dirty="0">
                <a:latin typeface="Calibri"/>
                <a:cs typeface="Calibri"/>
              </a:rPr>
              <a:t> </a:t>
            </a:r>
            <a:r>
              <a:rPr sz="2000" spc="-10" dirty="0">
                <a:latin typeface="Calibri"/>
                <a:cs typeface="Calibri"/>
              </a:rPr>
              <a:t>expressed</a:t>
            </a:r>
            <a:r>
              <a:rPr sz="2000" spc="-35" dirty="0">
                <a:latin typeface="Calibri"/>
                <a:cs typeface="Calibri"/>
              </a:rPr>
              <a:t> </a:t>
            </a:r>
            <a:r>
              <a:rPr sz="2000" dirty="0">
                <a:latin typeface="Calibri"/>
                <a:cs typeface="Calibri"/>
              </a:rPr>
              <a:t>in</a:t>
            </a:r>
            <a:r>
              <a:rPr sz="2000" spc="-35" dirty="0">
                <a:latin typeface="Calibri"/>
                <a:cs typeface="Calibri"/>
              </a:rPr>
              <a:t> </a:t>
            </a:r>
            <a:r>
              <a:rPr sz="2000" dirty="0">
                <a:solidFill>
                  <a:srgbClr val="E36C09"/>
                </a:solidFill>
                <a:latin typeface="Calibri"/>
                <a:cs typeface="Calibri"/>
              </a:rPr>
              <a:t>SOAP</a:t>
            </a:r>
            <a:r>
              <a:rPr sz="2000" spc="-55" dirty="0">
                <a:solidFill>
                  <a:srgbClr val="E36C09"/>
                </a:solidFill>
                <a:latin typeface="Calibri"/>
                <a:cs typeface="Calibri"/>
              </a:rPr>
              <a:t> </a:t>
            </a:r>
            <a:r>
              <a:rPr sz="2000" spc="-25" dirty="0">
                <a:latin typeface="Calibri"/>
                <a:cs typeface="Calibri"/>
              </a:rPr>
              <a:t>or </a:t>
            </a:r>
            <a:r>
              <a:rPr sz="2000" dirty="0">
                <a:solidFill>
                  <a:srgbClr val="E36C09"/>
                </a:solidFill>
                <a:latin typeface="Calibri"/>
                <a:cs typeface="Calibri"/>
              </a:rPr>
              <a:t>REST</a:t>
            </a:r>
            <a:r>
              <a:rPr sz="2000" spc="-50" dirty="0">
                <a:solidFill>
                  <a:srgbClr val="E36C09"/>
                </a:solidFill>
                <a:latin typeface="Calibri"/>
                <a:cs typeface="Calibri"/>
              </a:rPr>
              <a:t> </a:t>
            </a:r>
            <a:r>
              <a:rPr sz="2000" dirty="0">
                <a:latin typeface="Calibri"/>
                <a:cs typeface="Calibri"/>
              </a:rPr>
              <a:t>along</a:t>
            </a:r>
            <a:r>
              <a:rPr sz="2000" spc="-50" dirty="0">
                <a:latin typeface="Calibri"/>
                <a:cs typeface="Calibri"/>
              </a:rPr>
              <a:t> </a:t>
            </a:r>
            <a:r>
              <a:rPr sz="2000" dirty="0">
                <a:latin typeface="Calibri"/>
                <a:cs typeface="Calibri"/>
              </a:rPr>
              <a:t>with</a:t>
            </a:r>
            <a:r>
              <a:rPr sz="2000" spc="-35" dirty="0">
                <a:latin typeface="Calibri"/>
                <a:cs typeface="Calibri"/>
              </a:rPr>
              <a:t> </a:t>
            </a:r>
            <a:r>
              <a:rPr sz="2000" dirty="0">
                <a:latin typeface="Calibri"/>
                <a:cs typeface="Calibri"/>
              </a:rPr>
              <a:t>a</a:t>
            </a:r>
            <a:r>
              <a:rPr sz="2000" spc="-35" dirty="0">
                <a:latin typeface="Calibri"/>
                <a:cs typeface="Calibri"/>
              </a:rPr>
              <a:t> </a:t>
            </a:r>
            <a:r>
              <a:rPr sz="2000" dirty="0">
                <a:latin typeface="Calibri"/>
                <a:cs typeface="Calibri"/>
              </a:rPr>
              <a:t>definition</a:t>
            </a:r>
            <a:r>
              <a:rPr sz="2000" spc="-45" dirty="0">
                <a:latin typeface="Calibri"/>
                <a:cs typeface="Calibri"/>
              </a:rPr>
              <a:t> </a:t>
            </a:r>
            <a:r>
              <a:rPr sz="2000" dirty="0">
                <a:latin typeface="Calibri"/>
                <a:cs typeface="Calibri"/>
              </a:rPr>
              <a:t>of</a:t>
            </a:r>
            <a:r>
              <a:rPr sz="2000" spc="-40" dirty="0">
                <a:latin typeface="Calibri"/>
                <a:cs typeface="Calibri"/>
              </a:rPr>
              <a:t> </a:t>
            </a:r>
            <a:r>
              <a:rPr sz="2000" dirty="0">
                <a:latin typeface="Calibri"/>
                <a:cs typeface="Calibri"/>
              </a:rPr>
              <a:t>the</a:t>
            </a:r>
            <a:r>
              <a:rPr sz="2000" spc="-35" dirty="0">
                <a:latin typeface="Calibri"/>
                <a:cs typeface="Calibri"/>
              </a:rPr>
              <a:t> </a:t>
            </a:r>
            <a:r>
              <a:rPr sz="2000" spc="-10" dirty="0">
                <a:latin typeface="Calibri"/>
                <a:cs typeface="Calibri"/>
              </a:rPr>
              <a:t>structure</a:t>
            </a:r>
            <a:r>
              <a:rPr sz="2000" spc="-35"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response</a:t>
            </a:r>
            <a:r>
              <a:rPr sz="2000" spc="-35" dirty="0">
                <a:latin typeface="Calibri"/>
                <a:cs typeface="Calibri"/>
              </a:rPr>
              <a:t> </a:t>
            </a:r>
            <a:r>
              <a:rPr sz="2000" spc="-10" dirty="0">
                <a:latin typeface="Calibri"/>
                <a:cs typeface="Calibri"/>
              </a:rPr>
              <a:t>messages, </a:t>
            </a:r>
            <a:r>
              <a:rPr sz="2000" dirty="0">
                <a:latin typeface="Calibri"/>
                <a:cs typeface="Calibri"/>
              </a:rPr>
              <a:t>typically</a:t>
            </a:r>
            <a:r>
              <a:rPr sz="2000" spc="-35" dirty="0">
                <a:latin typeface="Calibri"/>
                <a:cs typeface="Calibri"/>
              </a:rPr>
              <a:t> </a:t>
            </a:r>
            <a:r>
              <a:rPr sz="2000" spc="-10" dirty="0">
                <a:latin typeface="Calibri"/>
                <a:cs typeface="Calibri"/>
              </a:rPr>
              <a:t>expressed</a:t>
            </a:r>
            <a:r>
              <a:rPr sz="2000" spc="-20" dirty="0">
                <a:latin typeface="Calibri"/>
                <a:cs typeface="Calibri"/>
              </a:rPr>
              <a:t> </a:t>
            </a:r>
            <a:r>
              <a:rPr sz="2000" dirty="0">
                <a:latin typeface="Calibri"/>
                <a:cs typeface="Calibri"/>
              </a:rPr>
              <a:t>in</a:t>
            </a:r>
            <a:r>
              <a:rPr sz="2000" spc="-35" dirty="0">
                <a:latin typeface="Calibri"/>
                <a:cs typeface="Calibri"/>
              </a:rPr>
              <a:t> </a:t>
            </a:r>
            <a:r>
              <a:rPr sz="2000" dirty="0">
                <a:solidFill>
                  <a:srgbClr val="E36C09"/>
                </a:solidFill>
                <a:latin typeface="Calibri"/>
                <a:cs typeface="Calibri"/>
              </a:rPr>
              <a:t>JSON</a:t>
            </a:r>
            <a:r>
              <a:rPr sz="2000" spc="-35" dirty="0">
                <a:solidFill>
                  <a:srgbClr val="E36C09"/>
                </a:solidFill>
                <a:latin typeface="Calibri"/>
                <a:cs typeface="Calibri"/>
              </a:rPr>
              <a:t> </a:t>
            </a:r>
            <a:r>
              <a:rPr sz="2000" dirty="0">
                <a:latin typeface="Calibri"/>
                <a:cs typeface="Calibri"/>
              </a:rPr>
              <a:t>or</a:t>
            </a:r>
            <a:r>
              <a:rPr sz="2000" spc="-45" dirty="0">
                <a:latin typeface="Calibri"/>
                <a:cs typeface="Calibri"/>
              </a:rPr>
              <a:t> </a:t>
            </a:r>
            <a:r>
              <a:rPr sz="2000" spc="-20" dirty="0">
                <a:solidFill>
                  <a:srgbClr val="E36C09"/>
                </a:solidFill>
                <a:latin typeface="Calibri"/>
                <a:cs typeface="Calibri"/>
              </a:rPr>
              <a:t>XML</a:t>
            </a:r>
            <a:r>
              <a:rPr sz="2000" spc="-20" dirty="0">
                <a:latin typeface="Calibri"/>
                <a:cs typeface="Calibri"/>
              </a:rPr>
              <a:t>.</a:t>
            </a:r>
            <a:endParaRPr sz="2000" dirty="0">
              <a:latin typeface="Calibri"/>
              <a:cs typeface="Calibri"/>
            </a:endParaRPr>
          </a:p>
        </p:txBody>
      </p:sp>
      <p:sp>
        <p:nvSpPr>
          <p:cNvPr id="4" name="object 4"/>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47</a:t>
            </a:r>
            <a:endParaRPr sz="120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3167380">
              <a:lnSpc>
                <a:spcPct val="100000"/>
              </a:lnSpc>
              <a:spcBef>
                <a:spcPts val="105"/>
              </a:spcBef>
            </a:pPr>
            <a:r>
              <a:rPr spc="-20" dirty="0"/>
              <a:t>SOAP</a:t>
            </a:r>
          </a:p>
        </p:txBody>
      </p:sp>
      <p:sp>
        <p:nvSpPr>
          <p:cNvPr id="3" name="object 3"/>
          <p:cNvSpPr txBox="1"/>
          <p:nvPr/>
        </p:nvSpPr>
        <p:spPr>
          <a:xfrm>
            <a:off x="2059941" y="1556740"/>
            <a:ext cx="7717155" cy="4467860"/>
          </a:xfrm>
          <a:prstGeom prst="rect">
            <a:avLst/>
          </a:prstGeom>
        </p:spPr>
        <p:txBody>
          <a:bodyPr vert="horz" wrap="square" lIns="0" tIns="43180" rIns="0" bIns="0" rtlCol="0">
            <a:spAutoFit/>
          </a:bodyPr>
          <a:lstStyle/>
          <a:p>
            <a:pPr marL="354965" indent="-342265">
              <a:spcBef>
                <a:spcPts val="340"/>
              </a:spcBef>
              <a:buFont typeface="Arial"/>
              <a:buChar char="•"/>
              <a:tabLst>
                <a:tab pos="354965" algn="l"/>
              </a:tabLst>
            </a:pPr>
            <a:r>
              <a:rPr sz="2000" dirty="0">
                <a:solidFill>
                  <a:srgbClr val="E36C09"/>
                </a:solidFill>
                <a:latin typeface="Calibri"/>
                <a:cs typeface="Calibri"/>
              </a:rPr>
              <a:t>Simple</a:t>
            </a:r>
            <a:r>
              <a:rPr sz="2000" spc="-50" dirty="0">
                <a:solidFill>
                  <a:srgbClr val="E36C09"/>
                </a:solidFill>
                <a:latin typeface="Calibri"/>
                <a:cs typeface="Calibri"/>
              </a:rPr>
              <a:t> </a:t>
            </a:r>
            <a:r>
              <a:rPr sz="2000" dirty="0">
                <a:solidFill>
                  <a:srgbClr val="E36C09"/>
                </a:solidFill>
                <a:latin typeface="Calibri"/>
                <a:cs typeface="Calibri"/>
              </a:rPr>
              <a:t>Object</a:t>
            </a:r>
            <a:r>
              <a:rPr sz="2000" spc="-75" dirty="0">
                <a:solidFill>
                  <a:srgbClr val="E36C09"/>
                </a:solidFill>
                <a:latin typeface="Calibri"/>
                <a:cs typeface="Calibri"/>
              </a:rPr>
              <a:t> </a:t>
            </a:r>
            <a:r>
              <a:rPr sz="2000" dirty="0">
                <a:solidFill>
                  <a:srgbClr val="E36C09"/>
                </a:solidFill>
                <a:latin typeface="Calibri"/>
                <a:cs typeface="Calibri"/>
              </a:rPr>
              <a:t>Access</a:t>
            </a:r>
            <a:r>
              <a:rPr sz="2000" spc="-50" dirty="0">
                <a:solidFill>
                  <a:srgbClr val="E36C09"/>
                </a:solidFill>
                <a:latin typeface="Calibri"/>
                <a:cs typeface="Calibri"/>
              </a:rPr>
              <a:t> </a:t>
            </a:r>
            <a:r>
              <a:rPr sz="2000" dirty="0">
                <a:solidFill>
                  <a:srgbClr val="E36C09"/>
                </a:solidFill>
                <a:latin typeface="Calibri"/>
                <a:cs typeface="Calibri"/>
              </a:rPr>
              <a:t>Protocol</a:t>
            </a:r>
            <a:r>
              <a:rPr sz="2000" spc="-65" dirty="0">
                <a:solidFill>
                  <a:srgbClr val="E36C09"/>
                </a:solidFill>
                <a:latin typeface="Calibri"/>
                <a:cs typeface="Calibri"/>
              </a:rPr>
              <a:t> </a:t>
            </a:r>
            <a:r>
              <a:rPr sz="2000" spc="-10" dirty="0">
                <a:solidFill>
                  <a:srgbClr val="E36C09"/>
                </a:solidFill>
                <a:latin typeface="Calibri"/>
                <a:cs typeface="Calibri"/>
              </a:rPr>
              <a:t>(SOAP)</a:t>
            </a:r>
            <a:endParaRPr sz="2000">
              <a:latin typeface="Calibri"/>
              <a:cs typeface="Calibri"/>
            </a:endParaRPr>
          </a:p>
          <a:p>
            <a:pPr marL="354965" indent="-342265">
              <a:spcBef>
                <a:spcPts val="240"/>
              </a:spcBef>
              <a:buFont typeface="Arial"/>
              <a:buChar char="•"/>
              <a:tabLst>
                <a:tab pos="354965" algn="l"/>
              </a:tabLst>
            </a:pPr>
            <a:r>
              <a:rPr sz="2000" dirty="0">
                <a:latin typeface="Calibri"/>
                <a:cs typeface="Calibri"/>
              </a:rPr>
              <a:t>SOAP</a:t>
            </a:r>
            <a:r>
              <a:rPr sz="2000" spc="-75" dirty="0">
                <a:latin typeface="Calibri"/>
                <a:cs typeface="Calibri"/>
              </a:rPr>
              <a:t> </a:t>
            </a:r>
            <a:r>
              <a:rPr sz="2000" spc="-10" dirty="0">
                <a:latin typeface="Calibri"/>
                <a:cs typeface="Calibri"/>
              </a:rPr>
              <a:t>Introduction:</a:t>
            </a:r>
            <a:endParaRPr sz="2000">
              <a:latin typeface="Calibri"/>
              <a:cs typeface="Calibri"/>
            </a:endParaRPr>
          </a:p>
          <a:p>
            <a:pPr marL="756285" lvl="1" indent="-286385">
              <a:spcBef>
                <a:spcPts val="229"/>
              </a:spcBef>
              <a:buClr>
                <a:srgbClr val="000000"/>
              </a:buClr>
              <a:buFont typeface="Arial"/>
              <a:buChar char="–"/>
              <a:tabLst>
                <a:tab pos="756285" algn="l"/>
              </a:tabLst>
            </a:pPr>
            <a:r>
              <a:rPr sz="1900" u="sng" spc="-20" dirty="0">
                <a:solidFill>
                  <a:srgbClr val="0000FF"/>
                </a:solidFill>
                <a:uFill>
                  <a:solidFill>
                    <a:srgbClr val="0000FF"/>
                  </a:solidFill>
                </a:uFill>
                <a:latin typeface="Calibri"/>
                <a:cs typeface="Calibri"/>
                <a:hlinkClick r:id="rId2"/>
              </a:rPr>
              <a:t>http://msdn.microsoft.com/en-</a:t>
            </a:r>
            <a:r>
              <a:rPr sz="1900" u="sng" spc="-10" dirty="0">
                <a:solidFill>
                  <a:srgbClr val="0000FF"/>
                </a:solidFill>
                <a:uFill>
                  <a:solidFill>
                    <a:srgbClr val="0000FF"/>
                  </a:solidFill>
                </a:uFill>
                <a:latin typeface="Calibri"/>
                <a:cs typeface="Calibri"/>
                <a:hlinkClick r:id="rId2"/>
              </a:rPr>
              <a:t>us/library/ms995800.aspx</a:t>
            </a:r>
            <a:endParaRPr sz="1900">
              <a:latin typeface="Calibri"/>
              <a:cs typeface="Calibri"/>
            </a:endParaRPr>
          </a:p>
          <a:p>
            <a:pPr marL="354965" indent="-342265">
              <a:lnSpc>
                <a:spcPts val="2280"/>
              </a:lnSpc>
              <a:spcBef>
                <a:spcPts val="235"/>
              </a:spcBef>
              <a:buFont typeface="Arial"/>
              <a:buChar char="•"/>
              <a:tabLst>
                <a:tab pos="354965" algn="l"/>
              </a:tabLst>
            </a:pPr>
            <a:r>
              <a:rPr sz="2000" dirty="0">
                <a:latin typeface="Calibri"/>
                <a:cs typeface="Calibri"/>
              </a:rPr>
              <a:t>A</a:t>
            </a:r>
            <a:r>
              <a:rPr sz="2000" spc="-30" dirty="0">
                <a:latin typeface="Calibri"/>
                <a:cs typeface="Calibri"/>
              </a:rPr>
              <a:t> </a:t>
            </a:r>
            <a:r>
              <a:rPr sz="2000" dirty="0">
                <a:latin typeface="Calibri"/>
                <a:cs typeface="Calibri"/>
              </a:rPr>
              <a:t>SOAP</a:t>
            </a:r>
            <a:r>
              <a:rPr sz="2000" spc="-30" dirty="0">
                <a:latin typeface="Calibri"/>
                <a:cs typeface="Calibri"/>
              </a:rPr>
              <a:t> </a:t>
            </a:r>
            <a:r>
              <a:rPr sz="2000" dirty="0">
                <a:latin typeface="Calibri"/>
                <a:cs typeface="Calibri"/>
              </a:rPr>
              <a:t>message</a:t>
            </a:r>
            <a:r>
              <a:rPr sz="2000" spc="-20" dirty="0">
                <a:latin typeface="Calibri"/>
                <a:cs typeface="Calibri"/>
              </a:rPr>
              <a:t> </a:t>
            </a:r>
            <a:r>
              <a:rPr sz="2000" dirty="0">
                <a:latin typeface="Calibri"/>
                <a:cs typeface="Calibri"/>
              </a:rPr>
              <a:t>is</a:t>
            </a:r>
            <a:r>
              <a:rPr sz="2000" spc="-40" dirty="0">
                <a:latin typeface="Calibri"/>
                <a:cs typeface="Calibri"/>
              </a:rPr>
              <a:t> </a:t>
            </a:r>
            <a:r>
              <a:rPr sz="2000" dirty="0">
                <a:latin typeface="Calibri"/>
                <a:cs typeface="Calibri"/>
              </a:rPr>
              <a:t>an</a:t>
            </a:r>
            <a:r>
              <a:rPr sz="2000" spc="-40" dirty="0">
                <a:latin typeface="Calibri"/>
                <a:cs typeface="Calibri"/>
              </a:rPr>
              <a:t> </a:t>
            </a:r>
            <a:r>
              <a:rPr sz="2000" dirty="0">
                <a:latin typeface="Calibri"/>
                <a:cs typeface="Calibri"/>
              </a:rPr>
              <a:t>ordinary</a:t>
            </a:r>
            <a:r>
              <a:rPr sz="2000" spc="-65" dirty="0">
                <a:latin typeface="Calibri"/>
                <a:cs typeface="Calibri"/>
              </a:rPr>
              <a:t> </a:t>
            </a:r>
            <a:r>
              <a:rPr sz="2000" dirty="0">
                <a:solidFill>
                  <a:srgbClr val="E36C09"/>
                </a:solidFill>
                <a:latin typeface="Calibri"/>
                <a:cs typeface="Calibri"/>
              </a:rPr>
              <a:t>XML</a:t>
            </a:r>
            <a:r>
              <a:rPr sz="2000" spc="-35" dirty="0">
                <a:solidFill>
                  <a:srgbClr val="E36C09"/>
                </a:solidFill>
                <a:latin typeface="Calibri"/>
                <a:cs typeface="Calibri"/>
              </a:rPr>
              <a:t> </a:t>
            </a:r>
            <a:r>
              <a:rPr sz="2000" dirty="0">
                <a:latin typeface="Calibri"/>
                <a:cs typeface="Calibri"/>
              </a:rPr>
              <a:t>document</a:t>
            </a:r>
            <a:r>
              <a:rPr sz="2000" spc="-40" dirty="0">
                <a:latin typeface="Calibri"/>
                <a:cs typeface="Calibri"/>
              </a:rPr>
              <a:t> </a:t>
            </a:r>
            <a:r>
              <a:rPr sz="2000" spc="-10" dirty="0">
                <a:latin typeface="Calibri"/>
                <a:cs typeface="Calibri"/>
              </a:rPr>
              <a:t>containing</a:t>
            </a:r>
            <a:r>
              <a:rPr sz="2000" spc="-50"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following</a:t>
            </a:r>
            <a:endParaRPr sz="2000">
              <a:latin typeface="Calibri"/>
              <a:cs typeface="Calibri"/>
            </a:endParaRPr>
          </a:p>
          <a:p>
            <a:pPr marL="355600">
              <a:lnSpc>
                <a:spcPts val="2280"/>
              </a:lnSpc>
            </a:pPr>
            <a:r>
              <a:rPr sz="2000" spc="-10" dirty="0">
                <a:latin typeface="Calibri"/>
                <a:cs typeface="Calibri"/>
              </a:rPr>
              <a:t>elements:</a:t>
            </a:r>
            <a:endParaRPr sz="2000">
              <a:latin typeface="Calibri"/>
              <a:cs typeface="Calibri"/>
            </a:endParaRPr>
          </a:p>
          <a:p>
            <a:pPr marL="756285" marR="504190" lvl="1" indent="-287020">
              <a:lnSpc>
                <a:spcPts val="2050"/>
              </a:lnSpc>
              <a:spcBef>
                <a:spcPts val="495"/>
              </a:spcBef>
              <a:buFont typeface="Arial"/>
              <a:buChar char="–"/>
              <a:tabLst>
                <a:tab pos="756285" algn="l"/>
              </a:tabLst>
            </a:pPr>
            <a:r>
              <a:rPr sz="1900" dirty="0">
                <a:latin typeface="Calibri"/>
                <a:cs typeface="Calibri"/>
              </a:rPr>
              <a:t>An</a:t>
            </a:r>
            <a:r>
              <a:rPr sz="1900" spc="-50" dirty="0">
                <a:latin typeface="Calibri"/>
                <a:cs typeface="Calibri"/>
              </a:rPr>
              <a:t> </a:t>
            </a:r>
            <a:r>
              <a:rPr sz="1900" spc="-10" dirty="0">
                <a:solidFill>
                  <a:srgbClr val="E36C09"/>
                </a:solidFill>
                <a:latin typeface="Calibri"/>
                <a:cs typeface="Calibri"/>
              </a:rPr>
              <a:t>Envelope</a:t>
            </a:r>
            <a:r>
              <a:rPr sz="1900" spc="-15" dirty="0">
                <a:solidFill>
                  <a:srgbClr val="E36C09"/>
                </a:solidFill>
                <a:latin typeface="Calibri"/>
                <a:cs typeface="Calibri"/>
              </a:rPr>
              <a:t> </a:t>
            </a:r>
            <a:r>
              <a:rPr sz="1900" dirty="0">
                <a:solidFill>
                  <a:srgbClr val="E36C09"/>
                </a:solidFill>
                <a:latin typeface="Calibri"/>
                <a:cs typeface="Calibri"/>
              </a:rPr>
              <a:t>element</a:t>
            </a:r>
            <a:r>
              <a:rPr sz="1900" spc="-25" dirty="0">
                <a:solidFill>
                  <a:srgbClr val="E36C09"/>
                </a:solidFill>
                <a:latin typeface="Calibri"/>
                <a:cs typeface="Calibri"/>
              </a:rPr>
              <a:t> </a:t>
            </a:r>
            <a:r>
              <a:rPr sz="1900" dirty="0">
                <a:latin typeface="Calibri"/>
                <a:cs typeface="Calibri"/>
              </a:rPr>
              <a:t>that</a:t>
            </a:r>
            <a:r>
              <a:rPr sz="1900" spc="-55" dirty="0">
                <a:latin typeface="Calibri"/>
                <a:cs typeface="Calibri"/>
              </a:rPr>
              <a:t> </a:t>
            </a:r>
            <a:r>
              <a:rPr sz="1900" dirty="0">
                <a:latin typeface="Calibri"/>
                <a:cs typeface="Calibri"/>
              </a:rPr>
              <a:t>identifies</a:t>
            </a:r>
            <a:r>
              <a:rPr sz="1900" spc="-35" dirty="0">
                <a:latin typeface="Calibri"/>
                <a:cs typeface="Calibri"/>
              </a:rPr>
              <a:t> </a:t>
            </a:r>
            <a:r>
              <a:rPr sz="1900" dirty="0">
                <a:latin typeface="Calibri"/>
                <a:cs typeface="Calibri"/>
              </a:rPr>
              <a:t>the</a:t>
            </a:r>
            <a:r>
              <a:rPr sz="1900" spc="-45" dirty="0">
                <a:latin typeface="Calibri"/>
                <a:cs typeface="Calibri"/>
              </a:rPr>
              <a:t> </a:t>
            </a:r>
            <a:r>
              <a:rPr sz="1900" dirty="0">
                <a:latin typeface="Calibri"/>
                <a:cs typeface="Calibri"/>
              </a:rPr>
              <a:t>XML</a:t>
            </a:r>
            <a:r>
              <a:rPr sz="1900" spc="-40" dirty="0">
                <a:latin typeface="Calibri"/>
                <a:cs typeface="Calibri"/>
              </a:rPr>
              <a:t> </a:t>
            </a:r>
            <a:r>
              <a:rPr sz="1900" spc="-10" dirty="0">
                <a:latin typeface="Calibri"/>
                <a:cs typeface="Calibri"/>
              </a:rPr>
              <a:t>document</a:t>
            </a:r>
            <a:r>
              <a:rPr sz="1900" spc="-50" dirty="0">
                <a:latin typeface="Calibri"/>
                <a:cs typeface="Calibri"/>
              </a:rPr>
              <a:t> </a:t>
            </a:r>
            <a:r>
              <a:rPr sz="1900" dirty="0">
                <a:latin typeface="Calibri"/>
                <a:cs typeface="Calibri"/>
              </a:rPr>
              <a:t>as</a:t>
            </a:r>
            <a:r>
              <a:rPr sz="1900" spc="-60" dirty="0">
                <a:latin typeface="Calibri"/>
                <a:cs typeface="Calibri"/>
              </a:rPr>
              <a:t> </a:t>
            </a:r>
            <a:r>
              <a:rPr sz="1900" dirty="0">
                <a:latin typeface="Calibri"/>
                <a:cs typeface="Calibri"/>
              </a:rPr>
              <a:t>a</a:t>
            </a:r>
            <a:r>
              <a:rPr sz="1900" spc="-45" dirty="0">
                <a:latin typeface="Calibri"/>
                <a:cs typeface="Calibri"/>
              </a:rPr>
              <a:t> </a:t>
            </a:r>
            <a:r>
              <a:rPr sz="1900" spc="-20" dirty="0">
                <a:latin typeface="Calibri"/>
                <a:cs typeface="Calibri"/>
              </a:rPr>
              <a:t>SOAP </a:t>
            </a:r>
            <a:r>
              <a:rPr sz="1900" spc="-10" dirty="0">
                <a:latin typeface="Calibri"/>
                <a:cs typeface="Calibri"/>
              </a:rPr>
              <a:t>message</a:t>
            </a:r>
            <a:endParaRPr sz="1900">
              <a:latin typeface="Calibri"/>
              <a:cs typeface="Calibri"/>
            </a:endParaRPr>
          </a:p>
          <a:p>
            <a:pPr marL="756285" lvl="1" indent="-286385">
              <a:spcBef>
                <a:spcPts val="200"/>
              </a:spcBef>
              <a:buFont typeface="Arial"/>
              <a:buChar char="–"/>
              <a:tabLst>
                <a:tab pos="756285" algn="l"/>
              </a:tabLst>
            </a:pPr>
            <a:r>
              <a:rPr sz="1900" dirty="0">
                <a:latin typeface="Calibri"/>
                <a:cs typeface="Calibri"/>
              </a:rPr>
              <a:t>A</a:t>
            </a:r>
            <a:r>
              <a:rPr sz="1900" spc="-55" dirty="0">
                <a:latin typeface="Calibri"/>
                <a:cs typeface="Calibri"/>
              </a:rPr>
              <a:t> </a:t>
            </a:r>
            <a:r>
              <a:rPr sz="1900" dirty="0">
                <a:solidFill>
                  <a:srgbClr val="E36C09"/>
                </a:solidFill>
                <a:latin typeface="Calibri"/>
                <a:cs typeface="Calibri"/>
              </a:rPr>
              <a:t>Header</a:t>
            </a:r>
            <a:r>
              <a:rPr sz="1900" spc="-45" dirty="0">
                <a:solidFill>
                  <a:srgbClr val="E36C09"/>
                </a:solidFill>
                <a:latin typeface="Calibri"/>
                <a:cs typeface="Calibri"/>
              </a:rPr>
              <a:t> </a:t>
            </a:r>
            <a:r>
              <a:rPr sz="1900" dirty="0">
                <a:solidFill>
                  <a:srgbClr val="E36C09"/>
                </a:solidFill>
                <a:latin typeface="Calibri"/>
                <a:cs typeface="Calibri"/>
              </a:rPr>
              <a:t>element</a:t>
            </a:r>
            <a:r>
              <a:rPr sz="1900" spc="-25" dirty="0">
                <a:solidFill>
                  <a:srgbClr val="E36C09"/>
                </a:solidFill>
                <a:latin typeface="Calibri"/>
                <a:cs typeface="Calibri"/>
              </a:rPr>
              <a:t> </a:t>
            </a:r>
            <a:r>
              <a:rPr sz="1900" dirty="0">
                <a:latin typeface="Calibri"/>
                <a:cs typeface="Calibri"/>
              </a:rPr>
              <a:t>that</a:t>
            </a:r>
            <a:r>
              <a:rPr sz="1900" spc="-60" dirty="0">
                <a:latin typeface="Calibri"/>
                <a:cs typeface="Calibri"/>
              </a:rPr>
              <a:t> </a:t>
            </a:r>
            <a:r>
              <a:rPr sz="1900" spc="-10" dirty="0">
                <a:latin typeface="Calibri"/>
                <a:cs typeface="Calibri"/>
              </a:rPr>
              <a:t>contains</a:t>
            </a:r>
            <a:r>
              <a:rPr sz="1900" spc="-50" dirty="0">
                <a:latin typeface="Calibri"/>
                <a:cs typeface="Calibri"/>
              </a:rPr>
              <a:t> </a:t>
            </a:r>
            <a:r>
              <a:rPr sz="1900" dirty="0">
                <a:latin typeface="Calibri"/>
                <a:cs typeface="Calibri"/>
              </a:rPr>
              <a:t>header</a:t>
            </a:r>
            <a:r>
              <a:rPr sz="1900" spc="-40" dirty="0">
                <a:latin typeface="Calibri"/>
                <a:cs typeface="Calibri"/>
              </a:rPr>
              <a:t> </a:t>
            </a:r>
            <a:r>
              <a:rPr sz="1900" spc="-10" dirty="0">
                <a:latin typeface="Calibri"/>
                <a:cs typeface="Calibri"/>
              </a:rPr>
              <a:t>information</a:t>
            </a:r>
            <a:endParaRPr sz="1900">
              <a:latin typeface="Calibri"/>
              <a:cs typeface="Calibri"/>
            </a:endParaRPr>
          </a:p>
          <a:p>
            <a:pPr marL="1155700" marR="111125" lvl="2" indent="-228600">
              <a:lnSpc>
                <a:spcPts val="2380"/>
              </a:lnSpc>
              <a:spcBef>
                <a:spcPts val="550"/>
              </a:spcBef>
              <a:buFont typeface="Arial"/>
              <a:buChar char="•"/>
              <a:tabLst>
                <a:tab pos="1155700" algn="l"/>
              </a:tabLst>
            </a:pPr>
            <a:r>
              <a:rPr sz="2200" dirty="0">
                <a:latin typeface="Calibri"/>
                <a:cs typeface="Calibri"/>
              </a:rPr>
              <a:t>contains</a:t>
            </a:r>
            <a:r>
              <a:rPr sz="2200" spc="-35" dirty="0">
                <a:latin typeface="Calibri"/>
                <a:cs typeface="Calibri"/>
              </a:rPr>
              <a:t> </a:t>
            </a:r>
            <a:r>
              <a:rPr sz="2200" spc="-10" dirty="0">
                <a:latin typeface="Calibri"/>
                <a:cs typeface="Calibri"/>
              </a:rPr>
              <a:t>application-</a:t>
            </a:r>
            <a:r>
              <a:rPr sz="2200" dirty="0">
                <a:latin typeface="Calibri"/>
                <a:cs typeface="Calibri"/>
              </a:rPr>
              <a:t>specific</a:t>
            </a:r>
            <a:r>
              <a:rPr sz="2200" spc="-45" dirty="0">
                <a:latin typeface="Calibri"/>
                <a:cs typeface="Calibri"/>
              </a:rPr>
              <a:t> </a:t>
            </a:r>
            <a:r>
              <a:rPr sz="2200" spc="-10" dirty="0">
                <a:latin typeface="Calibri"/>
                <a:cs typeface="Calibri"/>
              </a:rPr>
              <a:t>information</a:t>
            </a:r>
            <a:r>
              <a:rPr sz="2200" spc="-40" dirty="0">
                <a:latin typeface="Calibri"/>
                <a:cs typeface="Calibri"/>
              </a:rPr>
              <a:t> </a:t>
            </a:r>
            <a:r>
              <a:rPr sz="2200" dirty="0">
                <a:latin typeface="Calibri"/>
                <a:cs typeface="Calibri"/>
              </a:rPr>
              <a:t>about</a:t>
            </a:r>
            <a:r>
              <a:rPr sz="2200" spc="-40" dirty="0">
                <a:latin typeface="Calibri"/>
                <a:cs typeface="Calibri"/>
              </a:rPr>
              <a:t> </a:t>
            </a:r>
            <a:r>
              <a:rPr sz="2200" dirty="0">
                <a:latin typeface="Calibri"/>
                <a:cs typeface="Calibri"/>
              </a:rPr>
              <a:t>the</a:t>
            </a:r>
            <a:r>
              <a:rPr sz="2200" spc="-35" dirty="0">
                <a:latin typeface="Calibri"/>
                <a:cs typeface="Calibri"/>
              </a:rPr>
              <a:t> </a:t>
            </a:r>
            <a:r>
              <a:rPr sz="2200" spc="-20" dirty="0">
                <a:latin typeface="Calibri"/>
                <a:cs typeface="Calibri"/>
              </a:rPr>
              <a:t>SOAP </a:t>
            </a:r>
            <a:r>
              <a:rPr sz="2200" spc="-10" dirty="0">
                <a:latin typeface="Calibri"/>
                <a:cs typeface="Calibri"/>
              </a:rPr>
              <a:t>message</a:t>
            </a:r>
            <a:endParaRPr sz="2200">
              <a:latin typeface="Calibri"/>
              <a:cs typeface="Calibri"/>
            </a:endParaRPr>
          </a:p>
          <a:p>
            <a:pPr marL="1611630" lvl="3" indent="-227329">
              <a:spcBef>
                <a:spcPts val="200"/>
              </a:spcBef>
              <a:buFont typeface="Arial"/>
              <a:buChar char="–"/>
              <a:tabLst>
                <a:tab pos="1611630" algn="l"/>
              </a:tabLst>
            </a:pPr>
            <a:r>
              <a:rPr sz="1900" spc="-10" dirty="0">
                <a:latin typeface="Calibri"/>
                <a:cs typeface="Calibri"/>
              </a:rPr>
              <a:t>optional</a:t>
            </a:r>
            <a:endParaRPr sz="1900">
              <a:latin typeface="Calibri"/>
              <a:cs typeface="Calibri"/>
            </a:endParaRPr>
          </a:p>
          <a:p>
            <a:pPr marL="1612265" lvl="3" indent="-227965">
              <a:spcBef>
                <a:spcPts val="225"/>
              </a:spcBef>
              <a:buFont typeface="Arial"/>
              <a:buChar char="–"/>
              <a:tabLst>
                <a:tab pos="1612265" algn="l"/>
              </a:tabLst>
            </a:pPr>
            <a:r>
              <a:rPr sz="1900" dirty="0">
                <a:latin typeface="Calibri"/>
                <a:cs typeface="Calibri"/>
              </a:rPr>
              <a:t>must</a:t>
            </a:r>
            <a:r>
              <a:rPr sz="1900" spc="-55" dirty="0">
                <a:latin typeface="Calibri"/>
                <a:cs typeface="Calibri"/>
              </a:rPr>
              <a:t> </a:t>
            </a:r>
            <a:r>
              <a:rPr sz="1900" dirty="0">
                <a:latin typeface="Calibri"/>
                <a:cs typeface="Calibri"/>
              </a:rPr>
              <a:t>be</a:t>
            </a:r>
            <a:r>
              <a:rPr sz="1900" spc="-50" dirty="0">
                <a:latin typeface="Calibri"/>
                <a:cs typeface="Calibri"/>
              </a:rPr>
              <a:t> </a:t>
            </a:r>
            <a:r>
              <a:rPr sz="1900" dirty="0">
                <a:latin typeface="Calibri"/>
                <a:cs typeface="Calibri"/>
              </a:rPr>
              <a:t>the</a:t>
            </a:r>
            <a:r>
              <a:rPr sz="1900" spc="-40" dirty="0">
                <a:latin typeface="Calibri"/>
                <a:cs typeface="Calibri"/>
              </a:rPr>
              <a:t> </a:t>
            </a:r>
            <a:r>
              <a:rPr sz="1900" dirty="0">
                <a:latin typeface="Calibri"/>
                <a:cs typeface="Calibri"/>
              </a:rPr>
              <a:t>first</a:t>
            </a:r>
            <a:r>
              <a:rPr sz="1900" spc="-50" dirty="0">
                <a:latin typeface="Calibri"/>
                <a:cs typeface="Calibri"/>
              </a:rPr>
              <a:t> </a:t>
            </a:r>
            <a:r>
              <a:rPr sz="1900" dirty="0">
                <a:latin typeface="Calibri"/>
                <a:cs typeface="Calibri"/>
              </a:rPr>
              <a:t>child</a:t>
            </a:r>
            <a:r>
              <a:rPr sz="1900" spc="-55" dirty="0">
                <a:latin typeface="Calibri"/>
                <a:cs typeface="Calibri"/>
              </a:rPr>
              <a:t> </a:t>
            </a:r>
            <a:r>
              <a:rPr sz="1900" dirty="0">
                <a:latin typeface="Calibri"/>
                <a:cs typeface="Calibri"/>
              </a:rPr>
              <a:t>element</a:t>
            </a:r>
            <a:r>
              <a:rPr sz="1900" spc="-40" dirty="0">
                <a:latin typeface="Calibri"/>
                <a:cs typeface="Calibri"/>
              </a:rPr>
              <a:t> </a:t>
            </a:r>
            <a:r>
              <a:rPr sz="1900" dirty="0">
                <a:latin typeface="Calibri"/>
                <a:cs typeface="Calibri"/>
              </a:rPr>
              <a:t>of</a:t>
            </a:r>
            <a:r>
              <a:rPr sz="1900" spc="-65" dirty="0">
                <a:latin typeface="Calibri"/>
                <a:cs typeface="Calibri"/>
              </a:rPr>
              <a:t> </a:t>
            </a:r>
            <a:r>
              <a:rPr sz="1900" dirty="0">
                <a:latin typeface="Calibri"/>
                <a:cs typeface="Calibri"/>
              </a:rPr>
              <a:t>the</a:t>
            </a:r>
            <a:r>
              <a:rPr sz="1900" spc="-50" dirty="0">
                <a:latin typeface="Calibri"/>
                <a:cs typeface="Calibri"/>
              </a:rPr>
              <a:t> </a:t>
            </a:r>
            <a:r>
              <a:rPr sz="1900" spc="-10" dirty="0">
                <a:latin typeface="Calibri"/>
                <a:cs typeface="Calibri"/>
              </a:rPr>
              <a:t>Envelope element</a:t>
            </a:r>
            <a:endParaRPr sz="1900">
              <a:latin typeface="Calibri"/>
              <a:cs typeface="Calibri"/>
            </a:endParaRPr>
          </a:p>
          <a:p>
            <a:pPr marL="756285" lvl="1" indent="-286385">
              <a:spcBef>
                <a:spcPts val="229"/>
              </a:spcBef>
              <a:buFont typeface="Arial"/>
              <a:buChar char="–"/>
              <a:tabLst>
                <a:tab pos="756285" algn="l"/>
              </a:tabLst>
            </a:pPr>
            <a:r>
              <a:rPr sz="1900" dirty="0">
                <a:latin typeface="Calibri"/>
                <a:cs typeface="Calibri"/>
              </a:rPr>
              <a:t>A</a:t>
            </a:r>
            <a:r>
              <a:rPr sz="1900" spc="-60" dirty="0">
                <a:latin typeface="Calibri"/>
                <a:cs typeface="Calibri"/>
              </a:rPr>
              <a:t> </a:t>
            </a:r>
            <a:r>
              <a:rPr sz="1900" dirty="0">
                <a:solidFill>
                  <a:srgbClr val="E36C09"/>
                </a:solidFill>
                <a:latin typeface="Calibri"/>
                <a:cs typeface="Calibri"/>
              </a:rPr>
              <a:t>Body</a:t>
            </a:r>
            <a:r>
              <a:rPr sz="1900" spc="-50" dirty="0">
                <a:solidFill>
                  <a:srgbClr val="E36C09"/>
                </a:solidFill>
                <a:latin typeface="Calibri"/>
                <a:cs typeface="Calibri"/>
              </a:rPr>
              <a:t> </a:t>
            </a:r>
            <a:r>
              <a:rPr sz="1900" dirty="0">
                <a:solidFill>
                  <a:srgbClr val="E36C09"/>
                </a:solidFill>
                <a:latin typeface="Calibri"/>
                <a:cs typeface="Calibri"/>
              </a:rPr>
              <a:t>element</a:t>
            </a:r>
            <a:r>
              <a:rPr sz="1900" spc="-30" dirty="0">
                <a:solidFill>
                  <a:srgbClr val="E36C09"/>
                </a:solidFill>
                <a:latin typeface="Calibri"/>
                <a:cs typeface="Calibri"/>
              </a:rPr>
              <a:t> </a:t>
            </a:r>
            <a:r>
              <a:rPr sz="1900" dirty="0">
                <a:latin typeface="Calibri"/>
                <a:cs typeface="Calibri"/>
              </a:rPr>
              <a:t>that</a:t>
            </a:r>
            <a:r>
              <a:rPr sz="1900" spc="-55" dirty="0">
                <a:latin typeface="Calibri"/>
                <a:cs typeface="Calibri"/>
              </a:rPr>
              <a:t> </a:t>
            </a:r>
            <a:r>
              <a:rPr sz="1900" spc="-10" dirty="0">
                <a:latin typeface="Calibri"/>
                <a:cs typeface="Calibri"/>
              </a:rPr>
              <a:t>contains</a:t>
            </a:r>
            <a:r>
              <a:rPr sz="1900" spc="-55" dirty="0">
                <a:latin typeface="Calibri"/>
                <a:cs typeface="Calibri"/>
              </a:rPr>
              <a:t> </a:t>
            </a:r>
            <a:r>
              <a:rPr sz="1900" dirty="0">
                <a:latin typeface="Calibri"/>
                <a:cs typeface="Calibri"/>
              </a:rPr>
              <a:t>call</a:t>
            </a:r>
            <a:r>
              <a:rPr sz="1900" spc="-55" dirty="0">
                <a:latin typeface="Calibri"/>
                <a:cs typeface="Calibri"/>
              </a:rPr>
              <a:t> </a:t>
            </a:r>
            <a:r>
              <a:rPr sz="1900" dirty="0">
                <a:latin typeface="Calibri"/>
                <a:cs typeface="Calibri"/>
              </a:rPr>
              <a:t>and</a:t>
            </a:r>
            <a:r>
              <a:rPr sz="1900" spc="-50" dirty="0">
                <a:latin typeface="Calibri"/>
                <a:cs typeface="Calibri"/>
              </a:rPr>
              <a:t> </a:t>
            </a:r>
            <a:r>
              <a:rPr sz="1900" dirty="0">
                <a:latin typeface="Calibri"/>
                <a:cs typeface="Calibri"/>
              </a:rPr>
              <a:t>response</a:t>
            </a:r>
            <a:r>
              <a:rPr sz="1900" spc="-50" dirty="0">
                <a:latin typeface="Calibri"/>
                <a:cs typeface="Calibri"/>
              </a:rPr>
              <a:t> </a:t>
            </a:r>
            <a:r>
              <a:rPr sz="1900" spc="-10" dirty="0">
                <a:latin typeface="Calibri"/>
                <a:cs typeface="Calibri"/>
              </a:rPr>
              <a:t>information</a:t>
            </a:r>
            <a:endParaRPr sz="1900">
              <a:latin typeface="Calibri"/>
              <a:cs typeface="Calibri"/>
            </a:endParaRPr>
          </a:p>
          <a:p>
            <a:pPr marL="756285" lvl="1" indent="-286385">
              <a:spcBef>
                <a:spcPts val="229"/>
              </a:spcBef>
              <a:buFont typeface="Arial"/>
              <a:buChar char="–"/>
              <a:tabLst>
                <a:tab pos="756285" algn="l"/>
              </a:tabLst>
            </a:pPr>
            <a:r>
              <a:rPr sz="1900" dirty="0">
                <a:latin typeface="Calibri"/>
                <a:cs typeface="Calibri"/>
              </a:rPr>
              <a:t>A</a:t>
            </a:r>
            <a:r>
              <a:rPr sz="1900" spc="-70" dirty="0">
                <a:latin typeface="Calibri"/>
                <a:cs typeface="Calibri"/>
              </a:rPr>
              <a:t> </a:t>
            </a:r>
            <a:r>
              <a:rPr sz="1900" dirty="0">
                <a:solidFill>
                  <a:srgbClr val="E36C09"/>
                </a:solidFill>
                <a:latin typeface="Calibri"/>
                <a:cs typeface="Calibri"/>
              </a:rPr>
              <a:t>Fault</a:t>
            </a:r>
            <a:r>
              <a:rPr sz="1900" spc="-55" dirty="0">
                <a:solidFill>
                  <a:srgbClr val="E36C09"/>
                </a:solidFill>
                <a:latin typeface="Calibri"/>
                <a:cs typeface="Calibri"/>
              </a:rPr>
              <a:t> </a:t>
            </a:r>
            <a:r>
              <a:rPr sz="1900" dirty="0">
                <a:solidFill>
                  <a:srgbClr val="E36C09"/>
                </a:solidFill>
                <a:latin typeface="Calibri"/>
                <a:cs typeface="Calibri"/>
              </a:rPr>
              <a:t>element</a:t>
            </a:r>
            <a:r>
              <a:rPr sz="1900" spc="-35" dirty="0">
                <a:solidFill>
                  <a:srgbClr val="E36C09"/>
                </a:solidFill>
                <a:latin typeface="Calibri"/>
                <a:cs typeface="Calibri"/>
              </a:rPr>
              <a:t> </a:t>
            </a:r>
            <a:r>
              <a:rPr sz="1900" spc="-10" dirty="0">
                <a:latin typeface="Calibri"/>
                <a:cs typeface="Calibri"/>
              </a:rPr>
              <a:t>containing</a:t>
            </a:r>
            <a:r>
              <a:rPr sz="1900" spc="-45" dirty="0">
                <a:latin typeface="Calibri"/>
                <a:cs typeface="Calibri"/>
              </a:rPr>
              <a:t> </a:t>
            </a:r>
            <a:r>
              <a:rPr sz="1900" spc="-10" dirty="0">
                <a:latin typeface="Calibri"/>
                <a:cs typeface="Calibri"/>
              </a:rPr>
              <a:t>errors</a:t>
            </a:r>
            <a:r>
              <a:rPr sz="1900" spc="-40" dirty="0">
                <a:latin typeface="Calibri"/>
                <a:cs typeface="Calibri"/>
              </a:rPr>
              <a:t> </a:t>
            </a:r>
            <a:r>
              <a:rPr sz="1900" dirty="0">
                <a:latin typeface="Calibri"/>
                <a:cs typeface="Calibri"/>
              </a:rPr>
              <a:t>and</a:t>
            </a:r>
            <a:r>
              <a:rPr sz="1900" spc="-55" dirty="0">
                <a:latin typeface="Calibri"/>
                <a:cs typeface="Calibri"/>
              </a:rPr>
              <a:t> </a:t>
            </a:r>
            <a:r>
              <a:rPr sz="1900" spc="-10" dirty="0">
                <a:latin typeface="Calibri"/>
                <a:cs typeface="Calibri"/>
              </a:rPr>
              <a:t>status</a:t>
            </a:r>
            <a:r>
              <a:rPr sz="1900" spc="-55" dirty="0">
                <a:latin typeface="Calibri"/>
                <a:cs typeface="Calibri"/>
              </a:rPr>
              <a:t> </a:t>
            </a:r>
            <a:r>
              <a:rPr sz="1900" spc="-10" dirty="0">
                <a:latin typeface="Calibri"/>
                <a:cs typeface="Calibri"/>
              </a:rPr>
              <a:t>information</a:t>
            </a:r>
            <a:endParaRPr sz="1900">
              <a:latin typeface="Calibri"/>
              <a:cs typeface="Calibri"/>
            </a:endParaRPr>
          </a:p>
        </p:txBody>
      </p:sp>
      <p:pic>
        <p:nvPicPr>
          <p:cNvPr id="4" name="object 4"/>
          <p:cNvPicPr/>
          <p:nvPr/>
        </p:nvPicPr>
        <p:blipFill>
          <a:blip r:embed="rId3" cstate="print"/>
          <a:stretch>
            <a:fillRect/>
          </a:stretch>
        </p:blipFill>
        <p:spPr>
          <a:xfrm>
            <a:off x="8610600" y="568451"/>
            <a:ext cx="1828800" cy="1905000"/>
          </a:xfrm>
          <a:prstGeom prst="rect">
            <a:avLst/>
          </a:prstGeom>
        </p:spPr>
      </p:pic>
      <p:sp>
        <p:nvSpPr>
          <p:cNvPr id="5" name="object 5"/>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48</a:t>
            </a:r>
            <a:endParaRPr sz="1200">
              <a:latin typeface="Arial"/>
              <a:cs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59829"/>
            <a:ext cx="10515600" cy="936154"/>
          </a:xfrm>
          <a:prstGeom prst="rect">
            <a:avLst/>
          </a:prstGeom>
        </p:spPr>
        <p:txBody>
          <a:bodyPr vert="horz" wrap="square" lIns="0" tIns="256540" rIns="0" bIns="0" rtlCol="0" anchor="ctr">
            <a:spAutoFit/>
          </a:bodyPr>
          <a:lstStyle/>
          <a:p>
            <a:pPr marL="3235960">
              <a:lnSpc>
                <a:spcPct val="100000"/>
              </a:lnSpc>
              <a:spcBef>
                <a:spcPts val="105"/>
              </a:spcBef>
            </a:pPr>
            <a:r>
              <a:rPr spc="-20" dirty="0"/>
              <a:t>REST</a:t>
            </a:r>
          </a:p>
        </p:txBody>
      </p:sp>
      <p:sp>
        <p:nvSpPr>
          <p:cNvPr id="3" name="object 3"/>
          <p:cNvSpPr txBox="1"/>
          <p:nvPr/>
        </p:nvSpPr>
        <p:spPr>
          <a:xfrm>
            <a:off x="2059941" y="1549622"/>
            <a:ext cx="7891145" cy="3032760"/>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spc="-10" dirty="0">
                <a:solidFill>
                  <a:srgbClr val="E36C09"/>
                </a:solidFill>
                <a:latin typeface="Calibri"/>
                <a:cs typeface="Calibri"/>
              </a:rPr>
              <a:t>Representational</a:t>
            </a:r>
            <a:r>
              <a:rPr sz="2200" spc="-75" dirty="0">
                <a:solidFill>
                  <a:srgbClr val="E36C09"/>
                </a:solidFill>
                <a:latin typeface="Calibri"/>
                <a:cs typeface="Calibri"/>
              </a:rPr>
              <a:t> </a:t>
            </a:r>
            <a:r>
              <a:rPr sz="2200" dirty="0">
                <a:solidFill>
                  <a:srgbClr val="E36C09"/>
                </a:solidFill>
                <a:latin typeface="Calibri"/>
                <a:cs typeface="Calibri"/>
              </a:rPr>
              <a:t>State</a:t>
            </a:r>
            <a:r>
              <a:rPr sz="2200" spc="-45" dirty="0">
                <a:solidFill>
                  <a:srgbClr val="E36C09"/>
                </a:solidFill>
                <a:latin typeface="Calibri"/>
                <a:cs typeface="Calibri"/>
              </a:rPr>
              <a:t> </a:t>
            </a:r>
            <a:r>
              <a:rPr sz="2200" spc="-30" dirty="0">
                <a:solidFill>
                  <a:srgbClr val="E36C09"/>
                </a:solidFill>
                <a:latin typeface="Calibri"/>
                <a:cs typeface="Calibri"/>
              </a:rPr>
              <a:t>Transfer</a:t>
            </a:r>
            <a:r>
              <a:rPr sz="2200" spc="-70" dirty="0">
                <a:solidFill>
                  <a:srgbClr val="E36C09"/>
                </a:solidFill>
                <a:latin typeface="Calibri"/>
                <a:cs typeface="Calibri"/>
              </a:rPr>
              <a:t> </a:t>
            </a:r>
            <a:r>
              <a:rPr sz="2200" spc="-10" dirty="0">
                <a:solidFill>
                  <a:srgbClr val="E36C09"/>
                </a:solidFill>
                <a:latin typeface="Calibri"/>
                <a:cs typeface="Calibri"/>
              </a:rPr>
              <a:t>(REST)</a:t>
            </a:r>
            <a:endParaRPr sz="2200">
              <a:latin typeface="Calibri"/>
              <a:cs typeface="Calibri"/>
            </a:endParaRPr>
          </a:p>
          <a:p>
            <a:pPr marL="756285" lvl="1" indent="-286385">
              <a:spcBef>
                <a:spcPts val="490"/>
              </a:spcBef>
              <a:buFont typeface="Arial"/>
              <a:buChar char="–"/>
              <a:tabLst>
                <a:tab pos="756285" algn="l"/>
              </a:tabLst>
            </a:pPr>
            <a:r>
              <a:rPr sz="2000" dirty="0">
                <a:latin typeface="Calibri"/>
                <a:cs typeface="Calibri"/>
              </a:rPr>
              <a:t>Use</a:t>
            </a:r>
            <a:r>
              <a:rPr sz="2000" spc="-45" dirty="0">
                <a:latin typeface="Calibri"/>
                <a:cs typeface="Calibri"/>
              </a:rPr>
              <a:t> </a:t>
            </a:r>
            <a:r>
              <a:rPr sz="2000" dirty="0">
                <a:solidFill>
                  <a:srgbClr val="E36C09"/>
                </a:solidFill>
                <a:latin typeface="Calibri"/>
                <a:cs typeface="Calibri"/>
              </a:rPr>
              <a:t>HTTP</a:t>
            </a:r>
            <a:r>
              <a:rPr sz="2000" spc="-45" dirty="0">
                <a:solidFill>
                  <a:srgbClr val="E36C09"/>
                </a:solidFill>
                <a:latin typeface="Calibri"/>
                <a:cs typeface="Calibri"/>
              </a:rPr>
              <a:t> </a:t>
            </a:r>
            <a:r>
              <a:rPr sz="2000" dirty="0">
                <a:solidFill>
                  <a:srgbClr val="E36C09"/>
                </a:solidFill>
                <a:latin typeface="Calibri"/>
                <a:cs typeface="Calibri"/>
              </a:rPr>
              <a:t>method</a:t>
            </a:r>
            <a:r>
              <a:rPr sz="2000" spc="-60" dirty="0">
                <a:solidFill>
                  <a:srgbClr val="E36C09"/>
                </a:solidFill>
                <a:latin typeface="Calibri"/>
                <a:cs typeface="Calibri"/>
              </a:rPr>
              <a:t> </a:t>
            </a:r>
            <a:r>
              <a:rPr sz="2000" dirty="0">
                <a:solidFill>
                  <a:srgbClr val="E36C09"/>
                </a:solidFill>
                <a:latin typeface="Calibri"/>
                <a:cs typeface="Calibri"/>
              </a:rPr>
              <a:t>to</a:t>
            </a:r>
            <a:r>
              <a:rPr sz="2000" spc="-60" dirty="0">
                <a:solidFill>
                  <a:srgbClr val="E36C09"/>
                </a:solidFill>
                <a:latin typeface="Calibri"/>
                <a:cs typeface="Calibri"/>
              </a:rPr>
              <a:t> </a:t>
            </a:r>
            <a:r>
              <a:rPr sz="2000" spc="-10" dirty="0">
                <a:solidFill>
                  <a:srgbClr val="E36C09"/>
                </a:solidFill>
                <a:latin typeface="Calibri"/>
                <a:cs typeface="Calibri"/>
              </a:rPr>
              <a:t>invoke</a:t>
            </a:r>
            <a:r>
              <a:rPr sz="2000" spc="-50" dirty="0">
                <a:solidFill>
                  <a:srgbClr val="E36C09"/>
                </a:solidFill>
                <a:latin typeface="Calibri"/>
                <a:cs typeface="Calibri"/>
              </a:rPr>
              <a:t> </a:t>
            </a:r>
            <a:r>
              <a:rPr sz="2000" dirty="0">
                <a:solidFill>
                  <a:srgbClr val="E36C09"/>
                </a:solidFill>
                <a:latin typeface="Calibri"/>
                <a:cs typeface="Calibri"/>
              </a:rPr>
              <a:t>remote</a:t>
            </a:r>
            <a:r>
              <a:rPr sz="2000" spc="-40" dirty="0">
                <a:solidFill>
                  <a:srgbClr val="E36C09"/>
                </a:solidFill>
                <a:latin typeface="Calibri"/>
                <a:cs typeface="Calibri"/>
              </a:rPr>
              <a:t> </a:t>
            </a:r>
            <a:r>
              <a:rPr sz="2000" dirty="0">
                <a:solidFill>
                  <a:srgbClr val="E36C09"/>
                </a:solidFill>
                <a:latin typeface="Calibri"/>
                <a:cs typeface="Calibri"/>
              </a:rPr>
              <a:t>services</a:t>
            </a:r>
            <a:r>
              <a:rPr sz="2000" spc="-30" dirty="0">
                <a:solidFill>
                  <a:srgbClr val="E36C09"/>
                </a:solidFill>
                <a:latin typeface="Calibri"/>
                <a:cs typeface="Calibri"/>
              </a:rPr>
              <a:t> </a:t>
            </a:r>
            <a:r>
              <a:rPr sz="2000" dirty="0">
                <a:latin typeface="Calibri"/>
                <a:cs typeface="Calibri"/>
              </a:rPr>
              <a:t>(not</a:t>
            </a:r>
            <a:r>
              <a:rPr sz="2000" spc="-60" dirty="0">
                <a:latin typeface="Calibri"/>
                <a:cs typeface="Calibri"/>
              </a:rPr>
              <a:t> </a:t>
            </a:r>
            <a:r>
              <a:rPr sz="2000" spc="-20" dirty="0">
                <a:latin typeface="Calibri"/>
                <a:cs typeface="Calibri"/>
              </a:rPr>
              <a:t>XML)</a:t>
            </a:r>
            <a:endParaRPr sz="2000">
              <a:latin typeface="Calibri"/>
              <a:cs typeface="Calibri"/>
            </a:endParaRPr>
          </a:p>
          <a:p>
            <a:pPr marL="354965" indent="-342265">
              <a:spcBef>
                <a:spcPts val="520"/>
              </a:spcBef>
              <a:buFont typeface="Arial"/>
              <a:buChar char="•"/>
              <a:tabLst>
                <a:tab pos="354965" algn="l"/>
              </a:tabLst>
            </a:pPr>
            <a:r>
              <a:rPr sz="2200" dirty="0">
                <a:latin typeface="Calibri"/>
                <a:cs typeface="Calibri"/>
              </a:rPr>
              <a:t>The</a:t>
            </a:r>
            <a:r>
              <a:rPr sz="2200" spc="-35" dirty="0">
                <a:latin typeface="Calibri"/>
                <a:cs typeface="Calibri"/>
              </a:rPr>
              <a:t> </a:t>
            </a:r>
            <a:r>
              <a:rPr sz="2200" dirty="0">
                <a:latin typeface="Calibri"/>
                <a:cs typeface="Calibri"/>
              </a:rPr>
              <a:t>response</a:t>
            </a:r>
            <a:r>
              <a:rPr sz="2200" spc="-50" dirty="0">
                <a:latin typeface="Calibri"/>
                <a:cs typeface="Calibri"/>
              </a:rPr>
              <a:t> </a:t>
            </a:r>
            <a:r>
              <a:rPr sz="2200" dirty="0">
                <a:latin typeface="Calibri"/>
                <a:cs typeface="Calibri"/>
              </a:rPr>
              <a:t>of</a:t>
            </a:r>
            <a:r>
              <a:rPr sz="2200" spc="-35" dirty="0">
                <a:latin typeface="Calibri"/>
                <a:cs typeface="Calibri"/>
              </a:rPr>
              <a:t> </a:t>
            </a:r>
            <a:r>
              <a:rPr sz="2200" dirty="0">
                <a:latin typeface="Calibri"/>
                <a:cs typeface="Calibri"/>
              </a:rPr>
              <a:t>remote</a:t>
            </a:r>
            <a:r>
              <a:rPr sz="2200" spc="-30" dirty="0">
                <a:latin typeface="Calibri"/>
                <a:cs typeface="Calibri"/>
              </a:rPr>
              <a:t> </a:t>
            </a:r>
            <a:r>
              <a:rPr sz="2200" dirty="0">
                <a:latin typeface="Calibri"/>
                <a:cs typeface="Calibri"/>
              </a:rPr>
              <a:t>service</a:t>
            </a:r>
            <a:r>
              <a:rPr sz="2200" spc="-40" dirty="0">
                <a:latin typeface="Calibri"/>
                <a:cs typeface="Calibri"/>
              </a:rPr>
              <a:t> </a:t>
            </a:r>
            <a:r>
              <a:rPr sz="2200" dirty="0">
                <a:latin typeface="Calibri"/>
                <a:cs typeface="Calibri"/>
              </a:rPr>
              <a:t>can</a:t>
            </a:r>
            <a:r>
              <a:rPr sz="2200" spc="-45" dirty="0">
                <a:latin typeface="Calibri"/>
                <a:cs typeface="Calibri"/>
              </a:rPr>
              <a:t> </a:t>
            </a:r>
            <a:r>
              <a:rPr sz="2200" dirty="0">
                <a:latin typeface="Calibri"/>
                <a:cs typeface="Calibri"/>
              </a:rPr>
              <a:t>be</a:t>
            </a:r>
            <a:r>
              <a:rPr sz="2200" spc="-50" dirty="0">
                <a:latin typeface="Calibri"/>
                <a:cs typeface="Calibri"/>
              </a:rPr>
              <a:t> </a:t>
            </a:r>
            <a:r>
              <a:rPr sz="2200" dirty="0">
                <a:latin typeface="Calibri"/>
                <a:cs typeface="Calibri"/>
              </a:rPr>
              <a:t>in</a:t>
            </a:r>
            <a:r>
              <a:rPr sz="2200" spc="-65" dirty="0">
                <a:latin typeface="Calibri"/>
                <a:cs typeface="Calibri"/>
              </a:rPr>
              <a:t> </a:t>
            </a:r>
            <a:r>
              <a:rPr sz="2200" dirty="0">
                <a:solidFill>
                  <a:srgbClr val="E36C09"/>
                </a:solidFill>
                <a:latin typeface="Calibri"/>
                <a:cs typeface="Calibri"/>
              </a:rPr>
              <a:t>XML/JSON</a:t>
            </a:r>
            <a:r>
              <a:rPr sz="2200" spc="-25" dirty="0">
                <a:solidFill>
                  <a:srgbClr val="E36C09"/>
                </a:solidFill>
                <a:latin typeface="Calibri"/>
                <a:cs typeface="Calibri"/>
              </a:rPr>
              <a:t> </a:t>
            </a:r>
            <a:r>
              <a:rPr sz="2200" dirty="0">
                <a:latin typeface="Calibri"/>
                <a:cs typeface="Calibri"/>
              </a:rPr>
              <a:t>or</a:t>
            </a:r>
            <a:r>
              <a:rPr sz="2200" spc="-50" dirty="0">
                <a:latin typeface="Calibri"/>
                <a:cs typeface="Calibri"/>
              </a:rPr>
              <a:t> </a:t>
            </a:r>
            <a:r>
              <a:rPr sz="2200" dirty="0">
                <a:latin typeface="Calibri"/>
                <a:cs typeface="Calibri"/>
              </a:rPr>
              <a:t>any</a:t>
            </a:r>
            <a:r>
              <a:rPr sz="2200" spc="-50" dirty="0">
                <a:latin typeface="Calibri"/>
                <a:cs typeface="Calibri"/>
              </a:rPr>
              <a:t> </a:t>
            </a:r>
            <a:r>
              <a:rPr sz="2200" spc="-10" dirty="0">
                <a:latin typeface="Calibri"/>
                <a:cs typeface="Calibri"/>
              </a:rPr>
              <a:t>textual</a:t>
            </a:r>
            <a:endParaRPr sz="2200">
              <a:latin typeface="Calibri"/>
              <a:cs typeface="Calibri"/>
            </a:endParaRPr>
          </a:p>
          <a:p>
            <a:pPr marL="355600"/>
            <a:r>
              <a:rPr sz="2200" spc="-10" dirty="0">
                <a:latin typeface="Calibri"/>
                <a:cs typeface="Calibri"/>
              </a:rPr>
              <a:t>format</a:t>
            </a:r>
            <a:endParaRPr sz="2200">
              <a:latin typeface="Calibri"/>
              <a:cs typeface="Calibri"/>
            </a:endParaRPr>
          </a:p>
          <a:p>
            <a:pPr marL="354965" indent="-342265">
              <a:spcBef>
                <a:spcPts val="530"/>
              </a:spcBef>
              <a:buFont typeface="Arial"/>
              <a:buChar char="•"/>
              <a:tabLst>
                <a:tab pos="354965" algn="l"/>
              </a:tabLst>
            </a:pPr>
            <a:r>
              <a:rPr sz="2200" spc="-10" dirty="0">
                <a:latin typeface="Calibri"/>
                <a:cs typeface="Calibri"/>
              </a:rPr>
              <a:t>Benefits:</a:t>
            </a:r>
            <a:endParaRPr sz="2200">
              <a:latin typeface="Calibri"/>
              <a:cs typeface="Calibri"/>
            </a:endParaRPr>
          </a:p>
          <a:p>
            <a:pPr marL="756285" lvl="1" indent="-286385">
              <a:spcBef>
                <a:spcPts val="484"/>
              </a:spcBef>
              <a:buFont typeface="Arial"/>
              <a:buChar char="–"/>
              <a:tabLst>
                <a:tab pos="756285" algn="l"/>
              </a:tabLst>
            </a:pPr>
            <a:r>
              <a:rPr sz="2000" dirty="0">
                <a:latin typeface="Calibri"/>
                <a:cs typeface="Calibri"/>
              </a:rPr>
              <a:t>Easy</a:t>
            </a:r>
            <a:r>
              <a:rPr sz="2000" spc="-75" dirty="0">
                <a:latin typeface="Calibri"/>
                <a:cs typeface="Calibri"/>
              </a:rPr>
              <a:t> </a:t>
            </a:r>
            <a:r>
              <a:rPr sz="2000" dirty="0">
                <a:latin typeface="Calibri"/>
                <a:cs typeface="Calibri"/>
              </a:rPr>
              <a:t>to</a:t>
            </a:r>
            <a:r>
              <a:rPr sz="2000" spc="-75" dirty="0">
                <a:latin typeface="Calibri"/>
                <a:cs typeface="Calibri"/>
              </a:rPr>
              <a:t> </a:t>
            </a:r>
            <a:r>
              <a:rPr sz="2000" spc="-10" dirty="0">
                <a:latin typeface="Calibri"/>
                <a:cs typeface="Calibri"/>
              </a:rPr>
              <a:t>develop</a:t>
            </a:r>
            <a:endParaRPr sz="2000">
              <a:latin typeface="Calibri"/>
              <a:cs typeface="Calibri"/>
            </a:endParaRPr>
          </a:p>
          <a:p>
            <a:pPr marL="756285" lvl="1" indent="-286385">
              <a:spcBef>
                <a:spcPts val="480"/>
              </a:spcBef>
              <a:buFont typeface="Arial"/>
              <a:buChar char="–"/>
              <a:tabLst>
                <a:tab pos="756285" algn="l"/>
              </a:tabLst>
            </a:pPr>
            <a:r>
              <a:rPr sz="2000" dirty="0">
                <a:latin typeface="Calibri"/>
                <a:cs typeface="Calibri"/>
              </a:rPr>
              <a:t>Easy</a:t>
            </a:r>
            <a:r>
              <a:rPr sz="2000" spc="-55" dirty="0">
                <a:latin typeface="Calibri"/>
                <a:cs typeface="Calibri"/>
              </a:rPr>
              <a:t> </a:t>
            </a:r>
            <a:r>
              <a:rPr sz="2000" dirty="0">
                <a:latin typeface="Calibri"/>
                <a:cs typeface="Calibri"/>
              </a:rPr>
              <a:t>to</a:t>
            </a:r>
            <a:r>
              <a:rPr sz="2000" spc="-60" dirty="0">
                <a:latin typeface="Calibri"/>
                <a:cs typeface="Calibri"/>
              </a:rPr>
              <a:t> </a:t>
            </a:r>
            <a:r>
              <a:rPr sz="2000" dirty="0">
                <a:latin typeface="Calibri"/>
                <a:cs typeface="Calibri"/>
              </a:rPr>
              <a:t>debug</a:t>
            </a:r>
            <a:r>
              <a:rPr sz="2000" spc="-65" dirty="0">
                <a:latin typeface="Calibri"/>
                <a:cs typeface="Calibri"/>
              </a:rPr>
              <a:t> </a:t>
            </a:r>
            <a:r>
              <a:rPr sz="2000" dirty="0">
                <a:latin typeface="Calibri"/>
                <a:cs typeface="Calibri"/>
              </a:rPr>
              <a:t>(with</a:t>
            </a:r>
            <a:r>
              <a:rPr sz="2000" spc="-50" dirty="0">
                <a:latin typeface="Calibri"/>
                <a:cs typeface="Calibri"/>
              </a:rPr>
              <a:t> </a:t>
            </a:r>
            <a:r>
              <a:rPr sz="2000" dirty="0">
                <a:latin typeface="Calibri"/>
                <a:cs typeface="Calibri"/>
              </a:rPr>
              <a:t>standard</a:t>
            </a:r>
            <a:r>
              <a:rPr sz="2000" spc="-55" dirty="0">
                <a:latin typeface="Calibri"/>
                <a:cs typeface="Calibri"/>
              </a:rPr>
              <a:t> </a:t>
            </a:r>
            <a:r>
              <a:rPr sz="2000" spc="-10" dirty="0">
                <a:latin typeface="Calibri"/>
                <a:cs typeface="Calibri"/>
              </a:rPr>
              <a:t>browser)</a:t>
            </a:r>
            <a:endParaRPr sz="2000">
              <a:latin typeface="Calibri"/>
              <a:cs typeface="Calibri"/>
            </a:endParaRPr>
          </a:p>
          <a:p>
            <a:pPr marL="756285" lvl="1" indent="-286385">
              <a:spcBef>
                <a:spcPts val="484"/>
              </a:spcBef>
              <a:buFont typeface="Arial"/>
              <a:buChar char="–"/>
              <a:tabLst>
                <a:tab pos="756285" algn="l"/>
              </a:tabLst>
            </a:pPr>
            <a:r>
              <a:rPr sz="2000" spc="-10" dirty="0">
                <a:latin typeface="Calibri"/>
                <a:cs typeface="Calibri"/>
              </a:rPr>
              <a:t>Leverage</a:t>
            </a:r>
            <a:r>
              <a:rPr sz="2000" spc="-70" dirty="0">
                <a:latin typeface="Calibri"/>
                <a:cs typeface="Calibri"/>
              </a:rPr>
              <a:t> </a:t>
            </a:r>
            <a:r>
              <a:rPr sz="2000" dirty="0">
                <a:latin typeface="Calibri"/>
                <a:cs typeface="Calibri"/>
              </a:rPr>
              <a:t>existing</a:t>
            </a:r>
            <a:r>
              <a:rPr sz="2000" spc="-55" dirty="0">
                <a:latin typeface="Calibri"/>
                <a:cs typeface="Calibri"/>
              </a:rPr>
              <a:t> </a:t>
            </a:r>
            <a:r>
              <a:rPr sz="2000" dirty="0">
                <a:latin typeface="Calibri"/>
                <a:cs typeface="Calibri"/>
              </a:rPr>
              <a:t>web</a:t>
            </a:r>
            <a:r>
              <a:rPr sz="2000" spc="-85" dirty="0">
                <a:latin typeface="Calibri"/>
                <a:cs typeface="Calibri"/>
              </a:rPr>
              <a:t> </a:t>
            </a:r>
            <a:r>
              <a:rPr sz="2000" dirty="0">
                <a:latin typeface="Calibri"/>
                <a:cs typeface="Calibri"/>
              </a:rPr>
              <a:t>application</a:t>
            </a:r>
            <a:r>
              <a:rPr sz="2000" spc="-65" dirty="0">
                <a:latin typeface="Calibri"/>
                <a:cs typeface="Calibri"/>
              </a:rPr>
              <a:t> </a:t>
            </a:r>
            <a:r>
              <a:rPr sz="2000" spc="-10" dirty="0">
                <a:latin typeface="Calibri"/>
                <a:cs typeface="Calibri"/>
              </a:rPr>
              <a:t>infrastructure</a:t>
            </a:r>
            <a:endParaRPr sz="2000">
              <a:latin typeface="Calibri"/>
              <a:cs typeface="Calibri"/>
            </a:endParaRPr>
          </a:p>
        </p:txBody>
      </p:sp>
      <p:pic>
        <p:nvPicPr>
          <p:cNvPr id="4" name="object 4"/>
          <p:cNvPicPr/>
          <p:nvPr/>
        </p:nvPicPr>
        <p:blipFill>
          <a:blip r:embed="rId2" cstate="print"/>
          <a:stretch>
            <a:fillRect/>
          </a:stretch>
        </p:blipFill>
        <p:spPr>
          <a:xfrm>
            <a:off x="2362200" y="5312664"/>
            <a:ext cx="4073652" cy="710184"/>
          </a:xfrm>
          <a:prstGeom prst="rect">
            <a:avLst/>
          </a:prstGeom>
        </p:spPr>
      </p:pic>
      <p:pic>
        <p:nvPicPr>
          <p:cNvPr id="5" name="object 5"/>
          <p:cNvPicPr/>
          <p:nvPr/>
        </p:nvPicPr>
        <p:blipFill>
          <a:blip r:embed="rId3" cstate="print"/>
          <a:stretch>
            <a:fillRect/>
          </a:stretch>
        </p:blipFill>
        <p:spPr>
          <a:xfrm>
            <a:off x="7024115" y="5312664"/>
            <a:ext cx="2805684" cy="710184"/>
          </a:xfrm>
          <a:prstGeom prst="rect">
            <a:avLst/>
          </a:prstGeom>
        </p:spPr>
      </p:pic>
      <p:sp>
        <p:nvSpPr>
          <p:cNvPr id="6" name="object 6"/>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49</a:t>
            </a:r>
            <a:endParaRPr sz="1200">
              <a:latin typeface="Arial"/>
              <a:cs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797050">
              <a:lnSpc>
                <a:spcPct val="100000"/>
              </a:lnSpc>
              <a:spcBef>
                <a:spcPts val="105"/>
              </a:spcBef>
            </a:pPr>
            <a:r>
              <a:rPr dirty="0"/>
              <a:t>Server</a:t>
            </a:r>
            <a:r>
              <a:rPr spc="-10" dirty="0"/>
              <a:t> Responses</a:t>
            </a:r>
          </a:p>
        </p:txBody>
      </p:sp>
      <p:sp>
        <p:nvSpPr>
          <p:cNvPr id="3" name="object 3"/>
          <p:cNvSpPr txBox="1"/>
          <p:nvPr/>
        </p:nvSpPr>
        <p:spPr>
          <a:xfrm>
            <a:off x="2059940" y="1656630"/>
            <a:ext cx="7849234" cy="3026410"/>
          </a:xfrm>
          <a:prstGeom prst="rect">
            <a:avLst/>
          </a:prstGeom>
        </p:spPr>
        <p:txBody>
          <a:bodyPr vert="horz" wrap="square" lIns="0" tIns="79375" rIns="0" bIns="0" rtlCol="0">
            <a:spAutoFit/>
          </a:bodyPr>
          <a:lstStyle/>
          <a:p>
            <a:pPr marL="354965" indent="-342265">
              <a:spcBef>
                <a:spcPts val="625"/>
              </a:spcBef>
              <a:buFont typeface="Arial"/>
              <a:buChar char="•"/>
              <a:tabLst>
                <a:tab pos="354965" algn="l"/>
              </a:tabLst>
            </a:pPr>
            <a:r>
              <a:rPr sz="2200" dirty="0">
                <a:solidFill>
                  <a:srgbClr val="E36C09"/>
                </a:solidFill>
                <a:latin typeface="Calibri"/>
                <a:cs typeface="Calibri"/>
              </a:rPr>
              <a:t>Really</a:t>
            </a:r>
            <a:r>
              <a:rPr sz="2200" spc="-80" dirty="0">
                <a:solidFill>
                  <a:srgbClr val="E36C09"/>
                </a:solidFill>
                <a:latin typeface="Calibri"/>
                <a:cs typeface="Calibri"/>
              </a:rPr>
              <a:t> </a:t>
            </a:r>
            <a:r>
              <a:rPr sz="2200" dirty="0">
                <a:solidFill>
                  <a:srgbClr val="E36C09"/>
                </a:solidFill>
                <a:latin typeface="Calibri"/>
                <a:cs typeface="Calibri"/>
              </a:rPr>
              <a:t>Simple</a:t>
            </a:r>
            <a:r>
              <a:rPr sz="2200" spc="-65" dirty="0">
                <a:solidFill>
                  <a:srgbClr val="E36C09"/>
                </a:solidFill>
                <a:latin typeface="Calibri"/>
                <a:cs typeface="Calibri"/>
              </a:rPr>
              <a:t> </a:t>
            </a:r>
            <a:r>
              <a:rPr sz="2200" dirty="0">
                <a:solidFill>
                  <a:srgbClr val="E36C09"/>
                </a:solidFill>
                <a:latin typeface="Calibri"/>
                <a:cs typeface="Calibri"/>
              </a:rPr>
              <a:t>Syndication</a:t>
            </a:r>
            <a:r>
              <a:rPr sz="2200" spc="-75" dirty="0">
                <a:solidFill>
                  <a:srgbClr val="E36C09"/>
                </a:solidFill>
                <a:latin typeface="Calibri"/>
                <a:cs typeface="Calibri"/>
              </a:rPr>
              <a:t> </a:t>
            </a:r>
            <a:r>
              <a:rPr sz="2200" dirty="0">
                <a:solidFill>
                  <a:srgbClr val="E36C09"/>
                </a:solidFill>
                <a:latin typeface="Calibri"/>
                <a:cs typeface="Calibri"/>
              </a:rPr>
              <a:t>(RSS,</a:t>
            </a:r>
            <a:r>
              <a:rPr sz="2200" spc="-65" dirty="0">
                <a:solidFill>
                  <a:srgbClr val="E36C09"/>
                </a:solidFill>
                <a:latin typeface="Calibri"/>
                <a:cs typeface="Calibri"/>
              </a:rPr>
              <a:t> </a:t>
            </a:r>
            <a:r>
              <a:rPr sz="2200" spc="-10" dirty="0">
                <a:solidFill>
                  <a:srgbClr val="E36C09"/>
                </a:solidFill>
                <a:latin typeface="Calibri"/>
                <a:cs typeface="Calibri"/>
              </a:rPr>
              <a:t>Atom)</a:t>
            </a:r>
            <a:endParaRPr sz="2200" dirty="0">
              <a:latin typeface="Calibri"/>
              <a:cs typeface="Calibri"/>
            </a:endParaRPr>
          </a:p>
          <a:p>
            <a:pPr marL="756285" lvl="1" indent="-286385">
              <a:spcBef>
                <a:spcPts val="490"/>
              </a:spcBef>
              <a:buFont typeface="Arial"/>
              <a:buChar char="–"/>
              <a:tabLst>
                <a:tab pos="756285" algn="l"/>
              </a:tabLst>
            </a:pPr>
            <a:r>
              <a:rPr sz="2000" spc="-10" dirty="0">
                <a:latin typeface="Calibri"/>
                <a:cs typeface="Calibri"/>
              </a:rPr>
              <a:t>XML-</a:t>
            </a:r>
            <a:r>
              <a:rPr sz="2000" dirty="0">
                <a:latin typeface="Calibri"/>
                <a:cs typeface="Calibri"/>
              </a:rPr>
              <a:t>based</a:t>
            </a:r>
            <a:r>
              <a:rPr sz="2000" spc="-50" dirty="0">
                <a:latin typeface="Calibri"/>
                <a:cs typeface="Calibri"/>
              </a:rPr>
              <a:t> </a:t>
            </a:r>
            <a:r>
              <a:rPr sz="2000" spc="-10" dirty="0">
                <a:latin typeface="Calibri"/>
                <a:cs typeface="Calibri"/>
              </a:rPr>
              <a:t>standard</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Designed</a:t>
            </a:r>
            <a:r>
              <a:rPr sz="2000" spc="-65" dirty="0">
                <a:latin typeface="Calibri"/>
                <a:cs typeface="Calibri"/>
              </a:rPr>
              <a:t> </a:t>
            </a:r>
            <a:r>
              <a:rPr sz="2000" dirty="0">
                <a:latin typeface="Calibri"/>
                <a:cs typeface="Calibri"/>
              </a:rPr>
              <a:t>for</a:t>
            </a:r>
            <a:r>
              <a:rPr sz="2000" spc="-75" dirty="0">
                <a:latin typeface="Calibri"/>
                <a:cs typeface="Calibri"/>
              </a:rPr>
              <a:t> </a:t>
            </a:r>
            <a:r>
              <a:rPr sz="2000" spc="-10" dirty="0">
                <a:latin typeface="Calibri"/>
                <a:cs typeface="Calibri"/>
              </a:rPr>
              <a:t>news-</a:t>
            </a:r>
            <a:r>
              <a:rPr sz="2000" dirty="0">
                <a:latin typeface="Calibri"/>
                <a:cs typeface="Calibri"/>
              </a:rPr>
              <a:t>oriented</a:t>
            </a:r>
            <a:r>
              <a:rPr sz="2000" spc="-45" dirty="0">
                <a:latin typeface="Calibri"/>
                <a:cs typeface="Calibri"/>
              </a:rPr>
              <a:t> </a:t>
            </a:r>
            <a:r>
              <a:rPr sz="2000" dirty="0">
                <a:latin typeface="Calibri"/>
                <a:cs typeface="Calibri"/>
              </a:rPr>
              <a:t>websites</a:t>
            </a:r>
            <a:r>
              <a:rPr sz="2000" spc="-45" dirty="0">
                <a:latin typeface="Calibri"/>
                <a:cs typeface="Calibri"/>
              </a:rPr>
              <a:t> </a:t>
            </a:r>
            <a:r>
              <a:rPr sz="2000" dirty="0">
                <a:latin typeface="Calibri"/>
                <a:cs typeface="Calibri"/>
              </a:rPr>
              <a:t>to</a:t>
            </a:r>
            <a:r>
              <a:rPr sz="2000" spc="-55" dirty="0">
                <a:latin typeface="Calibri"/>
                <a:cs typeface="Calibri"/>
              </a:rPr>
              <a:t> </a:t>
            </a:r>
            <a:r>
              <a:rPr sz="2000" dirty="0">
                <a:latin typeface="Calibri"/>
                <a:cs typeface="Calibri"/>
              </a:rPr>
              <a:t>“Push”</a:t>
            </a:r>
            <a:r>
              <a:rPr sz="2000" spc="-55" dirty="0">
                <a:latin typeface="Calibri"/>
                <a:cs typeface="Calibri"/>
              </a:rPr>
              <a:t> </a:t>
            </a:r>
            <a:r>
              <a:rPr sz="2000" spc="-10" dirty="0">
                <a:latin typeface="Calibri"/>
                <a:cs typeface="Calibri"/>
              </a:rPr>
              <a:t>content</a:t>
            </a:r>
            <a:r>
              <a:rPr sz="2000" spc="-65" dirty="0">
                <a:latin typeface="Calibri"/>
                <a:cs typeface="Calibri"/>
              </a:rPr>
              <a:t> </a:t>
            </a:r>
            <a:r>
              <a:rPr sz="2000" dirty="0">
                <a:latin typeface="Calibri"/>
                <a:cs typeface="Calibri"/>
              </a:rPr>
              <a:t>to</a:t>
            </a:r>
            <a:r>
              <a:rPr sz="2000" spc="-50" dirty="0">
                <a:latin typeface="Calibri"/>
                <a:cs typeface="Calibri"/>
              </a:rPr>
              <a:t> </a:t>
            </a:r>
            <a:r>
              <a:rPr sz="2000" spc="-10" dirty="0">
                <a:latin typeface="Calibri"/>
                <a:cs typeface="Calibri"/>
              </a:rPr>
              <a:t>readers</a:t>
            </a:r>
            <a:endParaRPr sz="2000" dirty="0">
              <a:latin typeface="Calibri"/>
              <a:cs typeface="Calibri"/>
            </a:endParaRPr>
          </a:p>
          <a:p>
            <a:pPr marL="756285" lvl="1" indent="-286385">
              <a:spcBef>
                <a:spcPts val="480"/>
              </a:spcBef>
              <a:buFont typeface="Arial"/>
              <a:buChar char="–"/>
              <a:tabLst>
                <a:tab pos="756285" algn="l"/>
              </a:tabLst>
            </a:pPr>
            <a:r>
              <a:rPr sz="2000" spc="-10" dirty="0">
                <a:latin typeface="Calibri"/>
                <a:cs typeface="Calibri"/>
              </a:rPr>
              <a:t>Excellent</a:t>
            </a:r>
            <a:r>
              <a:rPr sz="2000" spc="-30"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monitor</a:t>
            </a:r>
            <a:r>
              <a:rPr sz="2000" spc="-40" dirty="0">
                <a:latin typeface="Calibri"/>
                <a:cs typeface="Calibri"/>
              </a:rPr>
              <a:t> </a:t>
            </a:r>
            <a:r>
              <a:rPr sz="2000" dirty="0">
                <a:latin typeface="Calibri"/>
                <a:cs typeface="Calibri"/>
              </a:rPr>
              <a:t>new</a:t>
            </a:r>
            <a:r>
              <a:rPr sz="2000" spc="-50" dirty="0">
                <a:latin typeface="Calibri"/>
                <a:cs typeface="Calibri"/>
              </a:rPr>
              <a:t> </a:t>
            </a:r>
            <a:r>
              <a:rPr sz="2000" spc="-10" dirty="0">
                <a:latin typeface="Calibri"/>
                <a:cs typeface="Calibri"/>
              </a:rPr>
              <a:t>content</a:t>
            </a:r>
            <a:r>
              <a:rPr sz="2000" spc="-40" dirty="0">
                <a:latin typeface="Calibri"/>
                <a:cs typeface="Calibri"/>
              </a:rPr>
              <a:t> </a:t>
            </a:r>
            <a:r>
              <a:rPr sz="2000" dirty="0">
                <a:latin typeface="Calibri"/>
                <a:cs typeface="Calibri"/>
              </a:rPr>
              <a:t>from</a:t>
            </a:r>
            <a:r>
              <a:rPr sz="2000" spc="-50" dirty="0">
                <a:latin typeface="Calibri"/>
                <a:cs typeface="Calibri"/>
              </a:rPr>
              <a:t> </a:t>
            </a:r>
            <a:r>
              <a:rPr sz="2000" spc="-10" dirty="0">
                <a:latin typeface="Calibri"/>
                <a:cs typeface="Calibri"/>
              </a:rPr>
              <a:t>websites</a:t>
            </a:r>
            <a:endParaRPr sz="2000" dirty="0">
              <a:latin typeface="Calibri"/>
              <a:cs typeface="Calibri"/>
            </a:endParaRPr>
          </a:p>
          <a:p>
            <a:pPr marL="354965" indent="-342265">
              <a:spcBef>
                <a:spcPts val="520"/>
              </a:spcBef>
              <a:buFont typeface="Arial"/>
              <a:buChar char="•"/>
              <a:tabLst>
                <a:tab pos="354965" algn="l"/>
              </a:tabLst>
            </a:pPr>
            <a:r>
              <a:rPr sz="2200" dirty="0">
                <a:solidFill>
                  <a:srgbClr val="E36C09"/>
                </a:solidFill>
                <a:latin typeface="Calibri"/>
                <a:cs typeface="Calibri"/>
              </a:rPr>
              <a:t>XML</a:t>
            </a:r>
            <a:r>
              <a:rPr sz="2200" spc="-45" dirty="0">
                <a:solidFill>
                  <a:srgbClr val="E36C09"/>
                </a:solidFill>
                <a:latin typeface="Calibri"/>
                <a:cs typeface="Calibri"/>
              </a:rPr>
              <a:t> </a:t>
            </a:r>
            <a:r>
              <a:rPr sz="2200" dirty="0">
                <a:solidFill>
                  <a:srgbClr val="E36C09"/>
                </a:solidFill>
                <a:latin typeface="Calibri"/>
                <a:cs typeface="Calibri"/>
              </a:rPr>
              <a:t>or</a:t>
            </a:r>
            <a:r>
              <a:rPr sz="2200" spc="-45" dirty="0">
                <a:solidFill>
                  <a:srgbClr val="E36C09"/>
                </a:solidFill>
                <a:latin typeface="Calibri"/>
                <a:cs typeface="Calibri"/>
              </a:rPr>
              <a:t> </a:t>
            </a:r>
            <a:r>
              <a:rPr sz="2200" spc="-10" dirty="0">
                <a:solidFill>
                  <a:srgbClr val="E36C09"/>
                </a:solidFill>
                <a:latin typeface="Calibri"/>
                <a:cs typeface="Calibri"/>
              </a:rPr>
              <a:t>JavaScript</a:t>
            </a:r>
            <a:r>
              <a:rPr sz="2200" spc="-55" dirty="0">
                <a:solidFill>
                  <a:srgbClr val="E36C09"/>
                </a:solidFill>
                <a:latin typeface="Calibri"/>
                <a:cs typeface="Calibri"/>
              </a:rPr>
              <a:t> </a:t>
            </a:r>
            <a:r>
              <a:rPr sz="2200" dirty="0">
                <a:solidFill>
                  <a:srgbClr val="E36C09"/>
                </a:solidFill>
                <a:latin typeface="Calibri"/>
                <a:cs typeface="Calibri"/>
              </a:rPr>
              <a:t>Object</a:t>
            </a:r>
            <a:r>
              <a:rPr sz="2200" spc="-30" dirty="0">
                <a:solidFill>
                  <a:srgbClr val="E36C09"/>
                </a:solidFill>
                <a:latin typeface="Calibri"/>
                <a:cs typeface="Calibri"/>
              </a:rPr>
              <a:t> </a:t>
            </a:r>
            <a:r>
              <a:rPr sz="2200" dirty="0">
                <a:solidFill>
                  <a:srgbClr val="E36C09"/>
                </a:solidFill>
                <a:latin typeface="Calibri"/>
                <a:cs typeface="Calibri"/>
              </a:rPr>
              <a:t>Notation</a:t>
            </a:r>
            <a:r>
              <a:rPr sz="2200" spc="-40" dirty="0">
                <a:solidFill>
                  <a:srgbClr val="E36C09"/>
                </a:solidFill>
                <a:latin typeface="Calibri"/>
                <a:cs typeface="Calibri"/>
              </a:rPr>
              <a:t> </a:t>
            </a:r>
            <a:r>
              <a:rPr sz="2200" spc="-10" dirty="0">
                <a:solidFill>
                  <a:srgbClr val="E36C09"/>
                </a:solidFill>
                <a:latin typeface="Calibri"/>
                <a:cs typeface="Calibri"/>
              </a:rPr>
              <a:t>(JSON)</a:t>
            </a:r>
            <a:endParaRPr sz="2200" dirty="0">
              <a:latin typeface="Calibri"/>
              <a:cs typeface="Calibri"/>
            </a:endParaRPr>
          </a:p>
          <a:p>
            <a:pPr marL="756285" lvl="1" indent="-286385">
              <a:spcBef>
                <a:spcPts val="490"/>
              </a:spcBef>
              <a:buFont typeface="Arial"/>
              <a:buChar char="–"/>
              <a:tabLst>
                <a:tab pos="756285" algn="l"/>
              </a:tabLst>
            </a:pPr>
            <a:r>
              <a:rPr sz="2000" dirty="0">
                <a:latin typeface="Calibri"/>
                <a:cs typeface="Calibri"/>
              </a:rPr>
              <a:t>Lightweight</a:t>
            </a:r>
            <a:r>
              <a:rPr sz="2000" spc="-45" dirty="0">
                <a:latin typeface="Calibri"/>
                <a:cs typeface="Calibri"/>
              </a:rPr>
              <a:t> </a:t>
            </a:r>
            <a:r>
              <a:rPr sz="2000" spc="-20" dirty="0">
                <a:latin typeface="Calibri"/>
                <a:cs typeface="Calibri"/>
              </a:rPr>
              <a:t>data-</a:t>
            </a:r>
            <a:r>
              <a:rPr sz="2000" spc="-10" dirty="0">
                <a:latin typeface="Calibri"/>
                <a:cs typeface="Calibri"/>
              </a:rPr>
              <a:t>interchange</a:t>
            </a:r>
            <a:r>
              <a:rPr sz="2000" spc="-50" dirty="0">
                <a:latin typeface="Calibri"/>
                <a:cs typeface="Calibri"/>
              </a:rPr>
              <a:t> </a:t>
            </a:r>
            <a:r>
              <a:rPr sz="2000" spc="-10" dirty="0">
                <a:latin typeface="Calibri"/>
                <a:cs typeface="Calibri"/>
              </a:rPr>
              <a:t>format</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Human</a:t>
            </a:r>
            <a:r>
              <a:rPr sz="2000" spc="-45" dirty="0">
                <a:latin typeface="Calibri"/>
                <a:cs typeface="Calibri"/>
              </a:rPr>
              <a:t> </a:t>
            </a:r>
            <a:r>
              <a:rPr sz="2000" dirty="0">
                <a:latin typeface="Calibri"/>
                <a:cs typeface="Calibri"/>
              </a:rPr>
              <a:t>readable</a:t>
            </a:r>
            <a:r>
              <a:rPr sz="2000" spc="-45" dirty="0">
                <a:latin typeface="Calibri"/>
                <a:cs typeface="Calibri"/>
              </a:rPr>
              <a:t> </a:t>
            </a:r>
            <a:r>
              <a:rPr sz="2000" dirty="0">
                <a:latin typeface="Calibri"/>
                <a:cs typeface="Calibri"/>
              </a:rPr>
              <a:t>and</a:t>
            </a:r>
            <a:r>
              <a:rPr sz="2000" spc="-40" dirty="0">
                <a:latin typeface="Calibri"/>
                <a:cs typeface="Calibri"/>
              </a:rPr>
              <a:t> </a:t>
            </a:r>
            <a:r>
              <a:rPr sz="2000" dirty="0">
                <a:latin typeface="Calibri"/>
                <a:cs typeface="Calibri"/>
              </a:rPr>
              <a:t>writable</a:t>
            </a:r>
            <a:r>
              <a:rPr sz="2000" spc="-30" dirty="0">
                <a:latin typeface="Calibri"/>
                <a:cs typeface="Calibri"/>
              </a:rPr>
              <a:t> </a:t>
            </a:r>
            <a:r>
              <a:rPr sz="2000" dirty="0">
                <a:latin typeface="Calibri"/>
                <a:cs typeface="Calibri"/>
              </a:rPr>
              <a:t>and</a:t>
            </a:r>
            <a:r>
              <a:rPr sz="2000" spc="-35" dirty="0">
                <a:latin typeface="Calibri"/>
                <a:cs typeface="Calibri"/>
              </a:rPr>
              <a:t> </a:t>
            </a:r>
            <a:r>
              <a:rPr sz="2000" dirty="0">
                <a:latin typeface="Calibri"/>
                <a:cs typeface="Calibri"/>
              </a:rPr>
              <a:t>also</a:t>
            </a:r>
            <a:r>
              <a:rPr sz="2000" spc="-25" dirty="0">
                <a:latin typeface="Calibri"/>
                <a:cs typeface="Calibri"/>
              </a:rPr>
              <a:t> </a:t>
            </a:r>
            <a:r>
              <a:rPr sz="2000" dirty="0">
                <a:latin typeface="Calibri"/>
                <a:cs typeface="Calibri"/>
              </a:rPr>
              <a:t>machine</a:t>
            </a:r>
            <a:r>
              <a:rPr sz="2000" spc="-35" dirty="0">
                <a:latin typeface="Calibri"/>
                <a:cs typeface="Calibri"/>
              </a:rPr>
              <a:t> </a:t>
            </a:r>
            <a:r>
              <a:rPr sz="2000" spc="-10" dirty="0">
                <a:latin typeface="Calibri"/>
                <a:cs typeface="Calibri"/>
              </a:rPr>
              <a:t>friendly</a:t>
            </a:r>
            <a:endParaRPr sz="2000" dirty="0">
              <a:latin typeface="Calibri"/>
              <a:cs typeface="Calibri"/>
            </a:endParaRPr>
          </a:p>
          <a:p>
            <a:pPr marL="756285" lvl="1" indent="-286385">
              <a:spcBef>
                <a:spcPts val="480"/>
              </a:spcBef>
              <a:buFont typeface="Arial"/>
              <a:buChar char="–"/>
              <a:tabLst>
                <a:tab pos="756285" algn="l"/>
              </a:tabLst>
            </a:pPr>
            <a:r>
              <a:rPr sz="2000" dirty="0">
                <a:latin typeface="Calibri"/>
                <a:cs typeface="Calibri"/>
              </a:rPr>
              <a:t>Wide</a:t>
            </a:r>
            <a:r>
              <a:rPr sz="2000" spc="-55" dirty="0">
                <a:latin typeface="Calibri"/>
                <a:cs typeface="Calibri"/>
              </a:rPr>
              <a:t> </a:t>
            </a:r>
            <a:r>
              <a:rPr sz="2000" dirty="0">
                <a:latin typeface="Calibri"/>
                <a:cs typeface="Calibri"/>
              </a:rPr>
              <a:t>support</a:t>
            </a:r>
            <a:r>
              <a:rPr sz="2000" spc="-65" dirty="0">
                <a:latin typeface="Calibri"/>
                <a:cs typeface="Calibri"/>
              </a:rPr>
              <a:t> </a:t>
            </a:r>
            <a:r>
              <a:rPr sz="2000" dirty="0">
                <a:latin typeface="Calibri"/>
                <a:cs typeface="Calibri"/>
              </a:rPr>
              <a:t>from</a:t>
            </a:r>
            <a:r>
              <a:rPr sz="2000" spc="-40" dirty="0">
                <a:latin typeface="Calibri"/>
                <a:cs typeface="Calibri"/>
              </a:rPr>
              <a:t> </a:t>
            </a:r>
            <a:r>
              <a:rPr sz="2000" dirty="0">
                <a:latin typeface="Calibri"/>
                <a:cs typeface="Calibri"/>
              </a:rPr>
              <a:t>most</a:t>
            </a:r>
            <a:r>
              <a:rPr sz="2000" spc="-45" dirty="0">
                <a:latin typeface="Calibri"/>
                <a:cs typeface="Calibri"/>
              </a:rPr>
              <a:t> </a:t>
            </a:r>
            <a:r>
              <a:rPr sz="2000" dirty="0">
                <a:latin typeface="Calibri"/>
                <a:cs typeface="Calibri"/>
              </a:rPr>
              <a:t>languages</a:t>
            </a:r>
            <a:r>
              <a:rPr sz="2000" spc="-70" dirty="0">
                <a:latin typeface="Calibri"/>
                <a:cs typeface="Calibri"/>
              </a:rPr>
              <a:t> </a:t>
            </a:r>
            <a:r>
              <a:rPr sz="2000" dirty="0">
                <a:latin typeface="Calibri"/>
                <a:cs typeface="Calibri"/>
              </a:rPr>
              <a:t>(</a:t>
            </a:r>
            <a:r>
              <a:rPr sz="2000" dirty="0">
                <a:solidFill>
                  <a:srgbClr val="E36C09"/>
                </a:solidFill>
                <a:latin typeface="Calibri"/>
                <a:cs typeface="Calibri"/>
              </a:rPr>
              <a:t>Java,</a:t>
            </a:r>
            <a:r>
              <a:rPr sz="2000" spc="-40" dirty="0">
                <a:solidFill>
                  <a:srgbClr val="E36C09"/>
                </a:solidFill>
                <a:latin typeface="Calibri"/>
                <a:cs typeface="Calibri"/>
              </a:rPr>
              <a:t> </a:t>
            </a:r>
            <a:r>
              <a:rPr sz="2000" dirty="0">
                <a:solidFill>
                  <a:srgbClr val="E36C09"/>
                </a:solidFill>
                <a:latin typeface="Calibri"/>
                <a:cs typeface="Calibri"/>
              </a:rPr>
              <a:t>C,</a:t>
            </a:r>
            <a:r>
              <a:rPr sz="2000" spc="-40" dirty="0">
                <a:solidFill>
                  <a:srgbClr val="E36C09"/>
                </a:solidFill>
                <a:latin typeface="Calibri"/>
                <a:cs typeface="Calibri"/>
              </a:rPr>
              <a:t> </a:t>
            </a:r>
            <a:r>
              <a:rPr sz="2000" dirty="0">
                <a:solidFill>
                  <a:srgbClr val="E36C09"/>
                </a:solidFill>
                <a:latin typeface="Calibri"/>
                <a:cs typeface="Calibri"/>
              </a:rPr>
              <a:t>C#,</a:t>
            </a:r>
            <a:r>
              <a:rPr sz="2000" spc="-55" dirty="0">
                <a:solidFill>
                  <a:srgbClr val="E36C09"/>
                </a:solidFill>
                <a:latin typeface="Calibri"/>
                <a:cs typeface="Calibri"/>
              </a:rPr>
              <a:t> </a:t>
            </a:r>
            <a:r>
              <a:rPr sz="2000" spc="-60" dirty="0">
                <a:solidFill>
                  <a:srgbClr val="E36C09"/>
                </a:solidFill>
                <a:latin typeface="Calibri"/>
                <a:cs typeface="Calibri"/>
              </a:rPr>
              <a:t>PHP,</a:t>
            </a:r>
            <a:r>
              <a:rPr sz="2000" spc="-40" dirty="0">
                <a:solidFill>
                  <a:srgbClr val="E36C09"/>
                </a:solidFill>
                <a:latin typeface="Calibri"/>
                <a:cs typeface="Calibri"/>
              </a:rPr>
              <a:t> </a:t>
            </a:r>
            <a:r>
              <a:rPr sz="2000" spc="-20" dirty="0">
                <a:solidFill>
                  <a:srgbClr val="E36C09"/>
                </a:solidFill>
                <a:latin typeface="Calibri"/>
                <a:cs typeface="Calibri"/>
              </a:rPr>
              <a:t>Ruby,</a:t>
            </a:r>
            <a:r>
              <a:rPr sz="2000" spc="-70" dirty="0">
                <a:solidFill>
                  <a:srgbClr val="E36C09"/>
                </a:solidFill>
                <a:latin typeface="Calibri"/>
                <a:cs typeface="Calibri"/>
              </a:rPr>
              <a:t> </a:t>
            </a:r>
            <a:r>
              <a:rPr sz="2000" spc="-10" dirty="0">
                <a:solidFill>
                  <a:srgbClr val="E36C09"/>
                </a:solidFill>
                <a:latin typeface="Calibri"/>
                <a:cs typeface="Calibri"/>
              </a:rPr>
              <a:t>Python…</a:t>
            </a:r>
            <a:r>
              <a:rPr sz="2000" spc="-10" dirty="0">
                <a:latin typeface="Calibri"/>
                <a:cs typeface="Calibri"/>
              </a:rPr>
              <a:t>)</a:t>
            </a:r>
            <a:endParaRPr sz="2000" dirty="0">
              <a:latin typeface="Calibri"/>
              <a:cs typeface="Calibri"/>
            </a:endParaRPr>
          </a:p>
        </p:txBody>
      </p:sp>
      <p:pic>
        <p:nvPicPr>
          <p:cNvPr id="4" name="object 4"/>
          <p:cNvPicPr/>
          <p:nvPr/>
        </p:nvPicPr>
        <p:blipFill>
          <a:blip r:embed="rId2" cstate="print"/>
          <a:stretch>
            <a:fillRect/>
          </a:stretch>
        </p:blipFill>
        <p:spPr>
          <a:xfrm>
            <a:off x="2305812" y="4812791"/>
            <a:ext cx="3284220" cy="890016"/>
          </a:xfrm>
          <a:prstGeom prst="rect">
            <a:avLst/>
          </a:prstGeom>
        </p:spPr>
      </p:pic>
      <p:pic>
        <p:nvPicPr>
          <p:cNvPr id="5" name="object 5"/>
          <p:cNvPicPr/>
          <p:nvPr/>
        </p:nvPicPr>
        <p:blipFill>
          <a:blip r:embed="rId3" cstate="print"/>
          <a:stretch>
            <a:fillRect/>
          </a:stretch>
        </p:blipFill>
        <p:spPr>
          <a:xfrm>
            <a:off x="6100571" y="4812791"/>
            <a:ext cx="4110228" cy="890016"/>
          </a:xfrm>
          <a:prstGeom prst="rect">
            <a:avLst/>
          </a:prstGeom>
        </p:spPr>
      </p:pic>
      <p:sp>
        <p:nvSpPr>
          <p:cNvPr id="6" name="object 6"/>
          <p:cNvSpPr txBox="1"/>
          <p:nvPr/>
        </p:nvSpPr>
        <p:spPr>
          <a:xfrm>
            <a:off x="2777490" y="5889497"/>
            <a:ext cx="1358265" cy="280846"/>
          </a:xfrm>
          <a:prstGeom prst="rect">
            <a:avLst/>
          </a:prstGeom>
          <a:ln w="25400">
            <a:solidFill>
              <a:srgbClr val="000000"/>
            </a:solidFill>
          </a:ln>
        </p:spPr>
        <p:txBody>
          <a:bodyPr vert="horz" wrap="square" lIns="0" tIns="34290" rIns="0" bIns="0" rtlCol="0">
            <a:spAutoFit/>
          </a:bodyPr>
          <a:lstStyle/>
          <a:p>
            <a:pPr marL="90170">
              <a:spcBef>
                <a:spcPts val="270"/>
              </a:spcBef>
            </a:pPr>
            <a:r>
              <a:rPr sz="1600" dirty="0">
                <a:latin typeface="Calibri"/>
                <a:cs typeface="Calibri"/>
              </a:rPr>
              <a:t>Json:</a:t>
            </a:r>
            <a:r>
              <a:rPr sz="1600" spc="-30" dirty="0">
                <a:latin typeface="Calibri"/>
                <a:cs typeface="Calibri"/>
              </a:rPr>
              <a:t> </a:t>
            </a:r>
            <a:r>
              <a:rPr sz="1600" dirty="0">
                <a:latin typeface="Calibri"/>
                <a:cs typeface="Calibri"/>
              </a:rPr>
              <a:t>48</a:t>
            </a:r>
            <a:r>
              <a:rPr sz="1600" spc="-25" dirty="0">
                <a:latin typeface="Calibri"/>
                <a:cs typeface="Calibri"/>
              </a:rPr>
              <a:t> </a:t>
            </a:r>
            <a:r>
              <a:rPr sz="1600" spc="-10" dirty="0">
                <a:latin typeface="Calibri"/>
                <a:cs typeface="Calibri"/>
              </a:rPr>
              <a:t>bytes</a:t>
            </a:r>
            <a:endParaRPr sz="1600">
              <a:latin typeface="Calibri"/>
              <a:cs typeface="Calibri"/>
            </a:endParaRPr>
          </a:p>
        </p:txBody>
      </p:sp>
      <p:sp>
        <p:nvSpPr>
          <p:cNvPr id="8" name="object 8"/>
          <p:cNvSpPr txBox="1"/>
          <p:nvPr/>
        </p:nvSpPr>
        <p:spPr>
          <a:xfrm>
            <a:off x="10062719" y="6292808"/>
            <a:ext cx="259715" cy="179536"/>
          </a:xfrm>
          <a:prstGeom prst="rect">
            <a:avLst/>
          </a:prstGeom>
        </p:spPr>
        <p:txBody>
          <a:bodyPr vert="horz" wrap="square" lIns="0" tIns="0" rIns="0" bIns="0" rtlCol="0">
            <a:spAutoFit/>
          </a:bodyPr>
          <a:lstStyle/>
          <a:p>
            <a:pPr marL="38100">
              <a:lnSpc>
                <a:spcPts val="1425"/>
              </a:lnSpc>
            </a:pPr>
            <a:r>
              <a:rPr sz="1200" spc="-25" dirty="0">
                <a:solidFill>
                  <a:srgbClr val="888888"/>
                </a:solidFill>
                <a:latin typeface="Arial"/>
                <a:cs typeface="Arial"/>
              </a:rPr>
              <a:t>50</a:t>
            </a:r>
            <a:endParaRPr sz="1200">
              <a:latin typeface="Arial"/>
              <a:cs typeface="Arial"/>
            </a:endParaRPr>
          </a:p>
        </p:txBody>
      </p:sp>
      <p:sp>
        <p:nvSpPr>
          <p:cNvPr id="7" name="object 7"/>
          <p:cNvSpPr txBox="1"/>
          <p:nvPr/>
        </p:nvSpPr>
        <p:spPr>
          <a:xfrm>
            <a:off x="6465571" y="5795010"/>
            <a:ext cx="1358265" cy="280205"/>
          </a:xfrm>
          <a:prstGeom prst="rect">
            <a:avLst/>
          </a:prstGeom>
          <a:ln w="25400">
            <a:solidFill>
              <a:srgbClr val="000000"/>
            </a:solidFill>
          </a:ln>
        </p:spPr>
        <p:txBody>
          <a:bodyPr vert="horz" wrap="square" lIns="0" tIns="33655" rIns="0" bIns="0" rtlCol="0">
            <a:spAutoFit/>
          </a:bodyPr>
          <a:lstStyle/>
          <a:p>
            <a:pPr marL="91440">
              <a:spcBef>
                <a:spcPts val="265"/>
              </a:spcBef>
            </a:pPr>
            <a:r>
              <a:rPr sz="1600" dirty="0">
                <a:latin typeface="Calibri"/>
                <a:cs typeface="Calibri"/>
              </a:rPr>
              <a:t>XML:</a:t>
            </a:r>
            <a:r>
              <a:rPr sz="1600" spc="-25" dirty="0">
                <a:latin typeface="Calibri"/>
                <a:cs typeface="Calibri"/>
              </a:rPr>
              <a:t> </a:t>
            </a:r>
            <a:r>
              <a:rPr sz="1600" dirty="0">
                <a:latin typeface="Calibri"/>
                <a:cs typeface="Calibri"/>
              </a:rPr>
              <a:t>83</a:t>
            </a:r>
            <a:r>
              <a:rPr sz="1600" spc="-5" dirty="0">
                <a:latin typeface="Calibri"/>
                <a:cs typeface="Calibri"/>
              </a:rPr>
              <a:t> </a:t>
            </a:r>
            <a:r>
              <a:rPr sz="1600" spc="-20" dirty="0">
                <a:latin typeface="Calibri"/>
                <a:cs typeface="Calibri"/>
              </a:rPr>
              <a:t>bytes</a:t>
            </a:r>
            <a:endParaRPr sz="1600">
              <a:latin typeface="Calibri"/>
              <a:cs typeface="Calibri"/>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29</TotalTime>
  <Words>2622</Words>
  <Application>Microsoft Office PowerPoint</Application>
  <PresentationFormat>Widescreen</PresentationFormat>
  <Paragraphs>363</Paragraphs>
  <Slides>47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Calibri</vt:lpstr>
      <vt:lpstr>Calibri Light</vt:lpstr>
      <vt:lpstr>Montserrat</vt:lpstr>
      <vt:lpstr>Times New Roman</vt:lpstr>
      <vt:lpstr>TimesNewRomanPS</vt:lpstr>
      <vt:lpstr>Verdana</vt:lpstr>
      <vt:lpstr>Retrospect</vt:lpstr>
      <vt:lpstr>Web Technologies</vt:lpstr>
      <vt:lpstr>Web Essentials</vt:lpstr>
      <vt:lpstr>Internet</vt:lpstr>
      <vt:lpstr>Through communication protocols</vt:lpstr>
      <vt:lpstr>The World Wide Web (WWW)</vt:lpstr>
      <vt:lpstr>Basics of the WWW</vt:lpstr>
      <vt:lpstr>Web Client: Browser</vt:lpstr>
      <vt:lpstr>Web Servers</vt:lpstr>
      <vt:lpstr>Domain Name</vt:lpstr>
      <vt:lpstr>Domain Name System</vt:lpstr>
      <vt:lpstr>Top-Level Domain (TLD) Name</vt:lpstr>
      <vt:lpstr>County Code TLDs</vt:lpstr>
      <vt:lpstr>Uniform Resource Identifier</vt:lpstr>
      <vt:lpstr>Static Web: HTML/XHTML, CSS</vt:lpstr>
      <vt:lpstr>Static web limitations</vt:lpstr>
      <vt:lpstr>Client-Side Programming</vt:lpstr>
      <vt:lpstr>Server-Side Programming</vt:lpstr>
      <vt:lpstr>Web Development vs Designing</vt:lpstr>
      <vt:lpstr>Principles of Web Design</vt:lpstr>
      <vt:lpstr> Evolution of Web</vt:lpstr>
      <vt:lpstr>Evolution of Web</vt:lpstr>
      <vt:lpstr>Evolution of Web</vt:lpstr>
      <vt:lpstr>Web Applications</vt:lpstr>
      <vt:lpstr>Components of a web application</vt:lpstr>
      <vt:lpstr>FRONTEND DEVELOPMENT</vt:lpstr>
      <vt:lpstr>Front End Languages</vt:lpstr>
      <vt:lpstr>DOM (Document Object Model)</vt:lpstr>
      <vt:lpstr>DOM (Document Object Model)</vt:lpstr>
      <vt:lpstr>Three representations of same page</vt:lpstr>
      <vt:lpstr>Software Architectural Pattern and Framework</vt:lpstr>
      <vt:lpstr>MVC (Model View Controller)</vt:lpstr>
      <vt:lpstr>MVC Overview</vt:lpstr>
      <vt:lpstr>Web Frameworks That Use MVC</vt:lpstr>
      <vt:lpstr>Popular frameworks</vt:lpstr>
      <vt:lpstr>Layered Architectures</vt:lpstr>
      <vt:lpstr>N-layer architecture</vt:lpstr>
      <vt:lpstr>N-layer architecture</vt:lpstr>
      <vt:lpstr>Modern Web Application Architecture</vt:lpstr>
      <vt:lpstr>Single Page Apps- SPA</vt:lpstr>
      <vt:lpstr>PowerPoint Presentation</vt:lpstr>
      <vt:lpstr>PowerPoint Presentation</vt:lpstr>
      <vt:lpstr>BACKEND DEVELOPMENT</vt:lpstr>
      <vt:lpstr>What is a Backend?</vt:lpstr>
      <vt:lpstr>Web APIs</vt:lpstr>
      <vt:lpstr>SOAP</vt:lpstr>
      <vt:lpstr>REST</vt:lpstr>
      <vt:lpstr>Server Responses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saadi.maqbool@outlook.com</dc:creator>
  <cp:lastModifiedBy>saadi.maqbool@outlook.com</cp:lastModifiedBy>
  <cp:revision>5</cp:revision>
  <dcterms:created xsi:type="dcterms:W3CDTF">2025-09-01T07:21:15Z</dcterms:created>
  <dcterms:modified xsi:type="dcterms:W3CDTF">2025-09-08T10:30:59Z</dcterms:modified>
</cp:coreProperties>
</file>