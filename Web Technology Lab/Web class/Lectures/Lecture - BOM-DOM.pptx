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323" r:id="rId3"/>
    <p:sldId id="325" r:id="rId4"/>
    <p:sldId id="266" r:id="rId5"/>
    <p:sldId id="326" r:id="rId6"/>
    <p:sldId id="337" r:id="rId7"/>
    <p:sldId id="327" r:id="rId8"/>
    <p:sldId id="328" r:id="rId9"/>
    <p:sldId id="309" r:id="rId10"/>
    <p:sldId id="300" r:id="rId11"/>
    <p:sldId id="301" r:id="rId12"/>
    <p:sldId id="302" r:id="rId13"/>
    <p:sldId id="307" r:id="rId14"/>
    <p:sldId id="332" r:id="rId15"/>
    <p:sldId id="335" r:id="rId16"/>
    <p:sldId id="277" r:id="rId17"/>
    <p:sldId id="278" r:id="rId18"/>
    <p:sldId id="279" r:id="rId19"/>
    <p:sldId id="293" r:id="rId20"/>
    <p:sldId id="339" r:id="rId21"/>
    <p:sldId id="340" r:id="rId22"/>
    <p:sldId id="342" r:id="rId23"/>
    <p:sldId id="338" r:id="rId24"/>
    <p:sldId id="341" r:id="rId25"/>
    <p:sldId id="275" r:id="rId26"/>
    <p:sldId id="329" r:id="rId27"/>
    <p:sldId id="330" r:id="rId28"/>
    <p:sldId id="331" r:id="rId29"/>
    <p:sldId id="333" r:id="rId30"/>
    <p:sldId id="336" r:id="rId31"/>
    <p:sldId id="303" r:id="rId32"/>
    <p:sldId id="304" r:id="rId33"/>
    <p:sldId id="306" r:id="rId34"/>
    <p:sldId id="305" r:id="rId35"/>
    <p:sldId id="308" r:id="rId36"/>
    <p:sldId id="296" r:id="rId37"/>
    <p:sldId id="343" r:id="rId38"/>
    <p:sldId id="297"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30" d="100"/>
          <a:sy n="30" d="100"/>
        </p:scale>
        <p:origin x="796" y="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ustomXml" Target="../customXml/item2.xml"/><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4732D-0FEC-49E5-8D37-9ABACBA0E070}" type="datetimeFigureOut">
              <a:rPr lang="en-US" smtClean="0"/>
              <a:t>11/19/2020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6196F-FEDA-4A3C-9A27-D93B18C1765B}" type="slidenum">
              <a:rPr lang="en-US" smtClean="0"/>
              <a:t>‹#›</a:t>
            </a:fld>
            <a:endParaRPr lang="en-US"/>
          </a:p>
        </p:txBody>
      </p:sp>
    </p:spTree>
    <p:extLst>
      <p:ext uri="{BB962C8B-B14F-4D97-AF65-F5344CB8AC3E}">
        <p14:creationId xmlns:p14="http://schemas.microsoft.com/office/powerpoint/2010/main" val="37771894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F6196F-FEDA-4A3C-9A27-D93B18C1765B}" type="slidenum">
              <a:rPr lang="en-US" smtClean="0"/>
              <a:t>2</a:t>
            </a:fld>
            <a:endParaRPr lang="en-US"/>
          </a:p>
        </p:txBody>
      </p:sp>
    </p:spTree>
    <p:extLst>
      <p:ext uri="{BB962C8B-B14F-4D97-AF65-F5344CB8AC3E}">
        <p14:creationId xmlns:p14="http://schemas.microsoft.com/office/powerpoint/2010/main" val="2036241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F6196F-FEDA-4A3C-9A27-D93B18C1765B}" type="slidenum">
              <a:rPr lang="en-US" smtClean="0"/>
              <a:t>8</a:t>
            </a:fld>
            <a:endParaRPr lang="en-US"/>
          </a:p>
        </p:txBody>
      </p:sp>
    </p:spTree>
    <p:extLst>
      <p:ext uri="{BB962C8B-B14F-4D97-AF65-F5344CB8AC3E}">
        <p14:creationId xmlns:p14="http://schemas.microsoft.com/office/powerpoint/2010/main" val="2679270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F6196F-FEDA-4A3C-9A27-D93B18C1765B}" type="slidenum">
              <a:rPr lang="en-US" smtClean="0"/>
              <a:t>9</a:t>
            </a:fld>
            <a:endParaRPr lang="en-US"/>
          </a:p>
        </p:txBody>
      </p:sp>
    </p:spTree>
    <p:extLst>
      <p:ext uri="{BB962C8B-B14F-4D97-AF65-F5344CB8AC3E}">
        <p14:creationId xmlns:p14="http://schemas.microsoft.com/office/powerpoint/2010/main" val="843044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F6196F-FEDA-4A3C-9A27-D93B18C1765B}" type="slidenum">
              <a:rPr lang="en-US" smtClean="0"/>
              <a:t>26</a:t>
            </a:fld>
            <a:endParaRPr lang="en-US"/>
          </a:p>
        </p:txBody>
      </p:sp>
    </p:spTree>
    <p:extLst>
      <p:ext uri="{BB962C8B-B14F-4D97-AF65-F5344CB8AC3E}">
        <p14:creationId xmlns:p14="http://schemas.microsoft.com/office/powerpoint/2010/main" val="3058246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8F6196F-FEDA-4A3C-9A27-D93B18C1765B}" type="slidenum">
              <a:rPr lang="en-US" smtClean="0"/>
              <a:t>37</a:t>
            </a:fld>
            <a:endParaRPr lang="en-US"/>
          </a:p>
        </p:txBody>
      </p:sp>
    </p:spTree>
    <p:extLst>
      <p:ext uri="{BB962C8B-B14F-4D97-AF65-F5344CB8AC3E}">
        <p14:creationId xmlns:p14="http://schemas.microsoft.com/office/powerpoint/2010/main" val="2819548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w3schools.com/jsref/obj_window.as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w3schools.com/jsref/obj_console.asp"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w3schools.com/jsref/met_console_log.as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www.w3schools.com/jsref/obj_location.asp" TargetMode="Externa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hyperlink" Target="https://www.w3schools.com/jsref/obj_navigator.as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hyperlink" Target="https://www.w3schools.com/jsref/obj_window.asp"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www.w3schools.com/tags/ref_eventattributes.as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w3schools.com/jsref/event_onload.asp" TargetMode="Externa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hyperlink" Target="https://www.w3schools.com/jsref/dom_obj_document.asp"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hyperlink" Target="https://www.w3schools.com/js/tryit.asp?filename=tryjs_doc_images" TargetMode="External"/><Relationship Id="rId3" Type="http://schemas.openxmlformats.org/officeDocument/2006/relationships/hyperlink" Target="https://www.w3schools.com/js/tryit.asp?filename=tryjs_doc_body" TargetMode="External"/><Relationship Id="rId7" Type="http://schemas.openxmlformats.org/officeDocument/2006/relationships/hyperlink" Target="https://www.w3schools.com/js/tryit.asp?filename=tryjs_doc_head" TargetMode="External"/><Relationship Id="rId12" Type="http://schemas.openxmlformats.org/officeDocument/2006/relationships/image" Target="../media/image17.png"/><Relationship Id="rId2" Type="http://schemas.openxmlformats.org/officeDocument/2006/relationships/hyperlink" Target="https://www.w3schools.com/js/tryit.asp?filename=tryjs_doc_anchors" TargetMode="External"/><Relationship Id="rId1" Type="http://schemas.openxmlformats.org/officeDocument/2006/relationships/slideLayout" Target="../slideLayouts/slideLayout2.xml"/><Relationship Id="rId6" Type="http://schemas.openxmlformats.org/officeDocument/2006/relationships/hyperlink" Target="https://www.w3schools.com/js/tryit.asp?filename=tryjs_doc_forms" TargetMode="External"/><Relationship Id="rId11" Type="http://schemas.openxmlformats.org/officeDocument/2006/relationships/hyperlink" Target="https://www.w3schools.com/js/tryit.asp?filename=tryjs_doc_title" TargetMode="External"/><Relationship Id="rId5" Type="http://schemas.openxmlformats.org/officeDocument/2006/relationships/hyperlink" Target="https://www.w3schools.com/js/tryit.asp?filename=tryjs_doc_embeds" TargetMode="External"/><Relationship Id="rId10" Type="http://schemas.openxmlformats.org/officeDocument/2006/relationships/hyperlink" Target="https://www.w3schools.com/js/tryit.asp?filename=tryjs_doc_scripts" TargetMode="External"/><Relationship Id="rId4" Type="http://schemas.openxmlformats.org/officeDocument/2006/relationships/hyperlink" Target="https://www.w3schools.com/js/tryit.asp?filename=tryjs_doc_element" TargetMode="External"/><Relationship Id="rId9" Type="http://schemas.openxmlformats.org/officeDocument/2006/relationships/hyperlink" Target="https://www.w3schools.com/js/tryit.asp?filename=tryjs_doc_links"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w3schools.com/tags/ref_eventattributes.asp"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w3schools.com/js/tryit.asp?filename=tryjs_addeventlistener_usecapture"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w3schools.com/js/tryit.asp?filename=tryjs_addeventlistener_usecaptur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hyperlink" Target="https://www.w3schools.com/tags/ref_eventattributes.asp"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w3schools.com/jsref/met_document_queryselectorall.asp" TargetMode="External"/><Relationship Id="rId2" Type="http://schemas.openxmlformats.org/officeDocument/2006/relationships/hyperlink" Target="https://www.w3schools.com/tags/ref_eventattributes.asp" TargetMode="External"/><Relationship Id="rId1" Type="http://schemas.openxmlformats.org/officeDocument/2006/relationships/slideLayout" Target="../slideLayouts/slideLayout2.xml"/><Relationship Id="rId5" Type="http://schemas.openxmlformats.org/officeDocument/2006/relationships/hyperlink" Target="https://www.w3schools.com/jsref/obj_window.asp" TargetMode="External"/><Relationship Id="rId4" Type="http://schemas.openxmlformats.org/officeDocument/2006/relationships/hyperlink" Target="https://www.w3schools.com/jsref/met_document_queryselector.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Web Technologies</a:t>
            </a:r>
          </a:p>
        </p:txBody>
      </p:sp>
      <p:sp>
        <p:nvSpPr>
          <p:cNvPr id="3" name="Subtitle 2"/>
          <p:cNvSpPr>
            <a:spLocks noGrp="1"/>
          </p:cNvSpPr>
          <p:nvPr>
            <p:ph type="subTitle" idx="1"/>
          </p:nvPr>
        </p:nvSpPr>
        <p:spPr/>
        <p:txBody>
          <a:bodyPr/>
          <a:lstStyle/>
          <a:p>
            <a:r>
              <a:rPr lang="en-US" dirty="0"/>
              <a:t>Browser Object Model</a:t>
            </a:r>
          </a:p>
          <a:p>
            <a:r>
              <a:rPr lang="en-US" dirty="0"/>
              <a:t>Document Object Model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6467-6DBE-4D60-BFBF-496509322D35}"/>
              </a:ext>
            </a:extLst>
          </p:cNvPr>
          <p:cNvSpPr>
            <a:spLocks noGrp="1"/>
          </p:cNvSpPr>
          <p:nvPr>
            <p:ph type="title"/>
          </p:nvPr>
        </p:nvSpPr>
        <p:spPr>
          <a:xfrm>
            <a:off x="457200" y="76200"/>
            <a:ext cx="8229600" cy="914400"/>
          </a:xfrm>
        </p:spPr>
        <p:txBody>
          <a:bodyPr>
            <a:normAutofit/>
          </a:bodyPr>
          <a:lstStyle/>
          <a:p>
            <a:r>
              <a:rPr lang="en-US" sz="4000" dirty="0"/>
              <a:t>Summary of Today’s Lecture</a:t>
            </a:r>
          </a:p>
        </p:txBody>
      </p:sp>
      <p:sp>
        <p:nvSpPr>
          <p:cNvPr id="3" name="Content Placeholder 2">
            <a:extLst>
              <a:ext uri="{FF2B5EF4-FFF2-40B4-BE49-F238E27FC236}">
                <a16:creationId xmlns:a16="http://schemas.microsoft.com/office/drawing/2014/main" id="{55493E03-D5C6-44E8-A294-B2BF9607846E}"/>
              </a:ext>
            </a:extLst>
          </p:cNvPr>
          <p:cNvSpPr>
            <a:spLocks noGrp="1"/>
          </p:cNvSpPr>
          <p:nvPr>
            <p:ph idx="1"/>
          </p:nvPr>
        </p:nvSpPr>
        <p:spPr>
          <a:xfrm>
            <a:off x="457200" y="1219200"/>
            <a:ext cx="8229600" cy="5257800"/>
          </a:xfrm>
        </p:spPr>
        <p:txBody>
          <a:bodyPr>
            <a:normAutofit/>
          </a:bodyPr>
          <a:lstStyle/>
          <a:p>
            <a:r>
              <a:rPr lang="en-US" sz="2200" dirty="0"/>
              <a:t>Browser Object Model (BOM)</a:t>
            </a:r>
          </a:p>
          <a:p>
            <a:pPr lvl="1"/>
            <a:r>
              <a:rPr lang="en-US" sz="1800" dirty="0"/>
              <a:t>Window object properties</a:t>
            </a:r>
          </a:p>
          <a:p>
            <a:pPr lvl="1"/>
            <a:r>
              <a:rPr lang="en-US" sz="1800" dirty="0"/>
              <a:t>Window object methods</a:t>
            </a:r>
          </a:p>
          <a:p>
            <a:pPr lvl="1"/>
            <a:r>
              <a:rPr lang="en-US" sz="1800" dirty="0"/>
              <a:t>Window Events</a:t>
            </a:r>
          </a:p>
          <a:p>
            <a:r>
              <a:rPr lang="en-US" sz="2200" dirty="0"/>
              <a:t>Document Object Model (DOM)</a:t>
            </a:r>
          </a:p>
          <a:p>
            <a:pPr lvl="1"/>
            <a:r>
              <a:rPr lang="en-US" sz="1800" dirty="0"/>
              <a:t>Accessing DOM Nodes</a:t>
            </a:r>
          </a:p>
          <a:p>
            <a:pPr lvl="1"/>
            <a:r>
              <a:rPr lang="en-US" sz="1800" dirty="0"/>
              <a:t>DOM Events</a:t>
            </a:r>
          </a:p>
          <a:p>
            <a:endParaRPr lang="en-US" sz="2200" dirty="0"/>
          </a:p>
          <a:p>
            <a:pPr marL="0" indent="0">
              <a:buNone/>
            </a:pPr>
            <a:endParaRPr lang="en-US" dirty="0"/>
          </a:p>
        </p:txBody>
      </p:sp>
    </p:spTree>
    <p:extLst>
      <p:ext uri="{BB962C8B-B14F-4D97-AF65-F5344CB8AC3E}">
        <p14:creationId xmlns:p14="http://schemas.microsoft.com/office/powerpoint/2010/main" val="387304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0DE7E-368F-4FFD-9C02-0CC26782FD06}"/>
              </a:ext>
            </a:extLst>
          </p:cNvPr>
          <p:cNvSpPr>
            <a:spLocks noGrp="1"/>
          </p:cNvSpPr>
          <p:nvPr>
            <p:ph type="title"/>
          </p:nvPr>
        </p:nvSpPr>
        <p:spPr>
          <a:xfrm>
            <a:off x="457200" y="76200"/>
            <a:ext cx="8229600" cy="457199"/>
          </a:xfrm>
        </p:spPr>
        <p:txBody>
          <a:bodyPr>
            <a:normAutofit fontScale="90000"/>
          </a:bodyPr>
          <a:lstStyle/>
          <a:p>
            <a:r>
              <a:rPr lang="en-US" dirty="0"/>
              <a:t>Browser Object Model</a:t>
            </a:r>
          </a:p>
        </p:txBody>
      </p:sp>
      <p:sp>
        <p:nvSpPr>
          <p:cNvPr id="3" name="Content Placeholder 2">
            <a:extLst>
              <a:ext uri="{FF2B5EF4-FFF2-40B4-BE49-F238E27FC236}">
                <a16:creationId xmlns:a16="http://schemas.microsoft.com/office/drawing/2014/main" id="{E7930C4B-B87A-4670-B2D5-D2A9853A7F0F}"/>
              </a:ext>
            </a:extLst>
          </p:cNvPr>
          <p:cNvSpPr>
            <a:spLocks noGrp="1"/>
          </p:cNvSpPr>
          <p:nvPr>
            <p:ph idx="1"/>
          </p:nvPr>
        </p:nvSpPr>
        <p:spPr>
          <a:xfrm>
            <a:off x="457200" y="609601"/>
            <a:ext cx="8229600" cy="2971799"/>
          </a:xfrm>
        </p:spPr>
        <p:txBody>
          <a:bodyPr>
            <a:noAutofit/>
          </a:bodyPr>
          <a:lstStyle/>
          <a:p>
            <a:pPr marL="457200" indent="-457200">
              <a:buFont typeface="+mj-lt"/>
              <a:buAutoNum type="arabicPeriod"/>
            </a:pPr>
            <a:r>
              <a:rPr lang="en-US" sz="2200" dirty="0"/>
              <a:t>The </a:t>
            </a:r>
            <a:r>
              <a:rPr lang="en-US" sz="2200" b="1" dirty="0"/>
              <a:t>Browser Object Model</a:t>
            </a:r>
            <a:r>
              <a:rPr lang="en-US" sz="2200" dirty="0"/>
              <a:t> (BOM) is used to interact with the browser.</a:t>
            </a:r>
          </a:p>
          <a:p>
            <a:pPr marL="457200" indent="-457200">
              <a:buFont typeface="+mj-lt"/>
              <a:buAutoNum type="arabicPeriod"/>
            </a:pPr>
            <a:r>
              <a:rPr lang="en-US" sz="2200" dirty="0"/>
              <a:t>The default object of browser is window. The </a:t>
            </a:r>
            <a:r>
              <a:rPr lang="en-US" sz="2200" b="1" dirty="0"/>
              <a:t>window object </a:t>
            </a:r>
            <a:r>
              <a:rPr lang="en-US" sz="2200" dirty="0"/>
              <a:t>represents a window in browser. An object of window is created automatically by the browser.</a:t>
            </a:r>
          </a:p>
          <a:p>
            <a:pPr marL="457200" indent="-457200">
              <a:buFont typeface="+mj-lt"/>
              <a:buAutoNum type="arabicPeriod"/>
            </a:pPr>
            <a:r>
              <a:rPr lang="en-US" sz="2200" dirty="0"/>
              <a:t>Even the document object (of the HTML DOM) is a property of the window object:</a:t>
            </a:r>
          </a:p>
        </p:txBody>
      </p:sp>
      <p:pic>
        <p:nvPicPr>
          <p:cNvPr id="1026" name="Picture 2" descr="HTML DOM">
            <a:extLst>
              <a:ext uri="{FF2B5EF4-FFF2-40B4-BE49-F238E27FC236}">
                <a16:creationId xmlns:a16="http://schemas.microsoft.com/office/drawing/2014/main" id="{CAC8ACEB-1851-454B-97C5-52F8BB835B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3124200"/>
            <a:ext cx="5638800" cy="34709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4790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7200" y="-76200"/>
            <a:ext cx="8229600" cy="715962"/>
          </a:xfrm>
        </p:spPr>
        <p:txBody>
          <a:bodyPr>
            <a:normAutofit/>
          </a:bodyPr>
          <a:lstStyle/>
          <a:p>
            <a:r>
              <a:rPr lang="en-US" sz="3400" dirty="0">
                <a:hlinkClick r:id="rId2"/>
              </a:rPr>
              <a:t>Window Object Properties</a:t>
            </a:r>
            <a:endParaRPr lang="en-US" sz="3400" dirty="0"/>
          </a:p>
        </p:txBody>
      </p:sp>
      <p:sp>
        <p:nvSpPr>
          <p:cNvPr id="3" name="Content Placeholder 2"/>
          <p:cNvSpPr>
            <a:spLocks noGrp="1"/>
          </p:cNvSpPr>
          <p:nvPr>
            <p:ph idx="1"/>
          </p:nvPr>
        </p:nvSpPr>
        <p:spPr>
          <a:xfrm>
            <a:off x="457200" y="533400"/>
            <a:ext cx="8229600" cy="914400"/>
          </a:xfrm>
        </p:spPr>
        <p:txBody>
          <a:bodyPr>
            <a:normAutofit fontScale="85000" lnSpcReduction="20000"/>
          </a:bodyPr>
          <a:lstStyle/>
          <a:p>
            <a:pPr marL="457200" indent="-457200">
              <a:buFont typeface="+mj-lt"/>
              <a:buAutoNum type="arabicPeriod"/>
            </a:pPr>
            <a:r>
              <a:rPr lang="en-US" sz="2200" dirty="0"/>
              <a:t>In JavaScript, the browser is known as the </a:t>
            </a:r>
            <a:r>
              <a:rPr lang="en-US" sz="2200" b="1" dirty="0"/>
              <a:t>window object. </a:t>
            </a:r>
          </a:p>
          <a:p>
            <a:pPr marL="457200" indent="-457200">
              <a:buFont typeface="+mj-lt"/>
              <a:buAutoNum type="arabicPeriod"/>
            </a:pPr>
            <a:r>
              <a:rPr lang="en-US" sz="2200" b="1" dirty="0"/>
              <a:t>The window object </a:t>
            </a:r>
            <a:r>
              <a:rPr lang="en-US" sz="2200" dirty="0"/>
              <a:t>has a number of properties and methods that we can use to interact with it.</a:t>
            </a:r>
          </a:p>
          <a:p>
            <a:endParaRPr lang="en-US" dirty="0"/>
          </a:p>
          <a:p>
            <a:endParaRPr lang="en-US" dirty="0"/>
          </a:p>
        </p:txBody>
      </p:sp>
      <p:pic>
        <p:nvPicPr>
          <p:cNvPr id="2" name="Picture 1">
            <a:extLst>
              <a:ext uri="{FF2B5EF4-FFF2-40B4-BE49-F238E27FC236}">
                <a16:creationId xmlns:a16="http://schemas.microsoft.com/office/drawing/2014/main" id="{16901FCB-48D9-42B7-BA1F-BFF1D0EC4D83}"/>
              </a:ext>
            </a:extLst>
          </p:cNvPr>
          <p:cNvPicPr>
            <a:picLocks noChangeAspect="1"/>
          </p:cNvPicPr>
          <p:nvPr/>
        </p:nvPicPr>
        <p:blipFill rotWithShape="1">
          <a:blip r:embed="rId3"/>
          <a:srcRect l="12499" t="19897" r="37657" b="24348"/>
          <a:stretch/>
        </p:blipFill>
        <p:spPr>
          <a:xfrm>
            <a:off x="304799" y="1371600"/>
            <a:ext cx="8599378" cy="54108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868362"/>
          </a:xfrm>
        </p:spPr>
        <p:txBody>
          <a:bodyPr>
            <a:normAutofit/>
          </a:bodyPr>
          <a:lstStyle/>
          <a:p>
            <a:r>
              <a:rPr lang="en-US" sz="4000" dirty="0"/>
              <a:t>Window </a:t>
            </a:r>
            <a:r>
              <a:rPr lang="en-US" sz="4000" dirty="0">
                <a:hlinkClick r:id="rId2"/>
              </a:rPr>
              <a:t>console Object </a:t>
            </a:r>
            <a:r>
              <a:rPr lang="en-US" sz="4000" dirty="0"/>
              <a:t>- Example</a:t>
            </a:r>
          </a:p>
        </p:txBody>
      </p:sp>
      <p:sp>
        <p:nvSpPr>
          <p:cNvPr id="3" name="Content Placeholder 2"/>
          <p:cNvSpPr>
            <a:spLocks noGrp="1"/>
          </p:cNvSpPr>
          <p:nvPr>
            <p:ph idx="1"/>
          </p:nvPr>
        </p:nvSpPr>
        <p:spPr>
          <a:xfrm>
            <a:off x="457200" y="838200"/>
            <a:ext cx="8229600" cy="868362"/>
          </a:xfrm>
        </p:spPr>
        <p:txBody>
          <a:bodyPr>
            <a:normAutofit/>
          </a:bodyPr>
          <a:lstStyle/>
          <a:p>
            <a:pPr marL="457200" indent="-457200">
              <a:buFont typeface="+mj-lt"/>
              <a:buAutoNum type="arabicPeriod"/>
            </a:pPr>
            <a:r>
              <a:rPr lang="en-US" sz="2200" dirty="0"/>
              <a:t>The console object provides access to the browser's debugging console.</a:t>
            </a:r>
          </a:p>
        </p:txBody>
      </p:sp>
      <p:pic>
        <p:nvPicPr>
          <p:cNvPr id="5" name="Picture 4">
            <a:extLst>
              <a:ext uri="{FF2B5EF4-FFF2-40B4-BE49-F238E27FC236}">
                <a16:creationId xmlns:a16="http://schemas.microsoft.com/office/drawing/2014/main" id="{D5F78B52-2DC4-4343-B291-9F6075DDBC8A}"/>
              </a:ext>
            </a:extLst>
          </p:cNvPr>
          <p:cNvPicPr>
            <a:picLocks noChangeAspect="1"/>
          </p:cNvPicPr>
          <p:nvPr/>
        </p:nvPicPr>
        <p:blipFill rotWithShape="1">
          <a:blip r:embed="rId3"/>
          <a:srcRect l="14305" t="20371" r="21667" b="7037"/>
          <a:stretch/>
        </p:blipFill>
        <p:spPr>
          <a:xfrm>
            <a:off x="685800" y="1600200"/>
            <a:ext cx="8124961" cy="5181600"/>
          </a:xfrm>
          <a:prstGeom prst="rect">
            <a:avLst/>
          </a:prstGeom>
        </p:spPr>
      </p:pic>
    </p:spTree>
    <p:extLst>
      <p:ext uri="{BB962C8B-B14F-4D97-AF65-F5344CB8AC3E}">
        <p14:creationId xmlns:p14="http://schemas.microsoft.com/office/powerpoint/2010/main" val="6364826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AAEC2-6832-46E0-8858-E27C961D167C}"/>
              </a:ext>
            </a:extLst>
          </p:cNvPr>
          <p:cNvSpPr>
            <a:spLocks noGrp="1"/>
          </p:cNvSpPr>
          <p:nvPr>
            <p:ph type="title"/>
          </p:nvPr>
        </p:nvSpPr>
        <p:spPr>
          <a:xfrm>
            <a:off x="457200" y="76200"/>
            <a:ext cx="8229600" cy="655637"/>
          </a:xfrm>
        </p:spPr>
        <p:txBody>
          <a:bodyPr>
            <a:normAutofit fontScale="90000"/>
          </a:bodyPr>
          <a:lstStyle/>
          <a:p>
            <a:r>
              <a:rPr lang="en-US" dirty="0"/>
              <a:t>Window </a:t>
            </a:r>
            <a:r>
              <a:rPr lang="en-US" dirty="0">
                <a:latin typeface="Courier New" panose="02070309020205020404" pitchFamily="49" charset="0"/>
                <a:cs typeface="Courier New" panose="02070309020205020404" pitchFamily="49" charset="0"/>
                <a:hlinkClick r:id="rId2"/>
              </a:rPr>
              <a:t>console.log()</a:t>
            </a:r>
            <a:r>
              <a:rPr lang="en-US" dirty="0"/>
              <a:t> method</a:t>
            </a:r>
          </a:p>
        </p:txBody>
      </p:sp>
      <p:sp>
        <p:nvSpPr>
          <p:cNvPr id="3" name="Content Placeholder 2">
            <a:extLst>
              <a:ext uri="{FF2B5EF4-FFF2-40B4-BE49-F238E27FC236}">
                <a16:creationId xmlns:a16="http://schemas.microsoft.com/office/drawing/2014/main" id="{03BD7935-AF3F-46A1-8FC5-51CEFC07B399}"/>
              </a:ext>
            </a:extLst>
          </p:cNvPr>
          <p:cNvSpPr>
            <a:spLocks noGrp="1"/>
          </p:cNvSpPr>
          <p:nvPr>
            <p:ph idx="1"/>
          </p:nvPr>
        </p:nvSpPr>
        <p:spPr>
          <a:xfrm>
            <a:off x="457200" y="838201"/>
            <a:ext cx="8229600" cy="1600199"/>
          </a:xfrm>
        </p:spPr>
        <p:txBody>
          <a:bodyPr>
            <a:normAutofit fontScale="70000" lnSpcReduction="20000"/>
          </a:bodyPr>
          <a:lstStyle/>
          <a:p>
            <a:r>
              <a:rPr lang="en-US" dirty="0"/>
              <a:t>The </a:t>
            </a:r>
            <a:r>
              <a:rPr lang="en-US" dirty="0">
                <a:latin typeface="Courier New" panose="02070309020205020404" pitchFamily="49" charset="0"/>
                <a:cs typeface="Courier New" panose="02070309020205020404" pitchFamily="49" charset="0"/>
              </a:rPr>
              <a:t>console.log()</a:t>
            </a:r>
            <a:r>
              <a:rPr lang="en-US" dirty="0"/>
              <a:t>method writes a message to the console.</a:t>
            </a:r>
          </a:p>
          <a:p>
            <a:r>
              <a:rPr lang="en-US" sz="3100" dirty="0"/>
              <a:t>For example, if you write following JavaScript statement, then its console output will be:</a:t>
            </a:r>
          </a:p>
          <a:p>
            <a:r>
              <a:rPr lang="en-US" dirty="0">
                <a:latin typeface="Courier New" panose="02070309020205020404" pitchFamily="49" charset="0"/>
                <a:cs typeface="Courier New" panose="02070309020205020404" pitchFamily="49" charset="0"/>
              </a:rPr>
              <a:t>console.log("Hello world!");</a:t>
            </a:r>
          </a:p>
          <a:p>
            <a:endParaRPr lang="en-US" dirty="0"/>
          </a:p>
        </p:txBody>
      </p:sp>
      <p:pic>
        <p:nvPicPr>
          <p:cNvPr id="6" name="Picture 5">
            <a:extLst>
              <a:ext uri="{FF2B5EF4-FFF2-40B4-BE49-F238E27FC236}">
                <a16:creationId xmlns:a16="http://schemas.microsoft.com/office/drawing/2014/main" id="{F8D1E20D-3980-4DD3-9A65-AC5FB9310F17}"/>
              </a:ext>
            </a:extLst>
          </p:cNvPr>
          <p:cNvPicPr>
            <a:picLocks noChangeAspect="1"/>
          </p:cNvPicPr>
          <p:nvPr/>
        </p:nvPicPr>
        <p:blipFill rotWithShape="1">
          <a:blip r:embed="rId3"/>
          <a:srcRect l="63333" t="8519" b="58889"/>
          <a:stretch/>
        </p:blipFill>
        <p:spPr>
          <a:xfrm>
            <a:off x="2057400" y="2667000"/>
            <a:ext cx="5257800" cy="2628900"/>
          </a:xfrm>
          <a:prstGeom prst="rect">
            <a:avLst/>
          </a:prstGeom>
        </p:spPr>
      </p:pic>
    </p:spTree>
    <p:extLst>
      <p:ext uri="{BB962C8B-B14F-4D97-AF65-F5344CB8AC3E}">
        <p14:creationId xmlns:p14="http://schemas.microsoft.com/office/powerpoint/2010/main" val="1815540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C6C72-1921-49E8-86A7-51877E450125}"/>
              </a:ext>
            </a:extLst>
          </p:cNvPr>
          <p:cNvSpPr>
            <a:spLocks noGrp="1"/>
          </p:cNvSpPr>
          <p:nvPr>
            <p:ph type="title"/>
          </p:nvPr>
        </p:nvSpPr>
        <p:spPr>
          <a:xfrm>
            <a:off x="457200" y="76200"/>
            <a:ext cx="8229600" cy="715962"/>
          </a:xfrm>
        </p:spPr>
        <p:txBody>
          <a:bodyPr>
            <a:normAutofit fontScale="90000"/>
          </a:bodyPr>
          <a:lstStyle/>
          <a:p>
            <a:r>
              <a:rPr lang="en-US" dirty="0"/>
              <a:t>Window </a:t>
            </a:r>
            <a:r>
              <a:rPr lang="en-US" dirty="0">
                <a:hlinkClick r:id="rId2"/>
              </a:rPr>
              <a:t>location Object </a:t>
            </a:r>
            <a:r>
              <a:rPr lang="en-US" dirty="0"/>
              <a:t>- Example</a:t>
            </a:r>
          </a:p>
        </p:txBody>
      </p:sp>
      <p:sp>
        <p:nvSpPr>
          <p:cNvPr id="3" name="Content Placeholder 2">
            <a:extLst>
              <a:ext uri="{FF2B5EF4-FFF2-40B4-BE49-F238E27FC236}">
                <a16:creationId xmlns:a16="http://schemas.microsoft.com/office/drawing/2014/main" id="{C2158F36-326F-4E01-A81E-0022EB3DF030}"/>
              </a:ext>
            </a:extLst>
          </p:cNvPr>
          <p:cNvSpPr>
            <a:spLocks noGrp="1"/>
          </p:cNvSpPr>
          <p:nvPr>
            <p:ph idx="1"/>
          </p:nvPr>
        </p:nvSpPr>
        <p:spPr>
          <a:xfrm>
            <a:off x="457200" y="838200"/>
            <a:ext cx="8229600" cy="5943600"/>
          </a:xfrm>
        </p:spPr>
        <p:txBody>
          <a:bodyPr>
            <a:normAutofit/>
          </a:bodyPr>
          <a:lstStyle/>
          <a:p>
            <a:pPr marL="457200" indent="-457200">
              <a:buFont typeface="+mj-lt"/>
              <a:buAutoNum type="arabicPeriod"/>
            </a:pPr>
            <a:r>
              <a:rPr lang="en-US" sz="2200" dirty="0"/>
              <a:t>The location object contains information about the current URL.</a:t>
            </a:r>
          </a:p>
          <a:p>
            <a:pPr marL="457200" indent="-457200">
              <a:buFont typeface="+mj-lt"/>
              <a:buAutoNum type="arabicPeriod"/>
            </a:pPr>
            <a:r>
              <a:rPr lang="en-US" sz="2200" dirty="0"/>
              <a:t>The location object is part of the window object and is accessed through the </a:t>
            </a:r>
            <a:r>
              <a:rPr lang="en-US" sz="2200" dirty="0" err="1">
                <a:latin typeface="Courier New" panose="02070309020205020404" pitchFamily="49" charset="0"/>
                <a:cs typeface="Courier New" panose="02070309020205020404" pitchFamily="49" charset="0"/>
              </a:rPr>
              <a:t>window.location</a:t>
            </a:r>
            <a:r>
              <a:rPr lang="en-US" sz="2200" dirty="0">
                <a:latin typeface="Courier New" panose="02070309020205020404" pitchFamily="49" charset="0"/>
                <a:cs typeface="Courier New" panose="02070309020205020404" pitchFamily="49" charset="0"/>
              </a:rPr>
              <a:t> </a:t>
            </a:r>
            <a:r>
              <a:rPr lang="en-US" sz="2200"/>
              <a:t>property</a:t>
            </a:r>
            <a:r>
              <a:rPr lang="en-US" sz="2200" dirty="0"/>
              <a:t>.</a:t>
            </a:r>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endParaRPr lang="en-US" sz="2200" dirty="0"/>
          </a:p>
          <a:p>
            <a:pPr marL="514350" indent="-514350">
              <a:buFont typeface="+mj-lt"/>
              <a:buAutoNum type="arabicPeriod"/>
            </a:pPr>
            <a:r>
              <a:rPr lang="en-US" sz="2200" dirty="0"/>
              <a:t>The following statement redirects user to www.comsats.edu.pk.</a:t>
            </a:r>
          </a:p>
          <a:p>
            <a:pPr lvl="1"/>
            <a:r>
              <a:rPr lang="nl-NL" sz="2200" dirty="0">
                <a:latin typeface="Courier New" panose="02070309020205020404" pitchFamily="49" charset="0"/>
                <a:cs typeface="Courier New" panose="02070309020205020404" pitchFamily="49" charset="0"/>
              </a:rPr>
              <a:t>window.location.assign("http://www.comsats.edu.pk");</a:t>
            </a:r>
            <a:endParaRPr lang="en-US" sz="2200" dirty="0"/>
          </a:p>
          <a:p>
            <a:endParaRPr lang="en-US" dirty="0"/>
          </a:p>
        </p:txBody>
      </p:sp>
      <p:pic>
        <p:nvPicPr>
          <p:cNvPr id="4" name="Picture 3">
            <a:extLst>
              <a:ext uri="{FF2B5EF4-FFF2-40B4-BE49-F238E27FC236}">
                <a16:creationId xmlns:a16="http://schemas.microsoft.com/office/drawing/2014/main" id="{91356167-A124-4C84-A288-B2724362DA33}"/>
              </a:ext>
            </a:extLst>
          </p:cNvPr>
          <p:cNvPicPr>
            <a:picLocks noChangeAspect="1"/>
          </p:cNvPicPr>
          <p:nvPr/>
        </p:nvPicPr>
        <p:blipFill rotWithShape="1">
          <a:blip r:embed="rId3"/>
          <a:srcRect l="17500" t="44074" r="36666" b="26296"/>
          <a:stretch/>
        </p:blipFill>
        <p:spPr>
          <a:xfrm>
            <a:off x="5257800" y="2362200"/>
            <a:ext cx="5238750" cy="1905000"/>
          </a:xfrm>
          <a:prstGeom prst="rect">
            <a:avLst/>
          </a:prstGeom>
        </p:spPr>
      </p:pic>
      <p:pic>
        <p:nvPicPr>
          <p:cNvPr id="5" name="Picture 4">
            <a:extLst>
              <a:ext uri="{FF2B5EF4-FFF2-40B4-BE49-F238E27FC236}">
                <a16:creationId xmlns:a16="http://schemas.microsoft.com/office/drawing/2014/main" id="{1D8D04D4-72AE-4585-BD89-EA2250B7F486}"/>
              </a:ext>
            </a:extLst>
          </p:cNvPr>
          <p:cNvPicPr>
            <a:picLocks noChangeAspect="1"/>
          </p:cNvPicPr>
          <p:nvPr/>
        </p:nvPicPr>
        <p:blipFill rotWithShape="1">
          <a:blip r:embed="rId4"/>
          <a:srcRect l="17500" t="15926" r="37500" b="29260"/>
          <a:stretch/>
        </p:blipFill>
        <p:spPr>
          <a:xfrm>
            <a:off x="5993" y="2019300"/>
            <a:ext cx="5171303" cy="3543300"/>
          </a:xfrm>
          <a:prstGeom prst="rect">
            <a:avLst/>
          </a:prstGeom>
        </p:spPr>
      </p:pic>
    </p:spTree>
    <p:extLst>
      <p:ext uri="{BB962C8B-B14F-4D97-AF65-F5344CB8AC3E}">
        <p14:creationId xmlns:p14="http://schemas.microsoft.com/office/powerpoint/2010/main" val="2992986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B0255-420D-4951-90E8-ACD40925F1AF}"/>
              </a:ext>
            </a:extLst>
          </p:cNvPr>
          <p:cNvSpPr>
            <a:spLocks noGrp="1"/>
          </p:cNvSpPr>
          <p:nvPr>
            <p:ph type="title"/>
          </p:nvPr>
        </p:nvSpPr>
        <p:spPr>
          <a:xfrm>
            <a:off x="457200" y="76200"/>
            <a:ext cx="8229600" cy="715962"/>
          </a:xfrm>
        </p:spPr>
        <p:txBody>
          <a:bodyPr>
            <a:normAutofit fontScale="90000"/>
          </a:bodyPr>
          <a:lstStyle/>
          <a:p>
            <a:r>
              <a:rPr lang="en-US" dirty="0"/>
              <a:t>Window </a:t>
            </a:r>
            <a:r>
              <a:rPr lang="en-US" dirty="0">
                <a:hlinkClick r:id="rId3"/>
              </a:rPr>
              <a:t>navigator Object </a:t>
            </a:r>
            <a:r>
              <a:rPr lang="en-US" dirty="0"/>
              <a:t>- Example</a:t>
            </a:r>
          </a:p>
        </p:txBody>
      </p:sp>
      <p:sp>
        <p:nvSpPr>
          <p:cNvPr id="3" name="Content Placeholder 2">
            <a:extLst>
              <a:ext uri="{FF2B5EF4-FFF2-40B4-BE49-F238E27FC236}">
                <a16:creationId xmlns:a16="http://schemas.microsoft.com/office/drawing/2014/main" id="{6A235A28-9F7E-4AF7-BDCB-A6CFB00AD0A6}"/>
              </a:ext>
            </a:extLst>
          </p:cNvPr>
          <p:cNvSpPr>
            <a:spLocks noGrp="1"/>
          </p:cNvSpPr>
          <p:nvPr>
            <p:ph idx="1"/>
          </p:nvPr>
        </p:nvSpPr>
        <p:spPr>
          <a:xfrm>
            <a:off x="457200" y="838200"/>
            <a:ext cx="8229600" cy="715963"/>
          </a:xfrm>
        </p:spPr>
        <p:txBody>
          <a:bodyPr>
            <a:normAutofit/>
          </a:bodyPr>
          <a:lstStyle/>
          <a:p>
            <a:pPr marL="514350" indent="-514350">
              <a:buFont typeface="+mj-lt"/>
              <a:buAutoNum type="arabicPeriod"/>
            </a:pPr>
            <a:r>
              <a:rPr lang="en-US" sz="2200" dirty="0"/>
              <a:t>The navigator object contains information about the browser.</a:t>
            </a:r>
          </a:p>
        </p:txBody>
      </p:sp>
      <p:pic>
        <p:nvPicPr>
          <p:cNvPr id="7" name="Picture 6">
            <a:extLst>
              <a:ext uri="{FF2B5EF4-FFF2-40B4-BE49-F238E27FC236}">
                <a16:creationId xmlns:a16="http://schemas.microsoft.com/office/drawing/2014/main" id="{700BC7F4-BDA4-4E54-A582-06ED95929812}"/>
              </a:ext>
            </a:extLst>
          </p:cNvPr>
          <p:cNvPicPr>
            <a:picLocks noChangeAspect="1"/>
          </p:cNvPicPr>
          <p:nvPr/>
        </p:nvPicPr>
        <p:blipFill rotWithShape="1">
          <a:blip r:embed="rId4"/>
          <a:srcRect l="17500" t="23333" r="25000" b="14445"/>
          <a:stretch/>
        </p:blipFill>
        <p:spPr>
          <a:xfrm>
            <a:off x="837533" y="1361598"/>
            <a:ext cx="7468933" cy="4546307"/>
          </a:xfrm>
          <a:prstGeom prst="rect">
            <a:avLst/>
          </a:prstGeom>
        </p:spPr>
      </p:pic>
      <p:sp>
        <p:nvSpPr>
          <p:cNvPr id="8" name="Rectangle 7">
            <a:extLst>
              <a:ext uri="{FF2B5EF4-FFF2-40B4-BE49-F238E27FC236}">
                <a16:creationId xmlns:a16="http://schemas.microsoft.com/office/drawing/2014/main" id="{29E77C32-D6C6-4AAE-818C-52DBEB883A32}"/>
              </a:ext>
            </a:extLst>
          </p:cNvPr>
          <p:cNvSpPr/>
          <p:nvPr/>
        </p:nvSpPr>
        <p:spPr>
          <a:xfrm>
            <a:off x="381000" y="6012359"/>
            <a:ext cx="8610600" cy="769441"/>
          </a:xfrm>
          <a:prstGeom prst="rect">
            <a:avLst/>
          </a:prstGeom>
        </p:spPr>
        <p:txBody>
          <a:bodyPr wrap="square">
            <a:spAutoFit/>
          </a:bodyPr>
          <a:lstStyle/>
          <a:p>
            <a:pPr marL="514350" indent="-514350">
              <a:buFont typeface="+mj-lt"/>
              <a:buAutoNum type="arabicPeriod"/>
            </a:pPr>
            <a:r>
              <a:rPr lang="en-US" sz="2200" dirty="0"/>
              <a:t>The following statement returns the name of browser.</a:t>
            </a:r>
          </a:p>
          <a:p>
            <a:pPr lvl="1"/>
            <a:r>
              <a:rPr lang="nl-NL" sz="2200" dirty="0">
                <a:latin typeface="Courier New" panose="02070309020205020404" pitchFamily="49" charset="0"/>
                <a:cs typeface="Courier New" panose="02070309020205020404" pitchFamily="49" charset="0"/>
              </a:rPr>
              <a:t>var x = "Browser Name: " + navigator.appName;</a:t>
            </a:r>
            <a:endParaRPr lang="en-US" sz="2200" dirty="0"/>
          </a:p>
        </p:txBody>
      </p:sp>
    </p:spTree>
    <p:extLst>
      <p:ext uri="{BB962C8B-B14F-4D97-AF65-F5344CB8AC3E}">
        <p14:creationId xmlns:p14="http://schemas.microsoft.com/office/powerpoint/2010/main" val="37462070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D00FC-DDE8-4139-B0FB-3008A174B4D4}"/>
              </a:ext>
            </a:extLst>
          </p:cNvPr>
          <p:cNvSpPr>
            <a:spLocks noGrp="1"/>
          </p:cNvSpPr>
          <p:nvPr>
            <p:ph type="title"/>
          </p:nvPr>
        </p:nvSpPr>
        <p:spPr>
          <a:xfrm>
            <a:off x="457200" y="152400"/>
            <a:ext cx="8229600" cy="563562"/>
          </a:xfrm>
        </p:spPr>
        <p:txBody>
          <a:bodyPr>
            <a:normAutofit fontScale="90000"/>
          </a:bodyPr>
          <a:lstStyle/>
          <a:p>
            <a:r>
              <a:rPr lang="en-US" dirty="0">
                <a:hlinkClick r:id="rId3"/>
              </a:rPr>
              <a:t>Windows Object Methods</a:t>
            </a:r>
            <a:endParaRPr lang="en-US" dirty="0"/>
          </a:p>
        </p:txBody>
      </p:sp>
      <p:sp>
        <p:nvSpPr>
          <p:cNvPr id="3" name="Content Placeholder 2">
            <a:extLst>
              <a:ext uri="{FF2B5EF4-FFF2-40B4-BE49-F238E27FC236}">
                <a16:creationId xmlns:a16="http://schemas.microsoft.com/office/drawing/2014/main" id="{2663AF67-EB98-4A19-B289-CA0003A1FE09}"/>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2D5CEE7C-C007-4C6A-A3FC-EF9A139030C3}"/>
              </a:ext>
            </a:extLst>
          </p:cNvPr>
          <p:cNvPicPr>
            <a:picLocks noChangeAspect="1"/>
          </p:cNvPicPr>
          <p:nvPr/>
        </p:nvPicPr>
        <p:blipFill rotWithShape="1">
          <a:blip r:embed="rId4"/>
          <a:srcRect l="12500" t="18771" r="38333" b="17002"/>
          <a:stretch/>
        </p:blipFill>
        <p:spPr>
          <a:xfrm>
            <a:off x="457200" y="731837"/>
            <a:ext cx="8229600" cy="6047340"/>
          </a:xfrm>
          <a:prstGeom prst="rect">
            <a:avLst/>
          </a:prstGeom>
        </p:spPr>
      </p:pic>
    </p:spTree>
    <p:extLst>
      <p:ext uri="{BB962C8B-B14F-4D97-AF65-F5344CB8AC3E}">
        <p14:creationId xmlns:p14="http://schemas.microsoft.com/office/powerpoint/2010/main" val="2362494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C8434-2AFA-4C12-817E-1D33D4778ECB}"/>
              </a:ext>
            </a:extLst>
          </p:cNvPr>
          <p:cNvSpPr>
            <a:spLocks noGrp="1"/>
          </p:cNvSpPr>
          <p:nvPr>
            <p:ph type="title"/>
          </p:nvPr>
        </p:nvSpPr>
        <p:spPr>
          <a:xfrm>
            <a:off x="457200" y="76201"/>
            <a:ext cx="8229600" cy="457199"/>
          </a:xfrm>
        </p:spPr>
        <p:txBody>
          <a:bodyPr>
            <a:normAutofit fontScale="90000"/>
          </a:bodyPr>
          <a:lstStyle/>
          <a:p>
            <a:r>
              <a:rPr lang="en-US" sz="4000" dirty="0">
                <a:latin typeface="Courier New" panose="02070309020205020404" pitchFamily="49" charset="0"/>
                <a:cs typeface="Courier New" panose="02070309020205020404" pitchFamily="49" charset="0"/>
              </a:rPr>
              <a:t>alert()</a:t>
            </a:r>
          </a:p>
        </p:txBody>
      </p:sp>
      <p:sp>
        <p:nvSpPr>
          <p:cNvPr id="3" name="Content Placeholder 2">
            <a:extLst>
              <a:ext uri="{FF2B5EF4-FFF2-40B4-BE49-F238E27FC236}">
                <a16:creationId xmlns:a16="http://schemas.microsoft.com/office/drawing/2014/main" id="{AEFD6399-633F-42F2-8DED-FE9703C8D3A2}"/>
              </a:ext>
            </a:extLst>
          </p:cNvPr>
          <p:cNvSpPr>
            <a:spLocks noGrp="1"/>
          </p:cNvSpPr>
          <p:nvPr>
            <p:ph idx="1"/>
          </p:nvPr>
        </p:nvSpPr>
        <p:spPr>
          <a:xfrm>
            <a:off x="228600" y="2094571"/>
            <a:ext cx="8229600" cy="4525963"/>
          </a:xfrm>
        </p:spPr>
        <p:txBody>
          <a:bodyPr>
            <a:normAutofit fontScale="55000" lnSpcReduction="20000"/>
          </a:bodyPr>
          <a:lstStyle/>
          <a:p>
            <a:r>
              <a:rPr lang="en-US" dirty="0">
                <a:latin typeface="Courier New" panose="02070309020205020404" pitchFamily="49" charset="0"/>
                <a:cs typeface="Courier New" panose="02070309020205020404" pitchFamily="49" charset="0"/>
              </a:rPr>
              <a:t>&lt;!DOCTYPE html&gt;</a:t>
            </a:r>
          </a:p>
          <a:p>
            <a:r>
              <a:rPr lang="en-US" dirty="0">
                <a:latin typeface="Courier New" panose="02070309020205020404" pitchFamily="49" charset="0"/>
                <a:cs typeface="Courier New" panose="02070309020205020404" pitchFamily="49" charset="0"/>
              </a:rPr>
              <a:t>&lt;html&gt;</a:t>
            </a:r>
          </a:p>
          <a:p>
            <a:r>
              <a:rPr lang="en-US" dirty="0">
                <a:latin typeface="Courier New" panose="02070309020205020404" pitchFamily="49" charset="0"/>
                <a:cs typeface="Courier New" panose="02070309020205020404" pitchFamily="49" charset="0"/>
              </a:rPr>
              <a:t>&lt;body&gt;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&lt;h2&gt;JavaScript Alert&lt;/h2&gt;</a:t>
            </a:r>
          </a:p>
          <a:p>
            <a:r>
              <a:rPr lang="en-US" dirty="0">
                <a:latin typeface="Courier New" panose="02070309020205020404" pitchFamily="49" charset="0"/>
                <a:cs typeface="Courier New" panose="02070309020205020404" pitchFamily="49" charset="0"/>
              </a:rPr>
              <a:t>&lt;button onclick="</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()"&gt;Try it&lt;/button&gt;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&lt;script&gt;</a:t>
            </a:r>
          </a:p>
          <a:p>
            <a:r>
              <a:rPr lang="en-US" dirty="0">
                <a:latin typeface="Courier New" panose="02070309020205020404" pitchFamily="49" charset="0"/>
                <a:cs typeface="Courier New" panose="02070309020205020404" pitchFamily="49" charset="0"/>
              </a:rPr>
              <a:t>function </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alert("I am an alert box!");</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&lt;/script&gt;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&lt;/body&gt;</a:t>
            </a:r>
          </a:p>
          <a:p>
            <a:r>
              <a:rPr lang="en-US" dirty="0">
                <a:latin typeface="Courier New" panose="02070309020205020404" pitchFamily="49" charset="0"/>
                <a:cs typeface="Courier New" panose="02070309020205020404" pitchFamily="49" charset="0"/>
              </a:rPr>
              <a:t>&lt;/html&gt;</a:t>
            </a:r>
          </a:p>
        </p:txBody>
      </p:sp>
      <p:pic>
        <p:nvPicPr>
          <p:cNvPr id="4" name="Picture 3">
            <a:extLst>
              <a:ext uri="{FF2B5EF4-FFF2-40B4-BE49-F238E27FC236}">
                <a16:creationId xmlns:a16="http://schemas.microsoft.com/office/drawing/2014/main" id="{722FEAC4-66FE-4379-9B0B-3BDF553670E3}"/>
              </a:ext>
            </a:extLst>
          </p:cNvPr>
          <p:cNvPicPr>
            <a:picLocks noChangeAspect="1"/>
          </p:cNvPicPr>
          <p:nvPr/>
        </p:nvPicPr>
        <p:blipFill rotWithShape="1">
          <a:blip r:embed="rId2"/>
          <a:srcRect l="33334" t="5555" r="32500" b="72222"/>
          <a:stretch/>
        </p:blipFill>
        <p:spPr>
          <a:xfrm>
            <a:off x="4648200" y="5105400"/>
            <a:ext cx="4267200" cy="1561171"/>
          </a:xfrm>
          <a:prstGeom prst="rect">
            <a:avLst/>
          </a:prstGeom>
        </p:spPr>
      </p:pic>
      <p:sp>
        <p:nvSpPr>
          <p:cNvPr id="5" name="Rectangle 4">
            <a:extLst>
              <a:ext uri="{FF2B5EF4-FFF2-40B4-BE49-F238E27FC236}">
                <a16:creationId xmlns:a16="http://schemas.microsoft.com/office/drawing/2014/main" id="{E6D7D211-B715-4B5C-8EAA-66C66F04B548}"/>
              </a:ext>
            </a:extLst>
          </p:cNvPr>
          <p:cNvSpPr/>
          <p:nvPr/>
        </p:nvSpPr>
        <p:spPr>
          <a:xfrm>
            <a:off x="457200" y="657761"/>
            <a:ext cx="8534400" cy="1323439"/>
          </a:xfrm>
          <a:prstGeom prst="rect">
            <a:avLst/>
          </a:prstGeom>
        </p:spPr>
        <p:txBody>
          <a:bodyPr wrap="square">
            <a:spAutoFit/>
          </a:bodyPr>
          <a:lstStyle/>
          <a:p>
            <a:pPr marL="342900" indent="-342900">
              <a:buFont typeface="+mj-lt"/>
              <a:buAutoNum type="arabicPeriod"/>
            </a:pPr>
            <a:r>
              <a:rPr lang="en-US" sz="2000" dirty="0"/>
              <a:t>The </a:t>
            </a:r>
            <a:r>
              <a:rPr lang="en-US" sz="2000" dirty="0">
                <a:latin typeface="Courier New" panose="02070309020205020404" pitchFamily="49" charset="0"/>
                <a:cs typeface="Courier New" panose="02070309020205020404" pitchFamily="49" charset="0"/>
              </a:rPr>
              <a:t>alert()</a:t>
            </a:r>
            <a:r>
              <a:rPr lang="en-US" sz="2000" dirty="0"/>
              <a:t>method displays an alert box with a specified message and an </a:t>
            </a:r>
            <a:r>
              <a:rPr lang="en-US" sz="2000" dirty="0">
                <a:latin typeface="Courier New" panose="02070309020205020404" pitchFamily="49" charset="0"/>
                <a:cs typeface="Courier New" panose="02070309020205020404" pitchFamily="49" charset="0"/>
              </a:rPr>
              <a:t>OK</a:t>
            </a:r>
            <a:r>
              <a:rPr lang="en-US" sz="2000" dirty="0"/>
              <a:t> button.</a:t>
            </a:r>
          </a:p>
          <a:p>
            <a:pPr marL="342900" indent="-342900">
              <a:buFont typeface="+mj-lt"/>
              <a:buAutoNum type="arabicPeriod"/>
            </a:pPr>
            <a:r>
              <a:rPr lang="en-US" sz="2000" dirty="0"/>
              <a:t>An alert box is often used if you want to make sure information comes through to the user.</a:t>
            </a:r>
          </a:p>
        </p:txBody>
      </p:sp>
    </p:spTree>
    <p:extLst>
      <p:ext uri="{BB962C8B-B14F-4D97-AF65-F5344CB8AC3E}">
        <p14:creationId xmlns:p14="http://schemas.microsoft.com/office/powerpoint/2010/main" val="99045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FA9CE-B3A3-4AA8-BC7F-12F8AC1FB08B}"/>
              </a:ext>
            </a:extLst>
          </p:cNvPr>
          <p:cNvSpPr>
            <a:spLocks noGrp="1"/>
          </p:cNvSpPr>
          <p:nvPr>
            <p:ph type="title"/>
          </p:nvPr>
        </p:nvSpPr>
        <p:spPr>
          <a:xfrm>
            <a:off x="457200" y="76200"/>
            <a:ext cx="8229600" cy="563562"/>
          </a:xfrm>
        </p:spPr>
        <p:txBody>
          <a:bodyPr>
            <a:noAutofit/>
          </a:bodyPr>
          <a:lstStyle/>
          <a:p>
            <a:r>
              <a:rPr lang="en-US" sz="3600" dirty="0">
                <a:latin typeface="Courier New" panose="02070309020205020404" pitchFamily="49" charset="0"/>
                <a:cs typeface="Courier New" panose="02070309020205020404" pitchFamily="49" charset="0"/>
              </a:rPr>
              <a:t>confirm()</a:t>
            </a:r>
          </a:p>
        </p:txBody>
      </p:sp>
      <p:sp>
        <p:nvSpPr>
          <p:cNvPr id="3" name="Content Placeholder 2">
            <a:extLst>
              <a:ext uri="{FF2B5EF4-FFF2-40B4-BE49-F238E27FC236}">
                <a16:creationId xmlns:a16="http://schemas.microsoft.com/office/drawing/2014/main" id="{F6A5AA51-B3FF-4DB4-AAA4-5F24E8E72CFD}"/>
              </a:ext>
            </a:extLst>
          </p:cNvPr>
          <p:cNvSpPr>
            <a:spLocks noGrp="1"/>
          </p:cNvSpPr>
          <p:nvPr>
            <p:ph idx="1"/>
          </p:nvPr>
        </p:nvSpPr>
        <p:spPr>
          <a:xfrm>
            <a:off x="18167" y="2438400"/>
            <a:ext cx="8988672" cy="4456943"/>
          </a:xfrm>
        </p:spPr>
        <p:txBody>
          <a:bodyPr>
            <a:normAutofit fontScale="55000" lnSpcReduction="20000"/>
          </a:bodyPr>
          <a:lstStyle/>
          <a:p>
            <a:r>
              <a:rPr lang="en-US" dirty="0">
                <a:latin typeface="Courier New" panose="02070309020205020404" pitchFamily="49" charset="0"/>
                <a:cs typeface="Courier New" panose="02070309020205020404" pitchFamily="49" charset="0"/>
              </a:rPr>
              <a:t>&lt;body&gt;</a:t>
            </a:r>
          </a:p>
          <a:p>
            <a:r>
              <a:rPr lang="en-US" dirty="0">
                <a:latin typeface="Courier New" panose="02070309020205020404" pitchFamily="49" charset="0"/>
                <a:cs typeface="Courier New" panose="02070309020205020404" pitchFamily="49" charset="0"/>
              </a:rPr>
              <a:t>&lt;h2&gt;JavaScript Confirm Box&lt;/h2&gt;</a:t>
            </a:r>
          </a:p>
          <a:p>
            <a:r>
              <a:rPr lang="en-US" dirty="0">
                <a:latin typeface="Courier New" panose="02070309020205020404" pitchFamily="49" charset="0"/>
                <a:cs typeface="Courier New" panose="02070309020205020404" pitchFamily="49" charset="0"/>
              </a:rPr>
              <a:t>&lt;button onclick="</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()"&gt;Try it&lt;/button&gt;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&lt;p id="demo"&gt;&lt;/p&gt;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&lt;script&gt;</a:t>
            </a:r>
          </a:p>
          <a:p>
            <a:r>
              <a:rPr lang="en-US" dirty="0">
                <a:latin typeface="Courier New" panose="02070309020205020404" pitchFamily="49" charset="0"/>
                <a:cs typeface="Courier New" panose="02070309020205020404" pitchFamily="49" charset="0"/>
              </a:rPr>
              <a:t>function </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 {</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if (confirm("Press a button!")) {</a:t>
            </a:r>
          </a:p>
          <a:p>
            <a:r>
              <a:rPr lang="en-US" dirty="0">
                <a:latin typeface="Courier New" panose="02070309020205020404" pitchFamily="49" charset="0"/>
                <a:cs typeface="Courier New" panose="02070309020205020404" pitchFamily="49" charset="0"/>
              </a:rPr>
              <a:t>    alert("You pressed OK!"); }</a:t>
            </a:r>
          </a:p>
          <a:p>
            <a:r>
              <a:rPr lang="en-US" dirty="0">
                <a:latin typeface="Courier New" panose="02070309020205020404" pitchFamily="49" charset="0"/>
                <a:cs typeface="Courier New" panose="02070309020205020404" pitchFamily="49" charset="0"/>
              </a:rPr>
              <a:t>else {</a:t>
            </a:r>
          </a:p>
          <a:p>
            <a:pPr marL="400050" lvl="2" indent="0">
              <a:buNone/>
            </a:pPr>
            <a:r>
              <a:rPr lang="en-US" sz="2800" dirty="0">
                <a:latin typeface="Courier New" panose="02070309020205020404" pitchFamily="49" charset="0"/>
                <a:cs typeface="Courier New" panose="02070309020205020404" pitchFamily="49" charset="0"/>
              </a:rPr>
              <a:t>    </a:t>
            </a:r>
            <a:r>
              <a:rPr lang="en-US" sz="3200" dirty="0">
                <a:latin typeface="Courier New" panose="02070309020205020404" pitchFamily="49" charset="0"/>
                <a:cs typeface="Courier New" panose="02070309020205020404" pitchFamily="49" charset="0"/>
              </a:rPr>
              <a:t>alert(" You pressed Cancel!"); }</a:t>
            </a: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&lt;/script&gt;</a:t>
            </a:r>
          </a:p>
          <a:p>
            <a:r>
              <a:rPr lang="en-US" dirty="0">
                <a:latin typeface="Courier New" panose="02070309020205020404" pitchFamily="49" charset="0"/>
                <a:cs typeface="Courier New" panose="02070309020205020404" pitchFamily="49" charset="0"/>
              </a:rPr>
              <a:t>&lt;/body&gt;</a:t>
            </a:r>
          </a:p>
        </p:txBody>
      </p:sp>
      <p:pic>
        <p:nvPicPr>
          <p:cNvPr id="4" name="Picture 3">
            <a:extLst>
              <a:ext uri="{FF2B5EF4-FFF2-40B4-BE49-F238E27FC236}">
                <a16:creationId xmlns:a16="http://schemas.microsoft.com/office/drawing/2014/main" id="{23D0EC4A-07C7-4BBF-8423-A9E8DDAEDD8A}"/>
              </a:ext>
            </a:extLst>
          </p:cNvPr>
          <p:cNvPicPr>
            <a:picLocks noChangeAspect="1"/>
          </p:cNvPicPr>
          <p:nvPr/>
        </p:nvPicPr>
        <p:blipFill rotWithShape="1">
          <a:blip r:embed="rId2"/>
          <a:srcRect l="32500" t="5555" r="32500" b="72222"/>
          <a:stretch/>
        </p:blipFill>
        <p:spPr>
          <a:xfrm>
            <a:off x="5071994" y="3429000"/>
            <a:ext cx="4053839" cy="1447800"/>
          </a:xfrm>
          <a:prstGeom prst="rect">
            <a:avLst/>
          </a:prstGeom>
        </p:spPr>
      </p:pic>
      <p:sp>
        <p:nvSpPr>
          <p:cNvPr id="5" name="Rectangle 4">
            <a:extLst>
              <a:ext uri="{FF2B5EF4-FFF2-40B4-BE49-F238E27FC236}">
                <a16:creationId xmlns:a16="http://schemas.microsoft.com/office/drawing/2014/main" id="{F04420BA-BE43-42C7-85A8-E5BA97238374}"/>
              </a:ext>
            </a:extLst>
          </p:cNvPr>
          <p:cNvSpPr/>
          <p:nvPr/>
        </p:nvSpPr>
        <p:spPr>
          <a:xfrm>
            <a:off x="441556" y="609600"/>
            <a:ext cx="8397644" cy="1938992"/>
          </a:xfrm>
          <a:prstGeom prst="rect">
            <a:avLst/>
          </a:prstGeom>
        </p:spPr>
        <p:txBody>
          <a:bodyPr wrap="square">
            <a:spAutoFit/>
          </a:bodyPr>
          <a:lstStyle/>
          <a:p>
            <a:pPr marL="342900" indent="-342900">
              <a:buFont typeface="+mj-lt"/>
              <a:buAutoNum type="arabicPeriod"/>
            </a:pPr>
            <a:r>
              <a:rPr lang="en-US" sz="2000" dirty="0"/>
              <a:t>The </a:t>
            </a:r>
            <a:r>
              <a:rPr lang="en-US" sz="2000" dirty="0">
                <a:latin typeface="Courier New" panose="02070309020205020404" pitchFamily="49" charset="0"/>
                <a:cs typeface="Courier New" panose="02070309020205020404" pitchFamily="49" charset="0"/>
              </a:rPr>
              <a:t>confirm()</a:t>
            </a:r>
            <a:r>
              <a:rPr lang="en-US" sz="2000" dirty="0"/>
              <a:t>method displays a dialog box with a specified message, along with an </a:t>
            </a:r>
            <a:r>
              <a:rPr lang="en-US" sz="2000" dirty="0">
                <a:latin typeface="Courier New" panose="02070309020205020404" pitchFamily="49" charset="0"/>
                <a:cs typeface="Courier New" panose="02070309020205020404" pitchFamily="49" charset="0"/>
              </a:rPr>
              <a:t>OK</a:t>
            </a:r>
            <a:r>
              <a:rPr lang="en-US" sz="2000" dirty="0"/>
              <a:t> and a </a:t>
            </a:r>
            <a:r>
              <a:rPr lang="en-US" sz="2000" dirty="0">
                <a:latin typeface="Courier New" panose="02070309020205020404" pitchFamily="49" charset="0"/>
                <a:cs typeface="Courier New" panose="02070309020205020404" pitchFamily="49" charset="0"/>
              </a:rPr>
              <a:t>Cancel</a:t>
            </a:r>
            <a:r>
              <a:rPr lang="en-US" sz="2000" dirty="0"/>
              <a:t> buttons.</a:t>
            </a:r>
          </a:p>
          <a:p>
            <a:pPr marL="342900" indent="-342900">
              <a:buFont typeface="+mj-lt"/>
              <a:buAutoNum type="arabicPeriod"/>
            </a:pPr>
            <a:r>
              <a:rPr lang="en-US" sz="2000" dirty="0"/>
              <a:t>A confirm box is often used if you want the user to verify or accept something.</a:t>
            </a:r>
          </a:p>
          <a:p>
            <a:pPr marL="342900" indent="-342900">
              <a:buFont typeface="+mj-lt"/>
              <a:buAutoNum type="arabicPeriod"/>
            </a:pPr>
            <a:r>
              <a:rPr lang="en-US" sz="2000" dirty="0"/>
              <a:t>The </a:t>
            </a:r>
            <a:r>
              <a:rPr lang="en-US" sz="2000" dirty="0">
                <a:latin typeface="Courier New" panose="02070309020205020404" pitchFamily="49" charset="0"/>
                <a:cs typeface="Courier New" panose="02070309020205020404" pitchFamily="49" charset="0"/>
              </a:rPr>
              <a:t>confirm()</a:t>
            </a:r>
            <a:r>
              <a:rPr lang="en-US" sz="2000" dirty="0"/>
              <a:t>method returns </a:t>
            </a:r>
            <a:r>
              <a:rPr lang="en-US" sz="2000" dirty="0">
                <a:latin typeface="Courier New" panose="02070309020205020404" pitchFamily="49" charset="0"/>
                <a:cs typeface="Courier New" panose="02070309020205020404" pitchFamily="49" charset="0"/>
              </a:rPr>
              <a:t>true</a:t>
            </a:r>
            <a:r>
              <a:rPr lang="en-US" sz="2000" dirty="0"/>
              <a:t> if the user clicked "</a:t>
            </a:r>
            <a:r>
              <a:rPr lang="en-US" sz="2000" dirty="0">
                <a:latin typeface="Courier New" panose="02070309020205020404" pitchFamily="49" charset="0"/>
                <a:cs typeface="Courier New" panose="02070309020205020404" pitchFamily="49" charset="0"/>
              </a:rPr>
              <a:t>OK</a:t>
            </a:r>
            <a:r>
              <a:rPr lang="en-US" sz="2000" dirty="0"/>
              <a:t>", and </a:t>
            </a:r>
            <a:r>
              <a:rPr lang="en-US" sz="2000" dirty="0">
                <a:latin typeface="Courier New" panose="02070309020205020404" pitchFamily="49" charset="0"/>
                <a:cs typeface="Courier New" panose="02070309020205020404" pitchFamily="49" charset="0"/>
              </a:rPr>
              <a:t>false</a:t>
            </a:r>
            <a:r>
              <a:rPr lang="en-US" sz="2000" dirty="0"/>
              <a:t> otherwise.</a:t>
            </a:r>
            <a:endParaRPr lang="en-US" sz="2000"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10219355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97286-B111-4E8C-9111-3B9CD3A97FB8}"/>
              </a:ext>
            </a:extLst>
          </p:cNvPr>
          <p:cNvSpPr>
            <a:spLocks noGrp="1"/>
          </p:cNvSpPr>
          <p:nvPr>
            <p:ph type="title"/>
          </p:nvPr>
        </p:nvSpPr>
        <p:spPr>
          <a:xfrm>
            <a:off x="457200" y="76200"/>
            <a:ext cx="8229600" cy="609600"/>
          </a:xfrm>
        </p:spPr>
        <p:txBody>
          <a:bodyPr>
            <a:noAutofit/>
          </a:bodyPr>
          <a:lstStyle/>
          <a:p>
            <a:r>
              <a:rPr lang="en-US" sz="3600" dirty="0">
                <a:latin typeface="Courier New" panose="02070309020205020404" pitchFamily="49" charset="0"/>
                <a:cs typeface="Courier New" panose="02070309020205020404" pitchFamily="49" charset="0"/>
              </a:rPr>
              <a:t>prompt()</a:t>
            </a:r>
          </a:p>
        </p:txBody>
      </p:sp>
      <p:sp>
        <p:nvSpPr>
          <p:cNvPr id="3" name="Content Placeholder 2">
            <a:extLst>
              <a:ext uri="{FF2B5EF4-FFF2-40B4-BE49-F238E27FC236}">
                <a16:creationId xmlns:a16="http://schemas.microsoft.com/office/drawing/2014/main" id="{9C07E08C-52DD-4363-816A-7B89EBD9C94D}"/>
              </a:ext>
            </a:extLst>
          </p:cNvPr>
          <p:cNvSpPr>
            <a:spLocks noGrp="1"/>
          </p:cNvSpPr>
          <p:nvPr>
            <p:ph idx="1"/>
          </p:nvPr>
        </p:nvSpPr>
        <p:spPr>
          <a:xfrm>
            <a:off x="76200" y="2038528"/>
            <a:ext cx="8458200" cy="4895672"/>
          </a:xfrm>
        </p:spPr>
        <p:txBody>
          <a:bodyPr>
            <a:normAutofit fontScale="55000" lnSpcReduction="20000"/>
          </a:bodyPr>
          <a:lstStyle/>
          <a:p>
            <a:r>
              <a:rPr lang="en-US" dirty="0">
                <a:latin typeface="Courier New" panose="02070309020205020404" pitchFamily="49" charset="0"/>
                <a:cs typeface="Courier New" panose="02070309020205020404" pitchFamily="49" charset="0"/>
              </a:rPr>
              <a:t>&lt;body&gt;</a:t>
            </a:r>
          </a:p>
          <a:p>
            <a:r>
              <a:rPr lang="en-US" dirty="0">
                <a:latin typeface="Courier New" panose="02070309020205020404" pitchFamily="49" charset="0"/>
                <a:cs typeface="Courier New" panose="02070309020205020404" pitchFamily="49" charset="0"/>
              </a:rPr>
              <a:t>&lt;h2&gt;JavaScript Prompt&lt;/h2&gt;</a:t>
            </a:r>
          </a:p>
          <a:p>
            <a:r>
              <a:rPr lang="en-US" dirty="0">
                <a:latin typeface="Courier New" panose="02070309020205020404" pitchFamily="49" charset="0"/>
                <a:cs typeface="Courier New" panose="02070309020205020404" pitchFamily="49" charset="0"/>
              </a:rPr>
              <a:t>&lt;button onclick="</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()"&gt;Try it&lt;/button&gt;</a:t>
            </a:r>
          </a:p>
          <a:p>
            <a:r>
              <a:rPr lang="en-US" dirty="0">
                <a:latin typeface="Courier New" panose="02070309020205020404" pitchFamily="49" charset="0"/>
                <a:cs typeface="Courier New" panose="02070309020205020404" pitchFamily="49" charset="0"/>
              </a:rPr>
              <a:t>&lt;p id="demo"&gt;&lt;/p&gt;</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&lt;script&gt;</a:t>
            </a:r>
          </a:p>
          <a:p>
            <a:r>
              <a:rPr lang="en-US" dirty="0">
                <a:latin typeface="Courier New" panose="02070309020205020404" pitchFamily="49" charset="0"/>
                <a:cs typeface="Courier New" panose="02070309020205020404" pitchFamily="49" charset="0"/>
              </a:rPr>
              <a:t>function </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var person = prompt("Please enter your name:", "Harry Potter");</a:t>
            </a:r>
          </a:p>
          <a:p>
            <a:r>
              <a:rPr lang="en-US" dirty="0">
                <a:latin typeface="Courier New" panose="02070309020205020404" pitchFamily="49" charset="0"/>
                <a:cs typeface="Courier New" panose="02070309020205020404" pitchFamily="49" charset="0"/>
              </a:rPr>
              <a:t>  if (person == null) {</a:t>
            </a:r>
          </a:p>
          <a:p>
            <a:r>
              <a:rPr lang="en-US" dirty="0">
                <a:latin typeface="Courier New" panose="02070309020205020404" pitchFamily="49" charset="0"/>
                <a:cs typeface="Courier New" panose="02070309020205020404" pitchFamily="49" charset="0"/>
              </a:rPr>
              <a:t>    alert("User cancelled the prompt.");} </a:t>
            </a:r>
          </a:p>
          <a:p>
            <a:r>
              <a:rPr lang="en-US" dirty="0">
                <a:latin typeface="Courier New" panose="02070309020205020404" pitchFamily="49" charset="0"/>
                <a:cs typeface="Courier New" panose="02070309020205020404" pitchFamily="49" charset="0"/>
              </a:rPr>
              <a:t>  else {</a:t>
            </a:r>
          </a:p>
          <a:p>
            <a:r>
              <a:rPr lang="en-US" dirty="0">
                <a:latin typeface="Courier New" panose="02070309020205020404" pitchFamily="49" charset="0"/>
                <a:cs typeface="Courier New" panose="02070309020205020404" pitchFamily="49" charset="0"/>
              </a:rPr>
              <a:t>    alert("Hello " + person + "! How are you today?");  }</a:t>
            </a:r>
          </a:p>
          <a:p>
            <a:pPr marL="0" indent="0">
              <a:buNone/>
            </a:pPr>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a:p>
            <a:r>
              <a:rPr lang="en-US" dirty="0">
                <a:latin typeface="Courier New" panose="02070309020205020404" pitchFamily="49" charset="0"/>
                <a:cs typeface="Courier New" panose="02070309020205020404" pitchFamily="49" charset="0"/>
              </a:rPr>
              <a:t>&lt;/script&gt;</a:t>
            </a:r>
          </a:p>
          <a:p>
            <a:r>
              <a:rPr lang="en-US" dirty="0">
                <a:latin typeface="Courier New" panose="02070309020205020404" pitchFamily="49" charset="0"/>
                <a:cs typeface="Courier New" panose="02070309020205020404" pitchFamily="49" charset="0"/>
              </a:rPr>
              <a:t>&lt;/body&gt;</a:t>
            </a:r>
          </a:p>
        </p:txBody>
      </p:sp>
      <p:pic>
        <p:nvPicPr>
          <p:cNvPr id="4" name="Picture 3">
            <a:extLst>
              <a:ext uri="{FF2B5EF4-FFF2-40B4-BE49-F238E27FC236}">
                <a16:creationId xmlns:a16="http://schemas.microsoft.com/office/drawing/2014/main" id="{ABB43968-DAFC-446A-ADEA-F636DB75D281}"/>
              </a:ext>
            </a:extLst>
          </p:cNvPr>
          <p:cNvPicPr>
            <a:picLocks noChangeAspect="1"/>
          </p:cNvPicPr>
          <p:nvPr/>
        </p:nvPicPr>
        <p:blipFill rotWithShape="1">
          <a:blip r:embed="rId2"/>
          <a:srcRect l="32500" t="5557" r="32500" b="66296"/>
          <a:stretch/>
        </p:blipFill>
        <p:spPr>
          <a:xfrm>
            <a:off x="6085773" y="5598560"/>
            <a:ext cx="2615582" cy="1183240"/>
          </a:xfrm>
          <a:prstGeom prst="rect">
            <a:avLst/>
          </a:prstGeom>
        </p:spPr>
      </p:pic>
      <p:sp>
        <p:nvSpPr>
          <p:cNvPr id="5" name="Rectangle 4">
            <a:extLst>
              <a:ext uri="{FF2B5EF4-FFF2-40B4-BE49-F238E27FC236}">
                <a16:creationId xmlns:a16="http://schemas.microsoft.com/office/drawing/2014/main" id="{AAD7775D-7DF9-4ABC-9D7C-9BC36EDC2344}"/>
              </a:ext>
            </a:extLst>
          </p:cNvPr>
          <p:cNvSpPr/>
          <p:nvPr/>
        </p:nvSpPr>
        <p:spPr>
          <a:xfrm>
            <a:off x="457200" y="609600"/>
            <a:ext cx="8382000" cy="1446550"/>
          </a:xfrm>
          <a:prstGeom prst="rect">
            <a:avLst/>
          </a:prstGeom>
        </p:spPr>
        <p:txBody>
          <a:bodyPr wrap="square">
            <a:spAutoFit/>
          </a:bodyPr>
          <a:lstStyle/>
          <a:p>
            <a:pPr marL="342900" indent="-342900">
              <a:buFont typeface="+mj-lt"/>
              <a:buAutoNum type="arabicPeriod"/>
            </a:pPr>
            <a:r>
              <a:rPr lang="en-US" sz="2200" dirty="0"/>
              <a:t>The </a:t>
            </a:r>
            <a:r>
              <a:rPr lang="en-US" sz="2200" dirty="0">
                <a:latin typeface="Courier New" panose="02070309020205020404" pitchFamily="49" charset="0"/>
                <a:cs typeface="Courier New" panose="02070309020205020404" pitchFamily="49" charset="0"/>
              </a:rPr>
              <a:t>prompt()</a:t>
            </a:r>
            <a:r>
              <a:rPr lang="en-US" sz="2200" dirty="0"/>
              <a:t>method displays a dialog box that prompts the visitor for input.</a:t>
            </a:r>
          </a:p>
          <a:p>
            <a:pPr marL="342900" indent="-342900">
              <a:buFont typeface="+mj-lt"/>
              <a:buAutoNum type="arabicPeriod"/>
            </a:pPr>
            <a:r>
              <a:rPr lang="en-US" sz="2200" dirty="0"/>
              <a:t>The </a:t>
            </a:r>
            <a:r>
              <a:rPr lang="en-US" sz="2200" dirty="0">
                <a:latin typeface="Courier New" panose="02070309020205020404" pitchFamily="49" charset="0"/>
                <a:cs typeface="Courier New" panose="02070309020205020404" pitchFamily="49" charset="0"/>
              </a:rPr>
              <a:t>prompt()</a:t>
            </a:r>
            <a:r>
              <a:rPr lang="en-US" sz="2200" dirty="0"/>
              <a:t>method returns the input value if the user clicks "</a:t>
            </a:r>
            <a:r>
              <a:rPr lang="en-US" sz="2200" dirty="0">
                <a:latin typeface="Courier New" panose="02070309020205020404" pitchFamily="49" charset="0"/>
                <a:cs typeface="Courier New" panose="02070309020205020404" pitchFamily="49" charset="0"/>
              </a:rPr>
              <a:t>OK</a:t>
            </a:r>
            <a:r>
              <a:rPr lang="en-US" sz="2200" dirty="0"/>
              <a:t>". If the user clicks "</a:t>
            </a:r>
            <a:r>
              <a:rPr lang="en-US" sz="2200" dirty="0">
                <a:latin typeface="Courier New" panose="02070309020205020404" pitchFamily="49" charset="0"/>
                <a:cs typeface="Courier New" panose="02070309020205020404" pitchFamily="49" charset="0"/>
              </a:rPr>
              <a:t>cancel</a:t>
            </a:r>
            <a:r>
              <a:rPr lang="en-US" sz="2200" dirty="0"/>
              <a:t>" the method returns </a:t>
            </a:r>
            <a:r>
              <a:rPr lang="en-US" sz="2200" dirty="0">
                <a:latin typeface="Courier New" panose="02070309020205020404" pitchFamily="49" charset="0"/>
                <a:cs typeface="Courier New" panose="02070309020205020404" pitchFamily="49" charset="0"/>
              </a:rPr>
              <a:t>null</a:t>
            </a:r>
            <a:r>
              <a:rPr lang="en-US" sz="2200" dirty="0"/>
              <a:t>.</a:t>
            </a:r>
          </a:p>
        </p:txBody>
      </p:sp>
    </p:spTree>
    <p:extLst>
      <p:ext uri="{BB962C8B-B14F-4D97-AF65-F5344CB8AC3E}">
        <p14:creationId xmlns:p14="http://schemas.microsoft.com/office/powerpoint/2010/main" val="4216744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C2708-4AC7-468B-AC00-3435CF973369}"/>
              </a:ext>
            </a:extLst>
          </p:cNvPr>
          <p:cNvSpPr>
            <a:spLocks noGrp="1"/>
          </p:cNvSpPr>
          <p:nvPr>
            <p:ph type="title"/>
          </p:nvPr>
        </p:nvSpPr>
        <p:spPr>
          <a:xfrm>
            <a:off x="457200" y="76200"/>
            <a:ext cx="8229600" cy="457199"/>
          </a:xfrm>
        </p:spPr>
        <p:txBody>
          <a:bodyPr>
            <a:normAutofit fontScale="90000"/>
          </a:bodyPr>
          <a:lstStyle/>
          <a:p>
            <a:r>
              <a:rPr lang="en-US" sz="4000" dirty="0">
                <a:hlinkClick r:id="rId2"/>
              </a:rPr>
              <a:t>Windows Events</a:t>
            </a:r>
            <a:endParaRPr lang="en-US" sz="4000" dirty="0"/>
          </a:p>
        </p:txBody>
      </p:sp>
      <p:sp>
        <p:nvSpPr>
          <p:cNvPr id="3" name="Content Placeholder 2">
            <a:extLst>
              <a:ext uri="{FF2B5EF4-FFF2-40B4-BE49-F238E27FC236}">
                <a16:creationId xmlns:a16="http://schemas.microsoft.com/office/drawing/2014/main" id="{7900C0C4-6108-49BD-9DD4-76654D796044}"/>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C2F31643-A1B0-4A8B-8FD5-0D2A10CEBB96}"/>
              </a:ext>
            </a:extLst>
          </p:cNvPr>
          <p:cNvPicPr>
            <a:picLocks noChangeAspect="1"/>
          </p:cNvPicPr>
          <p:nvPr/>
        </p:nvPicPr>
        <p:blipFill rotWithShape="1">
          <a:blip r:embed="rId3"/>
          <a:srcRect l="14167" t="22219" r="35760" b="8518"/>
          <a:stretch/>
        </p:blipFill>
        <p:spPr>
          <a:xfrm>
            <a:off x="743823" y="731837"/>
            <a:ext cx="7656353" cy="5957166"/>
          </a:xfrm>
          <a:prstGeom prst="rect">
            <a:avLst/>
          </a:prstGeom>
        </p:spPr>
      </p:pic>
    </p:spTree>
    <p:extLst>
      <p:ext uri="{BB962C8B-B14F-4D97-AF65-F5344CB8AC3E}">
        <p14:creationId xmlns:p14="http://schemas.microsoft.com/office/powerpoint/2010/main" val="1819770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498E8-CB37-4C53-B50D-00205980D2EC}"/>
              </a:ext>
            </a:extLst>
          </p:cNvPr>
          <p:cNvSpPr>
            <a:spLocks noGrp="1"/>
          </p:cNvSpPr>
          <p:nvPr>
            <p:ph type="title"/>
          </p:nvPr>
        </p:nvSpPr>
        <p:spPr>
          <a:xfrm>
            <a:off x="457200" y="76200"/>
            <a:ext cx="8229600" cy="715962"/>
          </a:xfrm>
        </p:spPr>
        <p:txBody>
          <a:bodyPr>
            <a:normAutofit fontScale="90000"/>
          </a:bodyPr>
          <a:lstStyle/>
          <a:p>
            <a:r>
              <a:rPr lang="en-US" dirty="0"/>
              <a:t>Window </a:t>
            </a:r>
            <a:r>
              <a:rPr lang="en-US" dirty="0">
                <a:latin typeface="Courier New" panose="02070309020205020404" pitchFamily="49" charset="0"/>
                <a:cs typeface="Courier New" panose="02070309020205020404" pitchFamily="49" charset="0"/>
                <a:hlinkClick r:id="rId2"/>
              </a:rPr>
              <a:t>onload()</a:t>
            </a:r>
            <a:r>
              <a:rPr lang="en-US" dirty="0">
                <a:hlinkClick r:id="rId2"/>
              </a:rPr>
              <a:t>event</a:t>
            </a:r>
            <a:r>
              <a:rPr lang="en-US" dirty="0"/>
              <a:t>- Example</a:t>
            </a:r>
          </a:p>
        </p:txBody>
      </p:sp>
      <p:sp>
        <p:nvSpPr>
          <p:cNvPr id="3" name="Content Placeholder 2">
            <a:extLst>
              <a:ext uri="{FF2B5EF4-FFF2-40B4-BE49-F238E27FC236}">
                <a16:creationId xmlns:a16="http://schemas.microsoft.com/office/drawing/2014/main" id="{1F41CD0A-8FB9-4CD6-8D7B-7CA693D94B3E}"/>
              </a:ext>
            </a:extLst>
          </p:cNvPr>
          <p:cNvSpPr>
            <a:spLocks noGrp="1"/>
          </p:cNvSpPr>
          <p:nvPr>
            <p:ph idx="1"/>
          </p:nvPr>
        </p:nvSpPr>
        <p:spPr>
          <a:xfrm>
            <a:off x="457200" y="914401"/>
            <a:ext cx="8229600" cy="1250043"/>
          </a:xfrm>
        </p:spPr>
        <p:txBody>
          <a:bodyPr>
            <a:normAutofit fontScale="85000" lnSpcReduction="20000"/>
          </a:bodyPr>
          <a:lstStyle/>
          <a:p>
            <a:pPr marL="514350" indent="-514350">
              <a:buFont typeface="+mj-lt"/>
              <a:buAutoNum type="arabicPeriod"/>
            </a:pPr>
            <a:r>
              <a:rPr lang="en-US" sz="2600" dirty="0"/>
              <a:t>The </a:t>
            </a:r>
            <a:r>
              <a:rPr lang="en-US" sz="2600" dirty="0">
                <a:latin typeface="Courier New" panose="02070309020205020404" pitchFamily="49" charset="0"/>
                <a:cs typeface="Courier New" panose="02070309020205020404" pitchFamily="49" charset="0"/>
              </a:rPr>
              <a:t>onload</a:t>
            </a:r>
            <a:r>
              <a:rPr lang="en-US" sz="2600" dirty="0"/>
              <a:t> event occurs when an object has been loaded.</a:t>
            </a:r>
          </a:p>
          <a:p>
            <a:pPr marL="514350" indent="-514350">
              <a:buFont typeface="+mj-lt"/>
              <a:buAutoNum type="arabicPeriod"/>
            </a:pPr>
            <a:r>
              <a:rPr lang="en-US" sz="2600" dirty="0">
                <a:latin typeface="Courier New" panose="02070309020205020404" pitchFamily="49" charset="0"/>
                <a:cs typeface="Courier New" panose="02070309020205020404" pitchFamily="49" charset="0"/>
              </a:rPr>
              <a:t>onload</a:t>
            </a:r>
            <a:r>
              <a:rPr lang="en-US" sz="2600" dirty="0"/>
              <a:t> is most often used within the </a:t>
            </a:r>
            <a:r>
              <a:rPr lang="en-US" sz="2600" dirty="0">
                <a:latin typeface="Courier New" panose="02070309020205020404" pitchFamily="49" charset="0"/>
                <a:cs typeface="Courier New" panose="02070309020205020404" pitchFamily="49" charset="0"/>
              </a:rPr>
              <a:t>&lt;body&gt; </a:t>
            </a:r>
            <a:r>
              <a:rPr lang="en-US" sz="2600" dirty="0"/>
              <a:t>element to execute a script once a web page has completely loaded all content (including images, script files, CSS files, etc.).</a:t>
            </a:r>
          </a:p>
          <a:p>
            <a:endParaRPr lang="en-US" dirty="0"/>
          </a:p>
        </p:txBody>
      </p:sp>
      <p:pic>
        <p:nvPicPr>
          <p:cNvPr id="4" name="Picture 3">
            <a:extLst>
              <a:ext uri="{FF2B5EF4-FFF2-40B4-BE49-F238E27FC236}">
                <a16:creationId xmlns:a16="http://schemas.microsoft.com/office/drawing/2014/main" id="{4C441B51-662E-4B09-ACC5-FEA592BC7A15}"/>
              </a:ext>
            </a:extLst>
          </p:cNvPr>
          <p:cNvPicPr>
            <a:picLocks noChangeAspect="1"/>
          </p:cNvPicPr>
          <p:nvPr/>
        </p:nvPicPr>
        <p:blipFill rotWithShape="1">
          <a:blip r:embed="rId3"/>
          <a:srcRect l="833" t="32222" r="80000" b="35185"/>
          <a:stretch/>
        </p:blipFill>
        <p:spPr>
          <a:xfrm>
            <a:off x="609600" y="2971800"/>
            <a:ext cx="3903518" cy="3733800"/>
          </a:xfrm>
          <a:prstGeom prst="rect">
            <a:avLst/>
          </a:prstGeom>
        </p:spPr>
      </p:pic>
      <p:pic>
        <p:nvPicPr>
          <p:cNvPr id="5" name="Picture 4">
            <a:extLst>
              <a:ext uri="{FF2B5EF4-FFF2-40B4-BE49-F238E27FC236}">
                <a16:creationId xmlns:a16="http://schemas.microsoft.com/office/drawing/2014/main" id="{5DFA06D7-7912-4085-9B14-C390027C823A}"/>
              </a:ext>
            </a:extLst>
          </p:cNvPr>
          <p:cNvPicPr>
            <a:picLocks noChangeAspect="1"/>
          </p:cNvPicPr>
          <p:nvPr/>
        </p:nvPicPr>
        <p:blipFill rotWithShape="1">
          <a:blip r:embed="rId4"/>
          <a:srcRect l="32500" t="8518" r="32500" b="72222"/>
          <a:stretch/>
        </p:blipFill>
        <p:spPr>
          <a:xfrm>
            <a:off x="4502865" y="5029200"/>
            <a:ext cx="4038600" cy="1250043"/>
          </a:xfrm>
          <a:prstGeom prst="rect">
            <a:avLst/>
          </a:prstGeom>
        </p:spPr>
      </p:pic>
      <p:sp>
        <p:nvSpPr>
          <p:cNvPr id="6" name="TextBox 5">
            <a:extLst>
              <a:ext uri="{FF2B5EF4-FFF2-40B4-BE49-F238E27FC236}">
                <a16:creationId xmlns:a16="http://schemas.microsoft.com/office/drawing/2014/main" id="{091DEE10-55B4-412D-B753-06B316C5292B}"/>
              </a:ext>
            </a:extLst>
          </p:cNvPr>
          <p:cNvSpPr txBox="1"/>
          <p:nvPr/>
        </p:nvSpPr>
        <p:spPr>
          <a:xfrm>
            <a:off x="4572000" y="4419600"/>
            <a:ext cx="990600" cy="369332"/>
          </a:xfrm>
          <a:prstGeom prst="rect">
            <a:avLst/>
          </a:prstGeom>
          <a:noFill/>
        </p:spPr>
        <p:txBody>
          <a:bodyPr wrap="square" rtlCol="0">
            <a:spAutoFit/>
          </a:bodyPr>
          <a:lstStyle/>
          <a:p>
            <a:r>
              <a:rPr lang="en-US" b="1" u="sng" dirty="0"/>
              <a:t>Output</a:t>
            </a:r>
          </a:p>
        </p:txBody>
      </p:sp>
    </p:spTree>
    <p:extLst>
      <p:ext uri="{BB962C8B-B14F-4D97-AF65-F5344CB8AC3E}">
        <p14:creationId xmlns:p14="http://schemas.microsoft.com/office/powerpoint/2010/main" val="465887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FFBB9-4B08-4599-AC10-CA3F1E975A16}"/>
              </a:ext>
            </a:extLst>
          </p:cNvPr>
          <p:cNvSpPr>
            <a:spLocks noGrp="1"/>
          </p:cNvSpPr>
          <p:nvPr>
            <p:ph type="title"/>
          </p:nvPr>
        </p:nvSpPr>
        <p:spPr>
          <a:xfrm>
            <a:off x="457200" y="76200"/>
            <a:ext cx="8229600" cy="639762"/>
          </a:xfrm>
        </p:spPr>
        <p:txBody>
          <a:bodyPr>
            <a:normAutofit fontScale="90000"/>
          </a:bodyPr>
          <a:lstStyle/>
          <a:p>
            <a:r>
              <a:rPr lang="en-US" dirty="0"/>
              <a:t>Document Object Model</a:t>
            </a:r>
          </a:p>
        </p:txBody>
      </p:sp>
      <p:sp>
        <p:nvSpPr>
          <p:cNvPr id="3" name="Content Placeholder 2">
            <a:extLst>
              <a:ext uri="{FF2B5EF4-FFF2-40B4-BE49-F238E27FC236}">
                <a16:creationId xmlns:a16="http://schemas.microsoft.com/office/drawing/2014/main" id="{B224A0A8-A75C-484D-A20B-323B22884128}"/>
              </a:ext>
            </a:extLst>
          </p:cNvPr>
          <p:cNvSpPr>
            <a:spLocks noGrp="1"/>
          </p:cNvSpPr>
          <p:nvPr>
            <p:ph idx="1"/>
          </p:nvPr>
        </p:nvSpPr>
        <p:spPr>
          <a:xfrm>
            <a:off x="457200" y="715962"/>
            <a:ext cx="8229600" cy="3170238"/>
          </a:xfrm>
        </p:spPr>
        <p:txBody>
          <a:bodyPr>
            <a:normAutofit fontScale="62500" lnSpcReduction="20000"/>
          </a:bodyPr>
          <a:lstStyle/>
          <a:p>
            <a:pPr>
              <a:buFont typeface="+mj-lt"/>
              <a:buAutoNum type="arabicPeriod"/>
            </a:pPr>
            <a:r>
              <a:rPr lang="en-US" sz="3500" dirty="0"/>
              <a:t>The Document Object Model, or DOM for short, is a platform and language independent model to represent the HTML or XML documents. </a:t>
            </a:r>
          </a:p>
          <a:p>
            <a:pPr>
              <a:buFont typeface="+mj-lt"/>
              <a:buAutoNum type="arabicPeriod"/>
            </a:pPr>
            <a:r>
              <a:rPr lang="en-US" sz="3500" dirty="0"/>
              <a:t>It represents the web page that is loaded into the browser using a series of objects. </a:t>
            </a:r>
          </a:p>
          <a:p>
            <a:pPr>
              <a:buFont typeface="+mj-lt"/>
              <a:buAutoNum type="arabicPeriod"/>
            </a:pPr>
            <a:r>
              <a:rPr lang="en-US" sz="3500" dirty="0"/>
              <a:t>In the DOM, all parts of the document, such as elements, attributes, text, etc. are organized in a hierarchical tree-like structure; like a family tree in real life that consists of parents and children. In DOM terminology these individual parts of the document are known as nodes.</a:t>
            </a:r>
          </a:p>
          <a:p>
            <a:pPr>
              <a:buFont typeface="+mj-lt"/>
              <a:buAutoNum type="arabicPeriod"/>
            </a:pPr>
            <a:endParaRPr lang="en-US" dirty="0"/>
          </a:p>
        </p:txBody>
      </p:sp>
      <p:sp>
        <p:nvSpPr>
          <p:cNvPr id="4" name="Rectangle 3">
            <a:extLst>
              <a:ext uri="{FF2B5EF4-FFF2-40B4-BE49-F238E27FC236}">
                <a16:creationId xmlns:a16="http://schemas.microsoft.com/office/drawing/2014/main" id="{CB461965-6C29-48AF-B9C1-CE908C7BE45D}"/>
              </a:ext>
            </a:extLst>
          </p:cNvPr>
          <p:cNvSpPr/>
          <p:nvPr/>
        </p:nvSpPr>
        <p:spPr>
          <a:xfrm>
            <a:off x="152400" y="3760518"/>
            <a:ext cx="4572000" cy="2055947"/>
          </a:xfrm>
          <a:prstGeom prst="rect">
            <a:avLst/>
          </a:prstGeom>
        </p:spPr>
        <p:txBody>
          <a:bodyPr>
            <a:spAutoFit/>
          </a:bodyPr>
          <a:lstStyle/>
          <a:p>
            <a:r>
              <a:rPr lang="en-US" sz="2200" dirty="0"/>
              <a:t>The DOM is a collection of nodes:</a:t>
            </a:r>
          </a:p>
          <a:p>
            <a:pPr marL="342900" indent="-342900">
              <a:spcBef>
                <a:spcPct val="20000"/>
              </a:spcBef>
              <a:buFont typeface="Arial" pitchFamily="34" charset="0"/>
              <a:buChar char="•"/>
            </a:pPr>
            <a:r>
              <a:rPr lang="en-US" sz="2200" dirty="0">
                <a:latin typeface="Courier New" panose="02070309020205020404" pitchFamily="49" charset="0"/>
                <a:cs typeface="Courier New" panose="02070309020205020404" pitchFamily="49" charset="0"/>
              </a:rPr>
              <a:t>Element nodes</a:t>
            </a:r>
          </a:p>
          <a:p>
            <a:pPr marL="342900" indent="-342900">
              <a:spcBef>
                <a:spcPct val="20000"/>
              </a:spcBef>
              <a:buFont typeface="Arial" pitchFamily="34" charset="0"/>
              <a:buChar char="•"/>
            </a:pPr>
            <a:r>
              <a:rPr lang="en-US" sz="2200" dirty="0">
                <a:latin typeface="Courier New" panose="02070309020205020404" pitchFamily="49" charset="0"/>
                <a:cs typeface="Courier New" panose="02070309020205020404" pitchFamily="49" charset="0"/>
              </a:rPr>
              <a:t>Attribute nodes</a:t>
            </a:r>
          </a:p>
          <a:p>
            <a:pPr marL="342900" indent="-342900">
              <a:spcBef>
                <a:spcPct val="20000"/>
              </a:spcBef>
              <a:buFont typeface="Arial" pitchFamily="34" charset="0"/>
              <a:buChar char="•"/>
            </a:pPr>
            <a:r>
              <a:rPr lang="en-US" sz="2200" dirty="0">
                <a:latin typeface="Courier New" panose="02070309020205020404" pitchFamily="49" charset="0"/>
                <a:cs typeface="Courier New" panose="02070309020205020404" pitchFamily="49" charset="0"/>
              </a:rPr>
              <a:t>Text nodes</a:t>
            </a:r>
          </a:p>
          <a:p>
            <a:pPr marL="342900" indent="-342900">
              <a:spcBef>
                <a:spcPct val="20000"/>
              </a:spcBef>
              <a:buFont typeface="Arial" pitchFamily="34" charset="0"/>
              <a:buChar char="•"/>
            </a:pPr>
            <a:r>
              <a:rPr lang="en-US" sz="2200" dirty="0">
                <a:latin typeface="Courier New" panose="02070309020205020404" pitchFamily="49" charset="0"/>
                <a:cs typeface="Courier New" panose="02070309020205020404" pitchFamily="49" charset="0"/>
              </a:rPr>
              <a:t>Comment Nodes</a:t>
            </a:r>
          </a:p>
        </p:txBody>
      </p:sp>
      <p:pic>
        <p:nvPicPr>
          <p:cNvPr id="5" name="Picture 2" descr="DOM HTML tree">
            <a:extLst>
              <a:ext uri="{FF2B5EF4-FFF2-40B4-BE49-F238E27FC236}">
                <a16:creationId xmlns:a16="http://schemas.microsoft.com/office/drawing/2014/main" id="{E61D1824-74F3-4682-B229-AB9CC425FD95}"/>
              </a:ext>
            </a:extLst>
          </p:cNvPr>
          <p:cNvPicPr>
            <a:picLocks noChangeAspect="1" noChangeArrowheads="1"/>
          </p:cNvPicPr>
          <p:nvPr/>
        </p:nvPicPr>
        <p:blipFill>
          <a:blip r:embed="rId2" cstate="print"/>
          <a:srcRect/>
          <a:stretch>
            <a:fillRect/>
          </a:stretch>
        </p:blipFill>
        <p:spPr bwMode="auto">
          <a:xfrm>
            <a:off x="3273397" y="3505200"/>
            <a:ext cx="5742930" cy="3143251"/>
          </a:xfrm>
          <a:prstGeom prst="rect">
            <a:avLst/>
          </a:prstGeom>
          <a:noFill/>
        </p:spPr>
      </p:pic>
    </p:spTree>
    <p:extLst>
      <p:ext uri="{BB962C8B-B14F-4D97-AF65-F5344CB8AC3E}">
        <p14:creationId xmlns:p14="http://schemas.microsoft.com/office/powerpoint/2010/main" val="2282290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229600" cy="762000"/>
          </a:xfrm>
        </p:spPr>
        <p:txBody>
          <a:bodyPr>
            <a:normAutofit/>
          </a:bodyPr>
          <a:lstStyle/>
          <a:p>
            <a:r>
              <a:rPr lang="en-US" sz="4000" dirty="0"/>
              <a:t>Example DOM tree</a:t>
            </a:r>
          </a:p>
        </p:txBody>
      </p:sp>
      <p:sp>
        <p:nvSpPr>
          <p:cNvPr id="6" name="Content Placeholder 5"/>
          <p:cNvSpPr>
            <a:spLocks noGrp="1"/>
          </p:cNvSpPr>
          <p:nvPr>
            <p:ph sz="half" idx="1"/>
          </p:nvPr>
        </p:nvSpPr>
        <p:spPr>
          <a:xfrm>
            <a:off x="-381000" y="609600"/>
            <a:ext cx="5105400" cy="5562600"/>
          </a:xfrm>
        </p:spPr>
        <p:txBody>
          <a:bodyPr>
            <a:noAutofit/>
          </a:bodyPr>
          <a:lstStyle/>
          <a:p>
            <a:r>
              <a:rPr lang="en-US" sz="1800" dirty="0">
                <a:latin typeface="Courier New" panose="02070309020205020404" pitchFamily="49" charset="0"/>
                <a:cs typeface="Courier New" panose="02070309020205020404" pitchFamily="49" charset="0"/>
              </a:rPr>
              <a:t>&lt;html&gt;</a:t>
            </a:r>
          </a:p>
          <a:p>
            <a:pPr lvl="1"/>
            <a:r>
              <a:rPr lang="en-US" sz="1800" dirty="0">
                <a:latin typeface="Courier New" panose="02070309020205020404" pitchFamily="49" charset="0"/>
                <a:cs typeface="Courier New" panose="02070309020205020404" pitchFamily="49" charset="0"/>
              </a:rPr>
              <a:t>&lt;head&gt;</a:t>
            </a:r>
          </a:p>
          <a:p>
            <a:pPr lvl="2"/>
            <a:r>
              <a:rPr lang="en-US" sz="1800" dirty="0">
                <a:latin typeface="Courier New" panose="02070309020205020404" pitchFamily="49" charset="0"/>
                <a:cs typeface="Courier New" panose="02070309020205020404" pitchFamily="49" charset="0"/>
              </a:rPr>
              <a:t>&lt;title&gt;Document title&lt;/title&gt;</a:t>
            </a:r>
          </a:p>
          <a:p>
            <a:pPr lvl="2"/>
            <a:r>
              <a:rPr lang="en-US" sz="1800" dirty="0">
                <a:latin typeface="Courier New" panose="02070309020205020404" pitchFamily="49" charset="0"/>
                <a:cs typeface="Courier New" panose="02070309020205020404" pitchFamily="49" charset="0"/>
              </a:rPr>
              <a:t>&lt;meta </a:t>
            </a:r>
            <a:r>
              <a:rPr lang="en-US" sz="1800" dirty="0" err="1">
                <a:latin typeface="Courier New" panose="02070309020205020404" pitchFamily="49" charset="0"/>
                <a:cs typeface="Courier New" panose="02070309020205020404" pitchFamily="49" charset="0"/>
              </a:rPr>
              <a:t>charset</a:t>
            </a:r>
            <a:r>
              <a:rPr lang="en-US" sz="1800" dirty="0">
                <a:latin typeface="Courier New" panose="02070309020205020404" pitchFamily="49" charset="0"/>
                <a:cs typeface="Courier New" panose="02070309020205020404" pitchFamily="49" charset="0"/>
              </a:rPr>
              <a:t>="utf-8"&gt;</a:t>
            </a:r>
          </a:p>
          <a:p>
            <a:pPr lvl="1"/>
            <a:r>
              <a:rPr lang="en-US" sz="1800" dirty="0">
                <a:latin typeface="Courier New" panose="02070309020205020404" pitchFamily="49" charset="0"/>
                <a:cs typeface="Courier New" panose="02070309020205020404" pitchFamily="49" charset="0"/>
              </a:rPr>
              <a:t>&lt;/head&gt;</a:t>
            </a:r>
          </a:p>
          <a:p>
            <a:pPr lvl="1"/>
            <a:r>
              <a:rPr lang="en-US" sz="1800" dirty="0">
                <a:latin typeface="Courier New" panose="02070309020205020404" pitchFamily="49" charset="0"/>
                <a:cs typeface="Courier New" panose="02070309020205020404" pitchFamily="49" charset="0"/>
              </a:rPr>
              <a:t>&lt;body&gt;</a:t>
            </a:r>
          </a:p>
          <a:p>
            <a:pPr lvl="2"/>
            <a:r>
              <a:rPr lang="en-US" sz="1800" dirty="0">
                <a:latin typeface="Courier New" panose="02070309020205020404" pitchFamily="49" charset="0"/>
                <a:cs typeface="Courier New" panose="02070309020205020404" pitchFamily="49" charset="0"/>
              </a:rPr>
              <a:t>&lt;div&gt;</a:t>
            </a:r>
          </a:p>
          <a:p>
            <a:pPr lvl="3"/>
            <a:r>
              <a:rPr lang="en-US" dirty="0">
                <a:latin typeface="Courier New" panose="02070309020205020404" pitchFamily="49" charset="0"/>
                <a:cs typeface="Courier New" panose="02070309020205020404" pitchFamily="49" charset="0"/>
              </a:rPr>
              <a:t>&lt;h2&gt;Subhead&lt;/h2&gt;</a:t>
            </a:r>
          </a:p>
          <a:p>
            <a:pPr lvl="3"/>
            <a:r>
              <a:rPr lang="en-US" dirty="0">
                <a:latin typeface="Courier New" panose="02070309020205020404" pitchFamily="49" charset="0"/>
                <a:cs typeface="Courier New" panose="02070309020205020404" pitchFamily="49" charset="0"/>
              </a:rPr>
              <a:t>&lt;p&gt;Paragraph text with a </a:t>
            </a:r>
          </a:p>
          <a:p>
            <a:pPr lvl="3">
              <a:buNone/>
            </a:pPr>
            <a:r>
              <a:rPr lang="en-US" dirty="0">
                <a:latin typeface="Courier New" panose="02070309020205020404" pitchFamily="49" charset="0"/>
                <a:cs typeface="Courier New" panose="02070309020205020404" pitchFamily="49" charset="0"/>
              </a:rPr>
              <a:t>&lt;a </a:t>
            </a:r>
            <a:r>
              <a:rPr lang="en-US" dirty="0" err="1">
                <a:latin typeface="Courier New" panose="02070309020205020404" pitchFamily="49" charset="0"/>
                <a:cs typeface="Courier New" panose="02070309020205020404" pitchFamily="49" charset="0"/>
              </a:rPr>
              <a:t>href</a:t>
            </a:r>
            <a:r>
              <a:rPr lang="en-US" dirty="0">
                <a:latin typeface="Courier New" panose="02070309020205020404" pitchFamily="49" charset="0"/>
                <a:cs typeface="Courier New" panose="02070309020205020404" pitchFamily="49" charset="0"/>
              </a:rPr>
              <a:t>="foo.html"&gt;link&lt;/a&gt; here.&lt;/p&gt;</a:t>
            </a:r>
          </a:p>
          <a:p>
            <a:pPr lvl="2"/>
            <a:r>
              <a:rPr lang="en-US" sz="1800" dirty="0">
                <a:latin typeface="Courier New" panose="02070309020205020404" pitchFamily="49" charset="0"/>
                <a:cs typeface="Courier New" panose="02070309020205020404" pitchFamily="49" charset="0"/>
              </a:rPr>
              <a:t>&lt;/div&gt;</a:t>
            </a:r>
          </a:p>
          <a:p>
            <a:pPr lvl="2"/>
            <a:r>
              <a:rPr lang="en-US" sz="1800" dirty="0">
                <a:latin typeface="Courier New" panose="02070309020205020404" pitchFamily="49" charset="0"/>
                <a:cs typeface="Courier New" panose="02070309020205020404" pitchFamily="49" charset="0"/>
              </a:rPr>
              <a:t>&lt;div&gt;</a:t>
            </a:r>
          </a:p>
          <a:p>
            <a:pPr lvl="3"/>
            <a:r>
              <a:rPr lang="en-US" dirty="0">
                <a:latin typeface="Courier New" panose="02070309020205020404" pitchFamily="49" charset="0"/>
                <a:cs typeface="Courier New" panose="02070309020205020404" pitchFamily="49" charset="0"/>
              </a:rPr>
              <a:t>&lt;p&gt;More text here.&lt;/p&gt;</a:t>
            </a:r>
          </a:p>
          <a:p>
            <a:pPr lvl="2"/>
            <a:r>
              <a:rPr lang="en-US" sz="1800" dirty="0">
                <a:latin typeface="Courier New" panose="02070309020205020404" pitchFamily="49" charset="0"/>
                <a:cs typeface="Courier New" panose="02070309020205020404" pitchFamily="49" charset="0"/>
              </a:rPr>
              <a:t>&lt;/div&gt;</a:t>
            </a:r>
          </a:p>
          <a:p>
            <a:pPr lvl="1"/>
            <a:r>
              <a:rPr lang="en-US" sz="1800" dirty="0">
                <a:latin typeface="Courier New" panose="02070309020205020404" pitchFamily="49" charset="0"/>
                <a:cs typeface="Courier New" panose="02070309020205020404" pitchFamily="49" charset="0"/>
              </a:rPr>
              <a:t>&lt;/body&gt;</a:t>
            </a:r>
          </a:p>
          <a:p>
            <a:r>
              <a:rPr lang="en-US" sz="1800" dirty="0">
                <a:latin typeface="Courier New" panose="02070309020205020404" pitchFamily="49" charset="0"/>
                <a:cs typeface="Courier New" panose="02070309020205020404" pitchFamily="49" charset="0"/>
              </a:rPr>
              <a:t>&lt;/html&gt;</a:t>
            </a:r>
          </a:p>
        </p:txBody>
      </p:sp>
      <p:pic>
        <p:nvPicPr>
          <p:cNvPr id="27651" name="Picture 3"/>
          <p:cNvPicPr>
            <a:picLocks noChangeAspect="1" noChangeArrowheads="1"/>
          </p:cNvPicPr>
          <p:nvPr/>
        </p:nvPicPr>
        <p:blipFill>
          <a:blip r:embed="rId2" cstate="print"/>
          <a:srcRect/>
          <a:stretch>
            <a:fillRect/>
          </a:stretch>
        </p:blipFill>
        <p:spPr bwMode="auto">
          <a:xfrm>
            <a:off x="4648200" y="1219200"/>
            <a:ext cx="5659200" cy="3657600"/>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609600"/>
          </a:xfrm>
        </p:spPr>
        <p:txBody>
          <a:bodyPr>
            <a:normAutofit fontScale="90000"/>
          </a:bodyPr>
          <a:lstStyle/>
          <a:p>
            <a:r>
              <a:rPr lang="en-US" sz="4000" dirty="0"/>
              <a:t>DOM  </a:t>
            </a:r>
            <a:r>
              <a:rPr lang="en-US" sz="4000" dirty="0">
                <a:hlinkClick r:id="rId2"/>
              </a:rPr>
              <a:t>Document Object</a:t>
            </a:r>
            <a:endParaRPr lang="en-US" sz="4000" dirty="0"/>
          </a:p>
        </p:txBody>
      </p:sp>
      <p:sp>
        <p:nvSpPr>
          <p:cNvPr id="5" name="Content Placeholder 4"/>
          <p:cNvSpPr>
            <a:spLocks noGrp="1"/>
          </p:cNvSpPr>
          <p:nvPr>
            <p:ph idx="1"/>
          </p:nvPr>
        </p:nvSpPr>
        <p:spPr>
          <a:xfrm>
            <a:off x="457200" y="762000"/>
            <a:ext cx="8458200" cy="6096000"/>
          </a:xfrm>
        </p:spPr>
        <p:txBody>
          <a:bodyPr>
            <a:noAutofit/>
          </a:bodyPr>
          <a:lstStyle/>
          <a:p>
            <a:pPr marL="457200" indent="-457200">
              <a:buFont typeface="+mj-lt"/>
              <a:buAutoNum type="arabicPeriod"/>
            </a:pPr>
            <a:r>
              <a:rPr lang="en-US" sz="2200" dirty="0"/>
              <a:t>When an HTML document is loaded into a web browser, it becomes a </a:t>
            </a:r>
            <a:r>
              <a:rPr lang="en-US" sz="2200" b="1" dirty="0"/>
              <a:t>document object</a:t>
            </a:r>
            <a:r>
              <a:rPr lang="en-US" sz="2200" dirty="0"/>
              <a:t>.</a:t>
            </a:r>
          </a:p>
          <a:p>
            <a:pPr marL="457200" indent="-457200">
              <a:buFont typeface="+mj-lt"/>
              <a:buAutoNum type="arabicPeriod"/>
            </a:pPr>
            <a:r>
              <a:rPr lang="en-US" sz="2200" dirty="0"/>
              <a:t>The document object is the root node of the HTML document.</a:t>
            </a:r>
          </a:p>
          <a:p>
            <a:pPr marL="457200" indent="-457200">
              <a:buFont typeface="+mj-lt"/>
              <a:buAutoNum type="arabicPeriod"/>
            </a:pPr>
            <a:r>
              <a:rPr lang="en-US" sz="2200" dirty="0"/>
              <a:t>To access the different objects in the DOM, we start with the </a:t>
            </a:r>
            <a:r>
              <a:rPr lang="en-US" sz="2200" dirty="0">
                <a:latin typeface="Courier New" panose="02070309020205020404" pitchFamily="49" charset="0"/>
                <a:cs typeface="Courier New" panose="02070309020205020404" pitchFamily="49" charset="0"/>
              </a:rPr>
              <a:t>document</a:t>
            </a:r>
            <a:r>
              <a:rPr lang="en-US" sz="2200" dirty="0"/>
              <a:t> object, working down to the object that holds the data you are after.</a:t>
            </a:r>
          </a:p>
          <a:p>
            <a:pPr marL="457200" indent="-457200">
              <a:buFont typeface="+mj-lt"/>
              <a:buAutoNum type="arabicPeriod"/>
            </a:pPr>
            <a:r>
              <a:rPr lang="en-US" sz="2200" dirty="0"/>
              <a:t>Each object is separated by a period; hence, this is known as a </a:t>
            </a:r>
            <a:r>
              <a:rPr lang="en-US" sz="2200" i="1" dirty="0">
                <a:latin typeface="Courier New" panose="02070309020205020404" pitchFamily="49" charset="0"/>
                <a:cs typeface="Courier New" panose="02070309020205020404" pitchFamily="49" charset="0"/>
              </a:rPr>
              <a:t>dot notation</a:t>
            </a:r>
            <a:r>
              <a:rPr lang="en-US" sz="2200" i="1" dirty="0"/>
              <a:t>.</a:t>
            </a:r>
          </a:p>
          <a:p>
            <a:pPr marL="457200" indent="-457200">
              <a:buFont typeface="+mj-lt"/>
              <a:buAutoNum type="arabicPeriod"/>
            </a:pPr>
            <a:r>
              <a:rPr lang="en-US" sz="2200" dirty="0"/>
              <a:t>Following are the DOM methods to be discussed in subsequent slides</a:t>
            </a:r>
            <a:r>
              <a:rPr lang="en-US" sz="2200" i="1" dirty="0"/>
              <a:t>.</a:t>
            </a:r>
          </a:p>
          <a:p>
            <a:pPr marL="857250" lvl="1" indent="-457200">
              <a:buFont typeface="+mj-lt"/>
              <a:buAutoNum type="arabicPeriod"/>
            </a:pPr>
            <a:r>
              <a:rPr lang="en-US" sz="1800" dirty="0"/>
              <a:t>Finding HTML elements by id ( </a:t>
            </a:r>
            <a:r>
              <a:rPr lang="en-US" sz="1800" b="1" dirty="0" err="1">
                <a:latin typeface="Courier New" panose="02070309020205020404" pitchFamily="49" charset="0"/>
                <a:cs typeface="Courier New" panose="02070309020205020404" pitchFamily="49" charset="0"/>
              </a:rPr>
              <a:t>getElementById</a:t>
            </a:r>
            <a:r>
              <a:rPr lang="en-US" sz="1800" b="1" dirty="0">
                <a:latin typeface="Courier New" panose="02070309020205020404" pitchFamily="49" charset="0"/>
                <a:cs typeface="Courier New" panose="02070309020205020404" pitchFamily="49" charset="0"/>
              </a:rPr>
              <a:t>()</a:t>
            </a:r>
            <a:r>
              <a:rPr lang="en-US" sz="1800" dirty="0"/>
              <a:t>)</a:t>
            </a:r>
          </a:p>
          <a:p>
            <a:pPr marL="857250" lvl="1" indent="-457200">
              <a:buFont typeface="+mj-lt"/>
              <a:buAutoNum type="arabicPeriod"/>
            </a:pPr>
            <a:r>
              <a:rPr lang="en-US" sz="1800" dirty="0"/>
              <a:t>Finding HTML elements by class name ( </a:t>
            </a:r>
            <a:r>
              <a:rPr lang="en-US" sz="1800" b="1" dirty="0" err="1">
                <a:latin typeface="Courier New" panose="02070309020205020404" pitchFamily="49" charset="0"/>
                <a:cs typeface="Courier New" panose="02070309020205020404" pitchFamily="49" charset="0"/>
              </a:rPr>
              <a:t>getElementsByClassName</a:t>
            </a:r>
            <a:r>
              <a:rPr lang="en-US" sz="1800" b="1" dirty="0">
                <a:latin typeface="Courier New" panose="02070309020205020404" pitchFamily="49" charset="0"/>
                <a:cs typeface="Courier New" panose="02070309020205020404" pitchFamily="49" charset="0"/>
              </a:rPr>
              <a:t>()</a:t>
            </a:r>
            <a:r>
              <a:rPr lang="en-US" sz="1800" dirty="0"/>
              <a:t>)</a:t>
            </a:r>
          </a:p>
          <a:p>
            <a:pPr marL="857250" lvl="1" indent="-457200">
              <a:buFont typeface="+mj-lt"/>
              <a:buAutoNum type="arabicPeriod"/>
            </a:pPr>
            <a:r>
              <a:rPr lang="en-US" sz="1800" dirty="0"/>
              <a:t>Finding HTML elements by tag name ( </a:t>
            </a:r>
            <a:r>
              <a:rPr lang="en-US" sz="1800" b="1" dirty="0" err="1">
                <a:latin typeface="Courier New" panose="02070309020205020404" pitchFamily="49" charset="0"/>
                <a:cs typeface="Courier New" panose="02070309020205020404" pitchFamily="49" charset="0"/>
              </a:rPr>
              <a:t>getElementsByTagName</a:t>
            </a:r>
            <a:r>
              <a:rPr lang="en-US" sz="1800" b="1" dirty="0">
                <a:latin typeface="Courier New" panose="02070309020205020404" pitchFamily="49" charset="0"/>
                <a:cs typeface="Courier New" panose="02070309020205020404" pitchFamily="49" charset="0"/>
              </a:rPr>
              <a:t>()</a:t>
            </a:r>
            <a:r>
              <a:rPr lang="en-US" sz="1800" dirty="0"/>
              <a:t>)</a:t>
            </a:r>
          </a:p>
          <a:p>
            <a:pPr marL="857250" lvl="1" indent="-457200">
              <a:buFont typeface="+mj-lt"/>
              <a:buAutoNum type="arabicPeriod"/>
            </a:pPr>
            <a:r>
              <a:rPr lang="en-US" sz="1800" dirty="0"/>
              <a:t>Finding HTML elements by CSS selectors</a:t>
            </a:r>
          </a:p>
          <a:p>
            <a:pPr marL="1257300" lvl="2" indent="-457200">
              <a:buFont typeface="+mj-lt"/>
              <a:buAutoNum type="arabicPeriod"/>
            </a:pPr>
            <a:r>
              <a:rPr lang="en-US" sz="1400" b="1" dirty="0" err="1">
                <a:latin typeface="Courier New" panose="02070309020205020404" pitchFamily="49" charset="0"/>
                <a:cs typeface="Courier New" panose="02070309020205020404" pitchFamily="49" charset="0"/>
              </a:rPr>
              <a:t>querySelector</a:t>
            </a:r>
            <a:r>
              <a:rPr lang="en-US" sz="1400" b="1" dirty="0">
                <a:latin typeface="Courier New" panose="02070309020205020404" pitchFamily="49" charset="0"/>
                <a:cs typeface="Courier New" panose="02070309020205020404" pitchFamily="49" charset="0"/>
              </a:rPr>
              <a:t>()</a:t>
            </a:r>
          </a:p>
          <a:p>
            <a:pPr marL="1257300" lvl="2" indent="-457200">
              <a:buFont typeface="+mj-lt"/>
              <a:buAutoNum type="arabicPeriod"/>
            </a:pPr>
            <a:r>
              <a:rPr lang="en-US" sz="1400" b="1" dirty="0" err="1">
                <a:latin typeface="Courier New" panose="02070309020205020404" pitchFamily="49" charset="0"/>
                <a:cs typeface="Courier New" panose="02070309020205020404" pitchFamily="49" charset="0"/>
              </a:rPr>
              <a:t>querySelectorAll</a:t>
            </a:r>
            <a:r>
              <a:rPr lang="en-US" sz="1400" b="1" dirty="0">
                <a:latin typeface="Courier New" panose="02070309020205020404" pitchFamily="49" charset="0"/>
                <a:cs typeface="Courier New" panose="02070309020205020404" pitchFamily="49" charset="0"/>
              </a:rPr>
              <a:t>()</a:t>
            </a:r>
          </a:p>
          <a:p>
            <a:pPr marL="857250" lvl="1" indent="-457200">
              <a:buFont typeface="+mj-lt"/>
              <a:buAutoNum type="arabicPeriod"/>
            </a:pPr>
            <a:r>
              <a:rPr lang="en-US" sz="1800" dirty="0"/>
              <a:t>Finding HTML elements by HTML object collections (</a:t>
            </a:r>
            <a:r>
              <a:rPr lang="en-US" sz="1800" b="1" dirty="0" err="1">
                <a:latin typeface="Courier New" panose="02070309020205020404" pitchFamily="49" charset="0"/>
                <a:cs typeface="Courier New" panose="02070309020205020404" pitchFamily="49" charset="0"/>
              </a:rPr>
              <a:t>document.forms</a:t>
            </a:r>
            <a:r>
              <a:rPr lang="en-US" sz="1800" dirty="0"/>
              <a:t>)</a:t>
            </a:r>
          </a:p>
          <a:p>
            <a:pPr marL="457200" indent="-457200">
              <a:buFont typeface="+mj-lt"/>
              <a:buAutoNum type="arabicPeriod"/>
            </a:pPr>
            <a:endParaRPr lang="en-US" sz="2200" b="1" dirty="0">
              <a:latin typeface="Courier New" panose="02070309020205020404" pitchFamily="49" charset="0"/>
              <a:cs typeface="Courier New" panose="02070309020205020404" pitchFamily="49" charset="0"/>
            </a:endParaRPr>
          </a:p>
          <a:p>
            <a:pPr marL="457200" indent="-457200">
              <a:buFont typeface="+mj-lt"/>
              <a:buAutoNum type="arabicPeriod"/>
            </a:pPr>
            <a:endParaRPr lang="en-US" sz="2200" b="1" dirty="0">
              <a:latin typeface="Courier New" panose="02070309020205020404" pitchFamily="49" charset="0"/>
              <a:cs typeface="Courier New" panose="02070309020205020404" pitchFamily="49" charset="0"/>
            </a:endParaRPr>
          </a:p>
          <a:p>
            <a:pPr marL="457200" indent="-457200">
              <a:buFont typeface="+mj-lt"/>
              <a:buAutoNum type="arabicPeriod"/>
            </a:pPr>
            <a:endParaRPr lang="en-US" sz="2200" b="1" dirty="0">
              <a:latin typeface="Courier New" panose="02070309020205020404" pitchFamily="49" charset="0"/>
              <a:cs typeface="Courier New" panose="02070309020205020404" pitchFamily="49" charset="0"/>
            </a:endParaRPr>
          </a:p>
          <a:p>
            <a:pPr marL="457200" indent="-457200">
              <a:buFont typeface="+mj-lt"/>
              <a:buAutoNum type="arabicPeriod"/>
            </a:pPr>
            <a:endParaRPr lang="en-US" sz="2200" b="1" dirty="0">
              <a:latin typeface="Courier New" panose="02070309020205020404" pitchFamily="49" charset="0"/>
              <a:cs typeface="Courier New" panose="02070309020205020404" pitchFamily="49" charset="0"/>
            </a:endParaRPr>
          </a:p>
          <a:p>
            <a:pPr marL="457200" indent="-457200">
              <a:buFont typeface="+mj-lt"/>
              <a:buAutoNum type="arabicPeriod"/>
            </a:pPr>
            <a:endParaRPr lang="en-US" sz="2200" b="1" dirty="0">
              <a:latin typeface="Courier New" panose="02070309020205020404" pitchFamily="49" charset="0"/>
              <a:cs typeface="Courier New" panose="02070309020205020404" pitchFamily="49" charset="0"/>
            </a:endParaRPr>
          </a:p>
          <a:p>
            <a:pPr marL="457200" indent="-457200">
              <a:buFont typeface="+mj-lt"/>
              <a:buAutoNum type="arabicPeriod"/>
            </a:pPr>
            <a:endParaRPr lang="en-US" sz="2200" b="1" dirty="0">
              <a:latin typeface="Courier New" panose="02070309020205020404" pitchFamily="49" charset="0"/>
              <a:cs typeface="Courier New" panose="02070309020205020404" pitchFamily="49" charset="0"/>
            </a:endParaRPr>
          </a:p>
          <a:p>
            <a:pPr marL="457200" indent="-457200">
              <a:buFont typeface="+mj-lt"/>
              <a:buAutoNum type="arabicPeriod"/>
            </a:pPr>
            <a:endParaRPr lang="en-US" sz="2200" i="1"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09600"/>
          </a:xfrm>
        </p:spPr>
        <p:txBody>
          <a:bodyPr>
            <a:normAutofit fontScale="90000"/>
          </a:bodyPr>
          <a:lstStyle/>
          <a:p>
            <a:r>
              <a:rPr lang="en-US" sz="4000" dirty="0"/>
              <a:t>Accessing Element Nodes</a:t>
            </a:r>
          </a:p>
        </p:txBody>
      </p:sp>
      <p:sp>
        <p:nvSpPr>
          <p:cNvPr id="3" name="Content Placeholder 2"/>
          <p:cNvSpPr>
            <a:spLocks noGrp="1"/>
          </p:cNvSpPr>
          <p:nvPr>
            <p:ph idx="1"/>
          </p:nvPr>
        </p:nvSpPr>
        <p:spPr>
          <a:xfrm>
            <a:off x="457200" y="838200"/>
            <a:ext cx="8382000" cy="5791200"/>
          </a:xfrm>
        </p:spPr>
        <p:txBody>
          <a:bodyPr>
            <a:normAutofit/>
          </a:bodyPr>
          <a:lstStyle/>
          <a:p>
            <a:pPr marL="457200" lvl="1" indent="-457200">
              <a:buFont typeface="+mj-lt"/>
              <a:buAutoNum type="arabicPeriod"/>
            </a:pPr>
            <a:r>
              <a:rPr lang="en-US" sz="2000" dirty="0"/>
              <a:t>Finding HTML elements by id ( </a:t>
            </a:r>
            <a:r>
              <a:rPr lang="en-US" sz="2000" b="1" dirty="0" err="1">
                <a:latin typeface="Courier New" panose="02070309020205020404" pitchFamily="49" charset="0"/>
                <a:cs typeface="Courier New" panose="02070309020205020404" pitchFamily="49" charset="0"/>
              </a:rPr>
              <a:t>getElementById</a:t>
            </a:r>
            <a:r>
              <a:rPr lang="en-US" sz="2000" b="1" dirty="0">
                <a:latin typeface="Courier New" panose="02070309020205020404" pitchFamily="49" charset="0"/>
                <a:cs typeface="Courier New" panose="02070309020205020404" pitchFamily="49" charset="0"/>
              </a:rPr>
              <a:t>()</a:t>
            </a:r>
            <a:r>
              <a:rPr lang="en-US" sz="2000" dirty="0"/>
              <a:t>)</a:t>
            </a:r>
          </a:p>
          <a:p>
            <a:pPr marL="857250" lvl="2" indent="-457200">
              <a:buFont typeface="+mj-lt"/>
              <a:buAutoNum type="arabicPeriod"/>
            </a:pPr>
            <a:r>
              <a:rPr lang="en-US" sz="1800" dirty="0"/>
              <a:t>The easiest way to find an HTML element in the DOM, is by using the element id.</a:t>
            </a:r>
          </a:p>
          <a:p>
            <a:pPr marL="857250" lvl="2" indent="-457200">
              <a:buFont typeface="+mj-lt"/>
              <a:buAutoNum type="arabicPeriod"/>
            </a:pPr>
            <a:r>
              <a:rPr lang="en-US" sz="1800" dirty="0"/>
              <a:t>This example finds the element with id="intro":</a:t>
            </a:r>
          </a:p>
          <a:p>
            <a:pPr marL="857250" lvl="2" indent="-457200">
              <a:buFont typeface="+mj-lt"/>
              <a:buAutoNum type="arabicPeriod"/>
            </a:pPr>
            <a:r>
              <a:rPr lang="en-US" sz="1800" dirty="0">
                <a:solidFill>
                  <a:srgbClr val="0000CD"/>
                </a:solidFill>
                <a:latin typeface="Consolas" panose="020B0609020204030204" pitchFamily="49" charset="0"/>
              </a:rPr>
              <a:t>var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myElement</a:t>
            </a:r>
            <a:r>
              <a:rPr lang="en-US" sz="1800" dirty="0">
                <a:solidFill>
                  <a:srgbClr val="000000"/>
                </a:solidFill>
                <a:latin typeface="Consolas" panose="020B0609020204030204" pitchFamily="49" charset="0"/>
              </a:rPr>
              <a:t> = document.getElementById(</a:t>
            </a:r>
            <a:r>
              <a:rPr lang="en-US" sz="1800" dirty="0">
                <a:solidFill>
                  <a:srgbClr val="A52A2A"/>
                </a:solidFill>
                <a:latin typeface="Consolas" panose="020B0609020204030204" pitchFamily="49" charset="0"/>
              </a:rPr>
              <a:t>"intro"</a:t>
            </a:r>
            <a:r>
              <a:rPr lang="en-US" sz="1800" dirty="0">
                <a:solidFill>
                  <a:srgbClr val="000000"/>
                </a:solidFill>
                <a:latin typeface="Consolas" panose="020B0609020204030204" pitchFamily="49" charset="0"/>
              </a:rPr>
              <a:t>);</a:t>
            </a:r>
          </a:p>
          <a:p>
            <a:pPr marL="400050" lvl="2" indent="0">
              <a:buNone/>
            </a:pPr>
            <a:endParaRPr lang="en-US" sz="1800" dirty="0"/>
          </a:p>
          <a:p>
            <a:pPr marL="457200" lvl="1" indent="-457200">
              <a:buFont typeface="+mj-lt"/>
              <a:buAutoNum type="arabicPeriod"/>
            </a:pPr>
            <a:r>
              <a:rPr lang="en-US" sz="2000" dirty="0"/>
              <a:t>Finding HTML elements by class name ( </a:t>
            </a:r>
            <a:r>
              <a:rPr lang="en-US" sz="2000" b="1" dirty="0" err="1">
                <a:latin typeface="Courier New" panose="02070309020205020404" pitchFamily="49" charset="0"/>
                <a:cs typeface="Courier New" panose="02070309020205020404" pitchFamily="49" charset="0"/>
              </a:rPr>
              <a:t>getElementsByClassName</a:t>
            </a:r>
            <a:r>
              <a:rPr lang="en-US" sz="2000" b="1" dirty="0">
                <a:latin typeface="Courier New" panose="02070309020205020404" pitchFamily="49" charset="0"/>
                <a:cs typeface="Courier New" panose="02070309020205020404" pitchFamily="49" charset="0"/>
              </a:rPr>
              <a:t>()</a:t>
            </a:r>
            <a:r>
              <a:rPr lang="en-US" sz="2000" dirty="0">
                <a:latin typeface="Courier New" panose="02070309020205020404" pitchFamily="49" charset="0"/>
                <a:cs typeface="Courier New" panose="02070309020205020404" pitchFamily="49" charset="0"/>
              </a:rPr>
              <a:t>)</a:t>
            </a:r>
          </a:p>
          <a:p>
            <a:pPr marL="857250" lvl="2" indent="-457200">
              <a:buFont typeface="+mj-lt"/>
              <a:buAutoNum type="arabicPeriod"/>
            </a:pPr>
            <a:r>
              <a:rPr lang="en-US" sz="1800" dirty="0"/>
              <a:t>If you want to find all HTML elements with the same class name, use </a:t>
            </a:r>
            <a:r>
              <a:rPr lang="en-US" sz="1800" dirty="0" err="1"/>
              <a:t>getElementsByClassName</a:t>
            </a:r>
            <a:r>
              <a:rPr lang="en-US" sz="1800" dirty="0"/>
              <a:t>().</a:t>
            </a:r>
          </a:p>
          <a:p>
            <a:pPr marL="857250" lvl="2" indent="-457200">
              <a:buFont typeface="+mj-lt"/>
              <a:buAutoNum type="arabicPeriod"/>
            </a:pPr>
            <a:r>
              <a:rPr lang="en-US" sz="1800" dirty="0"/>
              <a:t>This example returns a list of all elements with class="intro".</a:t>
            </a:r>
          </a:p>
          <a:p>
            <a:pPr marL="857250" lvl="2" indent="-457200">
              <a:buFont typeface="+mj-lt"/>
              <a:buAutoNum type="arabicPeriod"/>
            </a:pPr>
            <a:r>
              <a:rPr lang="en-US" sz="1800" dirty="0">
                <a:solidFill>
                  <a:srgbClr val="0000CD"/>
                </a:solidFill>
                <a:latin typeface="Consolas" panose="020B0609020204030204" pitchFamily="49" charset="0"/>
              </a:rPr>
              <a:t>var</a:t>
            </a:r>
            <a:r>
              <a:rPr lang="en-US" sz="1800" dirty="0">
                <a:solidFill>
                  <a:srgbClr val="000000"/>
                </a:solidFill>
                <a:latin typeface="Consolas" panose="020B0609020204030204" pitchFamily="49" charset="0"/>
              </a:rPr>
              <a:t> x = </a:t>
            </a:r>
            <a:r>
              <a:rPr lang="en-US" sz="1800" dirty="0" err="1">
                <a:solidFill>
                  <a:srgbClr val="000000"/>
                </a:solidFill>
                <a:latin typeface="Consolas" panose="020B0609020204030204" pitchFamily="49" charset="0"/>
              </a:rPr>
              <a:t>document.getElementsByClassName</a:t>
            </a:r>
            <a:r>
              <a:rPr lang="en-US" sz="1800" dirty="0">
                <a:solidFill>
                  <a:srgbClr val="000000"/>
                </a:solidFill>
                <a:latin typeface="Consolas" panose="020B0609020204030204" pitchFamily="49" charset="0"/>
              </a:rPr>
              <a:t>(</a:t>
            </a:r>
            <a:r>
              <a:rPr lang="en-US" sz="1800" dirty="0">
                <a:solidFill>
                  <a:srgbClr val="A52A2A"/>
                </a:solidFill>
                <a:latin typeface="Consolas" panose="020B0609020204030204" pitchFamily="49" charset="0"/>
              </a:rPr>
              <a:t>"intro"</a:t>
            </a:r>
            <a:r>
              <a:rPr lang="en-US" sz="1800" dirty="0">
                <a:solidFill>
                  <a:srgbClr val="000000"/>
                </a:solidFill>
                <a:latin typeface="Consolas" panose="020B0609020204030204" pitchFamily="49" charset="0"/>
              </a:rPr>
              <a:t>);</a:t>
            </a:r>
          </a:p>
          <a:p>
            <a:pPr marL="857250" lvl="2" indent="-457200">
              <a:buFont typeface="+mj-lt"/>
              <a:buAutoNum type="arabicPeriod"/>
            </a:pPr>
            <a:endParaRPr lang="en-US" sz="1800" dirty="0">
              <a:solidFill>
                <a:srgbClr val="000000"/>
              </a:solidFill>
              <a:latin typeface="Consolas" panose="020B0609020204030204" pitchFamily="49" charset="0"/>
            </a:endParaRPr>
          </a:p>
          <a:p>
            <a:pPr marL="457200" lvl="1" indent="-457200">
              <a:buFont typeface="+mj-lt"/>
              <a:buAutoNum type="arabicPeriod"/>
            </a:pPr>
            <a:r>
              <a:rPr lang="en-US" sz="2000" dirty="0"/>
              <a:t>Finding HTML elements by tag name ( </a:t>
            </a:r>
            <a:r>
              <a:rPr lang="en-US" sz="2000" b="1" dirty="0" err="1">
                <a:latin typeface="Courier New" panose="02070309020205020404" pitchFamily="49" charset="0"/>
                <a:cs typeface="Courier New" panose="02070309020205020404" pitchFamily="49" charset="0"/>
              </a:rPr>
              <a:t>getElementsByTagName</a:t>
            </a:r>
            <a:r>
              <a:rPr lang="en-US" sz="2000" b="1" dirty="0">
                <a:latin typeface="Courier New" panose="02070309020205020404" pitchFamily="49" charset="0"/>
                <a:cs typeface="Courier New" panose="02070309020205020404" pitchFamily="49" charset="0"/>
              </a:rPr>
              <a:t>(</a:t>
            </a:r>
            <a:r>
              <a:rPr lang="en-US" sz="2000" b="1" dirty="0"/>
              <a:t>)</a:t>
            </a:r>
            <a:r>
              <a:rPr lang="en-US" sz="2000" dirty="0"/>
              <a:t>)</a:t>
            </a:r>
          </a:p>
          <a:p>
            <a:pPr marL="857250" lvl="2" indent="-457200">
              <a:buFont typeface="+mj-lt"/>
              <a:buAutoNum type="arabicPeriod"/>
            </a:pPr>
            <a:r>
              <a:rPr lang="en-US" sz="1800" dirty="0"/>
              <a:t>This example finds all </a:t>
            </a:r>
            <a:r>
              <a:rPr lang="en-US" sz="1800" dirty="0">
                <a:latin typeface="Courier New" panose="02070309020205020404" pitchFamily="49" charset="0"/>
                <a:cs typeface="Courier New" panose="02070309020205020404" pitchFamily="49" charset="0"/>
              </a:rPr>
              <a:t>&lt;p&gt; </a:t>
            </a:r>
            <a:r>
              <a:rPr lang="en-US" sz="1800" dirty="0"/>
              <a:t>elements:</a:t>
            </a:r>
          </a:p>
          <a:p>
            <a:pPr marL="857250" lvl="2" indent="-457200">
              <a:buFont typeface="+mj-lt"/>
              <a:buAutoNum type="arabicPeriod"/>
            </a:pPr>
            <a:r>
              <a:rPr lang="en-US" sz="1800" dirty="0">
                <a:solidFill>
                  <a:srgbClr val="0000CD"/>
                </a:solidFill>
                <a:latin typeface="Consolas" panose="020B0609020204030204" pitchFamily="49" charset="0"/>
              </a:rPr>
              <a:t>var</a:t>
            </a:r>
            <a:r>
              <a:rPr lang="en-US" sz="1800" dirty="0">
                <a:solidFill>
                  <a:srgbClr val="000000"/>
                </a:solidFill>
                <a:latin typeface="Consolas" panose="020B0609020204030204" pitchFamily="49" charset="0"/>
              </a:rPr>
              <a:t> x = </a:t>
            </a:r>
            <a:r>
              <a:rPr lang="en-US" sz="1800" dirty="0" err="1">
                <a:solidFill>
                  <a:srgbClr val="000000"/>
                </a:solidFill>
                <a:latin typeface="Consolas" panose="020B0609020204030204" pitchFamily="49" charset="0"/>
              </a:rPr>
              <a:t>document.getElementsByTagName</a:t>
            </a:r>
            <a:r>
              <a:rPr lang="en-US" sz="1800" dirty="0">
                <a:solidFill>
                  <a:srgbClr val="000000"/>
                </a:solidFill>
                <a:latin typeface="Consolas" panose="020B0609020204030204" pitchFamily="49" charset="0"/>
              </a:rPr>
              <a:t>(</a:t>
            </a:r>
            <a:r>
              <a:rPr lang="en-US" sz="1800" dirty="0">
                <a:solidFill>
                  <a:srgbClr val="A52A2A"/>
                </a:solidFill>
                <a:latin typeface="Consolas" panose="020B0609020204030204" pitchFamily="49" charset="0"/>
              </a:rPr>
              <a:t>"p"</a:t>
            </a:r>
            <a:r>
              <a:rPr lang="en-US" sz="1800" dirty="0">
                <a:solidFill>
                  <a:srgbClr val="000000"/>
                </a:solidFill>
                <a:latin typeface="Consolas" panose="020B0609020204030204" pitchFamily="49" charset="0"/>
              </a:rPr>
              <a:t>);</a:t>
            </a:r>
            <a:endParaRPr lang="en-US" sz="1800" dirty="0"/>
          </a:p>
          <a:p>
            <a:pPr marL="857250" lvl="2" indent="-457200">
              <a:buFont typeface="+mj-lt"/>
              <a:buAutoNum type="arabicPeriod"/>
            </a:pPr>
            <a:endParaRPr lang="en-US" sz="1800" b="1" dirty="0">
              <a:latin typeface="Courier New" panose="02070309020205020404" pitchFamily="49" charset="0"/>
              <a:cs typeface="Courier New" panose="02070309020205020404" pitchFamily="49" charset="0"/>
            </a:endParaRPr>
          </a:p>
          <a:p>
            <a:pPr lvl="1"/>
            <a:endParaRPr lang="en-US" sz="2200" b="1" dirty="0">
              <a:latin typeface="Courier New" panose="02070309020205020404" pitchFamily="49" charset="0"/>
              <a:cs typeface="Courier New" panose="02070309020205020404"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normAutofit/>
          </a:bodyPr>
          <a:lstStyle/>
          <a:p>
            <a:r>
              <a:rPr lang="en-US" sz="4000" dirty="0"/>
              <a:t>Accessing Element Nodes</a:t>
            </a:r>
          </a:p>
        </p:txBody>
      </p:sp>
      <p:sp>
        <p:nvSpPr>
          <p:cNvPr id="3" name="Content Placeholder 2"/>
          <p:cNvSpPr>
            <a:spLocks noGrp="1"/>
          </p:cNvSpPr>
          <p:nvPr>
            <p:ph idx="1"/>
          </p:nvPr>
        </p:nvSpPr>
        <p:spPr>
          <a:xfrm>
            <a:off x="457200" y="1143000"/>
            <a:ext cx="8229600" cy="5638800"/>
          </a:xfrm>
        </p:spPr>
        <p:txBody>
          <a:bodyPr>
            <a:normAutofit/>
          </a:bodyPr>
          <a:lstStyle/>
          <a:p>
            <a:pPr marL="457200" lvl="1" indent="-457200">
              <a:buFont typeface="+mj-lt"/>
              <a:buAutoNum type="arabicPeriod"/>
            </a:pPr>
            <a:r>
              <a:rPr lang="en-US" sz="2000" dirty="0"/>
              <a:t>Finding HTML elements by CSS selectors (</a:t>
            </a:r>
            <a:r>
              <a:rPr lang="en-US" sz="2000" b="1" dirty="0" err="1">
                <a:latin typeface="Courier New" panose="02070309020205020404" pitchFamily="49" charset="0"/>
                <a:cs typeface="Courier New" panose="02070309020205020404" pitchFamily="49" charset="0"/>
              </a:rPr>
              <a:t>querySelector</a:t>
            </a:r>
            <a:r>
              <a:rPr lang="en-US" sz="2000" b="1" dirty="0">
                <a:latin typeface="Courier New" panose="02070309020205020404" pitchFamily="49" charset="0"/>
                <a:cs typeface="Courier New" panose="02070309020205020404" pitchFamily="49" charset="0"/>
              </a:rPr>
              <a:t>()</a:t>
            </a:r>
            <a:r>
              <a:rPr lang="en-US" sz="2000" dirty="0"/>
              <a:t>)</a:t>
            </a:r>
          </a:p>
          <a:p>
            <a:pPr lvl="1"/>
            <a:r>
              <a:rPr lang="en-US" sz="1800" dirty="0"/>
              <a:t>If you want to find first HTML element that matches a specified CSS selector (id, class names, types, attributes, values of attributes, </a:t>
            </a:r>
            <a:r>
              <a:rPr lang="en-US" sz="1800" dirty="0" err="1"/>
              <a:t>etc</a:t>
            </a:r>
            <a:r>
              <a:rPr lang="en-US" sz="1800" dirty="0"/>
              <a:t>), use the </a:t>
            </a:r>
            <a:r>
              <a:rPr lang="en-US" sz="1800" dirty="0" err="1">
                <a:latin typeface="Courier New" panose="02070309020205020404" pitchFamily="49" charset="0"/>
                <a:cs typeface="Courier New" panose="02070309020205020404" pitchFamily="49" charset="0"/>
              </a:rPr>
              <a:t>querySelector</a:t>
            </a:r>
            <a:r>
              <a:rPr lang="en-US" sz="1800" dirty="0">
                <a:latin typeface="Courier New" panose="02070309020205020404" pitchFamily="49" charset="0"/>
                <a:cs typeface="Courier New" panose="02070309020205020404" pitchFamily="49" charset="0"/>
              </a:rPr>
              <a:t>() </a:t>
            </a:r>
            <a:r>
              <a:rPr lang="en-US" sz="1800" dirty="0"/>
              <a:t>method.</a:t>
            </a:r>
          </a:p>
          <a:p>
            <a:pPr lvl="1"/>
            <a:r>
              <a:rPr lang="en-US" sz="1800" dirty="0"/>
              <a:t>This example returns first </a:t>
            </a:r>
            <a:r>
              <a:rPr lang="en-US" sz="1800" dirty="0">
                <a:latin typeface="Courier New" panose="02070309020205020404" pitchFamily="49" charset="0"/>
                <a:cs typeface="Courier New" panose="02070309020205020404" pitchFamily="49" charset="0"/>
              </a:rPr>
              <a:t>&lt;p&gt; </a:t>
            </a:r>
            <a:r>
              <a:rPr lang="en-US" sz="1800" dirty="0"/>
              <a:t>element with class="</a:t>
            </a:r>
            <a:r>
              <a:rPr lang="en-US" sz="1800" dirty="0">
                <a:latin typeface="Courier New" panose="02070309020205020404" pitchFamily="49" charset="0"/>
                <a:cs typeface="Courier New" panose="02070309020205020404" pitchFamily="49" charset="0"/>
              </a:rPr>
              <a:t>intro</a:t>
            </a:r>
            <a:r>
              <a:rPr lang="en-US" sz="1800" dirty="0"/>
              <a:t>".</a:t>
            </a:r>
          </a:p>
          <a:p>
            <a:pPr lvl="1"/>
            <a:r>
              <a:rPr lang="pt-BR" sz="1800" dirty="0">
                <a:solidFill>
                  <a:srgbClr val="0000CD"/>
                </a:solidFill>
                <a:latin typeface="Consolas" panose="020B0609020204030204" pitchFamily="49" charset="0"/>
              </a:rPr>
              <a:t>var</a:t>
            </a:r>
            <a:r>
              <a:rPr lang="pt-BR" sz="1800" dirty="0">
                <a:solidFill>
                  <a:srgbClr val="000000"/>
                </a:solidFill>
                <a:latin typeface="Consolas" panose="020B0609020204030204" pitchFamily="49" charset="0"/>
              </a:rPr>
              <a:t> x = document.querySelector(</a:t>
            </a:r>
            <a:r>
              <a:rPr lang="pt-BR" sz="1800" dirty="0">
                <a:solidFill>
                  <a:srgbClr val="A52A2A"/>
                </a:solidFill>
                <a:latin typeface="Consolas" panose="020B0609020204030204" pitchFamily="49" charset="0"/>
              </a:rPr>
              <a:t>"p.intro"</a:t>
            </a:r>
            <a:r>
              <a:rPr lang="pt-BR" sz="1800" dirty="0">
                <a:solidFill>
                  <a:srgbClr val="000000"/>
                </a:solidFill>
                <a:latin typeface="Consolas" panose="020B0609020204030204" pitchFamily="49" charset="0"/>
              </a:rPr>
              <a:t>);</a:t>
            </a:r>
          </a:p>
          <a:p>
            <a:endParaRPr lang="en-US" sz="2000" dirty="0"/>
          </a:p>
          <a:p>
            <a:pPr marL="457200" lvl="1" indent="-457200">
              <a:buFont typeface="+mj-lt"/>
              <a:buAutoNum type="arabicPeriod"/>
            </a:pPr>
            <a:r>
              <a:rPr lang="en-US" sz="2000" dirty="0"/>
              <a:t>Finding HTML elements by CSS selectors (</a:t>
            </a:r>
            <a:r>
              <a:rPr lang="en-US" sz="2000" b="1" dirty="0" err="1">
                <a:latin typeface="Courier New" panose="02070309020205020404" pitchFamily="49" charset="0"/>
                <a:cs typeface="Courier New" panose="02070309020205020404" pitchFamily="49" charset="0"/>
              </a:rPr>
              <a:t>querySelectorAll</a:t>
            </a:r>
            <a:r>
              <a:rPr lang="en-US" sz="2000" b="1" dirty="0">
                <a:latin typeface="Courier New" panose="02070309020205020404" pitchFamily="49" charset="0"/>
                <a:cs typeface="Courier New" panose="02070309020205020404" pitchFamily="49" charset="0"/>
              </a:rPr>
              <a:t>()</a:t>
            </a:r>
            <a:r>
              <a:rPr lang="en-US" sz="2000" dirty="0">
                <a:latin typeface="Courier New" panose="02070309020205020404" pitchFamily="49" charset="0"/>
                <a:cs typeface="Courier New" panose="02070309020205020404" pitchFamily="49" charset="0"/>
              </a:rPr>
              <a:t>)</a:t>
            </a:r>
          </a:p>
          <a:p>
            <a:pPr marL="742950" lvl="2" indent="-342900"/>
            <a:r>
              <a:rPr lang="en-US" sz="1800" dirty="0"/>
              <a:t>If you want to find all HTML elements that match a specified CSS selector (id, class names, types, attributes, values of attributes, </a:t>
            </a:r>
            <a:r>
              <a:rPr lang="en-US" sz="1800" dirty="0" err="1"/>
              <a:t>etc</a:t>
            </a:r>
            <a:r>
              <a:rPr lang="en-US" sz="1800" dirty="0"/>
              <a:t>), use the </a:t>
            </a:r>
            <a:r>
              <a:rPr lang="en-US" sz="1800" dirty="0" err="1">
                <a:latin typeface="Courier New" panose="02070309020205020404" pitchFamily="49" charset="0"/>
                <a:cs typeface="Courier New" panose="02070309020205020404" pitchFamily="49" charset="0"/>
              </a:rPr>
              <a:t>querySelectorAll</a:t>
            </a:r>
            <a:r>
              <a:rPr lang="en-US" sz="1800" dirty="0">
                <a:latin typeface="Courier New" panose="02070309020205020404" pitchFamily="49" charset="0"/>
                <a:cs typeface="Courier New" panose="02070309020205020404" pitchFamily="49" charset="0"/>
              </a:rPr>
              <a:t>() </a:t>
            </a:r>
            <a:r>
              <a:rPr lang="en-US" sz="1800" dirty="0"/>
              <a:t>method.</a:t>
            </a:r>
          </a:p>
          <a:p>
            <a:pPr marL="742950" lvl="2" indent="-342900"/>
            <a:r>
              <a:rPr lang="en-US" sz="1800" dirty="0"/>
              <a:t>This example returns a list of all </a:t>
            </a:r>
            <a:r>
              <a:rPr lang="en-US" sz="1800" dirty="0">
                <a:latin typeface="Courier New" panose="02070309020205020404" pitchFamily="49" charset="0"/>
                <a:cs typeface="Courier New" panose="02070309020205020404" pitchFamily="49" charset="0"/>
              </a:rPr>
              <a:t>&lt;p&gt; </a:t>
            </a:r>
            <a:r>
              <a:rPr lang="en-US" sz="1800" dirty="0"/>
              <a:t>elements with class="</a:t>
            </a:r>
            <a:r>
              <a:rPr lang="en-US" sz="1800" dirty="0">
                <a:latin typeface="Courier New" panose="02070309020205020404" pitchFamily="49" charset="0"/>
                <a:cs typeface="Courier New" panose="02070309020205020404" pitchFamily="49" charset="0"/>
              </a:rPr>
              <a:t>intro</a:t>
            </a:r>
            <a:r>
              <a:rPr lang="en-US" sz="1800" dirty="0"/>
              <a:t>".</a:t>
            </a:r>
          </a:p>
          <a:p>
            <a:pPr marL="742950" lvl="2" indent="-342900"/>
            <a:r>
              <a:rPr lang="pt-BR" sz="1800" dirty="0">
                <a:solidFill>
                  <a:srgbClr val="0000CD"/>
                </a:solidFill>
                <a:latin typeface="Consolas" panose="020B0609020204030204" pitchFamily="49" charset="0"/>
              </a:rPr>
              <a:t>var</a:t>
            </a:r>
            <a:r>
              <a:rPr lang="pt-BR" sz="1800" dirty="0">
                <a:solidFill>
                  <a:srgbClr val="000000"/>
                </a:solidFill>
                <a:latin typeface="Consolas" panose="020B0609020204030204" pitchFamily="49" charset="0"/>
              </a:rPr>
              <a:t> x = document.querySelectorAll(</a:t>
            </a:r>
            <a:r>
              <a:rPr lang="pt-BR" sz="1800" dirty="0">
                <a:solidFill>
                  <a:srgbClr val="A52A2A"/>
                </a:solidFill>
                <a:latin typeface="Consolas" panose="020B0609020204030204" pitchFamily="49" charset="0"/>
              </a:rPr>
              <a:t>"p.intro"</a:t>
            </a:r>
            <a:r>
              <a:rPr lang="pt-BR" sz="1800" dirty="0">
                <a:solidFill>
                  <a:srgbClr val="000000"/>
                </a:solidFill>
                <a:latin typeface="Consolas" panose="020B0609020204030204" pitchFamily="49" charset="0"/>
              </a:rPr>
              <a:t>);</a:t>
            </a:r>
            <a:endParaRPr lang="en-US" sz="1800" dirty="0"/>
          </a:p>
          <a:p>
            <a:pPr lvl="2"/>
            <a:endParaRPr lang="en-US" b="1" dirty="0">
              <a:latin typeface="Courier New" panose="02070309020205020404" pitchFamily="49" charset="0"/>
              <a:cs typeface="Courier New" panose="02070309020205020404" pitchFamily="49" charset="0"/>
            </a:endParaRP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3078D-01AB-4A4E-A755-DD90FE7C4B2F}"/>
              </a:ext>
            </a:extLst>
          </p:cNvPr>
          <p:cNvSpPr>
            <a:spLocks noGrp="1"/>
          </p:cNvSpPr>
          <p:nvPr>
            <p:ph type="title"/>
          </p:nvPr>
        </p:nvSpPr>
        <p:spPr>
          <a:xfrm>
            <a:off x="457200" y="0"/>
            <a:ext cx="8229600" cy="457199"/>
          </a:xfrm>
        </p:spPr>
        <p:txBody>
          <a:bodyPr>
            <a:normAutofit fontScale="90000"/>
          </a:bodyPr>
          <a:lstStyle/>
          <a:p>
            <a:r>
              <a:rPr lang="en-US" dirty="0"/>
              <a:t>Accessing Element Nodes</a:t>
            </a:r>
          </a:p>
        </p:txBody>
      </p:sp>
      <p:sp>
        <p:nvSpPr>
          <p:cNvPr id="3" name="Content Placeholder 2">
            <a:extLst>
              <a:ext uri="{FF2B5EF4-FFF2-40B4-BE49-F238E27FC236}">
                <a16:creationId xmlns:a16="http://schemas.microsoft.com/office/drawing/2014/main" id="{482D096E-20D0-4D78-AA6D-6B76AFB7A7A2}"/>
              </a:ext>
            </a:extLst>
          </p:cNvPr>
          <p:cNvSpPr>
            <a:spLocks noGrp="1"/>
          </p:cNvSpPr>
          <p:nvPr>
            <p:ph idx="1"/>
          </p:nvPr>
        </p:nvSpPr>
        <p:spPr>
          <a:xfrm>
            <a:off x="457200" y="533400"/>
            <a:ext cx="8229600" cy="6400800"/>
          </a:xfrm>
        </p:spPr>
        <p:txBody>
          <a:bodyPr>
            <a:normAutofit fontScale="55000" lnSpcReduction="20000"/>
          </a:bodyPr>
          <a:lstStyle/>
          <a:p>
            <a:pPr marL="514350" indent="-514350">
              <a:buFont typeface="+mj-lt"/>
              <a:buAutoNum type="arabicPeriod"/>
            </a:pPr>
            <a:r>
              <a:rPr lang="en-US" dirty="0"/>
              <a:t>Finding HTML elements by HTML object collections (</a:t>
            </a:r>
            <a:r>
              <a:rPr lang="en-US" b="1" dirty="0" err="1">
                <a:latin typeface="Courier New" panose="02070309020205020404" pitchFamily="49" charset="0"/>
                <a:cs typeface="Courier New" panose="02070309020205020404" pitchFamily="49" charset="0"/>
              </a:rPr>
              <a:t>document.forms</a:t>
            </a:r>
            <a:r>
              <a:rPr lang="en-US" dirty="0"/>
              <a:t>)</a:t>
            </a:r>
          </a:p>
          <a:p>
            <a:pPr marL="514350" indent="-514350">
              <a:buFont typeface="+mj-lt"/>
              <a:buAutoNum type="arabicPeriod"/>
            </a:pPr>
            <a:r>
              <a:rPr lang="en-US" dirty="0"/>
              <a:t>This example finds the form element with </a:t>
            </a:r>
            <a:r>
              <a:rPr lang="en-US" dirty="0">
                <a:latin typeface="Courier New" panose="02070309020205020404" pitchFamily="49" charset="0"/>
                <a:cs typeface="Courier New" panose="02070309020205020404" pitchFamily="49" charset="0"/>
              </a:rPr>
              <a:t>id="frm1"</a:t>
            </a:r>
            <a:r>
              <a:rPr lang="en-US" dirty="0"/>
              <a:t>, in the forms collection, and displays all element values:</a:t>
            </a:r>
          </a:p>
          <a:p>
            <a:pPr lvl="1"/>
            <a:r>
              <a:rPr lang="en-US" dirty="0">
                <a:solidFill>
                  <a:srgbClr val="0000CD"/>
                </a:solidFill>
                <a:latin typeface="Consolas" panose="020B0609020204030204" pitchFamily="49" charset="0"/>
              </a:rPr>
              <a:t>var</a:t>
            </a:r>
            <a:r>
              <a:rPr lang="en-US" dirty="0">
                <a:solidFill>
                  <a:srgbClr val="000000"/>
                </a:solidFill>
                <a:latin typeface="Consolas" panose="020B0609020204030204" pitchFamily="49" charset="0"/>
              </a:rPr>
              <a:t> elements = </a:t>
            </a:r>
            <a:r>
              <a:rPr lang="en-US" dirty="0" err="1">
                <a:solidFill>
                  <a:srgbClr val="000000"/>
                </a:solidFill>
                <a:latin typeface="Consolas" panose="020B0609020204030204" pitchFamily="49" charset="0"/>
              </a:rPr>
              <a:t>document.forms</a:t>
            </a:r>
            <a:r>
              <a:rPr lang="en-US" dirty="0">
                <a:solidFill>
                  <a:srgbClr val="000000"/>
                </a:solidFill>
                <a:latin typeface="Consolas" panose="020B0609020204030204" pitchFamily="49" charset="0"/>
              </a:rPr>
              <a:t>[</a:t>
            </a:r>
            <a:r>
              <a:rPr lang="en-US" dirty="0">
                <a:solidFill>
                  <a:srgbClr val="A52A2A"/>
                </a:solidFill>
                <a:latin typeface="Consolas" panose="020B0609020204030204" pitchFamily="49" charset="0"/>
              </a:rPr>
              <a:t>"frm1"</a:t>
            </a:r>
            <a:r>
              <a:rPr lang="en-US" dirty="0">
                <a:solidFill>
                  <a:srgbClr val="000000"/>
                </a:solidFill>
                <a:latin typeface="Consolas" panose="020B0609020204030204" pitchFamily="49" charset="0"/>
              </a:rPr>
              <a:t>];</a:t>
            </a:r>
            <a:br>
              <a:rPr lang="en-US" dirty="0"/>
            </a:br>
            <a:r>
              <a:rPr lang="en-US" dirty="0">
                <a:solidFill>
                  <a:srgbClr val="0000CD"/>
                </a:solidFill>
                <a:latin typeface="Consolas" panose="020B0609020204030204" pitchFamily="49" charset="0"/>
              </a:rPr>
              <a:t>var</a:t>
            </a:r>
            <a:r>
              <a:rPr lang="en-US" dirty="0">
                <a:solidFill>
                  <a:srgbClr val="000000"/>
                </a:solidFill>
                <a:latin typeface="Consolas" panose="020B0609020204030204" pitchFamily="49" charset="0"/>
              </a:rPr>
              <a:t> text = </a:t>
            </a:r>
            <a:r>
              <a:rPr lang="en-US" dirty="0">
                <a:solidFill>
                  <a:srgbClr val="A52A2A"/>
                </a:solidFill>
                <a:latin typeface="Consolas" panose="020B0609020204030204" pitchFamily="49" charset="0"/>
              </a:rPr>
              <a:t>""</a:t>
            </a:r>
            <a:r>
              <a:rPr lang="en-US" dirty="0">
                <a:solidFill>
                  <a:srgbClr val="000000"/>
                </a:solidFill>
                <a:latin typeface="Consolas" panose="020B0609020204030204" pitchFamily="49" charset="0"/>
              </a:rPr>
              <a:t>;</a:t>
            </a:r>
            <a:br>
              <a:rPr lang="en-US" dirty="0"/>
            </a:br>
            <a:r>
              <a:rPr lang="en-US" dirty="0">
                <a:solidFill>
                  <a:srgbClr val="0000CD"/>
                </a:solidFill>
                <a:latin typeface="Consolas" panose="020B0609020204030204" pitchFamily="49" charset="0"/>
              </a:rPr>
              <a:t>var</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a:t>
            </a:r>
            <a:br>
              <a:rPr lang="en-US" dirty="0"/>
            </a:br>
            <a:r>
              <a:rPr lang="en-US" dirty="0">
                <a:solidFill>
                  <a:srgbClr val="0000CD"/>
                </a:solidFill>
                <a:latin typeface="Consolas" panose="020B0609020204030204" pitchFamily="49" charset="0"/>
              </a:rPr>
              <a:t>for</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 </a:t>
            </a:r>
            <a:r>
              <a:rPr lang="en-US" dirty="0">
                <a:solidFill>
                  <a:srgbClr val="FF0000"/>
                </a:solidFill>
                <a:latin typeface="Consolas" panose="020B0609020204030204" pitchFamily="49" charset="0"/>
              </a:rPr>
              <a:t>0</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&lt; </a:t>
            </a:r>
            <a:r>
              <a:rPr lang="en-US" dirty="0" err="1">
                <a:solidFill>
                  <a:srgbClr val="000000"/>
                </a:solidFill>
                <a:latin typeface="Consolas" panose="020B0609020204030204" pitchFamily="49" charset="0"/>
              </a:rPr>
              <a:t>elements.length</a:t>
            </a:r>
            <a:r>
              <a:rPr lang="en-US" dirty="0">
                <a:solidFill>
                  <a:srgbClr val="000000"/>
                </a:solidFill>
                <a:latin typeface="Consolas" panose="020B0609020204030204" pitchFamily="49" charset="0"/>
              </a:rPr>
              <a:t>; </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 {</a:t>
            </a:r>
            <a:br>
              <a:rPr lang="en-US" dirty="0"/>
            </a:br>
            <a:r>
              <a:rPr lang="en-US" dirty="0">
                <a:solidFill>
                  <a:srgbClr val="000000"/>
                </a:solidFill>
                <a:latin typeface="Consolas" panose="020B0609020204030204" pitchFamily="49" charset="0"/>
              </a:rPr>
              <a:t>  text += elements[</a:t>
            </a:r>
            <a:r>
              <a:rPr lang="en-US" dirty="0" err="1">
                <a:solidFill>
                  <a:srgbClr val="000000"/>
                </a:solidFill>
                <a:latin typeface="Consolas" panose="020B0609020204030204" pitchFamily="49" charset="0"/>
              </a:rPr>
              <a:t>i</a:t>
            </a:r>
            <a:r>
              <a:rPr lang="en-US" dirty="0">
                <a:solidFill>
                  <a:srgbClr val="000000"/>
                </a:solidFill>
                <a:latin typeface="Consolas" panose="020B0609020204030204" pitchFamily="49" charset="0"/>
              </a:rPr>
              <a:t>].value + </a:t>
            </a:r>
            <a:r>
              <a:rPr lang="en-US" dirty="0">
                <a:solidFill>
                  <a:srgbClr val="A52A2A"/>
                </a:solidFill>
                <a:latin typeface="Consolas" panose="020B0609020204030204" pitchFamily="49" charset="0"/>
              </a:rPr>
              <a:t>"&lt;</a:t>
            </a:r>
            <a:r>
              <a:rPr lang="en-US" dirty="0" err="1">
                <a:solidFill>
                  <a:srgbClr val="A52A2A"/>
                </a:solidFill>
                <a:latin typeface="Consolas" panose="020B0609020204030204" pitchFamily="49" charset="0"/>
              </a:rPr>
              <a:t>br</a:t>
            </a:r>
            <a:r>
              <a:rPr lang="en-US" dirty="0">
                <a:solidFill>
                  <a:srgbClr val="A52A2A"/>
                </a:solidFill>
                <a:latin typeface="Consolas" panose="020B0609020204030204" pitchFamily="49" charset="0"/>
              </a:rPr>
              <a:t>&gt;"</a:t>
            </a:r>
            <a:r>
              <a:rPr lang="en-US" dirty="0">
                <a:solidFill>
                  <a:srgbClr val="000000"/>
                </a:solidFill>
                <a:latin typeface="Consolas" panose="020B0609020204030204" pitchFamily="49" charset="0"/>
              </a:rPr>
              <a:t>;</a:t>
            </a:r>
            <a:br>
              <a:rPr lang="en-US" dirty="0"/>
            </a:br>
            <a:r>
              <a:rPr lang="en-US" dirty="0">
                <a:solidFill>
                  <a:srgbClr val="000000"/>
                </a:solidFill>
                <a:latin typeface="Consolas" panose="020B0609020204030204" pitchFamily="49" charset="0"/>
              </a:rPr>
              <a:t>}</a:t>
            </a:r>
            <a:br>
              <a:rPr lang="en-US" dirty="0"/>
            </a:br>
            <a:r>
              <a:rPr lang="en-US" dirty="0">
                <a:solidFill>
                  <a:srgbClr val="000000"/>
                </a:solidFill>
                <a:latin typeface="Consolas" panose="020B0609020204030204" pitchFamily="49" charset="0"/>
              </a:rPr>
              <a:t>document.getElementById(</a:t>
            </a:r>
            <a:r>
              <a:rPr lang="en-US" dirty="0">
                <a:solidFill>
                  <a:srgbClr val="A52A2A"/>
                </a:solidFill>
                <a:latin typeface="Consolas" panose="020B0609020204030204" pitchFamily="49" charset="0"/>
              </a:rPr>
              <a:t>"demo"</a:t>
            </a:r>
            <a:r>
              <a:rPr lang="en-US" dirty="0">
                <a:solidFill>
                  <a:srgbClr val="000000"/>
                </a:solidFill>
                <a:latin typeface="Consolas" panose="020B0609020204030204" pitchFamily="49" charset="0"/>
              </a:rPr>
              <a:t>).</a:t>
            </a:r>
            <a:r>
              <a:rPr lang="en-US" dirty="0" err="1">
                <a:solidFill>
                  <a:srgbClr val="000000"/>
                </a:solidFill>
                <a:latin typeface="Consolas" panose="020B0609020204030204" pitchFamily="49" charset="0"/>
              </a:rPr>
              <a:t>innerHTML</a:t>
            </a:r>
            <a:r>
              <a:rPr lang="en-US" dirty="0">
                <a:solidFill>
                  <a:srgbClr val="000000"/>
                </a:solidFill>
                <a:latin typeface="Consolas" panose="020B0609020204030204" pitchFamily="49" charset="0"/>
              </a:rPr>
              <a:t> = text;</a:t>
            </a:r>
          </a:p>
          <a:p>
            <a:pPr lvl="1"/>
            <a:r>
              <a:rPr lang="en-US" dirty="0">
                <a:solidFill>
                  <a:srgbClr val="000000"/>
                </a:solidFill>
                <a:latin typeface="Consolas" panose="020B0609020204030204" pitchFamily="49" charset="0"/>
              </a:rPr>
              <a:t>&lt;p id="demo"&gt;&lt;/p&gt;</a:t>
            </a:r>
          </a:p>
          <a:p>
            <a:pPr marL="457200" lvl="1" indent="0">
              <a:buNone/>
            </a:pPr>
            <a:endParaRPr lang="en-US" dirty="0">
              <a:solidFill>
                <a:srgbClr val="000000"/>
              </a:solidFill>
              <a:latin typeface="Consolas" panose="020B0609020204030204" pitchFamily="49" charset="0"/>
            </a:endParaRPr>
          </a:p>
          <a:p>
            <a:pPr marL="514350" indent="-514350">
              <a:buFont typeface="+mj-lt"/>
              <a:buAutoNum type="arabicPeriod"/>
            </a:pPr>
            <a:r>
              <a:rPr lang="en-US" dirty="0"/>
              <a:t>The following HTML objects (and object collections) are also accessible:</a:t>
            </a:r>
          </a:p>
          <a:p>
            <a:r>
              <a:rPr lang="en-US" dirty="0" err="1">
                <a:hlinkClick r:id="rId2"/>
              </a:rPr>
              <a:t>document.anchors</a:t>
            </a:r>
            <a:endParaRPr lang="en-US" dirty="0"/>
          </a:p>
          <a:p>
            <a:r>
              <a:rPr lang="en-US" dirty="0" err="1">
                <a:hlinkClick r:id="rId3"/>
              </a:rPr>
              <a:t>document.body</a:t>
            </a:r>
            <a:endParaRPr lang="en-US" dirty="0"/>
          </a:p>
          <a:p>
            <a:r>
              <a:rPr lang="en-US" dirty="0" err="1">
                <a:hlinkClick r:id="rId4"/>
              </a:rPr>
              <a:t>document.documentElement</a:t>
            </a:r>
            <a:endParaRPr lang="en-US" dirty="0"/>
          </a:p>
          <a:p>
            <a:r>
              <a:rPr lang="en-US" dirty="0" err="1">
                <a:hlinkClick r:id="rId5"/>
              </a:rPr>
              <a:t>document.embeds</a:t>
            </a:r>
            <a:endParaRPr lang="en-US" dirty="0"/>
          </a:p>
          <a:p>
            <a:r>
              <a:rPr lang="en-US" dirty="0" err="1">
                <a:hlinkClick r:id="rId6"/>
              </a:rPr>
              <a:t>document.forms</a:t>
            </a:r>
            <a:endParaRPr lang="en-US" dirty="0"/>
          </a:p>
          <a:p>
            <a:r>
              <a:rPr lang="en-US" dirty="0" err="1">
                <a:hlinkClick r:id="rId7"/>
              </a:rPr>
              <a:t>document.head</a:t>
            </a:r>
            <a:endParaRPr lang="en-US" dirty="0"/>
          </a:p>
          <a:p>
            <a:r>
              <a:rPr lang="en-US" dirty="0" err="1">
                <a:hlinkClick r:id="rId8"/>
              </a:rPr>
              <a:t>document.images</a:t>
            </a:r>
            <a:endParaRPr lang="en-US" dirty="0"/>
          </a:p>
          <a:p>
            <a:r>
              <a:rPr lang="en-US" dirty="0" err="1">
                <a:hlinkClick r:id="rId9"/>
              </a:rPr>
              <a:t>document.links</a:t>
            </a:r>
            <a:endParaRPr lang="en-US" dirty="0"/>
          </a:p>
          <a:p>
            <a:r>
              <a:rPr lang="en-US" dirty="0" err="1">
                <a:hlinkClick r:id="rId10"/>
              </a:rPr>
              <a:t>document.scripts</a:t>
            </a:r>
            <a:endParaRPr lang="en-US" dirty="0"/>
          </a:p>
          <a:p>
            <a:r>
              <a:rPr lang="en-US" dirty="0" err="1">
                <a:hlinkClick r:id="rId11"/>
              </a:rPr>
              <a:t>document.title</a:t>
            </a:r>
            <a:endParaRPr lang="en-US" dirty="0"/>
          </a:p>
          <a:p>
            <a:endParaRPr lang="en-US" dirty="0"/>
          </a:p>
        </p:txBody>
      </p:sp>
      <p:pic>
        <p:nvPicPr>
          <p:cNvPr id="4" name="Picture 3">
            <a:extLst>
              <a:ext uri="{FF2B5EF4-FFF2-40B4-BE49-F238E27FC236}">
                <a16:creationId xmlns:a16="http://schemas.microsoft.com/office/drawing/2014/main" id="{D62E6976-343B-43EE-90DA-92FFC02C8F33}"/>
              </a:ext>
            </a:extLst>
          </p:cNvPr>
          <p:cNvPicPr>
            <a:picLocks noChangeAspect="1"/>
          </p:cNvPicPr>
          <p:nvPr/>
        </p:nvPicPr>
        <p:blipFill rotWithShape="1">
          <a:blip r:embed="rId12"/>
          <a:srcRect l="50000" t="27778" r="15833" b="39629"/>
          <a:stretch/>
        </p:blipFill>
        <p:spPr>
          <a:xfrm>
            <a:off x="4419600" y="4267200"/>
            <a:ext cx="4572000" cy="2453268"/>
          </a:xfrm>
          <a:prstGeom prst="rect">
            <a:avLst/>
          </a:prstGeom>
        </p:spPr>
      </p:pic>
      <p:sp>
        <p:nvSpPr>
          <p:cNvPr id="5" name="TextBox 4">
            <a:extLst>
              <a:ext uri="{FF2B5EF4-FFF2-40B4-BE49-F238E27FC236}">
                <a16:creationId xmlns:a16="http://schemas.microsoft.com/office/drawing/2014/main" id="{D9C2C21E-4640-4A2C-8405-47A3B25B348B}"/>
              </a:ext>
            </a:extLst>
          </p:cNvPr>
          <p:cNvSpPr txBox="1"/>
          <p:nvPr/>
        </p:nvSpPr>
        <p:spPr>
          <a:xfrm>
            <a:off x="4419600" y="3853934"/>
            <a:ext cx="1447800" cy="369332"/>
          </a:xfrm>
          <a:prstGeom prst="rect">
            <a:avLst/>
          </a:prstGeom>
          <a:noFill/>
        </p:spPr>
        <p:txBody>
          <a:bodyPr wrap="square" rtlCol="0">
            <a:spAutoFit/>
          </a:bodyPr>
          <a:lstStyle/>
          <a:p>
            <a:r>
              <a:rPr lang="en-US" b="1" u="sng" dirty="0"/>
              <a:t>Output</a:t>
            </a:r>
          </a:p>
        </p:txBody>
      </p:sp>
    </p:spTree>
    <p:extLst>
      <p:ext uri="{BB962C8B-B14F-4D97-AF65-F5344CB8AC3E}">
        <p14:creationId xmlns:p14="http://schemas.microsoft.com/office/powerpoint/2010/main" val="38926369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B21B8-2538-4AC6-AA0F-B7A6220E584D}"/>
              </a:ext>
            </a:extLst>
          </p:cNvPr>
          <p:cNvSpPr>
            <a:spLocks noGrp="1"/>
          </p:cNvSpPr>
          <p:nvPr>
            <p:ph type="title"/>
          </p:nvPr>
        </p:nvSpPr>
        <p:spPr>
          <a:xfrm>
            <a:off x="457200" y="76200"/>
            <a:ext cx="8229600" cy="715962"/>
          </a:xfrm>
        </p:spPr>
        <p:txBody>
          <a:bodyPr>
            <a:normAutofit fontScale="90000"/>
          </a:bodyPr>
          <a:lstStyle/>
          <a:p>
            <a:r>
              <a:rPr lang="en-US" dirty="0"/>
              <a:t>DOM Get/ Set HTML Content</a:t>
            </a:r>
          </a:p>
        </p:txBody>
      </p:sp>
      <p:sp>
        <p:nvSpPr>
          <p:cNvPr id="3" name="Content Placeholder 2">
            <a:extLst>
              <a:ext uri="{FF2B5EF4-FFF2-40B4-BE49-F238E27FC236}">
                <a16:creationId xmlns:a16="http://schemas.microsoft.com/office/drawing/2014/main" id="{FA8B7BE0-8F4A-4E77-8FC5-0D996F3AD8DA}"/>
              </a:ext>
            </a:extLst>
          </p:cNvPr>
          <p:cNvSpPr>
            <a:spLocks noGrp="1"/>
          </p:cNvSpPr>
          <p:nvPr>
            <p:ph idx="1"/>
          </p:nvPr>
        </p:nvSpPr>
        <p:spPr>
          <a:xfrm>
            <a:off x="457200" y="792162"/>
            <a:ext cx="8229600" cy="5837238"/>
          </a:xfrm>
        </p:spPr>
        <p:txBody>
          <a:bodyPr>
            <a:normAutofit fontScale="77500" lnSpcReduction="20000"/>
          </a:bodyPr>
          <a:lstStyle/>
          <a:p>
            <a:pPr marL="514350" indent="-514350">
              <a:buFont typeface="+mj-lt"/>
              <a:buAutoNum type="arabicPeriod"/>
            </a:pPr>
            <a:r>
              <a:rPr lang="en-US" dirty="0"/>
              <a:t>The </a:t>
            </a:r>
            <a:r>
              <a:rPr lang="en-US" dirty="0" err="1">
                <a:latin typeface="Courier New" panose="02070309020205020404" pitchFamily="49" charset="0"/>
                <a:cs typeface="Courier New" panose="02070309020205020404" pitchFamily="49" charset="0"/>
              </a:rPr>
              <a:t>innerHTML</a:t>
            </a:r>
            <a:r>
              <a:rPr lang="en-US" dirty="0"/>
              <a:t> property sets or returns the HTML content (</a:t>
            </a:r>
            <a:r>
              <a:rPr lang="en-US" dirty="0" err="1">
                <a:latin typeface="Courier New" panose="02070309020205020404" pitchFamily="49" charset="0"/>
                <a:cs typeface="Courier New" panose="02070309020205020404" pitchFamily="49" charset="0"/>
              </a:rPr>
              <a:t>innerHTML</a:t>
            </a:r>
            <a:r>
              <a:rPr lang="en-US" dirty="0"/>
              <a:t>) of an element.</a:t>
            </a:r>
          </a:p>
          <a:p>
            <a:pPr marL="514350" indent="-514350">
              <a:buFont typeface="+mj-lt"/>
              <a:buAutoNum type="arabicPeriod"/>
            </a:pPr>
            <a:r>
              <a:rPr lang="en-US" dirty="0"/>
              <a:t>Return the </a:t>
            </a:r>
            <a:r>
              <a:rPr lang="en-US" dirty="0" err="1"/>
              <a:t>innerHTML</a:t>
            </a:r>
            <a:r>
              <a:rPr lang="en-US" dirty="0"/>
              <a:t> property:</a:t>
            </a:r>
          </a:p>
          <a:p>
            <a:endParaRPr lang="en-US" dirty="0"/>
          </a:p>
          <a:p>
            <a:pPr lvl="1"/>
            <a:r>
              <a:rPr lang="en-US" sz="2400" i="1" dirty="0"/>
              <a:t>Syntax: </a:t>
            </a:r>
            <a:r>
              <a:rPr lang="en-US" sz="2400" i="1" dirty="0" err="1"/>
              <a:t>HTMLElementObject</a:t>
            </a:r>
            <a:r>
              <a:rPr lang="en-US" sz="2400" dirty="0" err="1"/>
              <a:t>.innerHTML</a:t>
            </a:r>
            <a:endParaRPr lang="en-US" sz="2400" dirty="0"/>
          </a:p>
          <a:p>
            <a:pPr lvl="1"/>
            <a:r>
              <a:rPr lang="en-US" sz="2400" dirty="0"/>
              <a:t>Get the HTML content of a &lt;p&gt; element with id="</a:t>
            </a:r>
            <a:r>
              <a:rPr lang="en-US" sz="2400" dirty="0" err="1"/>
              <a:t>myP</a:t>
            </a:r>
            <a:r>
              <a:rPr lang="en-US" sz="2400" dirty="0"/>
              <a:t>":</a:t>
            </a:r>
          </a:p>
          <a:p>
            <a:pPr lvl="1"/>
            <a:r>
              <a:rPr lang="en-US" sz="2400" dirty="0">
                <a:solidFill>
                  <a:srgbClr val="0000CD"/>
                </a:solidFill>
                <a:latin typeface="Consolas" panose="020B0609020204030204" pitchFamily="49" charset="0"/>
              </a:rPr>
              <a:t>var</a:t>
            </a:r>
            <a:r>
              <a:rPr lang="en-US" sz="2400" dirty="0">
                <a:solidFill>
                  <a:srgbClr val="000000"/>
                </a:solidFill>
                <a:latin typeface="Consolas" panose="020B0609020204030204" pitchFamily="49" charset="0"/>
              </a:rPr>
              <a:t> x = document.getElementById(</a:t>
            </a:r>
            <a:r>
              <a:rPr lang="en-US" sz="2400" dirty="0">
                <a:solidFill>
                  <a:srgbClr val="A52A2A"/>
                </a:solidFill>
                <a:latin typeface="Consolas" panose="020B0609020204030204" pitchFamily="49" charset="0"/>
              </a:rPr>
              <a:t>"</a:t>
            </a:r>
            <a:r>
              <a:rPr lang="en-US" sz="2400" dirty="0" err="1">
                <a:solidFill>
                  <a:srgbClr val="A52A2A"/>
                </a:solidFill>
                <a:latin typeface="Consolas" panose="020B0609020204030204" pitchFamily="49" charset="0"/>
              </a:rPr>
              <a:t>myP</a:t>
            </a:r>
            <a:r>
              <a:rPr lang="en-US" sz="2400" dirty="0">
                <a:solidFill>
                  <a:srgbClr val="A52A2A"/>
                </a:solidFill>
                <a:latin typeface="Consolas" panose="020B0609020204030204" pitchFamily="49" charset="0"/>
              </a:rPr>
              <a:t>"</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innerHTML</a:t>
            </a:r>
            <a:r>
              <a:rPr lang="en-US" sz="2400" dirty="0">
                <a:solidFill>
                  <a:srgbClr val="000000"/>
                </a:solidFill>
                <a:latin typeface="Consolas" panose="020B0609020204030204" pitchFamily="49" charset="0"/>
              </a:rPr>
              <a:t>;</a:t>
            </a:r>
          </a:p>
          <a:p>
            <a:pPr lvl="1"/>
            <a:endParaRPr lang="en-US" sz="2400" dirty="0">
              <a:solidFill>
                <a:srgbClr val="000000"/>
              </a:solidFill>
              <a:latin typeface="Consolas" panose="020B0609020204030204" pitchFamily="49" charset="0"/>
            </a:endParaRPr>
          </a:p>
          <a:p>
            <a:pPr marL="514350" indent="-514350">
              <a:buFont typeface="+mj-lt"/>
              <a:buAutoNum type="arabicPeriod"/>
            </a:pPr>
            <a:r>
              <a:rPr lang="en-US" dirty="0"/>
              <a:t>Set the </a:t>
            </a:r>
            <a:r>
              <a:rPr lang="en-US" dirty="0" err="1"/>
              <a:t>innerHTML</a:t>
            </a:r>
            <a:r>
              <a:rPr lang="en-US" dirty="0"/>
              <a:t> property:</a:t>
            </a:r>
          </a:p>
          <a:p>
            <a:endParaRPr lang="en-US" dirty="0"/>
          </a:p>
          <a:p>
            <a:pPr lvl="1"/>
            <a:r>
              <a:rPr lang="en-US" sz="2400" i="1" dirty="0"/>
              <a:t>Syntax: </a:t>
            </a:r>
            <a:r>
              <a:rPr lang="en-US" sz="2400" i="1" dirty="0" err="1"/>
              <a:t>HTMLElementObject</a:t>
            </a:r>
            <a:r>
              <a:rPr lang="en-US" sz="2400" dirty="0" err="1"/>
              <a:t>.innerHTML</a:t>
            </a:r>
            <a:r>
              <a:rPr lang="en-US" sz="2400" dirty="0"/>
              <a:t> =</a:t>
            </a:r>
            <a:r>
              <a:rPr lang="en-US" sz="2400" i="1" dirty="0"/>
              <a:t> text</a:t>
            </a:r>
          </a:p>
          <a:p>
            <a:pPr lvl="1"/>
            <a:r>
              <a:rPr lang="en-US" sz="2400" dirty="0"/>
              <a:t>Change the HTML content of a &lt;p&gt; element with id="demo":</a:t>
            </a:r>
          </a:p>
          <a:p>
            <a:pPr lvl="1"/>
            <a:r>
              <a:rPr lang="en-US" sz="2400" dirty="0">
                <a:solidFill>
                  <a:srgbClr val="000000"/>
                </a:solidFill>
                <a:latin typeface="Consolas" panose="020B0609020204030204" pitchFamily="49" charset="0"/>
              </a:rPr>
              <a:t>document.getElementById(</a:t>
            </a:r>
            <a:r>
              <a:rPr lang="en-US" sz="2400" dirty="0">
                <a:solidFill>
                  <a:srgbClr val="A52A2A"/>
                </a:solidFill>
                <a:latin typeface="Consolas" panose="020B0609020204030204" pitchFamily="49" charset="0"/>
              </a:rPr>
              <a:t>"demo"</a:t>
            </a:r>
            <a:r>
              <a:rPr lang="en-US" sz="2400" dirty="0">
                <a:solidFill>
                  <a:srgbClr val="000000"/>
                </a:solidFill>
                <a:latin typeface="Consolas" panose="020B0609020204030204" pitchFamily="49" charset="0"/>
              </a:rPr>
              <a:t>).</a:t>
            </a:r>
            <a:r>
              <a:rPr lang="en-US" sz="2400" dirty="0" err="1">
                <a:solidFill>
                  <a:srgbClr val="000000"/>
                </a:solidFill>
                <a:latin typeface="Consolas" panose="020B0609020204030204" pitchFamily="49" charset="0"/>
              </a:rPr>
              <a:t>innerHTML</a:t>
            </a:r>
            <a:r>
              <a:rPr lang="en-US" sz="2400" dirty="0">
                <a:solidFill>
                  <a:srgbClr val="000000"/>
                </a:solidFill>
                <a:latin typeface="Consolas" panose="020B0609020204030204" pitchFamily="49" charset="0"/>
              </a:rPr>
              <a:t> = </a:t>
            </a:r>
            <a:r>
              <a:rPr lang="en-US" sz="2400" dirty="0">
                <a:solidFill>
                  <a:srgbClr val="A52A2A"/>
                </a:solidFill>
                <a:latin typeface="Consolas" panose="020B0609020204030204" pitchFamily="49" charset="0"/>
              </a:rPr>
              <a:t>"Paragraph changed!"</a:t>
            </a:r>
            <a:r>
              <a:rPr lang="en-US" sz="2400" dirty="0">
                <a:solidFill>
                  <a:srgbClr val="000000"/>
                </a:solidFill>
                <a:latin typeface="Consolas" panose="020B0609020204030204" pitchFamily="49" charset="0"/>
              </a:rPr>
              <a:t>; </a:t>
            </a:r>
          </a:p>
          <a:p>
            <a:pPr lvl="1"/>
            <a:endParaRPr lang="en-US" sz="2400" dirty="0">
              <a:solidFill>
                <a:srgbClr val="000000"/>
              </a:solidFill>
              <a:latin typeface="Consolas" panose="020B0609020204030204" pitchFamily="49" charset="0"/>
            </a:endParaRPr>
          </a:p>
          <a:p>
            <a:pPr lvl="1"/>
            <a:r>
              <a:rPr lang="en-US" sz="2400" dirty="0"/>
              <a:t>If we need a quick way of adding a paragraph of text to the first element on our page with a class of </a:t>
            </a:r>
            <a:r>
              <a:rPr lang="en-US" sz="2400" b="1" dirty="0"/>
              <a:t>intro:</a:t>
            </a:r>
            <a:endParaRPr lang="en-US" sz="2400" dirty="0"/>
          </a:p>
          <a:p>
            <a:pPr lvl="1"/>
            <a:r>
              <a:rPr lang="en-US" sz="2400" dirty="0" err="1">
                <a:latin typeface="Courier New" panose="02070309020205020404" pitchFamily="49" charset="0"/>
                <a:cs typeface="Courier New" panose="02070309020205020404" pitchFamily="49" charset="0"/>
              </a:rPr>
              <a:t>document.getElementsByClassName</a:t>
            </a:r>
            <a:r>
              <a:rPr lang="en-US" sz="2400" dirty="0">
                <a:latin typeface="Courier New" panose="02070309020205020404" pitchFamily="49" charset="0"/>
                <a:cs typeface="Courier New" panose="02070309020205020404" pitchFamily="49" charset="0"/>
              </a:rPr>
              <a:t>("intro"). </a:t>
            </a:r>
            <a:r>
              <a:rPr lang="en-US" sz="2400" dirty="0" err="1">
                <a:latin typeface="Courier New" panose="02070309020205020404" pitchFamily="49" charset="0"/>
                <a:cs typeface="Courier New" panose="02070309020205020404" pitchFamily="49" charset="0"/>
              </a:rPr>
              <a:t>innerHTML</a:t>
            </a:r>
            <a:r>
              <a:rPr lang="en-US" sz="2400" dirty="0">
                <a:latin typeface="Courier New" panose="02070309020205020404" pitchFamily="49" charset="0"/>
                <a:cs typeface="Courier New" panose="02070309020205020404" pitchFamily="49" charset="0"/>
              </a:rPr>
              <a:t> =“&lt;p&gt;This is our intro text&lt;/p&gt;";</a:t>
            </a:r>
            <a:endParaRPr lang="en-US" sz="2400" b="1"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29111370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A2B3F-30F5-4E38-8F2D-AED0BF498FE4}"/>
              </a:ext>
            </a:extLst>
          </p:cNvPr>
          <p:cNvSpPr>
            <a:spLocks noGrp="1"/>
          </p:cNvSpPr>
          <p:nvPr>
            <p:ph type="title"/>
          </p:nvPr>
        </p:nvSpPr>
        <p:spPr>
          <a:xfrm>
            <a:off x="457200" y="46038"/>
            <a:ext cx="8229600" cy="868362"/>
          </a:xfrm>
        </p:spPr>
        <p:txBody>
          <a:bodyPr>
            <a:normAutofit fontScale="90000"/>
          </a:bodyPr>
          <a:lstStyle/>
          <a:p>
            <a:r>
              <a:rPr lang="en-US" dirty="0"/>
              <a:t>DOM Get/ Set Input Controls Content</a:t>
            </a:r>
          </a:p>
        </p:txBody>
      </p:sp>
      <p:sp>
        <p:nvSpPr>
          <p:cNvPr id="3" name="Content Placeholder 2">
            <a:extLst>
              <a:ext uri="{FF2B5EF4-FFF2-40B4-BE49-F238E27FC236}">
                <a16:creationId xmlns:a16="http://schemas.microsoft.com/office/drawing/2014/main" id="{26640DF6-9F4F-4481-A226-B9EDE0A95A2A}"/>
              </a:ext>
            </a:extLst>
          </p:cNvPr>
          <p:cNvSpPr>
            <a:spLocks noGrp="1"/>
          </p:cNvSpPr>
          <p:nvPr>
            <p:ph idx="1"/>
          </p:nvPr>
        </p:nvSpPr>
        <p:spPr>
          <a:xfrm>
            <a:off x="457200" y="914400"/>
            <a:ext cx="8229600" cy="5897562"/>
          </a:xfrm>
        </p:spPr>
        <p:txBody>
          <a:bodyPr>
            <a:normAutofit fontScale="70000" lnSpcReduction="20000"/>
          </a:bodyPr>
          <a:lstStyle/>
          <a:p>
            <a:r>
              <a:rPr lang="en-US" dirty="0"/>
              <a:t>The value property sets or returns the content of input controls.</a:t>
            </a:r>
          </a:p>
          <a:p>
            <a:r>
              <a:rPr lang="en-US" dirty="0"/>
              <a:t>Return the value property:</a:t>
            </a:r>
          </a:p>
          <a:p>
            <a:pPr lvl="1"/>
            <a:r>
              <a:rPr lang="en-US" sz="2900" b="1" i="1" dirty="0"/>
              <a:t>Syntax:</a:t>
            </a:r>
            <a:r>
              <a:rPr lang="en-US" b="1" dirty="0"/>
              <a:t> </a:t>
            </a:r>
            <a:r>
              <a:rPr lang="en-US" b="1" i="1" dirty="0" err="1"/>
              <a:t>textObject</a:t>
            </a:r>
            <a:r>
              <a:rPr lang="en-US" b="1" dirty="0" err="1"/>
              <a:t>.value</a:t>
            </a:r>
            <a:endParaRPr lang="en-US" b="1" dirty="0"/>
          </a:p>
          <a:p>
            <a:pPr lvl="1"/>
            <a:r>
              <a:rPr lang="en-US" dirty="0"/>
              <a:t>Get the value of a </a:t>
            </a:r>
            <a:r>
              <a:rPr lang="en-US" b="1" dirty="0"/>
              <a:t>text field</a:t>
            </a:r>
            <a:r>
              <a:rPr lang="en-US" dirty="0"/>
              <a:t>:</a:t>
            </a:r>
          </a:p>
          <a:p>
            <a:pPr lvl="2"/>
            <a:r>
              <a:rPr lang="en-US" dirty="0">
                <a:solidFill>
                  <a:srgbClr val="0000CD"/>
                </a:solidFill>
                <a:latin typeface="Consolas" panose="020B0609020204030204" pitchFamily="49" charset="0"/>
              </a:rPr>
              <a:t>var</a:t>
            </a:r>
            <a:r>
              <a:rPr lang="en-US" dirty="0">
                <a:solidFill>
                  <a:srgbClr val="000000"/>
                </a:solidFill>
                <a:latin typeface="Consolas" panose="020B0609020204030204" pitchFamily="49" charset="0"/>
              </a:rPr>
              <a:t> x = document.getElementById(</a:t>
            </a:r>
            <a:r>
              <a:rPr lang="en-US" dirty="0">
                <a:solidFill>
                  <a:srgbClr val="A52A2A"/>
                </a:solidFill>
                <a:latin typeface="Consolas" panose="020B0609020204030204" pitchFamily="49" charset="0"/>
              </a:rPr>
              <a:t>"</a:t>
            </a:r>
            <a:r>
              <a:rPr lang="en-US" dirty="0" err="1">
                <a:solidFill>
                  <a:srgbClr val="A52A2A"/>
                </a:solidFill>
                <a:latin typeface="Consolas" panose="020B0609020204030204" pitchFamily="49" charset="0"/>
              </a:rPr>
              <a:t>myText</a:t>
            </a:r>
            <a:r>
              <a:rPr lang="en-US" dirty="0">
                <a:solidFill>
                  <a:srgbClr val="A52A2A"/>
                </a:solidFill>
                <a:latin typeface="Consolas" panose="020B0609020204030204" pitchFamily="49" charset="0"/>
              </a:rPr>
              <a:t>"</a:t>
            </a:r>
            <a:r>
              <a:rPr lang="en-US" dirty="0">
                <a:solidFill>
                  <a:srgbClr val="000000"/>
                </a:solidFill>
                <a:latin typeface="Consolas" panose="020B0609020204030204" pitchFamily="49" charset="0"/>
              </a:rPr>
              <a:t>).value;</a:t>
            </a:r>
          </a:p>
          <a:p>
            <a:pPr lvl="1"/>
            <a:r>
              <a:rPr lang="en-US" dirty="0"/>
              <a:t>Return the value of a selected option in a </a:t>
            </a:r>
            <a:r>
              <a:rPr lang="en-US" b="1" dirty="0"/>
              <a:t>drop-down list</a:t>
            </a:r>
            <a:r>
              <a:rPr lang="en-US" dirty="0"/>
              <a:t>:</a:t>
            </a:r>
          </a:p>
          <a:p>
            <a:pPr lvl="2"/>
            <a:r>
              <a:rPr lang="en-US" dirty="0">
                <a:solidFill>
                  <a:srgbClr val="0000CD"/>
                </a:solidFill>
                <a:latin typeface="Consolas" panose="020B0609020204030204" pitchFamily="49" charset="0"/>
              </a:rPr>
              <a:t>var</a:t>
            </a:r>
            <a:r>
              <a:rPr lang="en-US" dirty="0">
                <a:solidFill>
                  <a:srgbClr val="000000"/>
                </a:solidFill>
                <a:latin typeface="Consolas" panose="020B0609020204030204" pitchFamily="49" charset="0"/>
              </a:rPr>
              <a:t> x = document.getElementById(</a:t>
            </a:r>
            <a:r>
              <a:rPr lang="en-US" dirty="0">
                <a:solidFill>
                  <a:srgbClr val="A52A2A"/>
                </a:solidFill>
                <a:latin typeface="Consolas" panose="020B0609020204030204" pitchFamily="49" charset="0"/>
              </a:rPr>
              <a:t>"</a:t>
            </a:r>
            <a:r>
              <a:rPr lang="en-US" dirty="0" err="1">
                <a:solidFill>
                  <a:srgbClr val="A52A2A"/>
                </a:solidFill>
                <a:latin typeface="Consolas" panose="020B0609020204030204" pitchFamily="49" charset="0"/>
              </a:rPr>
              <a:t>mySelect</a:t>
            </a:r>
            <a:r>
              <a:rPr lang="en-US" dirty="0">
                <a:solidFill>
                  <a:srgbClr val="A52A2A"/>
                </a:solidFill>
                <a:latin typeface="Consolas" panose="020B0609020204030204" pitchFamily="49" charset="0"/>
              </a:rPr>
              <a:t>"</a:t>
            </a:r>
            <a:r>
              <a:rPr lang="en-US" dirty="0">
                <a:solidFill>
                  <a:srgbClr val="000000"/>
                </a:solidFill>
                <a:latin typeface="Consolas" panose="020B0609020204030204" pitchFamily="49" charset="0"/>
              </a:rPr>
              <a:t>).value;</a:t>
            </a:r>
          </a:p>
          <a:p>
            <a:pPr lvl="1"/>
            <a:r>
              <a:rPr lang="en-US" dirty="0"/>
              <a:t>Get the value of the value attribute of a </a:t>
            </a:r>
            <a:r>
              <a:rPr lang="en-US" b="1" dirty="0"/>
              <a:t>radio button</a:t>
            </a:r>
            <a:r>
              <a:rPr lang="en-US" dirty="0"/>
              <a:t>:</a:t>
            </a:r>
          </a:p>
          <a:p>
            <a:pPr lvl="2"/>
            <a:r>
              <a:rPr lang="nn-NO" dirty="0">
                <a:solidFill>
                  <a:srgbClr val="0000CD"/>
                </a:solidFill>
                <a:latin typeface="Consolas" panose="020B0609020204030204" pitchFamily="49" charset="0"/>
              </a:rPr>
              <a:t>var</a:t>
            </a:r>
            <a:r>
              <a:rPr lang="nn-NO" dirty="0">
                <a:solidFill>
                  <a:srgbClr val="000000"/>
                </a:solidFill>
                <a:latin typeface="Consolas" panose="020B0609020204030204" pitchFamily="49" charset="0"/>
              </a:rPr>
              <a:t> x = document.getElementById(</a:t>
            </a:r>
            <a:r>
              <a:rPr lang="nn-NO" dirty="0">
                <a:solidFill>
                  <a:srgbClr val="A52A2A"/>
                </a:solidFill>
                <a:latin typeface="Consolas" panose="020B0609020204030204" pitchFamily="49" charset="0"/>
              </a:rPr>
              <a:t>"myRadio"</a:t>
            </a:r>
            <a:r>
              <a:rPr lang="nn-NO" dirty="0">
                <a:solidFill>
                  <a:srgbClr val="000000"/>
                </a:solidFill>
                <a:latin typeface="Consolas" panose="020B0609020204030204" pitchFamily="49" charset="0"/>
              </a:rPr>
              <a:t>).value;</a:t>
            </a:r>
            <a:endParaRPr lang="en-US" dirty="0">
              <a:solidFill>
                <a:srgbClr val="000000"/>
              </a:solidFill>
              <a:latin typeface="Consolas" panose="020B0609020204030204" pitchFamily="49" charset="0"/>
            </a:endParaRPr>
          </a:p>
          <a:p>
            <a:r>
              <a:rPr lang="en-US" dirty="0"/>
              <a:t>Set the value property:</a:t>
            </a:r>
          </a:p>
          <a:p>
            <a:pPr lvl="1"/>
            <a:r>
              <a:rPr lang="en-US" b="1" i="1" dirty="0"/>
              <a:t>Syntax: </a:t>
            </a:r>
            <a:r>
              <a:rPr lang="en-US" b="1" i="1" dirty="0" err="1"/>
              <a:t>textObject</a:t>
            </a:r>
            <a:r>
              <a:rPr lang="en-US" b="1" dirty="0" err="1"/>
              <a:t>.value</a:t>
            </a:r>
            <a:r>
              <a:rPr lang="en-US" b="1" dirty="0"/>
              <a:t> = </a:t>
            </a:r>
            <a:r>
              <a:rPr lang="en-US" b="1" i="1" dirty="0"/>
              <a:t>text</a:t>
            </a:r>
          </a:p>
          <a:p>
            <a:pPr lvl="1"/>
            <a:r>
              <a:rPr lang="en-US" dirty="0"/>
              <a:t>Change the value of a </a:t>
            </a:r>
            <a:r>
              <a:rPr lang="en-US" b="1" dirty="0"/>
              <a:t>text field</a:t>
            </a:r>
            <a:r>
              <a:rPr lang="en-US" dirty="0"/>
              <a:t>:</a:t>
            </a:r>
          </a:p>
          <a:p>
            <a:pPr lvl="2"/>
            <a:r>
              <a:rPr lang="en-US" dirty="0">
                <a:solidFill>
                  <a:srgbClr val="000000"/>
                </a:solidFill>
                <a:latin typeface="Consolas" panose="020B0609020204030204" pitchFamily="49" charset="0"/>
              </a:rPr>
              <a:t>document.getElementById(</a:t>
            </a:r>
            <a:r>
              <a:rPr lang="en-US" dirty="0">
                <a:solidFill>
                  <a:srgbClr val="A52A2A"/>
                </a:solidFill>
                <a:latin typeface="Consolas" panose="020B0609020204030204" pitchFamily="49" charset="0"/>
              </a:rPr>
              <a:t>"</a:t>
            </a:r>
            <a:r>
              <a:rPr lang="en-US" dirty="0" err="1">
                <a:solidFill>
                  <a:srgbClr val="A52A2A"/>
                </a:solidFill>
                <a:latin typeface="Consolas" panose="020B0609020204030204" pitchFamily="49" charset="0"/>
              </a:rPr>
              <a:t>myText</a:t>
            </a:r>
            <a:r>
              <a:rPr lang="en-US" dirty="0">
                <a:solidFill>
                  <a:srgbClr val="A52A2A"/>
                </a:solidFill>
                <a:latin typeface="Consolas" panose="020B0609020204030204" pitchFamily="49" charset="0"/>
              </a:rPr>
              <a:t>"</a:t>
            </a:r>
            <a:r>
              <a:rPr lang="en-US" dirty="0">
                <a:solidFill>
                  <a:srgbClr val="000000"/>
                </a:solidFill>
                <a:latin typeface="Consolas" panose="020B0609020204030204" pitchFamily="49" charset="0"/>
              </a:rPr>
              <a:t>).value = </a:t>
            </a:r>
            <a:r>
              <a:rPr lang="en-US" dirty="0">
                <a:solidFill>
                  <a:srgbClr val="A52A2A"/>
                </a:solidFill>
                <a:latin typeface="Consolas" panose="020B0609020204030204" pitchFamily="49" charset="0"/>
              </a:rPr>
              <a:t>"Johnny Bravo"</a:t>
            </a:r>
            <a:r>
              <a:rPr lang="en-US" dirty="0">
                <a:solidFill>
                  <a:srgbClr val="000000"/>
                </a:solidFill>
                <a:latin typeface="Consolas" panose="020B0609020204030204" pitchFamily="49" charset="0"/>
              </a:rPr>
              <a:t>;</a:t>
            </a:r>
            <a:endParaRPr lang="en-US" i="1" dirty="0"/>
          </a:p>
          <a:p>
            <a:pPr lvl="1"/>
            <a:r>
              <a:rPr lang="en-US" dirty="0"/>
              <a:t>Change the contents of a </a:t>
            </a:r>
            <a:r>
              <a:rPr lang="en-US" b="1" dirty="0"/>
              <a:t>text area</a:t>
            </a:r>
            <a:r>
              <a:rPr lang="en-US" dirty="0"/>
              <a:t>:</a:t>
            </a:r>
          </a:p>
          <a:p>
            <a:pPr lvl="2"/>
            <a:r>
              <a:rPr lang="en-US" dirty="0">
                <a:solidFill>
                  <a:srgbClr val="000000"/>
                </a:solidFill>
                <a:latin typeface="Consolas" panose="020B0609020204030204" pitchFamily="49" charset="0"/>
              </a:rPr>
              <a:t>document.getElementById(</a:t>
            </a:r>
            <a:r>
              <a:rPr lang="en-US" dirty="0">
                <a:solidFill>
                  <a:srgbClr val="A52A2A"/>
                </a:solidFill>
                <a:latin typeface="Consolas" panose="020B0609020204030204" pitchFamily="49" charset="0"/>
              </a:rPr>
              <a:t>"</a:t>
            </a:r>
            <a:r>
              <a:rPr lang="en-US" dirty="0" err="1">
                <a:solidFill>
                  <a:srgbClr val="A52A2A"/>
                </a:solidFill>
                <a:latin typeface="Consolas" panose="020B0609020204030204" pitchFamily="49" charset="0"/>
              </a:rPr>
              <a:t>mySelect</a:t>
            </a:r>
            <a:r>
              <a:rPr lang="en-US" dirty="0">
                <a:solidFill>
                  <a:srgbClr val="A52A2A"/>
                </a:solidFill>
                <a:latin typeface="Consolas" panose="020B0609020204030204" pitchFamily="49" charset="0"/>
              </a:rPr>
              <a:t>"</a:t>
            </a:r>
            <a:r>
              <a:rPr lang="en-US" dirty="0">
                <a:solidFill>
                  <a:srgbClr val="000000"/>
                </a:solidFill>
                <a:latin typeface="Consolas" panose="020B0609020204030204" pitchFamily="49" charset="0"/>
              </a:rPr>
              <a:t>).value = </a:t>
            </a:r>
            <a:r>
              <a:rPr lang="en-US" dirty="0">
                <a:solidFill>
                  <a:srgbClr val="A52A2A"/>
                </a:solidFill>
                <a:latin typeface="Consolas" panose="020B0609020204030204" pitchFamily="49" charset="0"/>
              </a:rPr>
              <a:t>"banana"</a:t>
            </a:r>
            <a:r>
              <a:rPr lang="en-US" dirty="0">
                <a:solidFill>
                  <a:srgbClr val="000000"/>
                </a:solidFill>
                <a:latin typeface="Consolas" panose="020B0609020204030204" pitchFamily="49" charset="0"/>
              </a:rPr>
              <a:t>;</a:t>
            </a:r>
          </a:p>
          <a:p>
            <a:pPr lvl="1"/>
            <a:r>
              <a:rPr lang="en-US" dirty="0"/>
              <a:t>Change the value of the value attribute of a </a:t>
            </a:r>
            <a:r>
              <a:rPr lang="en-US" b="1" dirty="0"/>
              <a:t>radio button</a:t>
            </a:r>
            <a:r>
              <a:rPr lang="en-US" dirty="0"/>
              <a:t>:</a:t>
            </a:r>
          </a:p>
          <a:p>
            <a:pPr lvl="2"/>
            <a:r>
              <a:rPr lang="en-US" dirty="0">
                <a:solidFill>
                  <a:srgbClr val="000000"/>
                </a:solidFill>
                <a:latin typeface="Consolas" panose="020B0609020204030204" pitchFamily="49" charset="0"/>
              </a:rPr>
              <a:t>document.getElementById(</a:t>
            </a:r>
            <a:r>
              <a:rPr lang="en-US" dirty="0">
                <a:solidFill>
                  <a:srgbClr val="A52A2A"/>
                </a:solidFill>
                <a:latin typeface="Consolas" panose="020B0609020204030204" pitchFamily="49" charset="0"/>
              </a:rPr>
              <a:t>"</a:t>
            </a:r>
            <a:r>
              <a:rPr lang="en-US" dirty="0" err="1">
                <a:solidFill>
                  <a:srgbClr val="A52A2A"/>
                </a:solidFill>
                <a:latin typeface="Consolas" panose="020B0609020204030204" pitchFamily="49" charset="0"/>
              </a:rPr>
              <a:t>myRadio</a:t>
            </a:r>
            <a:r>
              <a:rPr lang="en-US" dirty="0">
                <a:solidFill>
                  <a:srgbClr val="A52A2A"/>
                </a:solidFill>
                <a:latin typeface="Consolas" panose="020B0609020204030204" pitchFamily="49" charset="0"/>
              </a:rPr>
              <a:t>"</a:t>
            </a:r>
            <a:r>
              <a:rPr lang="en-US" dirty="0">
                <a:solidFill>
                  <a:srgbClr val="000000"/>
                </a:solidFill>
                <a:latin typeface="Consolas" panose="020B0609020204030204" pitchFamily="49" charset="0"/>
              </a:rPr>
              <a:t>).value = </a:t>
            </a:r>
            <a:r>
              <a:rPr lang="en-US" dirty="0">
                <a:solidFill>
                  <a:srgbClr val="A52A2A"/>
                </a:solidFill>
                <a:latin typeface="Consolas" panose="020B0609020204030204" pitchFamily="49" charset="0"/>
              </a:rPr>
              <a:t>"</a:t>
            </a:r>
            <a:r>
              <a:rPr lang="en-US" dirty="0" err="1">
                <a:solidFill>
                  <a:srgbClr val="A52A2A"/>
                </a:solidFill>
                <a:latin typeface="Consolas" panose="020B0609020204030204" pitchFamily="49" charset="0"/>
              </a:rPr>
              <a:t>newRadioBtnValue</a:t>
            </a:r>
            <a:r>
              <a:rPr lang="en-US" dirty="0">
                <a:solidFill>
                  <a:srgbClr val="A52A2A"/>
                </a:solidFill>
                <a:latin typeface="Consolas" panose="020B0609020204030204" pitchFamily="49" charset="0"/>
              </a:rPr>
              <a:t>"</a:t>
            </a:r>
            <a:r>
              <a:rPr lang="en-US"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801780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DBFC8-8A66-4385-9E8B-416A1B4E63E9}"/>
              </a:ext>
            </a:extLst>
          </p:cNvPr>
          <p:cNvSpPr>
            <a:spLocks noGrp="1"/>
          </p:cNvSpPr>
          <p:nvPr>
            <p:ph type="title"/>
          </p:nvPr>
        </p:nvSpPr>
        <p:spPr>
          <a:xfrm>
            <a:off x="457200" y="122238"/>
            <a:ext cx="8229600" cy="639762"/>
          </a:xfrm>
        </p:spPr>
        <p:txBody>
          <a:bodyPr>
            <a:normAutofit fontScale="90000"/>
          </a:bodyPr>
          <a:lstStyle/>
          <a:p>
            <a:r>
              <a:rPr lang="en-US" dirty="0"/>
              <a:t>DOM Get/ Set Attributes</a:t>
            </a:r>
          </a:p>
        </p:txBody>
      </p:sp>
      <p:sp>
        <p:nvSpPr>
          <p:cNvPr id="3" name="Content Placeholder 2">
            <a:extLst>
              <a:ext uri="{FF2B5EF4-FFF2-40B4-BE49-F238E27FC236}">
                <a16:creationId xmlns:a16="http://schemas.microsoft.com/office/drawing/2014/main" id="{3A2296CD-7380-4724-B319-F81C48D173EC}"/>
              </a:ext>
            </a:extLst>
          </p:cNvPr>
          <p:cNvSpPr>
            <a:spLocks noGrp="1"/>
          </p:cNvSpPr>
          <p:nvPr>
            <p:ph idx="1"/>
          </p:nvPr>
        </p:nvSpPr>
        <p:spPr>
          <a:xfrm>
            <a:off x="228600" y="838200"/>
            <a:ext cx="8458200" cy="5897562"/>
          </a:xfrm>
        </p:spPr>
        <p:txBody>
          <a:bodyPr>
            <a:normAutofit lnSpcReduction="10000"/>
          </a:bodyPr>
          <a:lstStyle/>
          <a:p>
            <a:pPr marL="514350" indent="-514350">
              <a:buFont typeface="+mj-lt"/>
              <a:buAutoNum type="arabicPeriod"/>
            </a:pPr>
            <a:r>
              <a:rPr lang="en-US" sz="2400" dirty="0"/>
              <a:t>JavaScript provides several methods for adding, removing or changing an HTML element's attribute.</a:t>
            </a:r>
          </a:p>
          <a:p>
            <a:pPr marL="514350" indent="-514350">
              <a:buFont typeface="+mj-lt"/>
              <a:buAutoNum type="arabicPeriod"/>
            </a:pPr>
            <a:r>
              <a:rPr lang="en-US" sz="2400" dirty="0"/>
              <a:t>Getting Element's Attribute Value (</a:t>
            </a:r>
            <a:r>
              <a:rPr lang="en-US" sz="2400" b="1" dirty="0" err="1">
                <a:latin typeface="Courier New" panose="02070309020205020404" pitchFamily="49" charset="0"/>
                <a:cs typeface="Courier New" panose="02070309020205020404" pitchFamily="49" charset="0"/>
              </a:rPr>
              <a:t>getAttribute</a:t>
            </a:r>
            <a:r>
              <a:rPr lang="en-US" sz="2400" b="1" dirty="0">
                <a:latin typeface="Courier New" panose="02070309020205020404" pitchFamily="49" charset="0"/>
                <a:cs typeface="Courier New" panose="02070309020205020404" pitchFamily="49" charset="0"/>
              </a:rPr>
              <a:t>()</a:t>
            </a:r>
            <a:r>
              <a:rPr lang="en-US" sz="2400" dirty="0"/>
              <a:t>)</a:t>
            </a:r>
          </a:p>
          <a:p>
            <a:pPr lvl="1"/>
            <a:r>
              <a:rPr lang="en-US" sz="1900" dirty="0"/>
              <a:t>The </a:t>
            </a:r>
            <a:r>
              <a:rPr lang="en-US" sz="1900" dirty="0" err="1"/>
              <a:t>getAttribute</a:t>
            </a:r>
            <a:r>
              <a:rPr lang="en-US" sz="1900" dirty="0"/>
              <a:t>() method is used to get the current value of a attribute on the element.</a:t>
            </a:r>
          </a:p>
          <a:p>
            <a:pPr lvl="1"/>
            <a:r>
              <a:rPr lang="en-US" sz="1900" dirty="0"/>
              <a:t>This example gets the value of the </a:t>
            </a:r>
            <a:r>
              <a:rPr lang="en-US" sz="1900" dirty="0" err="1"/>
              <a:t>src</a:t>
            </a:r>
            <a:r>
              <a:rPr lang="en-US" sz="1900" dirty="0"/>
              <a:t> attribute of an &lt;</a:t>
            </a:r>
            <a:r>
              <a:rPr lang="en-US" sz="1900" dirty="0" err="1"/>
              <a:t>img</a:t>
            </a:r>
            <a:r>
              <a:rPr lang="en-US" sz="1900" dirty="0"/>
              <a:t>&gt; element:</a:t>
            </a:r>
          </a:p>
          <a:p>
            <a:pPr lvl="1"/>
            <a:r>
              <a:rPr lang="en-US" sz="1900" dirty="0">
                <a:latin typeface="Courier New" panose="02070309020205020404" pitchFamily="49" charset="0"/>
                <a:cs typeface="Courier New" panose="02070309020205020404" pitchFamily="49" charset="0"/>
              </a:rPr>
              <a:t>document.getElementById("image").</a:t>
            </a:r>
            <a:r>
              <a:rPr lang="en-US" sz="1900" dirty="0" err="1">
                <a:latin typeface="Courier New" panose="02070309020205020404" pitchFamily="49" charset="0"/>
                <a:cs typeface="Courier New" panose="02070309020205020404" pitchFamily="49" charset="0"/>
              </a:rPr>
              <a:t>getAttribute</a:t>
            </a:r>
            <a:r>
              <a:rPr lang="en-US" sz="1900" dirty="0">
                <a:latin typeface="Courier New" panose="02070309020205020404" pitchFamily="49" charset="0"/>
                <a:cs typeface="Courier New" panose="02070309020205020404" pitchFamily="49" charset="0"/>
              </a:rPr>
              <a:t>("</a:t>
            </a:r>
            <a:r>
              <a:rPr lang="en-US" sz="1900" dirty="0" err="1">
                <a:latin typeface="Courier New" panose="02070309020205020404" pitchFamily="49" charset="0"/>
                <a:cs typeface="Courier New" panose="02070309020205020404" pitchFamily="49" charset="0"/>
              </a:rPr>
              <a:t>src</a:t>
            </a:r>
            <a:r>
              <a:rPr lang="en-US" sz="1900" dirty="0">
                <a:latin typeface="Courier New" panose="02070309020205020404" pitchFamily="49" charset="0"/>
                <a:cs typeface="Courier New" panose="02070309020205020404" pitchFamily="49" charset="0"/>
              </a:rPr>
              <a:t>")</a:t>
            </a:r>
          </a:p>
          <a:p>
            <a:pPr lvl="1"/>
            <a:endParaRPr lang="en-US" sz="2200" dirty="0">
              <a:latin typeface="Courier New" panose="02070309020205020404" pitchFamily="49" charset="0"/>
              <a:cs typeface="Courier New" panose="02070309020205020404" pitchFamily="49" charset="0"/>
            </a:endParaRPr>
          </a:p>
          <a:p>
            <a:pPr marL="514350" lvl="2" indent="-514350">
              <a:buFont typeface="+mj-lt"/>
              <a:buAutoNum type="arabicPeriod"/>
            </a:pPr>
            <a:r>
              <a:rPr lang="en-US" dirty="0"/>
              <a:t>Setting Attributes on Elements (</a:t>
            </a:r>
            <a:r>
              <a:rPr lang="en-US" b="1" dirty="0" err="1">
                <a:latin typeface="Courier New" panose="02070309020205020404" pitchFamily="49" charset="0"/>
                <a:cs typeface="Courier New" panose="02070309020205020404" pitchFamily="49" charset="0"/>
              </a:rPr>
              <a:t>setAttribute</a:t>
            </a:r>
            <a:r>
              <a:rPr lang="en-US" b="1" dirty="0">
                <a:latin typeface="Courier New" panose="02070309020205020404" pitchFamily="49" charset="0"/>
                <a:cs typeface="Courier New" panose="02070309020205020404" pitchFamily="49" charset="0"/>
              </a:rPr>
              <a:t>()</a:t>
            </a:r>
            <a:r>
              <a:rPr lang="en-US" dirty="0"/>
              <a:t>)</a:t>
            </a:r>
          </a:p>
          <a:p>
            <a:pPr marL="514350" lvl="2" indent="-514350">
              <a:buFont typeface="+mj-lt"/>
              <a:buAutoNum type="arabicPeriod"/>
            </a:pPr>
            <a:r>
              <a:rPr lang="en-US" dirty="0"/>
              <a:t>The </a:t>
            </a:r>
            <a:r>
              <a:rPr lang="en-US" dirty="0" err="1"/>
              <a:t>setAttribute</a:t>
            </a:r>
            <a:r>
              <a:rPr lang="en-US" dirty="0"/>
              <a:t>() method is used to set an attribute on the specified element.</a:t>
            </a:r>
          </a:p>
          <a:p>
            <a:pPr marL="800100" lvl="3" indent="-342900"/>
            <a:r>
              <a:rPr lang="en-US" sz="1900" dirty="0"/>
              <a:t>This method requires two arguments: the attribute to be changed and the new value for that attribute.</a:t>
            </a:r>
          </a:p>
          <a:p>
            <a:pPr marL="800100" lvl="3" indent="-342900"/>
            <a:r>
              <a:rPr lang="en-US" sz="1900" dirty="0"/>
              <a:t>The following example sets the value of the </a:t>
            </a:r>
            <a:r>
              <a:rPr lang="en-US" sz="1900" dirty="0" err="1"/>
              <a:t>src</a:t>
            </a:r>
            <a:r>
              <a:rPr lang="en-US" sz="1900" dirty="0"/>
              <a:t> attribute of an &lt;</a:t>
            </a:r>
            <a:r>
              <a:rPr lang="en-US" sz="1900" dirty="0" err="1"/>
              <a:t>img</a:t>
            </a:r>
            <a:r>
              <a:rPr lang="en-US" sz="1900" dirty="0"/>
              <a:t>&gt; element to newimg.jpg:</a:t>
            </a:r>
          </a:p>
          <a:p>
            <a:pPr marL="800100" lvl="3" indent="-342900"/>
            <a:r>
              <a:rPr lang="en-US" sz="1900" dirty="0">
                <a:latin typeface="Courier New" panose="02070309020205020404" pitchFamily="49" charset="0"/>
                <a:cs typeface="Courier New" panose="02070309020205020404" pitchFamily="49" charset="0"/>
              </a:rPr>
              <a:t>document.getElementById("image"). </a:t>
            </a:r>
            <a:r>
              <a:rPr lang="en-US" sz="1900" dirty="0" err="1">
                <a:latin typeface="Courier New" panose="02070309020205020404" pitchFamily="49" charset="0"/>
                <a:cs typeface="Courier New" panose="02070309020205020404" pitchFamily="49" charset="0"/>
              </a:rPr>
              <a:t>setAttribute</a:t>
            </a:r>
            <a:r>
              <a:rPr lang="en-US" sz="1900" dirty="0">
                <a:latin typeface="Courier New" panose="02070309020205020404" pitchFamily="49" charset="0"/>
                <a:cs typeface="Courier New" panose="02070309020205020404" pitchFamily="49" charset="0"/>
              </a:rPr>
              <a:t>("</a:t>
            </a:r>
            <a:r>
              <a:rPr lang="en-US" sz="1900" dirty="0" err="1">
                <a:latin typeface="Courier New" panose="02070309020205020404" pitchFamily="49" charset="0"/>
                <a:cs typeface="Courier New" panose="02070309020205020404" pitchFamily="49" charset="0"/>
              </a:rPr>
              <a:t>src</a:t>
            </a:r>
            <a:r>
              <a:rPr lang="en-US" sz="1900" dirty="0">
                <a:latin typeface="Courier New" panose="02070309020205020404" pitchFamily="49" charset="0"/>
                <a:cs typeface="Courier New" panose="02070309020205020404" pitchFamily="49" charset="0"/>
              </a:rPr>
              <a:t>", “newimg.jpg");</a:t>
            </a:r>
          </a:p>
          <a:p>
            <a:endParaRPr lang="en-US" dirty="0"/>
          </a:p>
        </p:txBody>
      </p:sp>
    </p:spTree>
    <p:extLst>
      <p:ext uri="{BB962C8B-B14F-4D97-AF65-F5344CB8AC3E}">
        <p14:creationId xmlns:p14="http://schemas.microsoft.com/office/powerpoint/2010/main" val="30650117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B0EB4-4FBF-4EE7-909B-9822C06C1CD4}"/>
              </a:ext>
            </a:extLst>
          </p:cNvPr>
          <p:cNvSpPr>
            <a:spLocks noGrp="1"/>
          </p:cNvSpPr>
          <p:nvPr>
            <p:ph type="title"/>
          </p:nvPr>
        </p:nvSpPr>
        <p:spPr>
          <a:xfrm>
            <a:off x="457200" y="76200"/>
            <a:ext cx="8229600" cy="914400"/>
          </a:xfrm>
        </p:spPr>
        <p:txBody>
          <a:bodyPr>
            <a:normAutofit/>
          </a:bodyPr>
          <a:lstStyle/>
          <a:p>
            <a:r>
              <a:rPr lang="en-US" dirty="0"/>
              <a:t>DOM Get/Set CSS Inline Styles</a:t>
            </a:r>
          </a:p>
        </p:txBody>
      </p:sp>
      <p:sp>
        <p:nvSpPr>
          <p:cNvPr id="3" name="Content Placeholder 2">
            <a:extLst>
              <a:ext uri="{FF2B5EF4-FFF2-40B4-BE49-F238E27FC236}">
                <a16:creationId xmlns:a16="http://schemas.microsoft.com/office/drawing/2014/main" id="{234E847C-FF5E-4875-9F13-5B37FAF21DF2}"/>
              </a:ext>
            </a:extLst>
          </p:cNvPr>
          <p:cNvSpPr>
            <a:spLocks noGrp="1"/>
          </p:cNvSpPr>
          <p:nvPr>
            <p:ph idx="1"/>
          </p:nvPr>
        </p:nvSpPr>
        <p:spPr>
          <a:xfrm>
            <a:off x="457200" y="1066800"/>
            <a:ext cx="8229600" cy="5562600"/>
          </a:xfrm>
        </p:spPr>
        <p:txBody>
          <a:bodyPr>
            <a:noAutofit/>
          </a:bodyPr>
          <a:lstStyle/>
          <a:p>
            <a:r>
              <a:rPr lang="en-US" sz="2200" dirty="0"/>
              <a:t>In JavaScript the style property is used to get or set the inline style of an element.</a:t>
            </a:r>
          </a:p>
          <a:p>
            <a:r>
              <a:rPr lang="en-US" sz="2200" dirty="0"/>
              <a:t>You get the styles applied on the HTML elements using the style property.</a:t>
            </a:r>
          </a:p>
          <a:p>
            <a:pPr lvl="1"/>
            <a:r>
              <a:rPr lang="en-US" sz="1900" b="1" dirty="0"/>
              <a:t>Syntax: document.getElementById(</a:t>
            </a:r>
            <a:r>
              <a:rPr lang="en-US" sz="1900" b="1" i="1" dirty="0"/>
              <a:t>id</a:t>
            </a:r>
            <a:r>
              <a:rPr lang="en-US" sz="1900" b="1" dirty="0"/>
              <a:t>).</a:t>
            </a:r>
            <a:r>
              <a:rPr lang="en-US" sz="1900" b="1" dirty="0" err="1"/>
              <a:t>style.</a:t>
            </a:r>
            <a:r>
              <a:rPr lang="en-US" sz="1900" b="1" i="1" dirty="0" err="1"/>
              <a:t>property</a:t>
            </a:r>
            <a:r>
              <a:rPr lang="en-US" sz="1900" b="1" i="1" dirty="0"/>
              <a:t> </a:t>
            </a:r>
          </a:p>
          <a:p>
            <a:pPr lvl="1"/>
            <a:r>
              <a:rPr lang="en-US" sz="1900" dirty="0"/>
              <a:t>The following example get the style of a &lt;p&gt; element:</a:t>
            </a:r>
            <a:endParaRPr lang="en-US" sz="1900" i="1" dirty="0"/>
          </a:p>
          <a:p>
            <a:pPr lvl="1"/>
            <a:r>
              <a:rPr lang="nn-NO" sz="1900" dirty="0">
                <a:solidFill>
                  <a:srgbClr val="0000CD"/>
                </a:solidFill>
                <a:latin typeface="Consolas" panose="020B0609020204030204" pitchFamily="49" charset="0"/>
              </a:rPr>
              <a:t>var</a:t>
            </a:r>
            <a:r>
              <a:rPr lang="nn-NO" sz="1900" dirty="0">
                <a:solidFill>
                  <a:srgbClr val="000000"/>
                </a:solidFill>
                <a:latin typeface="Consolas" panose="020B0609020204030204" pitchFamily="49" charset="0"/>
              </a:rPr>
              <a:t> x = </a:t>
            </a:r>
            <a:r>
              <a:rPr lang="en-US" sz="1900" dirty="0">
                <a:solidFill>
                  <a:srgbClr val="000000"/>
                </a:solidFill>
                <a:latin typeface="Consolas" panose="020B0609020204030204" pitchFamily="49" charset="0"/>
              </a:rPr>
              <a:t>document.getElementById(</a:t>
            </a:r>
            <a:r>
              <a:rPr lang="en-US" sz="1900" dirty="0">
                <a:solidFill>
                  <a:srgbClr val="A52A2A"/>
                </a:solidFill>
                <a:latin typeface="Consolas" panose="020B0609020204030204" pitchFamily="49" charset="0"/>
              </a:rPr>
              <a:t>"p2"</a:t>
            </a:r>
            <a:r>
              <a:rPr lang="en-US" sz="1900" dirty="0">
                <a:solidFill>
                  <a:srgbClr val="000000"/>
                </a:solidFill>
                <a:latin typeface="Consolas" panose="020B0609020204030204" pitchFamily="49" charset="0"/>
              </a:rPr>
              <a:t>).</a:t>
            </a:r>
            <a:r>
              <a:rPr lang="en-US" sz="1900" dirty="0" err="1">
                <a:solidFill>
                  <a:srgbClr val="000000"/>
                </a:solidFill>
                <a:latin typeface="Consolas" panose="020B0609020204030204" pitchFamily="49" charset="0"/>
              </a:rPr>
              <a:t>style.color</a:t>
            </a:r>
            <a:r>
              <a:rPr lang="en-US" sz="1900" dirty="0">
                <a:solidFill>
                  <a:srgbClr val="000000"/>
                </a:solidFill>
                <a:latin typeface="Consolas" panose="020B0609020204030204" pitchFamily="49" charset="0"/>
              </a:rPr>
              <a:t>;</a:t>
            </a:r>
          </a:p>
          <a:p>
            <a:pPr lvl="1"/>
            <a:endParaRPr lang="en-US" sz="2200" dirty="0"/>
          </a:p>
          <a:p>
            <a:r>
              <a:rPr lang="en-US" sz="2200" dirty="0"/>
              <a:t>To change the style of an HTML element, use this syntax:</a:t>
            </a:r>
          </a:p>
          <a:p>
            <a:pPr lvl="1"/>
            <a:r>
              <a:rPr lang="en-US" sz="1900" b="1" dirty="0"/>
              <a:t>Syntax: document.getElementById(</a:t>
            </a:r>
            <a:r>
              <a:rPr lang="en-US" sz="1900" b="1" i="1" dirty="0"/>
              <a:t>id</a:t>
            </a:r>
            <a:r>
              <a:rPr lang="en-US" sz="1900" b="1" dirty="0"/>
              <a:t>).</a:t>
            </a:r>
            <a:r>
              <a:rPr lang="en-US" sz="1900" b="1" dirty="0" err="1"/>
              <a:t>style.</a:t>
            </a:r>
            <a:r>
              <a:rPr lang="en-US" sz="1900" b="1" i="1" dirty="0" err="1"/>
              <a:t>property</a:t>
            </a:r>
            <a:r>
              <a:rPr lang="en-US" sz="1900" b="1" i="1" dirty="0"/>
              <a:t> </a:t>
            </a:r>
            <a:r>
              <a:rPr lang="en-US" sz="1900" b="1" dirty="0"/>
              <a:t>=</a:t>
            </a:r>
            <a:r>
              <a:rPr lang="en-US" sz="1900" b="1" i="1" dirty="0"/>
              <a:t> new style</a:t>
            </a:r>
          </a:p>
          <a:p>
            <a:pPr lvl="1"/>
            <a:r>
              <a:rPr lang="en-US" sz="1900" dirty="0"/>
              <a:t>The following example changes the style of a &lt;p&gt; element:</a:t>
            </a:r>
          </a:p>
          <a:p>
            <a:pPr lvl="1"/>
            <a:r>
              <a:rPr lang="en-US" sz="1900" dirty="0">
                <a:solidFill>
                  <a:srgbClr val="000000"/>
                </a:solidFill>
                <a:latin typeface="Consolas" panose="020B0609020204030204" pitchFamily="49" charset="0"/>
              </a:rPr>
              <a:t>document.getElementById(</a:t>
            </a:r>
            <a:r>
              <a:rPr lang="en-US" sz="1900" dirty="0">
                <a:solidFill>
                  <a:srgbClr val="A52A2A"/>
                </a:solidFill>
                <a:latin typeface="Consolas" panose="020B0609020204030204" pitchFamily="49" charset="0"/>
              </a:rPr>
              <a:t>"p2"</a:t>
            </a:r>
            <a:r>
              <a:rPr lang="en-US" sz="1900" dirty="0">
                <a:solidFill>
                  <a:srgbClr val="000000"/>
                </a:solidFill>
                <a:latin typeface="Consolas" panose="020B0609020204030204" pitchFamily="49" charset="0"/>
              </a:rPr>
              <a:t>).</a:t>
            </a:r>
            <a:r>
              <a:rPr lang="en-US" sz="1900" dirty="0" err="1">
                <a:solidFill>
                  <a:srgbClr val="000000"/>
                </a:solidFill>
                <a:latin typeface="Consolas" panose="020B0609020204030204" pitchFamily="49" charset="0"/>
              </a:rPr>
              <a:t>style.color</a:t>
            </a:r>
            <a:r>
              <a:rPr lang="en-US" sz="1900" dirty="0">
                <a:solidFill>
                  <a:srgbClr val="000000"/>
                </a:solidFill>
                <a:latin typeface="Consolas" panose="020B0609020204030204" pitchFamily="49" charset="0"/>
              </a:rPr>
              <a:t> = </a:t>
            </a:r>
            <a:r>
              <a:rPr lang="en-US" sz="1900" dirty="0">
                <a:solidFill>
                  <a:srgbClr val="A52A2A"/>
                </a:solidFill>
                <a:latin typeface="Consolas" panose="020B0609020204030204" pitchFamily="49" charset="0"/>
              </a:rPr>
              <a:t>"blue"</a:t>
            </a:r>
            <a:r>
              <a:rPr lang="en-US" sz="1900"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4786095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dirty="0">
                <a:hlinkClick r:id="rId2"/>
              </a:rPr>
              <a:t>DOM Events</a:t>
            </a:r>
            <a:endParaRPr lang="en-US" dirty="0"/>
          </a:p>
        </p:txBody>
      </p:sp>
      <p:sp>
        <p:nvSpPr>
          <p:cNvPr id="3" name="Content Placeholder 2"/>
          <p:cNvSpPr>
            <a:spLocks noGrp="1"/>
          </p:cNvSpPr>
          <p:nvPr>
            <p:ph idx="1"/>
          </p:nvPr>
        </p:nvSpPr>
        <p:spPr>
          <a:xfrm>
            <a:off x="457200" y="914400"/>
            <a:ext cx="8229600" cy="5334000"/>
          </a:xfrm>
        </p:spPr>
        <p:txBody>
          <a:bodyPr>
            <a:normAutofit lnSpcReduction="10000"/>
          </a:bodyPr>
          <a:lstStyle/>
          <a:p>
            <a:pPr marL="457200" indent="-457200">
              <a:buFont typeface="+mj-lt"/>
              <a:buAutoNum type="arabicPeriod"/>
            </a:pPr>
            <a:r>
              <a:rPr lang="en-US" sz="2400" dirty="0"/>
              <a:t>An event is an action that can be detected with JavaScript, such as when the document loads or when the user clicks on an element or just moves her mouse over it.</a:t>
            </a:r>
          </a:p>
          <a:p>
            <a:pPr marL="457200" indent="-457200">
              <a:buFont typeface="+mj-lt"/>
              <a:buAutoNum type="arabicPeriod"/>
            </a:pPr>
            <a:r>
              <a:rPr lang="en-US" sz="2400" dirty="0"/>
              <a:t>In scripts, an event is identified by an event handler. For example, the </a:t>
            </a:r>
            <a:r>
              <a:rPr lang="en-US" sz="2400" b="1" dirty="0" err="1"/>
              <a:t>onload</a:t>
            </a:r>
            <a:r>
              <a:rPr lang="en-US" sz="2400" b="1" dirty="0"/>
              <a:t> </a:t>
            </a:r>
            <a:r>
              <a:rPr lang="en-US" sz="2400" dirty="0"/>
              <a:t>event handler triggers a script when the document loads.</a:t>
            </a:r>
          </a:p>
          <a:p>
            <a:pPr marL="457200" indent="-457200">
              <a:buFont typeface="+mj-lt"/>
              <a:buAutoNum type="arabicPeriod"/>
            </a:pPr>
            <a:r>
              <a:rPr lang="en-US" sz="2400" dirty="0"/>
              <a:t>Similarly </a:t>
            </a:r>
            <a:r>
              <a:rPr lang="en-US" sz="2400" b="1" dirty="0"/>
              <a:t>onclick </a:t>
            </a:r>
            <a:r>
              <a:rPr lang="en-US" sz="2400" dirty="0"/>
              <a:t>and </a:t>
            </a:r>
            <a:r>
              <a:rPr lang="en-US" sz="2400" b="1" dirty="0" err="1"/>
              <a:t>onmouseover</a:t>
            </a:r>
            <a:r>
              <a:rPr lang="en-US" sz="2400" b="1" dirty="0"/>
              <a:t> handlers trigger a script when the user clicks or </a:t>
            </a:r>
            <a:r>
              <a:rPr lang="en-US" sz="2400" b="1" dirty="0" err="1"/>
              <a:t>mouses</a:t>
            </a:r>
            <a:r>
              <a:rPr lang="en-US" sz="2400" b="1" dirty="0"/>
              <a:t> </a:t>
            </a:r>
            <a:r>
              <a:rPr lang="en-US" sz="2400" dirty="0"/>
              <a:t>over an element, respectively.</a:t>
            </a:r>
          </a:p>
          <a:p>
            <a:pPr marL="457200" indent="-457200">
              <a:buFont typeface="+mj-lt"/>
              <a:buAutoNum type="arabicPeriod"/>
            </a:pPr>
            <a:r>
              <a:rPr lang="en-US" sz="2400" dirty="0"/>
              <a:t>There are three common methods for applying event handlers to items within our web pages:</a:t>
            </a:r>
          </a:p>
          <a:p>
            <a:pPr marL="857250" lvl="1" indent="-457200">
              <a:buFont typeface="+mj-lt"/>
              <a:buAutoNum type="arabicPeriod"/>
            </a:pPr>
            <a:r>
              <a:rPr lang="en-US" sz="2000" dirty="0"/>
              <a:t>As an HTML attribute</a:t>
            </a:r>
          </a:p>
          <a:p>
            <a:pPr marL="857250" lvl="1" indent="-457200">
              <a:buFont typeface="+mj-lt"/>
              <a:buAutoNum type="arabicPeriod"/>
            </a:pPr>
            <a:r>
              <a:rPr lang="en-US" sz="2000" dirty="0"/>
              <a:t>As a method attached to the element</a:t>
            </a:r>
          </a:p>
          <a:p>
            <a:pPr marL="857250" lvl="1" indent="-457200">
              <a:buFont typeface="+mj-lt"/>
              <a:buAutoNum type="arabicPeriod"/>
            </a:pPr>
            <a:r>
              <a:rPr lang="en-US" sz="2000" dirty="0"/>
              <a:t>Using </a:t>
            </a:r>
            <a:r>
              <a:rPr lang="en-US" sz="2000" b="1" dirty="0" err="1"/>
              <a:t>addEventListener</a:t>
            </a:r>
            <a:r>
              <a:rPr lang="en-US" sz="2000" b="1" dirty="0"/>
              <a:t>() </a:t>
            </a:r>
            <a:r>
              <a:rPr lang="en-US" sz="2000" dirty="0"/>
              <a:t>method </a:t>
            </a:r>
            <a:br>
              <a:rPr lang="en-US" sz="2000" dirty="0"/>
            </a:b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2C8A7-D9FD-47FD-B10B-6896A1876417}"/>
              </a:ext>
            </a:extLst>
          </p:cNvPr>
          <p:cNvSpPr>
            <a:spLocks noGrp="1"/>
          </p:cNvSpPr>
          <p:nvPr>
            <p:ph type="title"/>
          </p:nvPr>
        </p:nvSpPr>
        <p:spPr>
          <a:xfrm>
            <a:off x="457200" y="152400"/>
            <a:ext cx="8229600" cy="715962"/>
          </a:xfrm>
        </p:spPr>
        <p:txBody>
          <a:bodyPr>
            <a:normAutofit fontScale="90000"/>
          </a:bodyPr>
          <a:lstStyle/>
          <a:p>
            <a:r>
              <a:rPr lang="en-US" dirty="0"/>
              <a:t>As an HTML attribute</a:t>
            </a:r>
          </a:p>
        </p:txBody>
      </p:sp>
      <p:sp>
        <p:nvSpPr>
          <p:cNvPr id="3" name="Content Placeholder 2">
            <a:extLst>
              <a:ext uri="{FF2B5EF4-FFF2-40B4-BE49-F238E27FC236}">
                <a16:creationId xmlns:a16="http://schemas.microsoft.com/office/drawing/2014/main" id="{6899AAF7-9FD7-408E-8EA9-670BBA310A9F}"/>
              </a:ext>
            </a:extLst>
          </p:cNvPr>
          <p:cNvSpPr>
            <a:spLocks noGrp="1"/>
          </p:cNvSpPr>
          <p:nvPr>
            <p:ph idx="1"/>
          </p:nvPr>
        </p:nvSpPr>
        <p:spPr>
          <a:xfrm>
            <a:off x="457200" y="914401"/>
            <a:ext cx="8229600" cy="1752599"/>
          </a:xfrm>
        </p:spPr>
        <p:txBody>
          <a:bodyPr>
            <a:normAutofit fontScale="77500" lnSpcReduction="20000"/>
          </a:bodyPr>
          <a:lstStyle/>
          <a:p>
            <a:r>
              <a:rPr lang="en-US" dirty="0"/>
              <a:t>HTML event attribute can be used to assign events to HTML elements.</a:t>
            </a:r>
          </a:p>
          <a:p>
            <a:r>
              <a:rPr lang="en-US" dirty="0"/>
              <a:t>It should be avoided for the same reason we avoid using </a:t>
            </a:r>
            <a:r>
              <a:rPr lang="en-US" b="1" dirty="0"/>
              <a:t>style </a:t>
            </a:r>
            <a:r>
              <a:rPr lang="en-US" dirty="0"/>
              <a:t>attributes in our markup to apply styles to individual elements.</a:t>
            </a:r>
          </a:p>
        </p:txBody>
      </p:sp>
      <p:pic>
        <p:nvPicPr>
          <p:cNvPr id="5" name="Picture 4">
            <a:extLst>
              <a:ext uri="{FF2B5EF4-FFF2-40B4-BE49-F238E27FC236}">
                <a16:creationId xmlns:a16="http://schemas.microsoft.com/office/drawing/2014/main" id="{3FEADE8D-D3E8-4C80-8E19-F57905A16036}"/>
              </a:ext>
            </a:extLst>
          </p:cNvPr>
          <p:cNvPicPr>
            <a:picLocks noChangeAspect="1"/>
          </p:cNvPicPr>
          <p:nvPr/>
        </p:nvPicPr>
        <p:blipFill rotWithShape="1">
          <a:blip r:embed="rId3"/>
          <a:srcRect t="29260" r="28333" b="23333"/>
          <a:stretch/>
        </p:blipFill>
        <p:spPr>
          <a:xfrm>
            <a:off x="0" y="2713039"/>
            <a:ext cx="9010650" cy="3352800"/>
          </a:xfrm>
          <a:prstGeom prst="rect">
            <a:avLst/>
          </a:prstGeom>
        </p:spPr>
      </p:pic>
    </p:spTree>
    <p:extLst>
      <p:ext uri="{BB962C8B-B14F-4D97-AF65-F5344CB8AC3E}">
        <p14:creationId xmlns:p14="http://schemas.microsoft.com/office/powerpoint/2010/main" val="4146138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19CA4-1DC5-497B-B1C6-ED5D18C659EE}"/>
              </a:ext>
            </a:extLst>
          </p:cNvPr>
          <p:cNvSpPr>
            <a:spLocks noGrp="1"/>
          </p:cNvSpPr>
          <p:nvPr>
            <p:ph type="title"/>
          </p:nvPr>
        </p:nvSpPr>
        <p:spPr>
          <a:xfrm>
            <a:off x="457200" y="274638"/>
            <a:ext cx="8229600" cy="639762"/>
          </a:xfrm>
        </p:spPr>
        <p:txBody>
          <a:bodyPr>
            <a:normAutofit fontScale="90000"/>
          </a:bodyPr>
          <a:lstStyle/>
          <a:p>
            <a:r>
              <a:rPr lang="en-US" dirty="0"/>
              <a:t>As a method attached to the element</a:t>
            </a:r>
          </a:p>
        </p:txBody>
      </p:sp>
      <p:sp>
        <p:nvSpPr>
          <p:cNvPr id="3" name="Content Placeholder 2">
            <a:extLst>
              <a:ext uri="{FF2B5EF4-FFF2-40B4-BE49-F238E27FC236}">
                <a16:creationId xmlns:a16="http://schemas.microsoft.com/office/drawing/2014/main" id="{661C11C5-3D09-4041-96F1-12D2293B4292}"/>
              </a:ext>
            </a:extLst>
          </p:cNvPr>
          <p:cNvSpPr>
            <a:spLocks noGrp="1"/>
          </p:cNvSpPr>
          <p:nvPr>
            <p:ph idx="1"/>
          </p:nvPr>
        </p:nvSpPr>
        <p:spPr>
          <a:xfrm>
            <a:off x="468302" y="1066800"/>
            <a:ext cx="8229600" cy="1219200"/>
          </a:xfrm>
        </p:spPr>
        <p:txBody>
          <a:bodyPr>
            <a:normAutofit/>
          </a:bodyPr>
          <a:lstStyle/>
          <a:p>
            <a:r>
              <a:rPr lang="en-US" sz="2200" dirty="0"/>
              <a:t>The HTML DOM also allows to assign events to HTML elements using JavaScript:</a:t>
            </a:r>
          </a:p>
        </p:txBody>
      </p:sp>
      <p:pic>
        <p:nvPicPr>
          <p:cNvPr id="5" name="Picture 4">
            <a:extLst>
              <a:ext uri="{FF2B5EF4-FFF2-40B4-BE49-F238E27FC236}">
                <a16:creationId xmlns:a16="http://schemas.microsoft.com/office/drawing/2014/main" id="{FC9A2955-8133-40AF-8EF2-B92856733B82}"/>
              </a:ext>
            </a:extLst>
          </p:cNvPr>
          <p:cNvPicPr>
            <a:picLocks noChangeAspect="1"/>
          </p:cNvPicPr>
          <p:nvPr/>
        </p:nvPicPr>
        <p:blipFill rotWithShape="1">
          <a:blip r:embed="rId2"/>
          <a:srcRect l="834" t="29259" r="24166" b="20371"/>
          <a:stretch/>
        </p:blipFill>
        <p:spPr>
          <a:xfrm>
            <a:off x="114300" y="2057400"/>
            <a:ext cx="8915400" cy="3368040"/>
          </a:xfrm>
          <a:prstGeom prst="rect">
            <a:avLst/>
          </a:prstGeom>
        </p:spPr>
      </p:pic>
    </p:spTree>
    <p:extLst>
      <p:ext uri="{BB962C8B-B14F-4D97-AF65-F5344CB8AC3E}">
        <p14:creationId xmlns:p14="http://schemas.microsoft.com/office/powerpoint/2010/main" val="1070575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66478-FCB8-45EC-AD94-854C6B9925E5}"/>
              </a:ext>
            </a:extLst>
          </p:cNvPr>
          <p:cNvSpPr>
            <a:spLocks noGrp="1"/>
          </p:cNvSpPr>
          <p:nvPr>
            <p:ph type="title"/>
          </p:nvPr>
        </p:nvSpPr>
        <p:spPr>
          <a:xfrm>
            <a:off x="457200" y="0"/>
            <a:ext cx="8229600" cy="685800"/>
          </a:xfrm>
        </p:spPr>
        <p:txBody>
          <a:bodyPr>
            <a:normAutofit fontScale="90000"/>
          </a:bodyPr>
          <a:lstStyle/>
          <a:p>
            <a:r>
              <a:rPr lang="en-US" sz="4000" dirty="0"/>
              <a:t>Using </a:t>
            </a:r>
            <a:r>
              <a:rPr lang="en-US" sz="4000" dirty="0" err="1">
                <a:latin typeface="Courier New" panose="02070309020205020404" pitchFamily="49" charset="0"/>
                <a:cs typeface="Courier New" panose="02070309020205020404" pitchFamily="49" charset="0"/>
              </a:rPr>
              <a:t>addEventListener</a:t>
            </a:r>
            <a:r>
              <a:rPr lang="en-US" sz="4000" dirty="0">
                <a:latin typeface="Courier New" panose="02070309020205020404" pitchFamily="49" charset="0"/>
                <a:cs typeface="Courier New" panose="02070309020205020404" pitchFamily="49" charset="0"/>
              </a:rPr>
              <a:t>()</a:t>
            </a:r>
            <a:r>
              <a:rPr lang="en-US" sz="4000" dirty="0"/>
              <a:t>method</a:t>
            </a:r>
          </a:p>
        </p:txBody>
      </p:sp>
      <p:sp>
        <p:nvSpPr>
          <p:cNvPr id="3" name="Content Placeholder 2">
            <a:extLst>
              <a:ext uri="{FF2B5EF4-FFF2-40B4-BE49-F238E27FC236}">
                <a16:creationId xmlns:a16="http://schemas.microsoft.com/office/drawing/2014/main" id="{54E9F51B-94B6-4364-8B0E-72EC51E6FA09}"/>
              </a:ext>
            </a:extLst>
          </p:cNvPr>
          <p:cNvSpPr>
            <a:spLocks noGrp="1"/>
          </p:cNvSpPr>
          <p:nvPr>
            <p:ph idx="1"/>
          </p:nvPr>
        </p:nvSpPr>
        <p:spPr>
          <a:xfrm>
            <a:off x="457200" y="609600"/>
            <a:ext cx="8229600" cy="3581400"/>
          </a:xfrm>
        </p:spPr>
        <p:txBody>
          <a:bodyPr>
            <a:normAutofit fontScale="77500" lnSpcReduction="20000"/>
          </a:bodyPr>
          <a:lstStyle/>
          <a:p>
            <a:r>
              <a:rPr lang="en-US" sz="2600" dirty="0"/>
              <a:t>The </a:t>
            </a:r>
            <a:r>
              <a:rPr lang="en-US" sz="2600" dirty="0" err="1">
                <a:latin typeface="Courier New" panose="02070309020205020404" pitchFamily="49" charset="0"/>
                <a:cs typeface="Courier New" panose="02070309020205020404" pitchFamily="49" charset="0"/>
              </a:rPr>
              <a:t>addEventListener</a:t>
            </a:r>
            <a:r>
              <a:rPr lang="en-US" sz="2600" dirty="0">
                <a:latin typeface="Courier New" panose="02070309020205020404" pitchFamily="49" charset="0"/>
                <a:cs typeface="Courier New" panose="02070309020205020404" pitchFamily="49" charset="0"/>
              </a:rPr>
              <a:t>()</a:t>
            </a:r>
            <a:r>
              <a:rPr lang="en-US" sz="2600" dirty="0"/>
              <a:t>method attaches an event handler to the specified element.</a:t>
            </a:r>
          </a:p>
          <a:p>
            <a:r>
              <a:rPr lang="en-US" sz="2600" dirty="0"/>
              <a:t>The </a:t>
            </a:r>
            <a:r>
              <a:rPr lang="en-US" sz="2600" dirty="0" err="1">
                <a:latin typeface="Courier New" panose="02070309020205020404" pitchFamily="49" charset="0"/>
                <a:cs typeface="Courier New" panose="02070309020205020404" pitchFamily="49" charset="0"/>
              </a:rPr>
              <a:t>addEventListener</a:t>
            </a:r>
            <a:r>
              <a:rPr lang="en-US" sz="2600" dirty="0">
                <a:latin typeface="Courier New" panose="02070309020205020404" pitchFamily="49" charset="0"/>
                <a:cs typeface="Courier New" panose="02070309020205020404" pitchFamily="49" charset="0"/>
              </a:rPr>
              <a:t>()</a:t>
            </a:r>
            <a:r>
              <a:rPr lang="en-US" sz="2600" dirty="0"/>
              <a:t>method attaches an event handler to an element without overwriting existing event handlers, </a:t>
            </a:r>
            <a:r>
              <a:rPr lang="en-US" sz="2600" dirty="0" err="1"/>
              <a:t>i.e</a:t>
            </a:r>
            <a:r>
              <a:rPr lang="en-US" sz="2600" dirty="0"/>
              <a:t> two "click" events.</a:t>
            </a:r>
          </a:p>
          <a:p>
            <a:r>
              <a:rPr lang="en-US" sz="2600" dirty="0"/>
              <a:t>Syntax: </a:t>
            </a:r>
          </a:p>
          <a:p>
            <a:pPr lvl="1"/>
            <a:r>
              <a:rPr lang="en-US" sz="2600" b="1" i="1" dirty="0" err="1"/>
              <a:t>element</a:t>
            </a:r>
            <a:r>
              <a:rPr lang="en-US" sz="2600" b="1" dirty="0" err="1"/>
              <a:t>.addEventListener</a:t>
            </a:r>
            <a:r>
              <a:rPr lang="en-US" sz="2600" b="1" dirty="0"/>
              <a:t>(</a:t>
            </a:r>
            <a:r>
              <a:rPr lang="en-US" sz="2600" b="1" i="1" dirty="0"/>
              <a:t>event, function, </a:t>
            </a:r>
            <a:r>
              <a:rPr lang="en-US" sz="2600" b="1" i="1" dirty="0" err="1"/>
              <a:t>useCapture</a:t>
            </a:r>
            <a:r>
              <a:rPr lang="en-US" sz="2600" b="1" dirty="0"/>
              <a:t>);</a:t>
            </a:r>
          </a:p>
          <a:p>
            <a:pPr marL="914400" lvl="1" indent="-514350">
              <a:buFont typeface="+mj-lt"/>
              <a:buAutoNum type="arabicPeriod"/>
            </a:pPr>
            <a:r>
              <a:rPr lang="en-US" sz="2200" dirty="0"/>
              <a:t>The first parameter is the type of the event (like "click" or "</a:t>
            </a:r>
            <a:r>
              <a:rPr lang="en-US" sz="2200" dirty="0" err="1"/>
              <a:t>mousedown</a:t>
            </a:r>
            <a:r>
              <a:rPr lang="en-US" sz="2200" dirty="0"/>
              <a:t>" or any other HTML DOM Event.)</a:t>
            </a:r>
          </a:p>
          <a:p>
            <a:pPr marL="914400" lvl="1" indent="-514350">
              <a:buFont typeface="+mj-lt"/>
              <a:buAutoNum type="arabicPeriod"/>
            </a:pPr>
            <a:r>
              <a:rPr lang="en-US" sz="2200" dirty="0"/>
              <a:t>The second parameter is the function we want to call when the event occurs.</a:t>
            </a:r>
          </a:p>
          <a:p>
            <a:pPr marL="914400" lvl="1" indent="-514350">
              <a:buFont typeface="+mj-lt"/>
              <a:buAutoNum type="arabicPeriod"/>
            </a:pPr>
            <a:r>
              <a:rPr lang="en-US" sz="2200" dirty="0"/>
              <a:t>The third parameter is a </a:t>
            </a:r>
            <a:r>
              <a:rPr lang="en-US" sz="2200" dirty="0" err="1"/>
              <a:t>boolean</a:t>
            </a:r>
            <a:r>
              <a:rPr lang="en-US" sz="2200" dirty="0"/>
              <a:t> value specifying whether to use event bubbling or event capturing. This parameter is optional.</a:t>
            </a:r>
          </a:p>
          <a:p>
            <a:endParaRPr lang="en-US" dirty="0"/>
          </a:p>
        </p:txBody>
      </p:sp>
      <p:pic>
        <p:nvPicPr>
          <p:cNvPr id="4" name="Picture 3">
            <a:extLst>
              <a:ext uri="{FF2B5EF4-FFF2-40B4-BE49-F238E27FC236}">
                <a16:creationId xmlns:a16="http://schemas.microsoft.com/office/drawing/2014/main" id="{5E551071-0350-4809-B10C-07FC6C8EEBF0}"/>
              </a:ext>
            </a:extLst>
          </p:cNvPr>
          <p:cNvPicPr>
            <a:picLocks noChangeAspect="1"/>
          </p:cNvPicPr>
          <p:nvPr/>
        </p:nvPicPr>
        <p:blipFill rotWithShape="1">
          <a:blip r:embed="rId2"/>
          <a:srcRect l="833" t="32222" r="15416" b="18889"/>
          <a:stretch/>
        </p:blipFill>
        <p:spPr>
          <a:xfrm>
            <a:off x="181043" y="3974387"/>
            <a:ext cx="8781913" cy="2883613"/>
          </a:xfrm>
          <a:prstGeom prst="rect">
            <a:avLst/>
          </a:prstGeom>
        </p:spPr>
      </p:pic>
    </p:spTree>
    <p:extLst>
      <p:ext uri="{BB962C8B-B14F-4D97-AF65-F5344CB8AC3E}">
        <p14:creationId xmlns:p14="http://schemas.microsoft.com/office/powerpoint/2010/main" val="509821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8B0A6-0DC7-416C-96C2-B617CBC9D882}"/>
              </a:ext>
            </a:extLst>
          </p:cNvPr>
          <p:cNvSpPr>
            <a:spLocks noGrp="1"/>
          </p:cNvSpPr>
          <p:nvPr>
            <p:ph type="title"/>
          </p:nvPr>
        </p:nvSpPr>
        <p:spPr>
          <a:xfrm>
            <a:off x="457200" y="0"/>
            <a:ext cx="8229600" cy="914400"/>
          </a:xfrm>
        </p:spPr>
        <p:txBody>
          <a:bodyPr>
            <a:normAutofit/>
          </a:bodyPr>
          <a:lstStyle/>
          <a:p>
            <a:r>
              <a:rPr lang="en-US" sz="3600" dirty="0">
                <a:hlinkClick r:id="rId2"/>
              </a:rPr>
              <a:t>Event Bubbling vs Event Capturing</a:t>
            </a:r>
            <a:endParaRPr lang="en-US" sz="3600" dirty="0"/>
          </a:p>
        </p:txBody>
      </p:sp>
      <p:sp>
        <p:nvSpPr>
          <p:cNvPr id="3" name="Content Placeholder 2">
            <a:extLst>
              <a:ext uri="{FF2B5EF4-FFF2-40B4-BE49-F238E27FC236}">
                <a16:creationId xmlns:a16="http://schemas.microsoft.com/office/drawing/2014/main" id="{A7E24F11-3EDC-42A3-B8A7-219B85E66CB9}"/>
              </a:ext>
            </a:extLst>
          </p:cNvPr>
          <p:cNvSpPr>
            <a:spLocks noGrp="1"/>
          </p:cNvSpPr>
          <p:nvPr>
            <p:ph idx="1"/>
          </p:nvPr>
        </p:nvSpPr>
        <p:spPr>
          <a:xfrm>
            <a:off x="457200" y="914400"/>
            <a:ext cx="8229600" cy="5638800"/>
          </a:xfrm>
        </p:spPr>
        <p:txBody>
          <a:bodyPr>
            <a:normAutofit fontScale="92500" lnSpcReduction="10000"/>
          </a:bodyPr>
          <a:lstStyle/>
          <a:p>
            <a:pPr marL="514350" indent="-514350">
              <a:buFont typeface="+mj-lt"/>
              <a:buAutoNum type="arabicPeriod"/>
            </a:pPr>
            <a:r>
              <a:rPr lang="en-US" sz="2600" dirty="0"/>
              <a:t>There are two ways of event propagation in the HTML DOM, </a:t>
            </a:r>
            <a:r>
              <a:rPr lang="en-US" sz="2600" b="1" dirty="0"/>
              <a:t>bubbling</a:t>
            </a:r>
            <a:r>
              <a:rPr lang="en-US" sz="2600" dirty="0"/>
              <a:t> and </a:t>
            </a:r>
            <a:r>
              <a:rPr lang="en-US" sz="2600" b="1" dirty="0"/>
              <a:t>capturing</a:t>
            </a:r>
            <a:r>
              <a:rPr lang="en-US" sz="2600" dirty="0"/>
              <a:t>.</a:t>
            </a:r>
          </a:p>
          <a:p>
            <a:pPr marL="514350" indent="-514350">
              <a:buFont typeface="+mj-lt"/>
              <a:buAutoNum type="arabicPeriod"/>
            </a:pPr>
            <a:r>
              <a:rPr lang="en-US" sz="2600" dirty="0"/>
              <a:t>Event propagation is a way of defining the element order when an event occurs. If you have a </a:t>
            </a:r>
            <a:r>
              <a:rPr lang="en-US" sz="2600" dirty="0">
                <a:latin typeface="Courier New" panose="02070309020205020404" pitchFamily="49" charset="0"/>
                <a:cs typeface="Courier New" panose="02070309020205020404" pitchFamily="49" charset="0"/>
              </a:rPr>
              <a:t>&lt;p&gt;</a:t>
            </a:r>
            <a:r>
              <a:rPr lang="en-US" sz="2600" dirty="0"/>
              <a:t> element inside a </a:t>
            </a:r>
            <a:r>
              <a:rPr lang="en-US" sz="2600" dirty="0">
                <a:latin typeface="Courier New" panose="02070309020205020404" pitchFamily="49" charset="0"/>
                <a:cs typeface="Courier New" panose="02070309020205020404" pitchFamily="49" charset="0"/>
              </a:rPr>
              <a:t>&lt;div&gt; </a:t>
            </a:r>
            <a:r>
              <a:rPr lang="en-US" sz="2600" dirty="0"/>
              <a:t>element, and both having click event attached to them. </a:t>
            </a:r>
          </a:p>
          <a:p>
            <a:pPr marL="514350" indent="-514350">
              <a:buFont typeface="+mj-lt"/>
              <a:buAutoNum type="arabicPeriod"/>
            </a:pPr>
            <a:r>
              <a:rPr lang="en-US" sz="2600" dirty="0"/>
              <a:t>Now when the user clicks on the </a:t>
            </a:r>
            <a:r>
              <a:rPr lang="en-US" sz="2600" dirty="0">
                <a:latin typeface="Courier New" panose="02070309020205020404" pitchFamily="49" charset="0"/>
                <a:cs typeface="Courier New" panose="02070309020205020404" pitchFamily="49" charset="0"/>
              </a:rPr>
              <a:t>&lt;p&gt;</a:t>
            </a:r>
            <a:r>
              <a:rPr lang="en-US" sz="2600" dirty="0"/>
              <a:t> element, which element's "click" event should be handled first?</a:t>
            </a:r>
          </a:p>
          <a:p>
            <a:pPr lvl="1"/>
            <a:r>
              <a:rPr lang="en-US" sz="2200" dirty="0"/>
              <a:t>In </a:t>
            </a:r>
            <a:r>
              <a:rPr lang="en-US" sz="2200" i="1" dirty="0"/>
              <a:t>bubbling </a:t>
            </a:r>
            <a:r>
              <a:rPr lang="en-US" sz="2200" dirty="0"/>
              <a:t>the inner most element's event is handled first and then the outer: the </a:t>
            </a:r>
            <a:r>
              <a:rPr lang="en-US" sz="2200" dirty="0">
                <a:latin typeface="Courier New" panose="02070309020205020404" pitchFamily="49" charset="0"/>
                <a:cs typeface="Courier New" panose="02070309020205020404" pitchFamily="49" charset="0"/>
              </a:rPr>
              <a:t>&lt;p&gt;</a:t>
            </a:r>
            <a:r>
              <a:rPr lang="en-US" sz="2200" dirty="0"/>
              <a:t> element's click event is handled first, then the </a:t>
            </a:r>
            <a:r>
              <a:rPr lang="en-US" sz="2200" dirty="0">
                <a:latin typeface="Courier New" panose="02070309020205020404" pitchFamily="49" charset="0"/>
                <a:cs typeface="Courier New" panose="02070309020205020404" pitchFamily="49" charset="0"/>
              </a:rPr>
              <a:t>&lt;div&gt; </a:t>
            </a:r>
            <a:r>
              <a:rPr lang="en-US" sz="2200" dirty="0"/>
              <a:t>element's click event.</a:t>
            </a:r>
          </a:p>
          <a:p>
            <a:pPr lvl="1"/>
            <a:r>
              <a:rPr lang="en-US" sz="2200" dirty="0"/>
              <a:t>In </a:t>
            </a:r>
            <a:r>
              <a:rPr lang="en-US" sz="2200" i="1" dirty="0"/>
              <a:t>capturing </a:t>
            </a:r>
            <a:r>
              <a:rPr lang="en-US" sz="2200" dirty="0"/>
              <a:t>the outer most element's event is handled first and then the inner: the </a:t>
            </a:r>
            <a:r>
              <a:rPr lang="en-US" sz="2200" dirty="0">
                <a:latin typeface="Courier New" panose="02070309020205020404" pitchFamily="49" charset="0"/>
                <a:cs typeface="Courier New" panose="02070309020205020404" pitchFamily="49" charset="0"/>
              </a:rPr>
              <a:t>&lt;div&gt; </a:t>
            </a:r>
            <a:r>
              <a:rPr lang="en-US" sz="2200" dirty="0"/>
              <a:t>element's click event will be handled first, then the </a:t>
            </a:r>
            <a:r>
              <a:rPr lang="en-US" sz="2200" dirty="0">
                <a:latin typeface="Courier New" panose="02070309020205020404" pitchFamily="49" charset="0"/>
                <a:cs typeface="Courier New" panose="02070309020205020404" pitchFamily="49" charset="0"/>
              </a:rPr>
              <a:t>&lt;p&gt;</a:t>
            </a:r>
            <a:r>
              <a:rPr lang="en-US" sz="2200" dirty="0"/>
              <a:t> element's click event.</a:t>
            </a:r>
          </a:p>
          <a:p>
            <a:pPr lvl="1"/>
            <a:r>
              <a:rPr lang="en-US" sz="2200" dirty="0"/>
              <a:t>The default value is false, which will use the bubbling propagation, when the value is set to true, the event uses the capturing propagation.</a:t>
            </a:r>
          </a:p>
          <a:p>
            <a:endParaRPr lang="en-US" dirty="0"/>
          </a:p>
        </p:txBody>
      </p:sp>
    </p:spTree>
    <p:extLst>
      <p:ext uri="{BB962C8B-B14F-4D97-AF65-F5344CB8AC3E}">
        <p14:creationId xmlns:p14="http://schemas.microsoft.com/office/powerpoint/2010/main" val="31444601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DDDEDA8-2B20-4538-ADBA-4A992BD31AB3}"/>
              </a:ext>
            </a:extLst>
          </p:cNvPr>
          <p:cNvSpPr>
            <a:spLocks noGrp="1"/>
          </p:cNvSpPr>
          <p:nvPr>
            <p:ph type="title"/>
          </p:nvPr>
        </p:nvSpPr>
        <p:spPr>
          <a:xfrm>
            <a:off x="457200" y="0"/>
            <a:ext cx="8229600" cy="762000"/>
          </a:xfrm>
        </p:spPr>
        <p:txBody>
          <a:bodyPr>
            <a:normAutofit/>
          </a:bodyPr>
          <a:lstStyle/>
          <a:p>
            <a:r>
              <a:rPr lang="en-US" sz="3600" dirty="0">
                <a:hlinkClick r:id="rId2"/>
              </a:rPr>
              <a:t>Event Bubbling vs Event Capturing</a:t>
            </a:r>
            <a:endParaRPr lang="en-US" sz="3600" dirty="0"/>
          </a:p>
        </p:txBody>
      </p:sp>
      <p:pic>
        <p:nvPicPr>
          <p:cNvPr id="6" name="Picture 5">
            <a:extLst>
              <a:ext uri="{FF2B5EF4-FFF2-40B4-BE49-F238E27FC236}">
                <a16:creationId xmlns:a16="http://schemas.microsoft.com/office/drawing/2014/main" id="{6D2A6E64-6A55-4428-89D9-066D8F169352}"/>
              </a:ext>
            </a:extLst>
          </p:cNvPr>
          <p:cNvPicPr>
            <a:picLocks noChangeAspect="1"/>
          </p:cNvPicPr>
          <p:nvPr/>
        </p:nvPicPr>
        <p:blipFill rotWithShape="1">
          <a:blip r:embed="rId3"/>
          <a:srcRect l="833" t="27778" r="56667" b="12963"/>
          <a:stretch/>
        </p:blipFill>
        <p:spPr>
          <a:xfrm>
            <a:off x="838200" y="838200"/>
            <a:ext cx="7239000" cy="5677647"/>
          </a:xfrm>
          <a:prstGeom prst="rect">
            <a:avLst/>
          </a:prstGeom>
        </p:spPr>
      </p:pic>
    </p:spTree>
    <p:extLst>
      <p:ext uri="{BB962C8B-B14F-4D97-AF65-F5344CB8AC3E}">
        <p14:creationId xmlns:p14="http://schemas.microsoft.com/office/powerpoint/2010/main" val="2663505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33B53-F479-4280-9A14-094A25EA13E6}"/>
              </a:ext>
            </a:extLst>
          </p:cNvPr>
          <p:cNvSpPr>
            <a:spLocks noGrp="1"/>
          </p:cNvSpPr>
          <p:nvPr>
            <p:ph type="title"/>
          </p:nvPr>
        </p:nvSpPr>
        <p:spPr>
          <a:xfrm>
            <a:off x="457200" y="274638"/>
            <a:ext cx="8229600" cy="1020762"/>
          </a:xfrm>
        </p:spPr>
        <p:txBody>
          <a:bodyPr/>
          <a:lstStyle/>
          <a:p>
            <a:r>
              <a:rPr lang="en-US" dirty="0"/>
              <a:t>Mouse Events</a:t>
            </a:r>
          </a:p>
        </p:txBody>
      </p:sp>
      <p:sp>
        <p:nvSpPr>
          <p:cNvPr id="3" name="Content Placeholder 2">
            <a:extLst>
              <a:ext uri="{FF2B5EF4-FFF2-40B4-BE49-F238E27FC236}">
                <a16:creationId xmlns:a16="http://schemas.microsoft.com/office/drawing/2014/main" id="{80921F2F-2F91-4AE1-849C-1E69BBA0AA9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F545D49E-1F82-42C4-9DF0-39E71D95B1E5}"/>
              </a:ext>
            </a:extLst>
          </p:cNvPr>
          <p:cNvPicPr>
            <a:picLocks noChangeAspect="1"/>
          </p:cNvPicPr>
          <p:nvPr/>
        </p:nvPicPr>
        <p:blipFill rotWithShape="1">
          <a:blip r:embed="rId2"/>
          <a:srcRect l="19167" t="18889" r="17500" b="17407"/>
          <a:stretch/>
        </p:blipFill>
        <p:spPr>
          <a:xfrm>
            <a:off x="381000" y="1611691"/>
            <a:ext cx="8249111" cy="4667260"/>
          </a:xfrm>
          <a:prstGeom prst="rect">
            <a:avLst/>
          </a:prstGeom>
        </p:spPr>
      </p:pic>
    </p:spTree>
    <p:extLst>
      <p:ext uri="{BB962C8B-B14F-4D97-AF65-F5344CB8AC3E}">
        <p14:creationId xmlns:p14="http://schemas.microsoft.com/office/powerpoint/2010/main" val="6065381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3435F-0F80-4353-B814-5BEB87D9CC02}"/>
              </a:ext>
            </a:extLst>
          </p:cNvPr>
          <p:cNvSpPr>
            <a:spLocks noGrp="1"/>
          </p:cNvSpPr>
          <p:nvPr>
            <p:ph type="title"/>
          </p:nvPr>
        </p:nvSpPr>
        <p:spPr>
          <a:xfrm>
            <a:off x="457200" y="274638"/>
            <a:ext cx="8229600" cy="715962"/>
          </a:xfrm>
        </p:spPr>
        <p:txBody>
          <a:bodyPr>
            <a:normAutofit/>
          </a:bodyPr>
          <a:lstStyle/>
          <a:p>
            <a:r>
              <a:rPr lang="en-US" sz="4000" dirty="0"/>
              <a:t>Keyboard Events</a:t>
            </a:r>
          </a:p>
        </p:txBody>
      </p:sp>
      <p:sp>
        <p:nvSpPr>
          <p:cNvPr id="3" name="Content Placeholder 2">
            <a:extLst>
              <a:ext uri="{FF2B5EF4-FFF2-40B4-BE49-F238E27FC236}">
                <a16:creationId xmlns:a16="http://schemas.microsoft.com/office/drawing/2014/main" id="{DFDF8093-F3C5-40C0-9D01-5B7C8955D4EE}"/>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9FDE8940-3CF9-4563-8AA5-1EFEBE4E21EA}"/>
              </a:ext>
            </a:extLst>
          </p:cNvPr>
          <p:cNvPicPr>
            <a:picLocks noChangeAspect="1"/>
          </p:cNvPicPr>
          <p:nvPr/>
        </p:nvPicPr>
        <p:blipFill rotWithShape="1">
          <a:blip r:embed="rId2"/>
          <a:srcRect l="19167" t="35185" r="16667" b="30741"/>
          <a:stretch/>
        </p:blipFill>
        <p:spPr>
          <a:xfrm>
            <a:off x="457200" y="1523999"/>
            <a:ext cx="8305800" cy="2480953"/>
          </a:xfrm>
          <a:prstGeom prst="rect">
            <a:avLst/>
          </a:prstGeom>
        </p:spPr>
      </p:pic>
    </p:spTree>
    <p:extLst>
      <p:ext uri="{BB962C8B-B14F-4D97-AF65-F5344CB8AC3E}">
        <p14:creationId xmlns:p14="http://schemas.microsoft.com/office/powerpoint/2010/main" val="15370712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8950D-DAF3-4CC2-A475-B954A5142FAD}"/>
              </a:ext>
            </a:extLst>
          </p:cNvPr>
          <p:cNvSpPr>
            <a:spLocks noGrp="1"/>
          </p:cNvSpPr>
          <p:nvPr>
            <p:ph type="title"/>
          </p:nvPr>
        </p:nvSpPr>
        <p:spPr>
          <a:xfrm>
            <a:off x="457200" y="274638"/>
            <a:ext cx="8229600" cy="868362"/>
          </a:xfrm>
        </p:spPr>
        <p:txBody>
          <a:bodyPr>
            <a:normAutofit/>
          </a:bodyPr>
          <a:lstStyle/>
          <a:p>
            <a:r>
              <a:rPr lang="en-US" sz="4000" dirty="0"/>
              <a:t>Form Events</a:t>
            </a:r>
          </a:p>
        </p:txBody>
      </p:sp>
      <p:sp>
        <p:nvSpPr>
          <p:cNvPr id="3" name="Content Placeholder 2">
            <a:extLst>
              <a:ext uri="{FF2B5EF4-FFF2-40B4-BE49-F238E27FC236}">
                <a16:creationId xmlns:a16="http://schemas.microsoft.com/office/drawing/2014/main" id="{FFAF547E-D09E-474B-A4AA-E774A862D265}"/>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589C2E8-90A3-4023-A8D4-2EBE14370A69}"/>
              </a:ext>
            </a:extLst>
          </p:cNvPr>
          <p:cNvPicPr>
            <a:picLocks noChangeAspect="1"/>
          </p:cNvPicPr>
          <p:nvPr/>
        </p:nvPicPr>
        <p:blipFill rotWithShape="1">
          <a:blip r:embed="rId2"/>
          <a:srcRect l="17500" t="18888" r="17500" b="10001"/>
          <a:stretch/>
        </p:blipFill>
        <p:spPr>
          <a:xfrm>
            <a:off x="533400" y="1594144"/>
            <a:ext cx="8001000" cy="4923692"/>
          </a:xfrm>
          <a:prstGeom prst="rect">
            <a:avLst/>
          </a:prstGeom>
        </p:spPr>
      </p:pic>
    </p:spTree>
    <p:extLst>
      <p:ext uri="{BB962C8B-B14F-4D97-AF65-F5344CB8AC3E}">
        <p14:creationId xmlns:p14="http://schemas.microsoft.com/office/powerpoint/2010/main" val="22069996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B1B9F-5BF8-4665-BB40-A8F5495EAAE9}"/>
              </a:ext>
            </a:extLst>
          </p:cNvPr>
          <p:cNvSpPr>
            <a:spLocks noGrp="1"/>
          </p:cNvSpPr>
          <p:nvPr>
            <p:ph type="title"/>
          </p:nvPr>
        </p:nvSpPr>
        <p:spPr>
          <a:xfrm>
            <a:off x="457200" y="274638"/>
            <a:ext cx="8229600" cy="868362"/>
          </a:xfrm>
        </p:spPr>
        <p:txBody>
          <a:bodyPr>
            <a:normAutofit/>
          </a:bodyPr>
          <a:lstStyle/>
          <a:p>
            <a:r>
              <a:rPr lang="en-US" sz="4000" dirty="0"/>
              <a:t>Drag Events</a:t>
            </a:r>
          </a:p>
        </p:txBody>
      </p:sp>
      <p:sp>
        <p:nvSpPr>
          <p:cNvPr id="3" name="Content Placeholder 2">
            <a:extLst>
              <a:ext uri="{FF2B5EF4-FFF2-40B4-BE49-F238E27FC236}">
                <a16:creationId xmlns:a16="http://schemas.microsoft.com/office/drawing/2014/main" id="{E054763D-458C-41A8-B8C2-37719C5AE8C1}"/>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043DBF9-AE1E-4631-8907-14F5410DE70E}"/>
              </a:ext>
            </a:extLst>
          </p:cNvPr>
          <p:cNvPicPr>
            <a:picLocks noChangeAspect="1"/>
          </p:cNvPicPr>
          <p:nvPr/>
        </p:nvPicPr>
        <p:blipFill rotWithShape="1">
          <a:blip r:embed="rId2"/>
          <a:srcRect l="19167" t="24814" r="17500" b="10000"/>
          <a:stretch/>
        </p:blipFill>
        <p:spPr>
          <a:xfrm>
            <a:off x="381000" y="1585565"/>
            <a:ext cx="8305800" cy="4808621"/>
          </a:xfrm>
          <a:prstGeom prst="rect">
            <a:avLst/>
          </a:prstGeom>
        </p:spPr>
      </p:pic>
    </p:spTree>
    <p:extLst>
      <p:ext uri="{BB962C8B-B14F-4D97-AF65-F5344CB8AC3E}">
        <p14:creationId xmlns:p14="http://schemas.microsoft.com/office/powerpoint/2010/main" val="42198820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33172-98FA-4AC8-99E6-90ECA6860DC8}"/>
              </a:ext>
            </a:extLst>
          </p:cNvPr>
          <p:cNvSpPr>
            <a:spLocks noGrp="1"/>
          </p:cNvSpPr>
          <p:nvPr>
            <p:ph type="title"/>
          </p:nvPr>
        </p:nvSpPr>
        <p:spPr>
          <a:xfrm>
            <a:off x="457200" y="274638"/>
            <a:ext cx="8229600" cy="944562"/>
          </a:xfrm>
        </p:spPr>
        <p:txBody>
          <a:bodyPr>
            <a:normAutofit/>
          </a:bodyPr>
          <a:lstStyle/>
          <a:p>
            <a:r>
              <a:rPr lang="en-US" sz="4000" dirty="0">
                <a:hlinkClick r:id="rId2"/>
              </a:rPr>
              <a:t>Media Events</a:t>
            </a:r>
            <a:endParaRPr lang="en-US" sz="4000" dirty="0"/>
          </a:p>
        </p:txBody>
      </p:sp>
      <p:sp>
        <p:nvSpPr>
          <p:cNvPr id="3" name="Content Placeholder 2">
            <a:extLst>
              <a:ext uri="{FF2B5EF4-FFF2-40B4-BE49-F238E27FC236}">
                <a16:creationId xmlns:a16="http://schemas.microsoft.com/office/drawing/2014/main" id="{8A021D67-0292-4BDD-8F6C-B12008BB9F3F}"/>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40657057-FC4E-4CB6-AC63-66C9D893E060}"/>
              </a:ext>
            </a:extLst>
          </p:cNvPr>
          <p:cNvPicPr>
            <a:picLocks noChangeAspect="1"/>
          </p:cNvPicPr>
          <p:nvPr/>
        </p:nvPicPr>
        <p:blipFill rotWithShape="1">
          <a:blip r:embed="rId3"/>
          <a:srcRect l="19167" t="18888" r="16667" b="10001"/>
          <a:stretch/>
        </p:blipFill>
        <p:spPr>
          <a:xfrm>
            <a:off x="533400" y="1371600"/>
            <a:ext cx="8305800" cy="5177642"/>
          </a:xfrm>
          <a:prstGeom prst="rect">
            <a:avLst/>
          </a:prstGeom>
        </p:spPr>
      </p:pic>
    </p:spTree>
    <p:extLst>
      <p:ext uri="{BB962C8B-B14F-4D97-AF65-F5344CB8AC3E}">
        <p14:creationId xmlns:p14="http://schemas.microsoft.com/office/powerpoint/2010/main" val="169594335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err="1">
                <a:latin typeface="Courier New" panose="02070309020205020404" pitchFamily="49" charset="0"/>
                <a:cs typeface="Courier New" panose="02070309020205020404" pitchFamily="49" charset="0"/>
              </a:rPr>
              <a:t>QuerySelectorAll</a:t>
            </a:r>
            <a:r>
              <a:rPr lang="en-US" sz="4000" dirty="0"/>
              <a:t> Example</a:t>
            </a:r>
          </a:p>
        </p:txBody>
      </p:sp>
      <p:sp>
        <p:nvSpPr>
          <p:cNvPr id="3" name="Content Placeholder 2"/>
          <p:cNvSpPr>
            <a:spLocks noGrp="1"/>
          </p:cNvSpPr>
          <p:nvPr>
            <p:ph idx="1"/>
          </p:nvPr>
        </p:nvSpPr>
        <p:spPr>
          <a:xfrm>
            <a:off x="76200" y="1493837"/>
            <a:ext cx="8229600" cy="4525963"/>
          </a:xfrm>
        </p:spPr>
        <p:txBody>
          <a:bodyPr>
            <a:normAutofit fontScale="55000" lnSpcReduction="20000"/>
          </a:bodyPr>
          <a:lstStyle/>
          <a:p>
            <a:r>
              <a:rPr lang="en-US" dirty="0">
                <a:latin typeface="Courier New" panose="02070309020205020404" pitchFamily="49" charset="0"/>
                <a:cs typeface="Courier New" panose="02070309020205020404" pitchFamily="49" charset="0"/>
              </a:rPr>
              <a:t>&lt;body&gt;</a:t>
            </a:r>
          </a:p>
          <a:p>
            <a:r>
              <a:rPr lang="en-US" dirty="0">
                <a:latin typeface="Courier New" panose="02070309020205020404" pitchFamily="49" charset="0"/>
                <a:cs typeface="Courier New" panose="02070309020205020404" pitchFamily="49" charset="0"/>
              </a:rPr>
              <a:t>&lt;h2 class="example"&gt;Heading 1&lt;/h2&gt;</a:t>
            </a:r>
          </a:p>
          <a:p>
            <a:r>
              <a:rPr lang="en-US" dirty="0">
                <a:latin typeface="Courier New" panose="02070309020205020404" pitchFamily="49" charset="0"/>
                <a:cs typeface="Courier New" panose="02070309020205020404" pitchFamily="49" charset="0"/>
              </a:rPr>
              <a:t>&lt;div class="main"&gt;</a:t>
            </a:r>
          </a:p>
          <a:p>
            <a:r>
              <a:rPr lang="en-US" dirty="0">
                <a:latin typeface="Courier New" panose="02070309020205020404" pitchFamily="49" charset="0"/>
                <a:cs typeface="Courier New" panose="02070309020205020404" pitchFamily="49" charset="0"/>
              </a:rPr>
              <a:t>    &lt;p class="example"&gt;Paragraph 1&lt;/p&gt; </a:t>
            </a:r>
          </a:p>
          <a:p>
            <a:r>
              <a:rPr lang="en-US" dirty="0">
                <a:latin typeface="Courier New" panose="02070309020205020404" pitchFamily="49" charset="0"/>
                <a:cs typeface="Courier New" panose="02070309020205020404" pitchFamily="49" charset="0"/>
              </a:rPr>
              <a:t>    &lt;p class="child"&gt;Paragraph 2&lt;/p&gt; </a:t>
            </a:r>
          </a:p>
          <a:p>
            <a:r>
              <a:rPr lang="en-US" dirty="0">
                <a:latin typeface="Courier New" panose="02070309020205020404" pitchFamily="49" charset="0"/>
                <a:cs typeface="Courier New" panose="02070309020205020404" pitchFamily="49" charset="0"/>
              </a:rPr>
              <a:t>&lt;/div&gt;</a:t>
            </a:r>
          </a:p>
          <a:p>
            <a:r>
              <a:rPr lang="en-US" dirty="0">
                <a:latin typeface="Courier New" panose="02070309020205020404" pitchFamily="49" charset="0"/>
                <a:cs typeface="Courier New" panose="02070309020205020404" pitchFamily="49" charset="0"/>
              </a:rPr>
              <a:t>&lt;button </a:t>
            </a:r>
            <a:r>
              <a:rPr lang="en-US" dirty="0" err="1">
                <a:latin typeface="Courier New" panose="02070309020205020404" pitchFamily="49" charset="0"/>
                <a:cs typeface="Courier New" panose="02070309020205020404" pitchFamily="49" charset="0"/>
              </a:rPr>
              <a:t>onclick</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myFunction</a:t>
            </a:r>
            <a:r>
              <a:rPr lang="en-US" dirty="0">
                <a:latin typeface="Courier New" panose="02070309020205020404" pitchFamily="49" charset="0"/>
                <a:cs typeface="Courier New" panose="02070309020205020404" pitchFamily="49" charset="0"/>
              </a:rPr>
              <a:t>()"&gt;Click Me&lt;/button&gt;</a:t>
            </a:r>
          </a:p>
          <a:p>
            <a:r>
              <a:rPr lang="en-US" dirty="0"/>
              <a:t> </a:t>
            </a:r>
          </a:p>
          <a:p>
            <a:r>
              <a:rPr lang="en-US" dirty="0"/>
              <a:t>&lt;script&gt;</a:t>
            </a:r>
          </a:p>
          <a:p>
            <a:r>
              <a:rPr lang="en-US" dirty="0"/>
              <a:t>function </a:t>
            </a:r>
            <a:r>
              <a:rPr lang="en-US" dirty="0" err="1"/>
              <a:t>myFunction</a:t>
            </a:r>
            <a:r>
              <a:rPr lang="en-US" dirty="0"/>
              <a:t>() {</a:t>
            </a:r>
          </a:p>
          <a:p>
            <a:r>
              <a:rPr lang="en-US" dirty="0"/>
              <a:t>	    </a:t>
            </a:r>
            <a:r>
              <a:rPr lang="en-US" dirty="0" err="1"/>
              <a:t>var</a:t>
            </a:r>
            <a:r>
              <a:rPr lang="en-US" dirty="0"/>
              <a:t> x = </a:t>
            </a:r>
            <a:r>
              <a:rPr lang="en-US" dirty="0" err="1"/>
              <a:t>document.querySelectorAll</a:t>
            </a:r>
            <a:r>
              <a:rPr lang="en-US" dirty="0"/>
              <a:t>(".example, .main .child");</a:t>
            </a:r>
          </a:p>
          <a:p>
            <a:r>
              <a:rPr lang="en-US" dirty="0"/>
              <a:t>   	   x[0].</a:t>
            </a:r>
            <a:r>
              <a:rPr lang="en-US" dirty="0" err="1"/>
              <a:t>style.backgroundColor</a:t>
            </a:r>
            <a:r>
              <a:rPr lang="en-US" dirty="0"/>
              <a:t> = "red";</a:t>
            </a:r>
          </a:p>
          <a:p>
            <a:r>
              <a:rPr lang="en-US" dirty="0"/>
              <a:t>    	   x[2].</a:t>
            </a:r>
            <a:r>
              <a:rPr lang="en-US" dirty="0" err="1"/>
              <a:t>style.backgroundColor</a:t>
            </a:r>
            <a:r>
              <a:rPr lang="en-US" dirty="0"/>
              <a:t> = "purple";</a:t>
            </a:r>
          </a:p>
          <a:p>
            <a:r>
              <a:rPr lang="en-US" dirty="0"/>
              <a:t>}</a:t>
            </a:r>
          </a:p>
          <a:p>
            <a:r>
              <a:rPr lang="en-US" dirty="0"/>
              <a:t>&lt;/script&gt;</a:t>
            </a:r>
          </a:p>
          <a:p>
            <a:r>
              <a:rPr lang="en-US" dirty="0">
                <a:latin typeface="Courier New" panose="02070309020205020404" pitchFamily="49" charset="0"/>
                <a:cs typeface="Courier New" panose="02070309020205020404" pitchFamily="49" charset="0"/>
              </a:rPr>
              <a:t>&lt;/body&gt;</a:t>
            </a:r>
          </a:p>
          <a:p>
            <a:endParaRPr lang="en-US" dirty="0"/>
          </a:p>
        </p:txBody>
      </p:sp>
      <p:pic>
        <p:nvPicPr>
          <p:cNvPr id="4" name="Picture 3"/>
          <p:cNvPicPr/>
          <p:nvPr/>
        </p:nvPicPr>
        <p:blipFill>
          <a:blip r:embed="rId2" cstate="print"/>
          <a:srcRect t="8717" r="89179" b="71725"/>
          <a:stretch>
            <a:fillRect/>
          </a:stretch>
        </p:blipFill>
        <p:spPr bwMode="auto">
          <a:xfrm>
            <a:off x="6887716" y="3332614"/>
            <a:ext cx="2836168" cy="2687186"/>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E6467-6DBE-4D60-BFBF-496509322D35}"/>
              </a:ext>
            </a:extLst>
          </p:cNvPr>
          <p:cNvSpPr>
            <a:spLocks noGrp="1"/>
          </p:cNvSpPr>
          <p:nvPr>
            <p:ph type="title"/>
          </p:nvPr>
        </p:nvSpPr>
        <p:spPr>
          <a:xfrm>
            <a:off x="457200" y="76200"/>
            <a:ext cx="8229600" cy="914400"/>
          </a:xfrm>
        </p:spPr>
        <p:txBody>
          <a:bodyPr>
            <a:normAutofit/>
          </a:bodyPr>
          <a:lstStyle/>
          <a:p>
            <a:r>
              <a:rPr lang="en-US" sz="4000" dirty="0"/>
              <a:t>Summary of Today’s Lecture</a:t>
            </a:r>
          </a:p>
        </p:txBody>
      </p:sp>
      <p:sp>
        <p:nvSpPr>
          <p:cNvPr id="3" name="Content Placeholder 2">
            <a:extLst>
              <a:ext uri="{FF2B5EF4-FFF2-40B4-BE49-F238E27FC236}">
                <a16:creationId xmlns:a16="http://schemas.microsoft.com/office/drawing/2014/main" id="{55493E03-D5C6-44E8-A294-B2BF9607846E}"/>
              </a:ext>
            </a:extLst>
          </p:cNvPr>
          <p:cNvSpPr>
            <a:spLocks noGrp="1"/>
          </p:cNvSpPr>
          <p:nvPr>
            <p:ph idx="1"/>
          </p:nvPr>
        </p:nvSpPr>
        <p:spPr>
          <a:xfrm>
            <a:off x="457200" y="1219200"/>
            <a:ext cx="8229600" cy="5257800"/>
          </a:xfrm>
        </p:spPr>
        <p:txBody>
          <a:bodyPr>
            <a:normAutofit/>
          </a:bodyPr>
          <a:lstStyle/>
          <a:p>
            <a:r>
              <a:rPr lang="en-US" sz="2200" dirty="0"/>
              <a:t>Browser Object Model (BOM)</a:t>
            </a:r>
          </a:p>
          <a:p>
            <a:pPr lvl="1"/>
            <a:r>
              <a:rPr lang="en-US" sz="1800" dirty="0"/>
              <a:t>Window object properties</a:t>
            </a:r>
          </a:p>
          <a:p>
            <a:pPr lvl="1"/>
            <a:r>
              <a:rPr lang="en-US" sz="1800" dirty="0"/>
              <a:t>Window object methods</a:t>
            </a:r>
          </a:p>
          <a:p>
            <a:pPr lvl="1"/>
            <a:r>
              <a:rPr lang="en-US" sz="1800" dirty="0"/>
              <a:t>Window Events</a:t>
            </a:r>
          </a:p>
          <a:p>
            <a:r>
              <a:rPr lang="en-US" sz="2200" dirty="0"/>
              <a:t>Document Object Model (DOM)</a:t>
            </a:r>
          </a:p>
          <a:p>
            <a:pPr lvl="1"/>
            <a:r>
              <a:rPr lang="en-US" sz="1800" dirty="0"/>
              <a:t>Accessing DOM Nodes</a:t>
            </a:r>
          </a:p>
          <a:p>
            <a:pPr lvl="1"/>
            <a:r>
              <a:rPr lang="en-US" sz="1800" dirty="0"/>
              <a:t>DOM Events</a:t>
            </a:r>
          </a:p>
          <a:p>
            <a:endParaRPr lang="en-US" sz="2200" dirty="0"/>
          </a:p>
          <a:p>
            <a:pPr marL="0" indent="0">
              <a:buNone/>
            </a:pPr>
            <a:endParaRPr lang="en-US" dirty="0"/>
          </a:p>
        </p:txBody>
      </p:sp>
    </p:spTree>
    <p:extLst>
      <p:ext uri="{BB962C8B-B14F-4D97-AF65-F5344CB8AC3E}">
        <p14:creationId xmlns:p14="http://schemas.microsoft.com/office/powerpoint/2010/main" val="34133117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p>
        </p:txBody>
      </p:sp>
      <p:sp>
        <p:nvSpPr>
          <p:cNvPr id="3" name="Content Placeholder 2"/>
          <p:cNvSpPr>
            <a:spLocks noGrp="1"/>
          </p:cNvSpPr>
          <p:nvPr>
            <p:ph idx="1"/>
          </p:nvPr>
        </p:nvSpPr>
        <p:spPr/>
        <p:txBody>
          <a:bodyPr>
            <a:normAutofit/>
          </a:bodyPr>
          <a:lstStyle/>
          <a:p>
            <a:r>
              <a:rPr lang="en-US" sz="2200" dirty="0"/>
              <a:t>Chapter 19 and Chapter 20 from </a:t>
            </a:r>
            <a:r>
              <a:rPr lang="en-US" sz="2200" i="1" dirty="0"/>
              <a:t>Learning Web Design- A Beginner’s Guide to HTML, CSS, </a:t>
            </a:r>
            <a:r>
              <a:rPr lang="en-US" sz="2200" i="1" dirty="0" err="1"/>
              <a:t>Javascript</a:t>
            </a:r>
            <a:r>
              <a:rPr lang="en-US" sz="2200" i="1" dirty="0"/>
              <a:t> and Web Graphics </a:t>
            </a:r>
            <a:r>
              <a:rPr lang="en-US" sz="2200" dirty="0"/>
              <a:t>By Jennifer </a:t>
            </a:r>
            <a:r>
              <a:rPr lang="en-US" sz="2200" dirty="0" err="1"/>
              <a:t>Niederst</a:t>
            </a:r>
            <a:r>
              <a:rPr lang="en-US" sz="2200" dirty="0"/>
              <a:t> Robbins (4</a:t>
            </a:r>
            <a:r>
              <a:rPr lang="en-US" sz="2200" baseline="30000" dirty="0"/>
              <a:t>th</a:t>
            </a:r>
            <a:r>
              <a:rPr lang="en-US" sz="2200" dirty="0"/>
              <a:t> Edition)</a:t>
            </a:r>
          </a:p>
          <a:p>
            <a:r>
              <a:rPr lang="en-US" sz="2200" dirty="0">
                <a:hlinkClick r:id="rId2"/>
              </a:rPr>
              <a:t>https://www.w3schools.com/tags/ref_eventattributes.asp</a:t>
            </a:r>
            <a:endParaRPr lang="en-US" sz="2200" dirty="0"/>
          </a:p>
          <a:p>
            <a:r>
              <a:rPr lang="en-US" sz="2200" dirty="0">
                <a:hlinkClick r:id="rId3"/>
              </a:rPr>
              <a:t>https://www.w3schools.com/jsref/met_document_queryselectorall.asp</a:t>
            </a:r>
            <a:endParaRPr lang="en-US" sz="2200" dirty="0"/>
          </a:p>
          <a:p>
            <a:r>
              <a:rPr lang="en-US" sz="2200" dirty="0">
                <a:hlinkClick r:id="rId4"/>
              </a:rPr>
              <a:t>https://www.w3schools.com/jsref/met_document_queryselector.asp</a:t>
            </a:r>
            <a:endParaRPr lang="en-US" sz="2200" dirty="0"/>
          </a:p>
          <a:p>
            <a:r>
              <a:rPr lang="en-US" sz="2400" dirty="0">
                <a:hlinkClick r:id="rId5"/>
              </a:rPr>
              <a:t>https://www.w3schools.com/jsref/obj_window.asp</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F0D192E966F94487F6C741852DFD8F" ma:contentTypeVersion="6" ma:contentTypeDescription="Create a new document." ma:contentTypeScope="" ma:versionID="6a21985dd82ab4ade60bfdfeaabc8bdb">
  <xsd:schema xmlns:xsd="http://www.w3.org/2001/XMLSchema" xmlns:xs="http://www.w3.org/2001/XMLSchema" xmlns:p="http://schemas.microsoft.com/office/2006/metadata/properties" xmlns:ns2="efc92e9a-8d31-4bd7-b912-b0ed9b710ad4" targetNamespace="http://schemas.microsoft.com/office/2006/metadata/properties" ma:root="true" ma:fieldsID="1e09f2a7db16dd3a84b054fdcde6beac" ns2:_="">
    <xsd:import namespace="efc92e9a-8d31-4bd7-b912-b0ed9b710ad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c92e9a-8d31-4bd7-b912-b0ed9b710a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EFE8A97-0FEB-4F93-B74D-B243464F92F0}"/>
</file>

<file path=customXml/itemProps2.xml><?xml version="1.0" encoding="utf-8"?>
<ds:datastoreItem xmlns:ds="http://schemas.openxmlformats.org/officeDocument/2006/customXml" ds:itemID="{22C6B77B-3B85-4E77-84F0-1D2043F95621}"/>
</file>

<file path=customXml/itemProps3.xml><?xml version="1.0" encoding="utf-8"?>
<ds:datastoreItem xmlns:ds="http://schemas.openxmlformats.org/officeDocument/2006/customXml" ds:itemID="{B91359D4-443F-489A-A0E8-878911E509D1}"/>
</file>

<file path=docProps/app.xml><?xml version="1.0" encoding="utf-8"?>
<Properties xmlns="http://schemas.openxmlformats.org/officeDocument/2006/extended-properties" xmlns:vt="http://schemas.openxmlformats.org/officeDocument/2006/docPropsVTypes">
  <TotalTime>11044</TotalTime>
  <Words>2793</Words>
  <Application>Microsoft Office PowerPoint</Application>
  <PresentationFormat>On-screen Show (4:3)</PresentationFormat>
  <Paragraphs>318</Paragraphs>
  <Slides>38</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Consolas</vt:lpstr>
      <vt:lpstr>Courier New</vt:lpstr>
      <vt:lpstr>Verdana</vt:lpstr>
      <vt:lpstr>Office Theme</vt:lpstr>
      <vt:lpstr>Web Technologies</vt:lpstr>
      <vt:lpstr>Summary of Today’s Lecture</vt:lpstr>
      <vt:lpstr>Browser Object Model</vt:lpstr>
      <vt:lpstr>Window Object Properties</vt:lpstr>
      <vt:lpstr>Window console Object - Example</vt:lpstr>
      <vt:lpstr>Window console.log() method</vt:lpstr>
      <vt:lpstr>Window location Object - Example</vt:lpstr>
      <vt:lpstr>Window navigator Object - Example</vt:lpstr>
      <vt:lpstr>Windows Object Methods</vt:lpstr>
      <vt:lpstr>alert()</vt:lpstr>
      <vt:lpstr>confirm()</vt:lpstr>
      <vt:lpstr>prompt()</vt:lpstr>
      <vt:lpstr>Windows Events</vt:lpstr>
      <vt:lpstr>Window onload()event- Example</vt:lpstr>
      <vt:lpstr>Document Object Model</vt:lpstr>
      <vt:lpstr>Example DOM tree</vt:lpstr>
      <vt:lpstr>DOM  Document Object</vt:lpstr>
      <vt:lpstr>Accessing Element Nodes</vt:lpstr>
      <vt:lpstr>Accessing Element Nodes</vt:lpstr>
      <vt:lpstr>Accessing Element Nodes</vt:lpstr>
      <vt:lpstr>DOM Get/ Set HTML Content</vt:lpstr>
      <vt:lpstr>DOM Get/ Set Input Controls Content</vt:lpstr>
      <vt:lpstr>DOM Get/ Set Attributes</vt:lpstr>
      <vt:lpstr>DOM Get/Set CSS Inline Styles</vt:lpstr>
      <vt:lpstr>DOM Events</vt:lpstr>
      <vt:lpstr>As an HTML attribute</vt:lpstr>
      <vt:lpstr>As a method attached to the element</vt:lpstr>
      <vt:lpstr>Using addEventListener()method</vt:lpstr>
      <vt:lpstr>Event Bubbling vs Event Capturing</vt:lpstr>
      <vt:lpstr>Event Bubbling vs Event Capturing</vt:lpstr>
      <vt:lpstr>Mouse Events</vt:lpstr>
      <vt:lpstr>Keyboard Events</vt:lpstr>
      <vt:lpstr>Form Events</vt:lpstr>
      <vt:lpstr>Drag Events</vt:lpstr>
      <vt:lpstr>Media Events</vt:lpstr>
      <vt:lpstr>QuerySelectorAll Example</vt:lpstr>
      <vt:lpstr>Summary of Today’s Lecture</vt:lpstr>
      <vt:lpstr>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Engineering</dc:title>
  <dc:creator>Administrator</dc:creator>
  <cp:lastModifiedBy>Muhammad-Imran</cp:lastModifiedBy>
  <cp:revision>408</cp:revision>
  <dcterms:created xsi:type="dcterms:W3CDTF">2006-08-16T00:00:00Z</dcterms:created>
  <dcterms:modified xsi:type="dcterms:W3CDTF">2020-11-18T19:05:28Z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0x010100D8F0D192E966F94487F6C741852DFD8F</vt:lpwstr>
  </property>
</Properties>
</file>