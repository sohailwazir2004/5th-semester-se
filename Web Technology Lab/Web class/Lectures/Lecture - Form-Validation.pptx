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323" r:id="rId6"/>
    <p:sldId id="257" r:id="rId7"/>
    <p:sldId id="269" r:id="rId8"/>
    <p:sldId id="270" r:id="rId9"/>
    <p:sldId id="271" r:id="rId10"/>
    <p:sldId id="272" r:id="rId11"/>
    <p:sldId id="273" r:id="rId12"/>
    <p:sldId id="274" r:id="rId13"/>
    <p:sldId id="324" r:id="rId14"/>
    <p:sldId id="258" r:id="rId15"/>
    <p:sldId id="275" r:id="rId16"/>
    <p:sldId id="325" r:id="rId17"/>
    <p:sldId id="276" r:id="rId18"/>
    <p:sldId id="300" r:id="rId19"/>
    <p:sldId id="327" r:id="rId20"/>
    <p:sldId id="301" r:id="rId21"/>
    <p:sldId id="302" r:id="rId22"/>
    <p:sldId id="304" r:id="rId23"/>
    <p:sldId id="303" r:id="rId24"/>
    <p:sldId id="277" r:id="rId25"/>
    <p:sldId id="278" r:id="rId26"/>
    <p:sldId id="279" r:id="rId27"/>
    <p:sldId id="326" r:id="rId28"/>
    <p:sldId id="268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161A68-3BB2-427E-921F-617255172311}" type="datetimeFigureOut">
              <a:rPr lang="en-US" smtClean="0"/>
              <a:t>5/23/2021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87803-8C20-4026-90EC-BB6B8C193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4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87803-8C20-4026-90EC-BB6B8C193DE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52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B45B46-355F-47B0-9DDB-86C85D5EBE3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77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87803-8C20-4026-90EC-BB6B8C193DE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693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jsref_obj_regexp.asp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r/CmSol8/1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Learn/Forms/Form_validation" TargetMode="External"/><Relationship Id="rId7" Type="http://schemas.openxmlformats.org/officeDocument/2006/relationships/hyperlink" Target="https://jqueryvalidation.org/" TargetMode="External"/><Relationship Id="rId2" Type="http://schemas.openxmlformats.org/officeDocument/2006/relationships/hyperlink" Target="https://www.tutorialrepublic.com/javascript-tutorial/javascript-form-validation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Web/Guide/HTML/HTML5/Constraint_validation" TargetMode="External"/><Relationship Id="rId5" Type="http://schemas.openxmlformats.org/officeDocument/2006/relationships/hyperlink" Target="https://www.w3schools.com/js/js_validation_api.asp" TargetMode="External"/><Relationship Id="rId4" Type="http://schemas.openxmlformats.org/officeDocument/2006/relationships/hyperlink" Target="https://www.w3schools.com/js/js_validation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Form Validation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6467-6DBE-4D60-BFBF-4965093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Summary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3E03-D5C6-44E8-A294-B2BF96078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sz="2200" dirty="0"/>
              <a:t>HTML Form Validation</a:t>
            </a:r>
          </a:p>
          <a:p>
            <a:r>
              <a:rPr lang="en-US" sz="2200" dirty="0"/>
              <a:t>Client-side vs server-side Validation</a:t>
            </a:r>
          </a:p>
          <a:p>
            <a:r>
              <a:rPr lang="en-US" sz="2200" dirty="0"/>
              <a:t>Client-side validation approaches</a:t>
            </a:r>
          </a:p>
          <a:p>
            <a:pPr lvl="1"/>
            <a:r>
              <a:rPr lang="en-US" sz="1800" dirty="0"/>
              <a:t>HTML Built-in Form Validation</a:t>
            </a:r>
          </a:p>
          <a:p>
            <a:pPr lvl="1"/>
            <a:r>
              <a:rPr lang="en-US" sz="1800" dirty="0"/>
              <a:t>JavaScript based Validation</a:t>
            </a:r>
          </a:p>
          <a:p>
            <a:endParaRPr lang="en-US" sz="2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0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HTML Form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562600"/>
          </a:xfrm>
        </p:spPr>
        <p:txBody>
          <a:bodyPr>
            <a:normAutofit fontScale="92500"/>
          </a:bodyPr>
          <a:lstStyle/>
          <a:p>
            <a:r>
              <a:rPr lang="en-US" sz="2200" dirty="0"/>
              <a:t>HTML form Validation is the process to analyze the validity of data client had entered in different form elements. It performs two functions</a:t>
            </a:r>
          </a:p>
          <a:p>
            <a:pPr lvl="1"/>
            <a:r>
              <a:rPr lang="en-US" sz="2200" dirty="0"/>
              <a:t>Basic Data Validation </a:t>
            </a:r>
          </a:p>
          <a:p>
            <a:pPr lvl="2"/>
            <a:r>
              <a:rPr lang="en-US" sz="2000" dirty="0"/>
              <a:t>The form must be checked to make sure all the mandatory fields are filled in.</a:t>
            </a:r>
            <a:endParaRPr lang="en-US" sz="1800" dirty="0"/>
          </a:p>
          <a:p>
            <a:pPr lvl="1"/>
            <a:r>
              <a:rPr lang="en-US" sz="2200" dirty="0"/>
              <a:t>Data Format Validation</a:t>
            </a:r>
          </a:p>
          <a:p>
            <a:pPr lvl="2"/>
            <a:r>
              <a:rPr lang="en-US" sz="2100" dirty="0"/>
              <a:t>The data that is entered must be checked for correct form and value</a:t>
            </a:r>
            <a:r>
              <a:rPr lang="en-US" dirty="0"/>
              <a:t>.</a:t>
            </a:r>
            <a:endParaRPr lang="en-US" sz="1800" dirty="0"/>
          </a:p>
          <a:p>
            <a:r>
              <a:rPr lang="en-US" sz="2200" dirty="0"/>
              <a:t>Validation can happen in two places: in the browser using JavaScript (client-side), and on the server using one of several languages such as PHP (server-side). Client-side validation is preferred due to two reasons.</a:t>
            </a:r>
          </a:p>
          <a:p>
            <a:pPr lvl="1"/>
            <a:r>
              <a:rPr lang="en-US" sz="2000" dirty="0"/>
              <a:t>It‘s quicker for the user because the form does not need to be sent to the server, processed, and returned to the user with any relevant error messages.</a:t>
            </a:r>
          </a:p>
          <a:p>
            <a:pPr lvl="1"/>
            <a:r>
              <a:rPr lang="en-US" sz="2000" dirty="0"/>
              <a:t>It saves the load on the server because some errors will get caught before the form is submitted.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51E45-E444-4035-9DA4-71CFB700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Different types of client-side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14FC6-1868-4C27-9694-A30414D84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480059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 client-side validation can be categorized into two types:</a:t>
            </a:r>
          </a:p>
          <a:p>
            <a:r>
              <a:rPr lang="en-US" sz="2400" b="1" dirty="0"/>
              <a:t>Built-in form validation:</a:t>
            </a:r>
          </a:p>
          <a:p>
            <a:pPr lvl="1"/>
            <a:r>
              <a:rPr lang="en-US" sz="2000" dirty="0"/>
              <a:t>It uses HTML5 form validation features, for example, using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required</a:t>
            </a:r>
            <a:r>
              <a:rPr lang="en-US" sz="2000" dirty="0"/>
              <a:t> attribute. </a:t>
            </a:r>
          </a:p>
          <a:p>
            <a:pPr lvl="1"/>
            <a:r>
              <a:rPr lang="en-US" sz="2000" dirty="0"/>
              <a:t>This validation generally doesn't require much JavaScript. Built-in form validation has better performance than JavaScript, but it is not as customizable as JavaScript validation.</a:t>
            </a:r>
          </a:p>
          <a:p>
            <a:r>
              <a:rPr lang="en-US" sz="2400" b="1" dirty="0"/>
              <a:t>JavaScript</a:t>
            </a:r>
            <a:r>
              <a:rPr lang="en-US" sz="2400" dirty="0"/>
              <a:t> validation is coded using JavaScript. </a:t>
            </a:r>
          </a:p>
          <a:p>
            <a:pPr lvl="1"/>
            <a:r>
              <a:rPr lang="en-US" sz="2000" dirty="0"/>
              <a:t>This validation is completely customizable, but you need to create it all (or use a library).</a:t>
            </a:r>
          </a:p>
          <a:p>
            <a:pPr lvl="1"/>
            <a:r>
              <a:rPr lang="en-US" sz="2000" dirty="0"/>
              <a:t>For example, you can write your own JavaScript validation file (JSValidate.js).</a:t>
            </a:r>
          </a:p>
          <a:p>
            <a:pPr lvl="1"/>
            <a:r>
              <a:rPr lang="en-US" sz="2000" dirty="0"/>
              <a:t>Or you can use already developed third party libraries, such as, </a:t>
            </a:r>
            <a:r>
              <a:rPr lang="en-US" sz="2000" dirty="0" err="1"/>
              <a:t>JQuery</a:t>
            </a:r>
            <a:r>
              <a:rPr lang="en-US" sz="2000" dirty="0"/>
              <a:t> Validation Plugin, </a:t>
            </a:r>
            <a:r>
              <a:rPr lang="en-US" sz="2000" dirty="0" err="1"/>
              <a:t>Parsely</a:t>
            </a:r>
            <a:r>
              <a:rPr lang="en-US" sz="2000" dirty="0"/>
              <a:t>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81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F2B-0D54-4FF3-8027-158F9E765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Autofit/>
          </a:bodyPr>
          <a:lstStyle/>
          <a:p>
            <a:r>
              <a:rPr lang="en-US" sz="3000" dirty="0"/>
              <a:t>Built-in form validation – the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required</a:t>
            </a:r>
            <a:r>
              <a:rPr lang="en-US" sz="3000" dirty="0"/>
              <a:t>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C416-A174-449A-B822-AAB13C41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28956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simplest HTML5 validation feature is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required</a:t>
            </a:r>
            <a:r>
              <a:rPr lang="en-US" dirty="0"/>
              <a:t> attribute.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input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required</a:t>
            </a:r>
            <a:r>
              <a:rPr lang="en-US" dirty="0"/>
              <a:t> attribute specifies that an input field must be filled out before submitting the form.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required attribute works with the following input types: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search</a:t>
            </a:r>
            <a:r>
              <a:rPr lang="en-US" dirty="0"/>
              <a:t>, </a:t>
            </a:r>
            <a:r>
              <a:rPr lang="en-US" sz="3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/>
              <a:t>, </a:t>
            </a:r>
            <a:r>
              <a:rPr lang="en-US" sz="3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tel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date pickers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checkbox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radio</a:t>
            </a:r>
            <a:r>
              <a:rPr lang="en-US" dirty="0"/>
              <a:t>, and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dirty="0"/>
              <a:t>. It also works on the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&lt;select&gt;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dirty="0"/>
              <a:t>elements.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 form field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dirty="0"/>
              <a:t>) is empty,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required</a:t>
            </a:r>
            <a:r>
              <a:rPr lang="en-US" dirty="0"/>
              <a:t> attribute prevents this form from being submitted: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98D24-3751-4FC9-8C48-3084B0FCB8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" t="32222" r="60000" b="35185"/>
          <a:stretch/>
        </p:blipFill>
        <p:spPr>
          <a:xfrm>
            <a:off x="76200" y="3505200"/>
            <a:ext cx="6348845" cy="2971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145D9D-43DE-4031-98AE-7309040160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 t="29260" r="5000" b="57407"/>
          <a:stretch/>
        </p:blipFill>
        <p:spPr>
          <a:xfrm>
            <a:off x="3429000" y="5791200"/>
            <a:ext cx="5486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9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F2B-0D54-4FF3-8027-158F9E765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534400" cy="639762"/>
          </a:xfrm>
        </p:spPr>
        <p:txBody>
          <a:bodyPr>
            <a:noAutofit/>
          </a:bodyPr>
          <a:lstStyle/>
          <a:p>
            <a:r>
              <a:rPr lang="en-US" sz="3000" dirty="0"/>
              <a:t>Built-in form validation – the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min </a:t>
            </a:r>
            <a:r>
              <a:rPr lang="en-US" sz="3000" dirty="0"/>
              <a:t>&amp;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 max</a:t>
            </a:r>
            <a:r>
              <a:rPr lang="en-US" sz="3000" dirty="0"/>
              <a:t>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C416-A174-449A-B822-AAB13C41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2590800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input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n-US" dirty="0"/>
              <a:t> attributes specify the minimum and maximum range of an input field.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the field contains a value outside this range, it will automatically generate an error.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min and max attributes work with the following input types: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datetime-local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month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time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week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following example displays a numeric input field, where you can enter a value from 1 to 5: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E4ACF5-3695-434E-8573-60CFBAF059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4" t="32222" r="51667" b="21852"/>
          <a:stretch/>
        </p:blipFill>
        <p:spPr>
          <a:xfrm>
            <a:off x="76200" y="2704431"/>
            <a:ext cx="6096001" cy="3315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AB0FD4-58C4-4C3E-8AE4-AFDF901801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3" t="32222" r="5833" b="39630"/>
          <a:stretch/>
        </p:blipFill>
        <p:spPr>
          <a:xfrm>
            <a:off x="4572000" y="5223377"/>
            <a:ext cx="4495800" cy="164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8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F2B-0D54-4FF3-8027-158F9E765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534400" cy="639762"/>
          </a:xfrm>
        </p:spPr>
        <p:txBody>
          <a:bodyPr>
            <a:noAutofit/>
          </a:bodyPr>
          <a:lstStyle/>
          <a:p>
            <a:r>
              <a:rPr lang="en-US" sz="3000" dirty="0"/>
              <a:t>Built-in form validation – the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pattern </a:t>
            </a:r>
            <a:r>
              <a:rPr lang="en-US" sz="3000" dirty="0"/>
              <a:t>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C416-A174-449A-B822-AAB13C41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2103438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input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dirty="0"/>
              <a:t> attribute specifies a regular expression that the input field's value is checked against, when the form is submitted.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pattern attribute works with the following input types: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date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search</a:t>
            </a:r>
            <a:r>
              <a:rPr lang="en-US" dirty="0"/>
              <a:t>, </a:t>
            </a:r>
            <a:r>
              <a:rPr lang="en-US" sz="3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/>
              <a:t>, </a:t>
            </a:r>
            <a:r>
              <a:rPr lang="en-US" sz="3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tel</a:t>
            </a:r>
            <a:r>
              <a:rPr lang="en-US" dirty="0"/>
              <a:t>,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en-US" dirty="0"/>
              <a:t>, and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example, the following example ensures the proper format of a telephone number.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2A2848-293C-4D91-9E0C-BA0E89C403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" t="35185" r="53333" b="26296"/>
          <a:stretch/>
        </p:blipFill>
        <p:spPr>
          <a:xfrm>
            <a:off x="0" y="2596717"/>
            <a:ext cx="6872654" cy="32488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82D4DE-28ED-4B24-AD46-57E5D91880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6667" t="32222" r="5833" b="38148"/>
          <a:stretch/>
        </p:blipFill>
        <p:spPr>
          <a:xfrm>
            <a:off x="4343400" y="5105400"/>
            <a:ext cx="4446270" cy="1560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62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F2B-0D54-4FF3-8027-158F9E765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0"/>
            <a:ext cx="8534400" cy="639762"/>
          </a:xfrm>
        </p:spPr>
        <p:txBody>
          <a:bodyPr>
            <a:noAutofit/>
          </a:bodyPr>
          <a:lstStyle/>
          <a:p>
            <a:r>
              <a:rPr lang="en-US" sz="3000" dirty="0"/>
              <a:t>Built-in form validation – the 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3000" dirty="0"/>
              <a:t>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5C416-A174-449A-B822-AAB13C41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39762"/>
            <a:ext cx="8229600" cy="19510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type="email" </a:t>
            </a:r>
            <a:r>
              <a:rPr lang="en-US" sz="3100" dirty="0"/>
              <a:t>and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type="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3100" dirty="0"/>
              <a:t>are </a:t>
            </a:r>
            <a:r>
              <a:rPr lang="en-US" dirty="0"/>
              <a:t>used for input fields that should contain an e-mail address and </a:t>
            </a:r>
            <a:r>
              <a:rPr lang="en-US" dirty="0" err="1"/>
              <a:t>url</a:t>
            </a:r>
            <a:r>
              <a:rPr lang="en-US" dirty="0"/>
              <a:t> respectively.</a:t>
            </a:r>
          </a:p>
          <a:p>
            <a:r>
              <a:rPr lang="en-US" dirty="0"/>
              <a:t>Depending on browser support, the e-mail address and </a:t>
            </a:r>
            <a:r>
              <a:rPr lang="en-US" dirty="0" err="1"/>
              <a:t>url</a:t>
            </a:r>
            <a:r>
              <a:rPr lang="en-US" dirty="0"/>
              <a:t> can be automatically validated when submitted.</a:t>
            </a:r>
          </a:p>
          <a:p>
            <a:r>
              <a:rPr lang="en-US" dirty="0"/>
              <a:t>For example, the following raises an error message if email is not added in the proper format.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EFEDB5-20A2-49CC-896D-B65A708069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27" t="35185" r="51667" b="30741"/>
          <a:stretch/>
        </p:blipFill>
        <p:spPr>
          <a:xfrm>
            <a:off x="76200" y="2438399"/>
            <a:ext cx="7391400" cy="3001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86E653-3ED5-465B-AFF5-42D4C847A98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8333" t="32222" r="5000" b="45556"/>
          <a:stretch/>
        </p:blipFill>
        <p:spPr>
          <a:xfrm>
            <a:off x="2895600" y="5029200"/>
            <a:ext cx="6019800" cy="161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9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667D-4AE3-4EC9-8489-DA839F29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9696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Built-in form validation </a:t>
            </a:r>
            <a:br>
              <a:rPr lang="en-US" sz="3600" dirty="0"/>
            </a:br>
            <a:r>
              <a:rPr lang="en-US" sz="3600" dirty="0"/>
              <a:t>(Validation-related Attributes)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4C7DB-7AE4-4E90-AB44-9F18928EA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0038"/>
            <a:ext cx="8229600" cy="7159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following attributes are used to describe basic constraints: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87FF85-8DA8-4F97-B53D-0030BFD76B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67" t="35185" r="16667" b="23333"/>
          <a:stretch/>
        </p:blipFill>
        <p:spPr>
          <a:xfrm>
            <a:off x="171450" y="2286000"/>
            <a:ext cx="88011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0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D8047-34AA-4A3E-9EC6-24DE6C86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868362"/>
          </a:xfrm>
        </p:spPr>
        <p:txBody>
          <a:bodyPr>
            <a:noAutofit/>
          </a:bodyPr>
          <a:lstStyle/>
          <a:p>
            <a:r>
              <a:rPr lang="en-US" sz="2600" dirty="0"/>
              <a:t>Built-in form validation - Controlling the look of elements (CSS Pseudo-class Selectors)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936AD-5FAC-46E6-A933-FEE16861E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44562"/>
            <a:ext cx="8229600" cy="32940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The look of elements can be controlled via CSS pseudo-classes.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:required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:optional</a:t>
            </a:r>
            <a:r>
              <a:rPr lang="en-US" dirty="0"/>
              <a:t> pseudo-classes allow writing selectors that match form elements that have the required attribute, or that don't have it.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:valid </a:t>
            </a:r>
            <a:r>
              <a:rPr lang="en-US" dirty="0"/>
              <a:t>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:invalid </a:t>
            </a:r>
            <a:r>
              <a:rPr lang="en-US" dirty="0"/>
              <a:t>pseudo-classes are used to represent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&lt;input&gt; </a:t>
            </a:r>
            <a:r>
              <a:rPr lang="en-US" dirty="0"/>
              <a:t>elements whose content validates and fails to validate respectively according to the element's settings.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:valid </a:t>
            </a:r>
            <a:r>
              <a:rPr lang="en-US" dirty="0"/>
              <a:t>and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:invalid </a:t>
            </a:r>
            <a:r>
              <a:rPr lang="en-US" dirty="0"/>
              <a:t>selector only works for form elements with limitations, such as input elements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dirty="0"/>
              <a:t> and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max </a:t>
            </a:r>
            <a:r>
              <a:rPr lang="en-US" dirty="0"/>
              <a:t>attributes,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email</a:t>
            </a:r>
            <a:r>
              <a:rPr lang="en-US" dirty="0"/>
              <a:t> fields with a legal email, or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number</a:t>
            </a:r>
            <a:r>
              <a:rPr lang="en-US" dirty="0"/>
              <a:t> fields with a numeric value, etc.</a:t>
            </a:r>
          </a:p>
          <a:p>
            <a:pPr lvl="1"/>
            <a:r>
              <a:rPr lang="en-US" dirty="0"/>
              <a:t>These classes allow the user to style valid or invalid form elements to make it easier to identify elements that are either formatted correctly or incorrectly.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54B81-2CA3-4B4E-A8A6-AF18524086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000" t="35185" r="27771" b="30741"/>
          <a:stretch/>
        </p:blipFill>
        <p:spPr>
          <a:xfrm>
            <a:off x="228600" y="4267200"/>
            <a:ext cx="5688784" cy="2087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A80BBD-B0AA-4F09-822D-57CE7B25E6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67" t="15926" r="46667" b="29259"/>
          <a:stretch/>
        </p:blipFill>
        <p:spPr>
          <a:xfrm>
            <a:off x="6143090" y="4123870"/>
            <a:ext cx="2391310" cy="2764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79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4000"/>
              <a:t>Validating forms using JavaScript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We must use JavaScript if we want to take control over the look and feel of native error messages or to deal with legacy browsers that do not support HTML's built-in form validation.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When the user presses the submit button on a form, it triggers the </a:t>
            </a:r>
            <a:r>
              <a:rPr lang="en-US" sz="2200" b="1" i="1" dirty="0" err="1"/>
              <a:t>onsubmit</a:t>
            </a:r>
            <a:r>
              <a:rPr lang="en-US" sz="2200" b="1" i="1" dirty="0"/>
              <a:t> </a:t>
            </a:r>
            <a:r>
              <a:rPr lang="en-US" sz="2200" dirty="0"/>
              <a:t>event handler on the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&lt;form&gt;</a:t>
            </a:r>
            <a:r>
              <a:rPr lang="en-US" sz="2200" dirty="0"/>
              <a:t> element.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This calls a validation function stored either in a separate script or in the head of the document.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The function must then return </a:t>
            </a:r>
            <a:r>
              <a:rPr lang="en-US" sz="2200" b="1" i="1" dirty="0"/>
              <a:t>true</a:t>
            </a:r>
            <a:r>
              <a:rPr lang="en-US" sz="2200" dirty="0"/>
              <a:t> in order for the form to be sent, or, if an error is encountered, the function returns </a:t>
            </a:r>
            <a:r>
              <a:rPr lang="en-US" sz="2200" b="1" i="1" dirty="0"/>
              <a:t>false</a:t>
            </a:r>
            <a:r>
              <a:rPr lang="en-US" sz="2200" dirty="0"/>
              <a:t> and the user ’s form will not be sent.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If the error is generated, the form should indicate to the user where there is a problem with the information the user entered.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F30A9-D9C2-40B9-9185-D89123031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586582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Data Validation – Example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BA34F8-BA04-4EB3-B785-1D95B33DFF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34" t="26296" r="49167" b="41111"/>
          <a:stretch/>
        </p:blipFill>
        <p:spPr>
          <a:xfrm>
            <a:off x="685800" y="857150"/>
            <a:ext cx="7938873" cy="3638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DA9760-02DC-4EB9-8C6F-FC8C36FB8E9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95" r="80000" b="70741"/>
          <a:stretch/>
        </p:blipFill>
        <p:spPr>
          <a:xfrm>
            <a:off x="76200" y="5005719"/>
            <a:ext cx="3733800" cy="1928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2DCB92-6258-4645-A05C-2FAD31F60C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999" r="71667" b="70741"/>
          <a:stretch/>
        </p:blipFill>
        <p:spPr>
          <a:xfrm>
            <a:off x="3903862" y="4929519"/>
            <a:ext cx="4800600" cy="1835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04F6EE-A449-4963-985B-CD5337F1DE1C}"/>
              </a:ext>
            </a:extLst>
          </p:cNvPr>
          <p:cNvSpPr txBox="1"/>
          <p:nvPr/>
        </p:nvSpPr>
        <p:spPr>
          <a:xfrm>
            <a:off x="228600" y="4507468"/>
            <a:ext cx="1981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Form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F4077-389E-4C37-A53B-93139F43C008}"/>
              </a:ext>
            </a:extLst>
          </p:cNvPr>
          <p:cNvSpPr txBox="1"/>
          <p:nvPr/>
        </p:nvSpPr>
        <p:spPr>
          <a:xfrm>
            <a:off x="0" y="483513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HTML Form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C23314-CC49-439D-9AD7-7FB28D31E4CB}"/>
              </a:ext>
            </a:extLst>
          </p:cNvPr>
          <p:cNvSpPr txBox="1"/>
          <p:nvPr/>
        </p:nvSpPr>
        <p:spPr>
          <a:xfrm>
            <a:off x="4191000" y="4598313"/>
            <a:ext cx="2362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Error Msg Display</a:t>
            </a:r>
          </a:p>
        </p:txBody>
      </p:sp>
    </p:spTree>
    <p:extLst>
      <p:ext uri="{BB962C8B-B14F-4D97-AF65-F5344CB8AC3E}">
        <p14:creationId xmlns:p14="http://schemas.microsoft.com/office/powerpoint/2010/main" val="260801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A60731-07E8-4300-9A90-53F7A0D43C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33" t="21852" r="54167" b="11481"/>
          <a:stretch/>
        </p:blipFill>
        <p:spPr>
          <a:xfrm>
            <a:off x="76200" y="15411"/>
            <a:ext cx="5930244" cy="68425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6BD787-C102-4A5B-BAB5-3CB42AC769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99" r="71667" b="70741"/>
          <a:stretch/>
        </p:blipFill>
        <p:spPr>
          <a:xfrm>
            <a:off x="5055413" y="5293760"/>
            <a:ext cx="3985845" cy="152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E7C5D8-BEA4-48E4-8B0D-EACF8771355B}"/>
              </a:ext>
            </a:extLst>
          </p:cNvPr>
          <p:cNvSpPr txBox="1"/>
          <p:nvPr/>
        </p:nvSpPr>
        <p:spPr>
          <a:xfrm>
            <a:off x="5295900" y="4884188"/>
            <a:ext cx="24765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Error Msg Display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523B11CE-2A81-489C-8F8E-5B6476E88798}"/>
              </a:ext>
            </a:extLst>
          </p:cNvPr>
          <p:cNvSpPr/>
          <p:nvPr/>
        </p:nvSpPr>
        <p:spPr>
          <a:xfrm>
            <a:off x="6534150" y="472929"/>
            <a:ext cx="2293020" cy="1524000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Detailed HTML Form</a:t>
            </a:r>
          </a:p>
        </p:txBody>
      </p:sp>
    </p:spTree>
    <p:extLst>
      <p:ext uri="{BB962C8B-B14F-4D97-AF65-F5344CB8AC3E}">
        <p14:creationId xmlns:p14="http://schemas.microsoft.com/office/powerpoint/2010/main" val="2434222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0EFA83-9409-4432-8D9D-AAD9980950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99" r="71667" b="70741"/>
          <a:stretch/>
        </p:blipFill>
        <p:spPr>
          <a:xfrm>
            <a:off x="76200" y="5410200"/>
            <a:ext cx="3786553" cy="1447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4266FC-845D-4CCC-9728-9A7872ADCE5D}"/>
              </a:ext>
            </a:extLst>
          </p:cNvPr>
          <p:cNvSpPr txBox="1"/>
          <p:nvPr/>
        </p:nvSpPr>
        <p:spPr>
          <a:xfrm>
            <a:off x="304800" y="5019097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Error Msg Display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FD9C29-95BF-434C-A812-CF01FDEAE8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67" t="11905" r="20000" b="11905"/>
          <a:stretch/>
        </p:blipFill>
        <p:spPr>
          <a:xfrm>
            <a:off x="-18836" y="40817"/>
            <a:ext cx="7194500" cy="4683583"/>
          </a:xfrm>
          <a:prstGeom prst="rect">
            <a:avLst/>
          </a:prstGeom>
        </p:spPr>
      </p:pic>
      <p:sp>
        <p:nvSpPr>
          <p:cNvPr id="16" name="Arrow: Left 15">
            <a:extLst>
              <a:ext uri="{FF2B5EF4-FFF2-40B4-BE49-F238E27FC236}">
                <a16:creationId xmlns:a16="http://schemas.microsoft.com/office/drawing/2014/main" id="{ED884BC2-D7E3-4E0E-BA5C-C53775F2C87E}"/>
              </a:ext>
            </a:extLst>
          </p:cNvPr>
          <p:cNvSpPr/>
          <p:nvPr/>
        </p:nvSpPr>
        <p:spPr>
          <a:xfrm>
            <a:off x="6248400" y="685800"/>
            <a:ext cx="2312737" cy="1314447"/>
          </a:xfrm>
          <a:prstGeom prst="lef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JS validate() method</a:t>
            </a:r>
            <a:endParaRPr lang="en-US" sz="2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098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C897-70FD-4827-89F4-16E5FF6F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>
            <a:noAutofit/>
          </a:bodyPr>
          <a:lstStyle/>
          <a:p>
            <a:r>
              <a:rPr lang="en-US" sz="3600" dirty="0">
                <a:hlinkClick r:id="rId2"/>
              </a:rPr>
              <a:t>Regular Expressions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A9F9-62B1-409E-9865-83085BF89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990600"/>
            <a:ext cx="8458200" cy="55626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 regular expression is a sequence of characters that forms a search pattern.</a:t>
            </a:r>
          </a:p>
          <a:p>
            <a:r>
              <a:rPr lang="en-US" dirty="0"/>
              <a:t>When you search for data in a text, you can use this search pattern to describe what you are searching for.</a:t>
            </a:r>
          </a:p>
          <a:p>
            <a:r>
              <a:rPr lang="en-US" dirty="0"/>
              <a:t>Regular expressions can be used to perform all types of </a:t>
            </a:r>
            <a:r>
              <a:rPr lang="en-US" b="1" dirty="0"/>
              <a:t>text search</a:t>
            </a:r>
            <a:r>
              <a:rPr lang="en-US" dirty="0"/>
              <a:t> and </a:t>
            </a:r>
            <a:r>
              <a:rPr lang="en-US" b="1" dirty="0"/>
              <a:t>text replace</a:t>
            </a:r>
            <a:r>
              <a:rPr lang="en-US" dirty="0"/>
              <a:t> operations.</a:t>
            </a:r>
          </a:p>
          <a:p>
            <a:r>
              <a:rPr lang="en-US" dirty="0"/>
              <a:t>The JavaScript </a:t>
            </a:r>
            <a:r>
              <a:rPr lang="en-US" b="1" dirty="0" err="1"/>
              <a:t>RegExp</a:t>
            </a:r>
            <a:r>
              <a:rPr lang="en-US" dirty="0"/>
              <a:t> class represents regular expressions, and both String and </a:t>
            </a:r>
            <a:r>
              <a:rPr lang="en-US" b="1" dirty="0" err="1"/>
              <a:t>RegExp</a:t>
            </a:r>
            <a:r>
              <a:rPr lang="en-US" dirty="0"/>
              <a:t> define methods that use regular expressions to perform powerful pattern-matching and search-and-replace functions on text.</a:t>
            </a:r>
          </a:p>
          <a:p>
            <a:r>
              <a:rPr lang="en-US" dirty="0"/>
              <a:t>A regular expression could be defined with the </a:t>
            </a:r>
            <a:r>
              <a:rPr lang="en-US" b="1" dirty="0" err="1"/>
              <a:t>RegExp</a:t>
            </a:r>
            <a:r>
              <a:rPr lang="en-US" b="1" dirty="0"/>
              <a:t>()</a:t>
            </a:r>
            <a:r>
              <a:rPr lang="en-US" dirty="0"/>
              <a:t> constructor, as follows: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 pattern = new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RegExp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(pattern, modifiers);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100" dirty="0"/>
              <a:t>or simply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var pattern = /pattern/modifiers;</a:t>
            </a:r>
          </a:p>
          <a:p>
            <a:r>
              <a:rPr lang="en-US" dirty="0"/>
              <a:t>Here is the description of the parameters: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pattern</a:t>
            </a:r>
            <a:r>
              <a:rPr lang="en-US" dirty="0"/>
              <a:t> − A string that specifies the pattern of the regular expression or another regular expression.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modifiers</a:t>
            </a:r>
            <a:r>
              <a:rPr lang="en-US" dirty="0"/>
              <a:t> − An optional string containing any of the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dirty="0"/>
              <a:t>",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/>
              <a:t>", and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/>
              <a:t>" modifiers that specify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global</a:t>
            </a:r>
            <a:r>
              <a:rPr lang="en-US" dirty="0"/>
              <a:t>,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case-insensitive</a:t>
            </a:r>
            <a:r>
              <a:rPr lang="en-US" dirty="0"/>
              <a:t>, and </a:t>
            </a:r>
            <a:r>
              <a:rPr lang="en-US" sz="2900" dirty="0">
                <a:latin typeface="Courier New" panose="02070309020205020404" pitchFamily="49" charset="0"/>
                <a:cs typeface="Courier New" panose="02070309020205020404" pitchFamily="49" charset="0"/>
              </a:rPr>
              <a:t>multi-line</a:t>
            </a:r>
            <a:r>
              <a:rPr lang="en-US" dirty="0"/>
              <a:t> matches, respectively.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5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79AAD-40BE-40DB-A057-DFB443C62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79437"/>
          </a:xfrm>
        </p:spPr>
        <p:txBody>
          <a:bodyPr>
            <a:noAutofit/>
          </a:bodyPr>
          <a:lstStyle/>
          <a:p>
            <a:r>
              <a:rPr lang="en-US" sz="3600" dirty="0"/>
              <a:t>Regular Expression Properties/ Methods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20433F-45C2-47A1-997B-488E5FDAF1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0" t="15926" r="33333" b="8518"/>
          <a:stretch/>
        </p:blipFill>
        <p:spPr>
          <a:xfrm>
            <a:off x="1066800" y="838200"/>
            <a:ext cx="6858000" cy="592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63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C897-70FD-4827-89F4-16E5FF6F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test()</a:t>
            </a:r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A9F9-62B1-409E-9865-83085BF89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9906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test()</a:t>
            </a:r>
            <a:r>
              <a:rPr lang="en-US" dirty="0"/>
              <a:t>method tests for a match in a string. This method returns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if it finds a match, otherwise it returns </a:t>
            </a:r>
            <a:r>
              <a:rPr lang="en-US" sz="31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2630B6-5F4C-4764-9B04-ED8997584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" t="29258" r="56667" b="12964"/>
          <a:stretch/>
        </p:blipFill>
        <p:spPr>
          <a:xfrm>
            <a:off x="29268" y="1752600"/>
            <a:ext cx="6676331" cy="51054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01ABC9-12EE-4865-B663-01BE12D51C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3" t="30741" r="14167" b="52962"/>
          <a:stretch/>
        </p:blipFill>
        <p:spPr>
          <a:xfrm>
            <a:off x="3657600" y="3458110"/>
            <a:ext cx="7175990" cy="187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22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C897-70FD-4827-89F4-16E5FF6F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639762"/>
          </a:xfrm>
        </p:spPr>
        <p:txBody>
          <a:bodyPr>
            <a:noAutofit/>
          </a:bodyPr>
          <a:lstStyle/>
          <a:p>
            <a:r>
              <a:rPr lang="en-US" sz="3800" dirty="0"/>
              <a:t>Regular Expression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A9F9-62B1-409E-9865-83085BF89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57200"/>
          </a:xfrm>
        </p:spPr>
        <p:txBody>
          <a:bodyPr>
            <a:normAutofit/>
          </a:bodyPr>
          <a:lstStyle/>
          <a:p>
            <a:r>
              <a:rPr lang="en-US" sz="2200" dirty="0"/>
              <a:t>Brackets ([]) are used to find a range of characters: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119D0-3E46-4982-A9F4-E1563C79F6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00" t="20370" r="27500" b="18889"/>
          <a:stretch/>
        </p:blipFill>
        <p:spPr>
          <a:xfrm>
            <a:off x="5046" y="1721028"/>
            <a:ext cx="6096000" cy="520700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1754C0-0124-4800-8851-078C66DAEF86}"/>
              </a:ext>
            </a:extLst>
          </p:cNvPr>
          <p:cNvSpPr/>
          <p:nvPr/>
        </p:nvSpPr>
        <p:spPr>
          <a:xfrm>
            <a:off x="4648200" y="2438400"/>
            <a:ext cx="44907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Example:</a:t>
            </a:r>
          </a:p>
          <a:p>
            <a:pPr algn="just"/>
            <a:endParaRPr 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[^a-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</a:rPr>
              <a:t>zA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  <a:t>-Z]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It matches any string not containing any of the characters ranging from a through z and A through Z.</a:t>
            </a:r>
          </a:p>
        </p:txBody>
      </p:sp>
    </p:spTree>
    <p:extLst>
      <p:ext uri="{BB962C8B-B14F-4D97-AF65-F5344CB8AC3E}">
        <p14:creationId xmlns:p14="http://schemas.microsoft.com/office/powerpoint/2010/main" val="41593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5C897-70FD-4827-89F4-16E5FF6F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639762"/>
          </a:xfrm>
        </p:spPr>
        <p:txBody>
          <a:bodyPr>
            <a:noAutofit/>
          </a:bodyPr>
          <a:lstStyle/>
          <a:p>
            <a:r>
              <a:rPr lang="en-US" sz="3600" dirty="0"/>
              <a:t>Regular Expression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3A9F9-62B1-409E-9865-83085BF89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63562"/>
            <a:ext cx="8229600" cy="138684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Quantifiers</a:t>
            </a:r>
            <a:r>
              <a:rPr lang="en-US" dirty="0"/>
              <a:t> define quantities. It defines frequency or position of bracketed character sequences and single characters can be denoted by a special character. </a:t>
            </a:r>
          </a:p>
          <a:p>
            <a:r>
              <a:rPr lang="en-US" dirty="0"/>
              <a:t>Each special character has a specific connotation. The +, *, ?, and $ flags all follow a character sequence.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2AFC5-4E59-452C-95A6-2486AEF8BB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000" t="18889" r="31667" b="15926"/>
          <a:stretch/>
        </p:blipFill>
        <p:spPr>
          <a:xfrm>
            <a:off x="533400" y="1905000"/>
            <a:ext cx="4502728" cy="495300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4068AB-AF52-49D9-83B4-2C68CD4827F0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2270760"/>
          <a:ext cx="5630799" cy="1386840"/>
        </p:xfrm>
        <a:graphic>
          <a:graphicData uri="http://schemas.openxmlformats.org/drawingml/2006/table">
            <a:tbl>
              <a:tblPr/>
              <a:tblGrid>
                <a:gridCol w="5630799">
                  <a:extLst>
                    <a:ext uri="{9D8B030D-6E8A-4147-A177-3AD203B41FA5}">
                      <a16:colId xmlns:a16="http://schemas.microsoft.com/office/drawing/2014/main" val="1029135823"/>
                    </a:ext>
                  </a:extLst>
                </a:gridCol>
              </a:tblGrid>
              <a:tr h="1386840">
                <a:tc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Example: 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p(hp)*</a:t>
                      </a:r>
                    </a:p>
                    <a:p>
                      <a:pPr marL="285750" indent="-2857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It matches any string containing a 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p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 followed by zero or more instances of the sequence </a:t>
                      </a:r>
                      <a:r>
                        <a:rPr lang="en-US" b="1" dirty="0">
                          <a:solidFill>
                            <a:srgbClr val="000000"/>
                          </a:solidFill>
                          <a:effectLst/>
                        </a:rPr>
                        <a:t>hp</a:t>
                      </a:r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</a:p>
                  </a:txBody>
                  <a:tcPr marL="30480" marR="30480" marT="30480" marB="30480">
                    <a:lnL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4577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614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FF6D5-EFFE-4E4F-B6DE-D6F93905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Regular Expression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DC58B-A50C-400E-B8AC-2E0B04862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2578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Telephone must be a valid 11 digits number.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/^[0-9]{11}$/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Username must contain 5 - 12 characters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/^[0-9a-z]{5,12}$/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Password must be alphanumeric (@, _ and - are also allowed) and be 8 - 20 characters</a:t>
            </a:r>
          </a:p>
          <a:p>
            <a:pPr lvl="1"/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/^[0-9a-z@-_]{8,20}$/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Email must be a valid address, e.g.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me@mydomain.com {.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/^([a-z0-9\.-]+)@([a-z0-9-]+)\.([a-z]{2,8})(\.[a-z]{2,8})?$/</a:t>
            </a:r>
          </a:p>
          <a:p>
            <a:pPr lvl="1"/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me@mydomain.com {.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uk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0" lvl="1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4A0F27-170D-492C-B8D1-2BCE9A42FBCF}"/>
              </a:ext>
            </a:extLst>
          </p:cNvPr>
          <p:cNvSpPr/>
          <p:nvPr/>
        </p:nvSpPr>
        <p:spPr>
          <a:xfrm>
            <a:off x="685800" y="4876800"/>
            <a:ext cx="7848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For testing regular expressions, use the following URL,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https://regex101.com/r/CmSol8/1/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916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FA498-35FD-4477-8F01-E0916241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267"/>
            <a:ext cx="8229600" cy="55763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Format Validation – Example </a:t>
            </a:r>
          </a:p>
        </p:txBody>
      </p:sp>
      <p:pic>
        <p:nvPicPr>
          <p:cNvPr id="1026" name="Picture 2" descr="editing your slug in WordPress">
            <a:extLst>
              <a:ext uri="{FF2B5EF4-FFF2-40B4-BE49-F238E27FC236}">
                <a16:creationId xmlns:a16="http://schemas.microsoft.com/office/drawing/2014/main" id="{1024FCC1-6110-48E2-991D-601670ABFE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" r="12763" b="5220"/>
          <a:stretch/>
        </p:blipFill>
        <p:spPr bwMode="auto">
          <a:xfrm>
            <a:off x="381000" y="5617029"/>
            <a:ext cx="7576335" cy="69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8ACE80-8774-4099-B451-01AF7E8B5A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00" t="12964" r="29166" b="26296"/>
          <a:stretch/>
        </p:blipFill>
        <p:spPr>
          <a:xfrm>
            <a:off x="397514" y="1254124"/>
            <a:ext cx="4238471" cy="3546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B9387F-0ACE-405E-82A3-078B59DAA1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00" t="12963" r="29166" b="23333"/>
          <a:stretch/>
        </p:blipFill>
        <p:spPr>
          <a:xfrm>
            <a:off x="4709598" y="1295400"/>
            <a:ext cx="3901002" cy="342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24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5859-367D-4F2F-B400-D77268DA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Data Format Validation – Example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59171-4FBE-416E-BBC1-0910733231CE}"/>
              </a:ext>
            </a:extLst>
          </p:cNvPr>
          <p:cNvSpPr txBox="1"/>
          <p:nvPr/>
        </p:nvSpPr>
        <p:spPr>
          <a:xfrm>
            <a:off x="228600" y="712113"/>
            <a:ext cx="167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HTML 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2B06B1-7400-4D26-8787-22F8E20FBA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67" t="27377" r="19167" b="29660"/>
          <a:stretch/>
        </p:blipFill>
        <p:spPr>
          <a:xfrm>
            <a:off x="0" y="1130157"/>
            <a:ext cx="9144000" cy="3314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01AF3B-8C0E-49AB-8975-6088CF2956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000" t="12964" r="29166" b="26296"/>
          <a:stretch/>
        </p:blipFill>
        <p:spPr>
          <a:xfrm>
            <a:off x="2819400" y="4444939"/>
            <a:ext cx="2701863" cy="22607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0D33A8-8FEF-4B76-8651-C7384F033CE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0000" t="12963" r="29166" b="23333"/>
          <a:stretch/>
        </p:blipFill>
        <p:spPr>
          <a:xfrm>
            <a:off x="6324600" y="4410777"/>
            <a:ext cx="2701863" cy="237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37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4D8A-9E1D-4129-A22F-F0AE6972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Format Validation – Example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582F6-E65A-4152-9D87-17DAFB930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/>
          <a:lstStyle/>
          <a:p>
            <a:r>
              <a:rPr lang="en-US" b="1" u="sng" dirty="0"/>
              <a:t>Validation.js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195B66-962E-4E74-9F39-A33C75F414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67" t="15926" r="36666" b="45052"/>
          <a:stretch/>
        </p:blipFill>
        <p:spPr>
          <a:xfrm>
            <a:off x="-856" y="1876006"/>
            <a:ext cx="8994747" cy="40155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70AC65-5F2F-45B9-9917-E1D86193F8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00" t="12963" r="29166" b="23333"/>
          <a:stretch/>
        </p:blipFill>
        <p:spPr>
          <a:xfrm>
            <a:off x="5749278" y="3871499"/>
            <a:ext cx="3318522" cy="291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1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E6467-6DBE-4D60-BFBF-4965093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>
            <a:normAutofit/>
          </a:bodyPr>
          <a:lstStyle/>
          <a:p>
            <a:r>
              <a:rPr lang="en-US" sz="4000" dirty="0"/>
              <a:t>Summary of Today’s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3E03-D5C6-44E8-A294-B2BF96078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sz="2200" dirty="0"/>
              <a:t>HTML Form Validation</a:t>
            </a:r>
          </a:p>
          <a:p>
            <a:r>
              <a:rPr lang="en-US" sz="2200" dirty="0"/>
              <a:t>Client-side vs server-side Validation</a:t>
            </a:r>
          </a:p>
          <a:p>
            <a:r>
              <a:rPr lang="en-US" sz="2200" dirty="0"/>
              <a:t>Client-side validation approaches</a:t>
            </a:r>
          </a:p>
          <a:p>
            <a:pPr lvl="1"/>
            <a:r>
              <a:rPr lang="en-US" sz="1800" dirty="0"/>
              <a:t>HTML Built-in Form Validation</a:t>
            </a:r>
          </a:p>
          <a:p>
            <a:pPr lvl="1"/>
            <a:r>
              <a:rPr lang="en-US" sz="1800" dirty="0"/>
              <a:t>JavaScript based Validation</a:t>
            </a:r>
          </a:p>
          <a:p>
            <a:endParaRPr lang="en-US" sz="2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444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Chapter 12 from </a:t>
            </a:r>
            <a:r>
              <a:rPr lang="en-US" sz="2200" i="1" dirty="0"/>
              <a:t>Beginning HTML, XHTML, CSS and JavaScript </a:t>
            </a:r>
            <a:r>
              <a:rPr lang="en-US" sz="2200" dirty="0"/>
              <a:t>By John Duckett(4</a:t>
            </a:r>
            <a:r>
              <a:rPr lang="en-US" sz="2200" baseline="30000" dirty="0"/>
              <a:t>th</a:t>
            </a:r>
            <a:r>
              <a:rPr lang="en-US" sz="2200" dirty="0"/>
              <a:t> Edition)</a:t>
            </a:r>
          </a:p>
          <a:p>
            <a:r>
              <a:rPr lang="en-US" sz="2200" dirty="0">
                <a:hlinkClick r:id="rId2"/>
              </a:rPr>
              <a:t>https://www.tutorialrepublic.com/javascript-tutorial/javascript-form-validation.php</a:t>
            </a:r>
            <a:endParaRPr lang="en-US" sz="2200" dirty="0"/>
          </a:p>
          <a:p>
            <a:r>
              <a:rPr lang="en-US" sz="2200" dirty="0">
                <a:hlinkClick r:id="rId3"/>
              </a:rPr>
              <a:t>https://developer.mozilla.org/en-US/docs/Learn/Forms/Form_validation</a:t>
            </a:r>
            <a:endParaRPr lang="en-US" sz="2200" dirty="0"/>
          </a:p>
          <a:p>
            <a:r>
              <a:rPr lang="en-US" sz="2200" dirty="0">
                <a:hlinkClick r:id="rId4"/>
              </a:rPr>
              <a:t>https://www.w3schools.com/js/js_validation.asp</a:t>
            </a:r>
            <a:endParaRPr lang="en-US" sz="2200" dirty="0"/>
          </a:p>
          <a:p>
            <a:r>
              <a:rPr lang="en-US" sz="2200" dirty="0">
                <a:hlinkClick r:id="rId5"/>
              </a:rPr>
              <a:t>https://www.w3schools.com/js/js_validation_api.asp</a:t>
            </a:r>
            <a:endParaRPr lang="en-US" sz="2200" dirty="0"/>
          </a:p>
          <a:p>
            <a:r>
              <a:rPr lang="en-US" sz="2200" dirty="0">
                <a:hlinkClick r:id="rId6"/>
              </a:rPr>
              <a:t>https://developer.mozilla.org/en-US/docs/Web/Guide/HTML/HTML5/Constraint_validation</a:t>
            </a:r>
            <a:endParaRPr lang="en-US" sz="2200" dirty="0"/>
          </a:p>
          <a:p>
            <a:r>
              <a:rPr lang="en-US" sz="2200" dirty="0">
                <a:hlinkClick r:id="rId7"/>
              </a:rPr>
              <a:t>https://jqueryvalidation.org/</a:t>
            </a:r>
            <a:endParaRPr lang="en-US" sz="2200" dirty="0"/>
          </a:p>
          <a:p>
            <a:endParaRPr lang="en-US" sz="22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F0D192E966F94487F6C741852DFD8F" ma:contentTypeVersion="6" ma:contentTypeDescription="Create a new document." ma:contentTypeScope="" ma:versionID="6a21985dd82ab4ade60bfdfeaabc8bdb">
  <xsd:schema xmlns:xsd="http://www.w3.org/2001/XMLSchema" xmlns:xs="http://www.w3.org/2001/XMLSchema" xmlns:p="http://schemas.microsoft.com/office/2006/metadata/properties" xmlns:ns2="efc92e9a-8d31-4bd7-b912-b0ed9b710ad4" targetNamespace="http://schemas.microsoft.com/office/2006/metadata/properties" ma:root="true" ma:fieldsID="1e09f2a7db16dd3a84b054fdcde6beac" ns2:_="">
    <xsd:import namespace="efc92e9a-8d31-4bd7-b912-b0ed9b710a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92e9a-8d31-4bd7-b912-b0ed9b710a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2CF09B-B29E-44C0-B77C-DCC41791422A}"/>
</file>

<file path=customXml/itemProps2.xml><?xml version="1.0" encoding="utf-8"?>
<ds:datastoreItem xmlns:ds="http://schemas.openxmlformats.org/officeDocument/2006/customXml" ds:itemID="{E77ED1E7-0F44-45C3-87C9-EE91184327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DD0C836-BAD2-4869-9291-1E86A83D575F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9a10b91-c0c4-47ee-ba7a-114d11d475a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14598</TotalTime>
  <Words>1048</Words>
  <Application>Microsoft Office PowerPoint</Application>
  <PresentationFormat>On-screen Show (4:3)</PresentationFormat>
  <Paragraphs>127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Office Theme</vt:lpstr>
      <vt:lpstr>Web Technologies</vt:lpstr>
      <vt:lpstr>Summary of Today’s Lecture</vt:lpstr>
      <vt:lpstr>HTML Form Validation</vt:lpstr>
      <vt:lpstr>Different types of client-side validation</vt:lpstr>
      <vt:lpstr>Built-in form validation – the required attribute</vt:lpstr>
      <vt:lpstr>Built-in form validation – the min &amp; max attributes</vt:lpstr>
      <vt:lpstr>Built-in form validation – the pattern attribute</vt:lpstr>
      <vt:lpstr>Built-in form validation – the type attribute</vt:lpstr>
      <vt:lpstr>Built-in form validation  (Validation-related Attributes)</vt:lpstr>
      <vt:lpstr>Built-in form validation - Controlling the look of elements (CSS Pseudo-class Selectors)</vt:lpstr>
      <vt:lpstr>Validating forms using JavaScript</vt:lpstr>
      <vt:lpstr>Basic Data Validation – Example </vt:lpstr>
      <vt:lpstr>PowerPoint Presentation</vt:lpstr>
      <vt:lpstr>PowerPoint Presentation</vt:lpstr>
      <vt:lpstr>Regular Expressions</vt:lpstr>
      <vt:lpstr>Regular Expression Properties/ Methods</vt:lpstr>
      <vt:lpstr>test()method</vt:lpstr>
      <vt:lpstr>Regular Expression Patterns</vt:lpstr>
      <vt:lpstr>Regular Expression Quantifiers</vt:lpstr>
      <vt:lpstr>Regular Expression Examples</vt:lpstr>
      <vt:lpstr>Data Format Validation – Example </vt:lpstr>
      <vt:lpstr>Data Format Validation – Example </vt:lpstr>
      <vt:lpstr>Data Format Validation – Example </vt:lpstr>
      <vt:lpstr>Summary of Today’s Lecture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Engineering</dc:title>
  <dc:creator>Administrator</dc:creator>
  <cp:lastModifiedBy>Administrator</cp:lastModifiedBy>
  <cp:revision>280</cp:revision>
  <dcterms:created xsi:type="dcterms:W3CDTF">2006-08-16T00:00:00Z</dcterms:created>
  <dcterms:modified xsi:type="dcterms:W3CDTF">2021-05-23T15:19:05Z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0x010100D8F0D192E966F94487F6C741852DFD8F</vt:lpwstr>
  </property>
</Properties>
</file>