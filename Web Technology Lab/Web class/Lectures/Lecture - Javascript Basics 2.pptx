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sldIdLst>
    <p:sldId id="267" r:id="rId5"/>
    <p:sldId id="315" r:id="rId6"/>
    <p:sldId id="268" r:id="rId7"/>
    <p:sldId id="287" r:id="rId8"/>
    <p:sldId id="289" r:id="rId9"/>
    <p:sldId id="269" r:id="rId10"/>
    <p:sldId id="290" r:id="rId11"/>
    <p:sldId id="271" r:id="rId12"/>
    <p:sldId id="277" r:id="rId13"/>
    <p:sldId id="318" r:id="rId14"/>
    <p:sldId id="321" r:id="rId15"/>
    <p:sldId id="322" r:id="rId16"/>
    <p:sldId id="297" r:id="rId17"/>
    <p:sldId id="298" r:id="rId18"/>
    <p:sldId id="306" r:id="rId19"/>
    <p:sldId id="308" r:id="rId20"/>
    <p:sldId id="319" r:id="rId21"/>
    <p:sldId id="320" r:id="rId22"/>
    <p:sldId id="259" r:id="rId23"/>
    <p:sldId id="323" r:id="rId24"/>
    <p:sldId id="317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6-22T09:02:32.0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21784 2011 0,'0'17'63,"0"-34"-32</inkml:trace>
  <inkml:trace contextRef="#ctx0" brushRef="#br0" timeOffset="546.53">21767 1676 0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63A455-1CCD-4503-96ED-4F3401E49A69}" type="datetimeFigureOut">
              <a:rPr lang="en-US" smtClean="0"/>
              <a:t>4/29/2021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45B46-355F-47B0-9DDB-86C85D5EB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889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B45B46-355F-47B0-9DDB-86C85D5EBE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644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45B46-355F-47B0-9DDB-86C85D5EBE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65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A1CB-A723-4432-9E93-9A1802467888}" type="datetimeFigureOut">
              <a:rPr lang="en-US" smtClean="0"/>
              <a:pPr/>
              <a:t>4/29/2021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882F-0F78-4193-81E3-1A5EFC70AF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A1CB-A723-4432-9E93-9A1802467888}" type="datetimeFigureOut">
              <a:rPr lang="en-US" smtClean="0"/>
              <a:pPr/>
              <a:t>4/29/2021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882F-0F78-4193-81E3-1A5EFC70AF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A1CB-A723-4432-9E93-9A1802467888}" type="datetimeFigureOut">
              <a:rPr lang="en-US" smtClean="0"/>
              <a:pPr/>
              <a:t>4/29/2021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882F-0F78-4193-81E3-1A5EFC70AF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A1CB-A723-4432-9E93-9A1802467888}" type="datetimeFigureOut">
              <a:rPr lang="en-US" smtClean="0"/>
              <a:pPr/>
              <a:t>4/29/2021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882F-0F78-4193-81E3-1A5EFC70AF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A1CB-A723-4432-9E93-9A1802467888}" type="datetimeFigureOut">
              <a:rPr lang="en-US" smtClean="0"/>
              <a:pPr/>
              <a:t>4/29/2021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882F-0F78-4193-81E3-1A5EFC70AF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A1CB-A723-4432-9E93-9A1802467888}" type="datetimeFigureOut">
              <a:rPr lang="en-US" smtClean="0"/>
              <a:pPr/>
              <a:t>4/29/2021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882F-0F78-4193-81E3-1A5EFC70AF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A1CB-A723-4432-9E93-9A1802467888}" type="datetimeFigureOut">
              <a:rPr lang="en-US" smtClean="0"/>
              <a:pPr/>
              <a:t>4/29/2021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882F-0F78-4193-81E3-1A5EFC70AF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A1CB-A723-4432-9E93-9A1802467888}" type="datetimeFigureOut">
              <a:rPr lang="en-US" smtClean="0"/>
              <a:pPr/>
              <a:t>4/29/2021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882F-0F78-4193-81E3-1A5EFC70AF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A1CB-A723-4432-9E93-9A1802467888}" type="datetimeFigureOut">
              <a:rPr lang="en-US" smtClean="0"/>
              <a:pPr/>
              <a:t>4/29/2021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882F-0F78-4193-81E3-1A5EFC70AF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A1CB-A723-4432-9E93-9A1802467888}" type="datetimeFigureOut">
              <a:rPr lang="en-US" smtClean="0"/>
              <a:pPr/>
              <a:t>4/29/2021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882F-0F78-4193-81E3-1A5EFC70AF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A1CB-A723-4432-9E93-9A1802467888}" type="datetimeFigureOut">
              <a:rPr lang="en-US" smtClean="0"/>
              <a:pPr/>
              <a:t>4/29/2021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882F-0F78-4193-81E3-1A5EFC70AF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DA1CB-A723-4432-9E93-9A1802467888}" type="datetimeFigureOut">
              <a:rPr lang="en-US" smtClean="0"/>
              <a:pPr/>
              <a:t>4/29/2021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4882F-0F78-4193-81E3-1A5EFC70AF9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w3schools.com/js/js_switch.asp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ref/jsref_forin.asp" TargetMode="External"/><Relationship Id="rId2" Type="http://schemas.openxmlformats.org/officeDocument/2006/relationships/hyperlink" Target="https://www.w3schools.com/js/js_loop_for.as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js/js_loop_while.asp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js/js_arrow_function.as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tutorialrepublic.com/javascript-tutorial/javascript-functions.php#parameter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w3schools.com/js/js_classes.asp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w3schools.com/js/js_errors.as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image" Target="../media/image1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js_best_practices.asp" TargetMode="External"/><Relationship Id="rId2" Type="http://schemas.openxmlformats.org/officeDocument/2006/relationships/hyperlink" Target="https://www.w3schools.com/js/js_array_sort.asp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tutorialrepublic.com/javascript-tutorial/javascript-es6-features.php" TargetMode="External"/><Relationship Id="rId4" Type="http://schemas.openxmlformats.org/officeDocument/2006/relationships/hyperlink" Target="https://www.w3schools.com/js/js_errors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Web Technologies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JS Basics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E6467-6DBE-4D60-BFBF-49650932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Summary of Today’s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93E03-D5C6-44E8-A294-B2BF96078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91200"/>
          </a:xfrm>
        </p:spPr>
        <p:txBody>
          <a:bodyPr>
            <a:normAutofit/>
          </a:bodyPr>
          <a:lstStyle/>
          <a:p>
            <a:r>
              <a:rPr lang="en-US" sz="2200" dirty="0"/>
              <a:t>Conditional Statements</a:t>
            </a:r>
          </a:p>
          <a:p>
            <a:r>
              <a:rPr lang="en-US" sz="2200" dirty="0"/>
              <a:t>Switch Statements</a:t>
            </a:r>
          </a:p>
          <a:p>
            <a:r>
              <a:rPr lang="en-US" sz="2200" dirty="0"/>
              <a:t>Loops</a:t>
            </a:r>
          </a:p>
          <a:p>
            <a:r>
              <a:rPr lang="en-US" sz="2200" dirty="0"/>
              <a:t>Functions</a:t>
            </a:r>
          </a:p>
          <a:p>
            <a:r>
              <a:rPr lang="en-US" sz="2200" dirty="0"/>
              <a:t>Arrow Functions (ES6)</a:t>
            </a:r>
          </a:p>
          <a:p>
            <a:r>
              <a:rPr lang="en-US" sz="2200" dirty="0"/>
              <a:t>Default Parameter Values (ES6)</a:t>
            </a:r>
          </a:p>
          <a:p>
            <a:r>
              <a:rPr lang="en-US" sz="2200" dirty="0"/>
              <a:t>Rest Parameter (ES6)</a:t>
            </a:r>
          </a:p>
          <a:p>
            <a:r>
              <a:rPr lang="en-US" sz="2200" dirty="0"/>
              <a:t>Spread Parameter (ES6)</a:t>
            </a:r>
          </a:p>
          <a:p>
            <a:r>
              <a:rPr lang="en-US" sz="2200" dirty="0"/>
              <a:t>JavaScript Classes (ES6)</a:t>
            </a:r>
          </a:p>
          <a:p>
            <a:r>
              <a:rPr lang="en-US" sz="2200" dirty="0"/>
              <a:t>Error Handling</a:t>
            </a:r>
          </a:p>
          <a:p>
            <a:r>
              <a:rPr lang="en-US" sz="2200" dirty="0"/>
              <a:t>Template Literal (ES6)</a:t>
            </a:r>
          </a:p>
          <a:p>
            <a:r>
              <a:rPr lang="en-US" sz="2200" dirty="0"/>
              <a:t>Comments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128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Conditional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912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Conditional statements are used to perform different actions based on different conditions.</a:t>
            </a:r>
          </a:p>
          <a:p>
            <a:r>
              <a:rPr lang="en-US" dirty="0"/>
              <a:t>In JavaScript we have the following conditional statements:</a:t>
            </a:r>
          </a:p>
          <a:p>
            <a:pPr lvl="1"/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/>
              <a:t> to specify a block of code to be executed, if a specified condition is true</a:t>
            </a:r>
          </a:p>
          <a:p>
            <a:pPr lvl="1"/>
            <a:r>
              <a:rPr lang="en-US" dirty="0"/>
              <a:t>Use 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dirty="0"/>
              <a:t> to specify a block of code to be executed, if the same condition is false</a:t>
            </a:r>
          </a:p>
          <a:p>
            <a:pPr lvl="1"/>
            <a:r>
              <a:rPr lang="en-US" dirty="0"/>
              <a:t>Use 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dirty="0"/>
              <a:t> to specify a new condition to test, if the first condition is false</a:t>
            </a:r>
          </a:p>
          <a:p>
            <a:pPr lvl="1"/>
            <a:r>
              <a:rPr lang="en-US" dirty="0"/>
              <a:t>Use 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dirty="0"/>
              <a:t> to specify many alternative blocks of code to be executed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if( true ) {</a:t>
            </a:r>
          </a:p>
          <a:p>
            <a:pPr marL="342900" lvl="2" indent="-342900"/>
            <a:r>
              <a:rPr lang="en-US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// Do something.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3300" dirty="0"/>
              <a:t>Here is a simple example using the array</a:t>
            </a:r>
          </a:p>
          <a:p>
            <a:pPr marL="742950" lvl="2" indent="-342900"/>
            <a:r>
              <a:rPr lang="en-US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foo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= [5, "five", "5"];</a:t>
            </a:r>
          </a:p>
          <a:p>
            <a:pPr marL="742950" lvl="2" indent="-342900"/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if( foo[1] === "five" ) {</a:t>
            </a:r>
          </a:p>
          <a:p>
            <a:pPr marL="742950" lvl="2" indent="-342900"/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alert("This is the word five, written in plain English.");</a:t>
            </a:r>
          </a:p>
          <a:p>
            <a:pPr marL="742950" lvl="2" indent="-342900"/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742950" lvl="2" indent="-342900"/>
            <a:r>
              <a:rPr lang="en-US" sz="3000" dirty="0"/>
              <a:t>In this case, the alert would fire because the foo variable with an index of 1 (the second in the list) is identical to “five”.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2D1E-AEBA-4CED-8523-BF6A6DA06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99D14-F7C0-495B-AD51-CAF9287B9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334000"/>
          </a:xfrm>
        </p:spPr>
        <p:txBody>
          <a:bodyPr>
            <a:normAutofit fontScale="92500" lnSpcReduction="20000"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sz="2400" dirty="0"/>
              <a:t>Use the else statement to specify a block of code to be executed if the condition is false.</a:t>
            </a:r>
          </a:p>
          <a:p>
            <a:pPr marL="742950" lvl="2" indent="-342900"/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var test = "testing";</a:t>
            </a:r>
          </a:p>
          <a:p>
            <a:pPr marL="400050" lvl="2" indent="0">
              <a:buNone/>
            </a:pP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	if( test == "testing" ) {</a:t>
            </a:r>
          </a:p>
          <a:p>
            <a:pPr marL="457200" lvl="3" indent="0">
              <a:buNone/>
            </a:pP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		alert( "You haven't changed anything." );</a:t>
            </a:r>
          </a:p>
          <a:p>
            <a:pPr marL="400050" lvl="2" indent="0">
              <a:buNone/>
            </a:pP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	} else {</a:t>
            </a:r>
          </a:p>
          <a:p>
            <a:pPr marL="457200" lvl="3" indent="0">
              <a:buNone/>
            </a:pP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	alert( "You've changed something!" );</a:t>
            </a:r>
          </a:p>
          <a:p>
            <a:pPr marL="400050" lvl="2" indent="0">
              <a:buNone/>
            </a:pP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400" dirty="0"/>
              <a:t>Use the else if statement to specify a new condition if the first condition is false.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var greeting;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var time = new Date().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getHours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742950" lvl="2" indent="-342900"/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if (time &lt; 10) {</a:t>
            </a:r>
            <a:b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  greeting = "Good morning";</a:t>
            </a:r>
            <a:b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} else if (time &lt; 20) {</a:t>
            </a:r>
            <a:b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  greeting = "Good day";</a:t>
            </a:r>
            <a:b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} else {</a:t>
            </a:r>
            <a:b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  greeting = "Good evening";</a:t>
            </a:r>
            <a:b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247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2D1E-AEBA-4CED-8523-BF6A6DA06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>
                <a:hlinkClick r:id="rId2"/>
              </a:rPr>
              <a:t>Switch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99D14-F7C0-495B-AD51-CAF9287B9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3685639"/>
          </a:xfrm>
        </p:spPr>
        <p:txBody>
          <a:bodyPr>
            <a:normAutofit fontScale="92500" lnSpcReduction="10000"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sz="2400" dirty="0"/>
              <a:t>Use the switch statement to select one of many code blocks to be executed.</a:t>
            </a:r>
          </a:p>
          <a:p>
            <a:pPr marL="742950" lvl="2" indent="-342900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switch(</a:t>
            </a:r>
            <a:r>
              <a:rPr 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expression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  case </a:t>
            </a:r>
            <a:r>
              <a:rPr 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// code block</a:t>
            </a:r>
            <a:br>
              <a:rPr 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break;</a:t>
            </a:r>
            <a:b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  case </a:t>
            </a:r>
            <a:r>
              <a:rPr 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// code block</a:t>
            </a:r>
            <a:br>
              <a:rPr 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break;</a:t>
            </a:r>
            <a:b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  default:</a:t>
            </a:r>
            <a:b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    // </a:t>
            </a:r>
            <a:r>
              <a:rPr 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code block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342900" lvl="1" indent="-342900"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C28961-DC50-4AA6-B2F9-366ECA117E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167" t="17408" r="36666" b="7037"/>
          <a:stretch/>
        </p:blipFill>
        <p:spPr>
          <a:xfrm>
            <a:off x="4588655" y="990600"/>
            <a:ext cx="4276165" cy="4114800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53F0AE4D-17EB-4CC1-9702-958251378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3328" y="5311170"/>
            <a:ext cx="4572000" cy="1569660"/>
          </a:xfrm>
          <a:prstGeom prst="rect">
            <a:avLst/>
          </a:prstGeom>
          <a:solidFill>
            <a:srgbClr val="F1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getDay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method returns the weekday as a number between 0 and 6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(Sunday=0, Monday=1, Tuesday=2 ..)</a:t>
            </a:r>
            <a:endParaRPr lang="en-US" altLang="en-US" sz="16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This example uses the weekday number to calculate the weekday name: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5FCF61-F520-4B45-B50F-F26FD15D6FB7}"/>
              </a:ext>
            </a:extLst>
          </p:cNvPr>
          <p:cNvSpPr/>
          <p:nvPr/>
        </p:nvSpPr>
        <p:spPr>
          <a:xfrm>
            <a:off x="76200" y="4114800"/>
            <a:ext cx="4477128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This is how it works: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The switch expression is evaluated once.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The value of the expression is compared with the values of each case.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If there is a match, the associated block of code is executed.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there is no match, the default code block is executed.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024642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>
                <a:hlinkClick r:id="rId2"/>
              </a:rPr>
              <a:t>Loops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15962"/>
            <a:ext cx="8229600" cy="598963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There are cases in which we’ll want to go through every item in an array and do something with it.</a:t>
            </a:r>
          </a:p>
          <a:p>
            <a:r>
              <a:rPr lang="en-US" dirty="0"/>
              <a:t>JavaScript supports different kinds of loops: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for</a:t>
            </a:r>
            <a:r>
              <a:rPr lang="en-US" dirty="0"/>
              <a:t> - loops through a block of code a number of times</a:t>
            </a:r>
          </a:p>
          <a:p>
            <a:pPr lvl="1"/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for/in </a:t>
            </a:r>
            <a:r>
              <a:rPr lang="en-US" dirty="0"/>
              <a:t>- loops through the properties of an object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x in person</a:t>
            </a:r>
            <a:r>
              <a:rPr lang="en-US" dirty="0"/>
              <a:t>)</a:t>
            </a:r>
          </a:p>
          <a:p>
            <a:pPr lvl="1"/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  <a:hlinkClick r:id="rId4"/>
              </a:rPr>
              <a:t>while</a:t>
            </a:r>
            <a:r>
              <a:rPr lang="en-US" dirty="0"/>
              <a:t> - loops through a block of code while a specified condition is true</a:t>
            </a:r>
          </a:p>
          <a:p>
            <a:pPr lvl="1"/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  <a:hlinkClick r:id="rId4"/>
              </a:rPr>
              <a:t>do/while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- also loops through a block of code while a specified condition is true.</a:t>
            </a:r>
          </a:p>
          <a:p>
            <a:r>
              <a:rPr lang="en-US" b="1" dirty="0"/>
              <a:t>for method is one of the most </a:t>
            </a:r>
            <a:r>
              <a:rPr lang="en-US" dirty="0"/>
              <a:t>popular. The basic structure of a </a:t>
            </a:r>
            <a:r>
              <a:rPr lang="en-US" b="1" dirty="0"/>
              <a:t>for loop is as follows: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US" sz="2100" i="1" dirty="0">
                <a:latin typeface="Courier New" panose="02070309020205020404" pitchFamily="49" charset="0"/>
                <a:cs typeface="Courier New" panose="02070309020205020404" pitchFamily="49" charset="0"/>
              </a:rPr>
              <a:t>initialize the variable; test the condition; alter the value;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do something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/>
              <a:t>Here is an example of a </a:t>
            </a:r>
            <a:r>
              <a:rPr lang="en-US" b="1" dirty="0"/>
              <a:t>for loop in action.</a:t>
            </a:r>
          </a:p>
          <a:p>
            <a:pPr lvl="1"/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for( var i = 0; i &lt;= 2; i++ ) {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alert(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); // This loop will trigger three alerts, reading "0", "1“, and "2" respectively.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86465-CEBA-4028-8D18-662BE32B0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 lnSpcReduction="10000"/>
          </a:bodyPr>
          <a:lstStyle/>
          <a:p>
            <a:r>
              <a:rPr lang="en-US" sz="2200" dirty="0"/>
              <a:t>To “check each item in an array” we write a loop to do that for us?</a:t>
            </a:r>
          </a:p>
          <a:p>
            <a:pPr lvl="1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var items = ["foo", "bar", "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baz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"]; // First we create an array.</a:t>
            </a:r>
          </a:p>
          <a:p>
            <a:pPr lvl="1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for( var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items.length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++ ) {</a:t>
            </a:r>
          </a:p>
          <a:p>
            <a:pPr lvl="2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alert( items[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] ); // This will alert each item in the array.</a:t>
            </a:r>
          </a:p>
          <a:p>
            <a:pPr lvl="1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2200" b="1" dirty="0" err="1"/>
              <a:t>items.length</a:t>
            </a:r>
            <a:endParaRPr lang="en-US" sz="2200" b="1" dirty="0"/>
          </a:p>
          <a:p>
            <a:pPr lvl="1"/>
            <a:r>
              <a:rPr lang="en-US" sz="2200" dirty="0"/>
              <a:t>Instead of using a number to limit the number of times the loop runs, we’re using a property built right into JavaScript to determine the “length” of our array, which is the number of items it contains. </a:t>
            </a:r>
            <a:endParaRPr lang="en-US" sz="2200" b="1" dirty="0"/>
          </a:p>
          <a:p>
            <a:r>
              <a:rPr lang="en-US" sz="2200" b="1" dirty="0"/>
              <a:t>items[</a:t>
            </a:r>
            <a:r>
              <a:rPr lang="en-US" sz="2200" b="1" dirty="0" err="1"/>
              <a:t>i</a:t>
            </a:r>
            <a:r>
              <a:rPr lang="en-US" sz="2200" b="1" dirty="0"/>
              <a:t>]</a:t>
            </a:r>
          </a:p>
          <a:p>
            <a:pPr lvl="1"/>
            <a:r>
              <a:rPr lang="en-US" sz="2200" dirty="0"/>
              <a:t>We can use </a:t>
            </a:r>
            <a:r>
              <a:rPr lang="en-US" sz="2200" b="1" dirty="0" err="1"/>
              <a:t>i</a:t>
            </a:r>
            <a:r>
              <a:rPr lang="en-US" sz="2200" b="1" dirty="0"/>
              <a:t> variable inside of the </a:t>
            </a:r>
            <a:r>
              <a:rPr lang="en-US" sz="2200" dirty="0"/>
              <a:t>loop to reference each index of the array. 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6751100-5DA6-4607-8E78-4DF2197BD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Loop over Array</a:t>
            </a:r>
          </a:p>
        </p:txBody>
      </p:sp>
    </p:spTree>
    <p:extLst>
      <p:ext uri="{BB962C8B-B14F-4D97-AF65-F5344CB8AC3E}">
        <p14:creationId xmlns:p14="http://schemas.microsoft.com/office/powerpoint/2010/main" val="3001769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Custom Functions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4343400"/>
            <a:ext cx="7193952" cy="2433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8C16DD-E656-453C-A8F6-92EC41F8A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36576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 JavaScript function is a block of code designed to perform a particular task.</a:t>
            </a:r>
          </a:p>
          <a:p>
            <a:r>
              <a:rPr lang="en-US" dirty="0"/>
              <a:t>A function is a bit of code that doesn’t run until it is referenced or called.</a:t>
            </a:r>
          </a:p>
          <a:p>
            <a:r>
              <a:rPr lang="en-US" dirty="0"/>
              <a:t>A JavaScript function is defined with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US" dirty="0"/>
              <a:t> keyword, followed by a name, followed by parentheses ().</a:t>
            </a:r>
          </a:p>
          <a:p>
            <a:r>
              <a:rPr lang="en-US" dirty="0"/>
              <a:t>Function names can contain letters, digits, underscores, and dollar signs (same rules as variables).</a:t>
            </a:r>
          </a:p>
          <a:p>
            <a:r>
              <a:rPr lang="en-US" dirty="0"/>
              <a:t>Inside the function, the arguments (the parameters) behave as local variables.</a:t>
            </a:r>
          </a:p>
          <a:p>
            <a:r>
              <a:rPr lang="en-US" dirty="0"/>
              <a:t>When JavaScript reaches a return statement, the function will stop executing.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>
                <a:hlinkClick r:id="rId2"/>
              </a:rPr>
              <a:t>Arrow Function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1858458"/>
          </a:xfrm>
        </p:spPr>
        <p:txBody>
          <a:bodyPr>
            <a:normAutofit fontScale="85000" lnSpcReduction="20000"/>
          </a:bodyPr>
          <a:lstStyle/>
          <a:p>
            <a:r>
              <a:rPr lang="en-US" sz="2600" dirty="0"/>
              <a:t>Arrow functions, introduced in ES6, provides a concise way to write functions in JavaScript.</a:t>
            </a:r>
          </a:p>
          <a:p>
            <a:r>
              <a:rPr lang="en-US" sz="2600" dirty="0"/>
              <a:t>They are anonymous functions and are roughly the equivalent of lambda functions in python or blocks in Ruby.</a:t>
            </a:r>
          </a:p>
          <a:p>
            <a:r>
              <a:rPr lang="en-US" sz="2600" dirty="0"/>
              <a:t>Arrow functions are defined using a new syntax, the fat arrow (=&gt;) notation.</a:t>
            </a:r>
          </a:p>
          <a:p>
            <a:endParaRPr lang="en-US" sz="2600" dirty="0"/>
          </a:p>
          <a:p>
            <a:endParaRPr lang="en-US" sz="1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9693A8-60DA-4205-AE9F-1C0945A378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167" t="21852" r="62500" b="57407"/>
          <a:stretch/>
        </p:blipFill>
        <p:spPr>
          <a:xfrm>
            <a:off x="751115" y="2514600"/>
            <a:ext cx="2547257" cy="16209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F5DBDF-B728-4D47-BE1F-8FFCD89CE5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167" t="58889" r="62500" b="23333"/>
          <a:stretch/>
        </p:blipFill>
        <p:spPr>
          <a:xfrm>
            <a:off x="4953000" y="2468058"/>
            <a:ext cx="3056201" cy="16670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88CAE5-509C-4DEC-BEF4-0EA53BC6CD7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167" t="27778" r="52500" b="58889"/>
          <a:stretch/>
        </p:blipFill>
        <p:spPr>
          <a:xfrm>
            <a:off x="622774" y="5713447"/>
            <a:ext cx="3742267" cy="990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AED644-8CC8-4FB5-857E-C1FF8253191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166" t="64815" r="49167" b="23333"/>
          <a:stretch/>
        </p:blipFill>
        <p:spPr>
          <a:xfrm>
            <a:off x="4800600" y="5746364"/>
            <a:ext cx="4194417" cy="88303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168C774-76AD-4276-B147-13838C861AF8}"/>
              </a:ext>
            </a:extLst>
          </p:cNvPr>
          <p:cNvSpPr/>
          <p:nvPr/>
        </p:nvSpPr>
        <p:spPr>
          <a:xfrm>
            <a:off x="4876800" y="4611469"/>
            <a:ext cx="43085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you have only one parameter, you can skip the parentheses as well: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F42689-F6CE-41B6-954F-344678248AB0}"/>
              </a:ext>
            </a:extLst>
          </p:cNvPr>
          <p:cNvSpPr/>
          <p:nvPr/>
        </p:nvSpPr>
        <p:spPr>
          <a:xfrm>
            <a:off x="381000" y="4619237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If you have parameters, you pass them inside the parentheses: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E0941-5077-4A4F-95FC-3B22400AD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4000" dirty="0"/>
              <a:t>Default Values for Function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BD2E4-9B45-481D-B16E-A5C352C5B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137159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In ES6, you can specify default values to the </a:t>
            </a:r>
            <a:r>
              <a:rPr lang="en-US" dirty="0">
                <a:hlinkClick r:id="rId2"/>
              </a:rPr>
              <a:t>function parameters</a:t>
            </a:r>
            <a:r>
              <a:rPr lang="en-US" dirty="0"/>
              <a:t>. </a:t>
            </a:r>
          </a:p>
          <a:p>
            <a:r>
              <a:rPr lang="en-US" dirty="0"/>
              <a:t>This means that if no arguments are provided to function when it is called these default parameters values will be used.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EAC181-0686-4025-A62B-C61CAF9FEE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34" t="41111" r="60000" b="32222"/>
          <a:stretch/>
        </p:blipFill>
        <p:spPr>
          <a:xfrm>
            <a:off x="304800" y="2514600"/>
            <a:ext cx="6519333" cy="26669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2C6FA4-2D73-4744-8B8A-E33A9F23C40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000" t="24814" r="40000" b="67778"/>
          <a:stretch/>
        </p:blipFill>
        <p:spPr>
          <a:xfrm>
            <a:off x="7239000" y="5580896"/>
            <a:ext cx="1752600" cy="730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8657FC-0EDF-47D3-BA7B-D2B8481EF37A}"/>
              </a:ext>
            </a:extLst>
          </p:cNvPr>
          <p:cNvSpPr txBox="1"/>
          <p:nvPr/>
        </p:nvSpPr>
        <p:spPr>
          <a:xfrm>
            <a:off x="7239000" y="5181598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469274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6426B-62D3-4DC5-BCA3-EB8B09CE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The Rest Parameter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97E48-F629-485B-A014-407BCF958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8201"/>
            <a:ext cx="8229600" cy="2590800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ES6 introduces rest parameter that allows us to pass an arbitrary number of parameters to a </a:t>
            </a:r>
            <a:r>
              <a:rPr lang="en-US" dirty="0" smtClean="0"/>
              <a:t>function.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This is particularly helpful in situations when you want to pass parameters to a function, but you have no idea how many you will need.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rest parameter is specified by prefixing a named parameter with rest operator (...) i.e. three dots.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Rest parameter can only be the last one in the list of parameters, and there can only be one rest parameter.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24C7D2-3E93-41DA-9AC6-2001A233B8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33" t="24814" r="42501" b="32223"/>
          <a:stretch/>
        </p:blipFill>
        <p:spPr>
          <a:xfrm>
            <a:off x="914399" y="3124200"/>
            <a:ext cx="768568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102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4B700-055D-42FD-9984-5F947A3DC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Spread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25815-383C-40ED-A747-56C1886C6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1828800"/>
          </a:xfrm>
        </p:spPr>
        <p:txBody>
          <a:bodyPr>
            <a:normAutofit lnSpcReduction="10000"/>
          </a:bodyPr>
          <a:lstStyle/>
          <a:p>
            <a:r>
              <a:rPr lang="en-US" sz="2200" dirty="0"/>
              <a:t>The spread operator, which is also denoted by (...), performs the exact opposite function of the rest operator. </a:t>
            </a:r>
          </a:p>
          <a:p>
            <a:r>
              <a:rPr lang="en-US" sz="2200" dirty="0"/>
              <a:t>The spread operator spreads out (i.e. splits up) an array and passes the values into the specified function, as shown in the following example: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81DEF5-E571-4183-A049-F12620B77E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33" t="24814" r="46667" b="32223"/>
          <a:stretch/>
        </p:blipFill>
        <p:spPr>
          <a:xfrm>
            <a:off x="762000" y="2362200"/>
            <a:ext cx="8190184" cy="395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967E-E24F-441E-8012-5B5284B95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JavaScript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27DF7-B21A-42D3-915D-98AB04EE3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15962"/>
            <a:ext cx="8229600" cy="2255837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Classes were introduced in ES6, also known as ECMAScript2015, .</a:t>
            </a:r>
          </a:p>
          <a:p>
            <a:r>
              <a:rPr lang="en-US" dirty="0"/>
              <a:t>A class is a type of function, but instead of using the keyword function to initiate it, we use the keyword class, and the properties are assigned inside a constructor() method.</a:t>
            </a:r>
          </a:p>
          <a:p>
            <a:r>
              <a:rPr lang="en-US" dirty="0"/>
              <a:t>Use the keyword class to create a class, and always add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constructor()</a:t>
            </a:r>
            <a:r>
              <a:rPr lang="en-US" dirty="0"/>
              <a:t>method.</a:t>
            </a:r>
          </a:p>
          <a:p>
            <a:r>
              <a:rPr lang="en-US" dirty="0"/>
              <a:t>The constructor method is called each time the class object is initialized.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94ABC4-0021-433E-8E52-867E36A323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3" t="33247" r="52500" b="14445"/>
          <a:stretch/>
        </p:blipFill>
        <p:spPr>
          <a:xfrm>
            <a:off x="41953" y="2770301"/>
            <a:ext cx="6483322" cy="40876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4036C6-D2E5-428F-B6B9-71AFB3E6BD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833" t="32222" r="10000" b="52963"/>
          <a:stretch/>
        </p:blipFill>
        <p:spPr>
          <a:xfrm>
            <a:off x="3095295" y="4313238"/>
            <a:ext cx="6034150" cy="1283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189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4E236-7879-42BC-B981-AA5117541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>
                <a:hlinkClick r:id="rId2"/>
              </a:rPr>
              <a:t>Class Inheritance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58EA4-AE68-4388-903A-10109B566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12954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extends keyword is used to create a child class of another class (parent). The child class inherits all the methods from another class.</a:t>
            </a:r>
          </a:p>
          <a:p>
            <a:r>
              <a:rPr lang="en-US" dirty="0"/>
              <a:t>Inheritance is useful for code reusability: reuse properties and methods of an existing class when you create a new class.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A92DF4-4B65-45CE-B3FA-F2F33FB03D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33" t="30741" r="60834" b="14445"/>
          <a:stretch/>
        </p:blipFill>
        <p:spPr>
          <a:xfrm>
            <a:off x="0" y="1874838"/>
            <a:ext cx="6100550" cy="49069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645D02-77B5-40E8-9A00-EB43CC1508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833" t="30741" r="14167" b="48518"/>
          <a:stretch/>
        </p:blipFill>
        <p:spPr>
          <a:xfrm>
            <a:off x="5029200" y="1752600"/>
            <a:ext cx="5867400" cy="1955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499C3BE-4C42-4E37-B807-62735260FF4C}"/>
              </a:ext>
            </a:extLst>
          </p:cNvPr>
          <p:cNvSpPr/>
          <p:nvPr/>
        </p:nvSpPr>
        <p:spPr>
          <a:xfrm>
            <a:off x="5410200" y="3886200"/>
            <a:ext cx="4648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super() method: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super() method refers to the parent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 calling the super() method in the constructor method, we call the parent's constructor method and gets access to the parent's properties and methods.</a:t>
            </a:r>
          </a:p>
        </p:txBody>
      </p:sp>
    </p:spTree>
    <p:extLst>
      <p:ext uri="{BB962C8B-B14F-4D97-AF65-F5344CB8AC3E}">
        <p14:creationId xmlns:p14="http://schemas.microsoft.com/office/powerpoint/2010/main" val="3350654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3242-5CC9-4A8C-B967-C16FAD3E2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hlinkClick r:id="rId2"/>
              </a:rPr>
              <a:t>Javascript Errors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5341B-EF77-4E8E-A1CB-5611BADAA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39763"/>
            <a:ext cx="8229600" cy="24082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When executing JavaScript code, different errors can occur.</a:t>
            </a:r>
          </a:p>
          <a:p>
            <a:r>
              <a:rPr lang="en-US" dirty="0"/>
              <a:t>Errors can be coding errors made by the programmer, errors due to wrong input, and other unforeseeable things.</a:t>
            </a:r>
          </a:p>
          <a:p>
            <a:r>
              <a:rPr lang="en-US" dirty="0"/>
              <a:t>The try statement allows you to define a block of code to be tested for errors while it is being executed.</a:t>
            </a:r>
          </a:p>
          <a:p>
            <a:r>
              <a:rPr lang="en-US" dirty="0"/>
              <a:t>The catch statement allows you to define a block of code to be executed, if an error occurs in the try block.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C4417B-CBE5-41A9-8A9C-2BE6BF5486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33" t="35185" r="59167" b="21852"/>
          <a:stretch/>
        </p:blipFill>
        <p:spPr>
          <a:xfrm>
            <a:off x="0" y="2819401"/>
            <a:ext cx="6432332" cy="3886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6F7A76-329F-4FD3-AC7E-E0E14343CBA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833" t="32222" r="21667" b="52963"/>
          <a:stretch/>
        </p:blipFill>
        <p:spPr>
          <a:xfrm>
            <a:off x="4800600" y="4114801"/>
            <a:ext cx="427482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3242-5CC9-4A8C-B967-C16FAD3E2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Throw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5341B-EF77-4E8E-A1CB-5611BADAA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03237"/>
          </a:xfrm>
        </p:spPr>
        <p:txBody>
          <a:bodyPr>
            <a:normAutofit/>
          </a:bodyPr>
          <a:lstStyle/>
          <a:p>
            <a:r>
              <a:rPr lang="en-US" sz="2200" dirty="0"/>
              <a:t>The throw statement allows us to create a custom error.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15EB87-A45F-46A5-A933-411807E4D035}"/>
              </a:ext>
            </a:extLst>
          </p:cNvPr>
          <p:cNvSpPr/>
          <p:nvPr/>
        </p:nvSpPr>
        <p:spPr>
          <a:xfrm>
            <a:off x="32801" y="5410200"/>
            <a:ext cx="903499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0000"/>
                </a:solidFill>
                <a:latin typeface="Verdana" panose="020B0604030504040204" pitchFamily="34" charset="0"/>
              </a:rPr>
              <a:t>Code Explanation: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This example examines input. If the value is wrong, an exception (err) is thrown.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The exception (err) is caught by the catch statement and a custom error message is displayed.</a:t>
            </a: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465DDDC-3867-4A15-934A-2ED55A01A8A8}"/>
                  </a:ext>
                </a:extLst>
              </p14:cNvPr>
              <p14:cNvContentPartPr/>
              <p14:nvPr/>
            </p14:nvContentPartPr>
            <p14:xfrm>
              <a:off x="7836120" y="603360"/>
              <a:ext cx="6480" cy="127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465DDDC-3867-4A15-934A-2ED55A01A8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26760" y="594000"/>
                <a:ext cx="25200" cy="1458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6"/>
          <a:srcRect l="834" t="29259" r="57083" b="10741"/>
          <a:stretch/>
        </p:blipFill>
        <p:spPr>
          <a:xfrm>
            <a:off x="0" y="967580"/>
            <a:ext cx="5539562" cy="44426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8F3E27-7344-4A72-B9D5-0B0B1EF5263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0833" t="30741" r="28333" b="55926"/>
          <a:stretch/>
        </p:blipFill>
        <p:spPr>
          <a:xfrm>
            <a:off x="4437879" y="3260725"/>
            <a:ext cx="4656667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983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BABE3-1301-4FF2-96A1-D995C30E8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Template Literals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5D741-2107-4B75-83B6-00C90FEA4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2743199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Template literals provide an easy and clean way create </a:t>
            </a:r>
            <a:r>
              <a:rPr lang="en-US" b="1" dirty="0"/>
              <a:t>multi-line strings </a:t>
            </a:r>
            <a:r>
              <a:rPr lang="en-US" dirty="0"/>
              <a:t>and perform </a:t>
            </a:r>
            <a:r>
              <a:rPr lang="en-US" b="1" dirty="0"/>
              <a:t>string interpolation</a:t>
            </a:r>
            <a:r>
              <a:rPr lang="en-US" dirty="0"/>
              <a:t>. Now we can embed variables or expressions into a string at any spot without any hassle.</a:t>
            </a:r>
          </a:p>
          <a:p>
            <a:r>
              <a:rPr lang="en-US" dirty="0"/>
              <a:t>In computer programming, </a:t>
            </a:r>
            <a:r>
              <a:rPr lang="en-US" b="1" dirty="0"/>
              <a:t>string interpolation</a:t>
            </a:r>
            <a:r>
              <a:rPr lang="en-US" dirty="0"/>
              <a:t> (or variable substitution) is the process of evaluating a </a:t>
            </a:r>
            <a:r>
              <a:rPr lang="en-US" b="1" dirty="0"/>
              <a:t>string</a:t>
            </a:r>
            <a:r>
              <a:rPr lang="en-US" dirty="0"/>
              <a:t> literal containing one or more placeholders, yielding a result in which the placeholders are replaced with their corresponding values.</a:t>
            </a:r>
          </a:p>
          <a:p>
            <a:r>
              <a:rPr lang="en-US" dirty="0"/>
              <a:t>Template literals are created using back-tick (` `) (grave accent) character instead of the usual double or single quotes. Variables or expressions can be placed inside the string using the ${...} syntax.</a:t>
            </a:r>
          </a:p>
          <a:p>
            <a:r>
              <a:rPr lang="en-US" dirty="0"/>
              <a:t>An example </a:t>
            </a:r>
            <a:r>
              <a:rPr lang="en-US" b="1" dirty="0"/>
              <a:t>without template literal </a:t>
            </a:r>
            <a:r>
              <a:rPr lang="en-US" dirty="0"/>
              <a:t>is provided below: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403378-3EA2-4AAF-BCBF-84DC264582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33" t="26296" r="31667" b="23333"/>
          <a:stretch/>
        </p:blipFill>
        <p:spPr>
          <a:xfrm>
            <a:off x="533400" y="3276600"/>
            <a:ext cx="8086165" cy="352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21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1EAB4-1C32-40C4-BC50-600630610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Template Literals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CDADE-F810-489F-8324-AA0483A2A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914400"/>
          </a:xfrm>
        </p:spPr>
        <p:txBody>
          <a:bodyPr>
            <a:normAutofit/>
          </a:bodyPr>
          <a:lstStyle/>
          <a:p>
            <a:r>
              <a:rPr lang="en-US" sz="2200" dirty="0"/>
              <a:t>The same example as has been shown in the previous slide is provided using template literal approach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9924B1-36E0-48BB-B62E-9477B524A3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33" t="26296" r="31667" b="27778"/>
          <a:stretch/>
        </p:blipFill>
        <p:spPr>
          <a:xfrm>
            <a:off x="220150" y="2057400"/>
            <a:ext cx="8703700" cy="345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026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JavaScript comments can be used to explain JavaScript code, and to make it more readable.</a:t>
            </a:r>
          </a:p>
          <a:p>
            <a:r>
              <a:rPr lang="en-US" dirty="0"/>
              <a:t>Comments will be ignored at the time the script is executed, so you can leave reminders and explanations throughout your code.</a:t>
            </a:r>
          </a:p>
          <a:p>
            <a:r>
              <a:rPr lang="en-US" dirty="0"/>
              <a:t>There are two methods of using comments. </a:t>
            </a:r>
          </a:p>
          <a:p>
            <a:pPr lvl="1"/>
            <a:r>
              <a:rPr lang="en-US" dirty="0"/>
              <a:t>For single-line comments, use two slash characters (</a:t>
            </a:r>
            <a:r>
              <a:rPr lang="en-US" b="1" dirty="0"/>
              <a:t>//) at the beginning of the line. </a:t>
            </a:r>
          </a:p>
          <a:p>
            <a:pPr lvl="2"/>
            <a:r>
              <a:rPr lang="en-US" dirty="0"/>
              <a:t>// This is a single-line comment.</a:t>
            </a:r>
          </a:p>
          <a:p>
            <a:pPr lvl="1"/>
            <a:r>
              <a:rPr lang="en-US" dirty="0"/>
              <a:t>Multiple-line comments use the same syntax that you’ve seen in CSS.</a:t>
            </a:r>
          </a:p>
          <a:p>
            <a:pPr lvl="1"/>
            <a:r>
              <a:rPr lang="en-US" dirty="0"/>
              <a:t>Everything within the </a:t>
            </a:r>
            <a:r>
              <a:rPr lang="en-US" b="1" dirty="0"/>
              <a:t>/* */ characters is ignored by the browser. </a:t>
            </a:r>
          </a:p>
          <a:p>
            <a:pPr lvl="2"/>
            <a:r>
              <a:rPr lang="en-US" dirty="0"/>
              <a:t>/* This is a multi-line comment.</a:t>
            </a:r>
          </a:p>
          <a:p>
            <a:pPr lvl="3"/>
            <a:r>
              <a:rPr lang="en-US" dirty="0"/>
              <a:t>Anything between these sets of characters will be</a:t>
            </a:r>
          </a:p>
          <a:p>
            <a:pPr lvl="3"/>
            <a:r>
              <a:rPr lang="en-US" dirty="0"/>
              <a:t>completely ignored when the script is executed.</a:t>
            </a:r>
          </a:p>
          <a:p>
            <a:pPr lvl="2"/>
            <a:r>
              <a:rPr lang="en-US" dirty="0"/>
              <a:t>This form of comment needs to be closed. */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E6467-6DBE-4D60-BFBF-49650932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Summary of Today’s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93E03-D5C6-44E8-A294-B2BF96078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91200"/>
          </a:xfrm>
        </p:spPr>
        <p:txBody>
          <a:bodyPr>
            <a:normAutofit/>
          </a:bodyPr>
          <a:lstStyle/>
          <a:p>
            <a:r>
              <a:rPr lang="en-US" sz="2200" dirty="0"/>
              <a:t>Conditional Statements</a:t>
            </a:r>
          </a:p>
          <a:p>
            <a:r>
              <a:rPr lang="en-US" sz="2200" dirty="0"/>
              <a:t>Switch Statements</a:t>
            </a:r>
          </a:p>
          <a:p>
            <a:r>
              <a:rPr lang="en-US" sz="2200" dirty="0"/>
              <a:t>Loops</a:t>
            </a:r>
          </a:p>
          <a:p>
            <a:r>
              <a:rPr lang="en-US" sz="2200" dirty="0"/>
              <a:t>Functions</a:t>
            </a:r>
          </a:p>
          <a:p>
            <a:r>
              <a:rPr lang="en-US" sz="2200" dirty="0"/>
              <a:t>Arrow Functions (ES6)</a:t>
            </a:r>
          </a:p>
          <a:p>
            <a:r>
              <a:rPr lang="en-US" sz="2200" dirty="0"/>
              <a:t>Default Parameter Values (ES6)</a:t>
            </a:r>
          </a:p>
          <a:p>
            <a:r>
              <a:rPr lang="en-US" sz="2200" dirty="0"/>
              <a:t>Rest Parameter (ES6)</a:t>
            </a:r>
          </a:p>
          <a:p>
            <a:r>
              <a:rPr lang="en-US" sz="2200" dirty="0"/>
              <a:t>Spread Parameter (ES6)</a:t>
            </a:r>
          </a:p>
          <a:p>
            <a:r>
              <a:rPr lang="en-US" sz="2200" dirty="0"/>
              <a:t>JavaScript Classes (ES6)</a:t>
            </a:r>
          </a:p>
          <a:p>
            <a:r>
              <a:rPr lang="en-US" sz="2200" dirty="0"/>
              <a:t>Error Handling</a:t>
            </a:r>
          </a:p>
          <a:p>
            <a:r>
              <a:rPr lang="en-US" sz="2200" dirty="0"/>
              <a:t>Template Literal (ES6)</a:t>
            </a:r>
          </a:p>
          <a:p>
            <a:r>
              <a:rPr lang="en-US" sz="2200" dirty="0"/>
              <a:t>Comments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14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8CFAB-2AA2-4D91-BDB1-5033FC0AD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4EE07-F983-4E73-AE0C-B598C71D0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Chapter 19 and Chapter 20 from </a:t>
            </a:r>
            <a:r>
              <a:rPr lang="en-US" sz="2400" i="1" dirty="0"/>
              <a:t>Learning Web Design- A Beginner’s Guide to HTML, CSS, </a:t>
            </a:r>
            <a:r>
              <a:rPr lang="en-US" sz="2400" i="1" dirty="0" err="1"/>
              <a:t>Javascript</a:t>
            </a:r>
            <a:r>
              <a:rPr lang="en-US" sz="2400" i="1" dirty="0"/>
              <a:t> and Web Graphics </a:t>
            </a:r>
            <a:r>
              <a:rPr lang="en-US" sz="2400" dirty="0"/>
              <a:t>By Jennifer </a:t>
            </a:r>
            <a:r>
              <a:rPr lang="en-US" sz="2400" dirty="0" err="1"/>
              <a:t>Niederst</a:t>
            </a:r>
            <a:r>
              <a:rPr lang="en-US" sz="2400" dirty="0"/>
              <a:t> Robbins (4</a:t>
            </a:r>
            <a:r>
              <a:rPr lang="en-US" sz="2400" baseline="30000" dirty="0"/>
              <a:t>th</a:t>
            </a:r>
            <a:r>
              <a:rPr lang="en-US" sz="2400" dirty="0"/>
              <a:t> Edition)</a:t>
            </a:r>
          </a:p>
          <a:p>
            <a:r>
              <a:rPr lang="en-US" sz="2400" dirty="0">
                <a:hlinkClick r:id="rId2"/>
              </a:rPr>
              <a:t>https://www.w3schools.com/js/js_array_sort.asp</a:t>
            </a:r>
            <a:endParaRPr lang="en-US" sz="2400" dirty="0"/>
          </a:p>
          <a:p>
            <a:r>
              <a:rPr lang="en-US" sz="2400" dirty="0">
                <a:hlinkClick r:id="rId3"/>
              </a:rPr>
              <a:t>https://www.w3schools.com/js/js_best_practices.asp</a:t>
            </a:r>
            <a:endParaRPr lang="en-US" sz="2400" dirty="0"/>
          </a:p>
          <a:p>
            <a:r>
              <a:rPr lang="en-US" sz="2400" dirty="0">
                <a:hlinkClick r:id="rId4"/>
              </a:rPr>
              <a:t>https://www.w3schools.com/js/js_errors.asp</a:t>
            </a:r>
            <a:endParaRPr lang="en-US" sz="2400" dirty="0"/>
          </a:p>
          <a:p>
            <a:r>
              <a:rPr lang="en-US" sz="2400" dirty="0">
                <a:hlinkClick r:id="rId5"/>
              </a:rPr>
              <a:t>https://www.tutorialrepublic.com/javascript-tutorial/javascript-es6-features.php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11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F0D192E966F94487F6C741852DFD8F" ma:contentTypeVersion="6" ma:contentTypeDescription="Create a new document." ma:contentTypeScope="" ma:versionID="6a21985dd82ab4ade60bfdfeaabc8bdb">
  <xsd:schema xmlns:xsd="http://www.w3.org/2001/XMLSchema" xmlns:xs="http://www.w3.org/2001/XMLSchema" xmlns:p="http://schemas.microsoft.com/office/2006/metadata/properties" xmlns:ns2="efc92e9a-8d31-4bd7-b912-b0ed9b710ad4" targetNamespace="http://schemas.microsoft.com/office/2006/metadata/properties" ma:root="true" ma:fieldsID="1e09f2a7db16dd3a84b054fdcde6beac" ns2:_="">
    <xsd:import namespace="efc92e9a-8d31-4bd7-b912-b0ed9b710ad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c92e9a-8d31-4bd7-b912-b0ed9b710a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EC68C36-43CD-4C8C-9263-CF037E66C21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1117153-6B87-4BE8-8440-51D4C53D2805}"/>
</file>

<file path=customXml/itemProps3.xml><?xml version="1.0" encoding="utf-8"?>
<ds:datastoreItem xmlns:ds="http://schemas.openxmlformats.org/officeDocument/2006/customXml" ds:itemID="{01431F62-2356-4474-A97F-E984A4B32B0A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79a10b91-c0c4-47ee-ba7a-114d11d475a8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17914</TotalTime>
  <Words>1527</Words>
  <Application>Microsoft Office PowerPoint</Application>
  <PresentationFormat>On-screen Show (4:3)</PresentationFormat>
  <Paragraphs>169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Consolas</vt:lpstr>
      <vt:lpstr>Courier New</vt:lpstr>
      <vt:lpstr>Verdana</vt:lpstr>
      <vt:lpstr>Office Theme</vt:lpstr>
      <vt:lpstr>Web Technologies</vt:lpstr>
      <vt:lpstr>Summary of Today’s Lecture</vt:lpstr>
      <vt:lpstr>Conditional statements</vt:lpstr>
      <vt:lpstr>Conditional statements</vt:lpstr>
      <vt:lpstr>Switch Statement</vt:lpstr>
      <vt:lpstr>Loops</vt:lpstr>
      <vt:lpstr>Loop over Array</vt:lpstr>
      <vt:lpstr>Custom Functions</vt:lpstr>
      <vt:lpstr>Arrow Function</vt:lpstr>
      <vt:lpstr>Default Values for Function Parameters</vt:lpstr>
      <vt:lpstr>The Rest Parameter</vt:lpstr>
      <vt:lpstr>Spread Operator</vt:lpstr>
      <vt:lpstr>JavaScript Classes</vt:lpstr>
      <vt:lpstr>Class Inheritance</vt:lpstr>
      <vt:lpstr>Javascript Errors</vt:lpstr>
      <vt:lpstr>Throw Statement</vt:lpstr>
      <vt:lpstr>Template Literals</vt:lpstr>
      <vt:lpstr>Template Literals Example</vt:lpstr>
      <vt:lpstr>Comments</vt:lpstr>
      <vt:lpstr>Summary of Today’s Lecture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Basics</dc:title>
  <dc:creator>Windows User</dc:creator>
  <cp:lastModifiedBy>Administrator</cp:lastModifiedBy>
  <cp:revision>368</cp:revision>
  <dcterms:created xsi:type="dcterms:W3CDTF">2016-11-06T05:25:23Z</dcterms:created>
  <dcterms:modified xsi:type="dcterms:W3CDTF">2021-04-29T09:30:35Z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0x010100D8F0D192E966F94487F6C741852DFD8F</vt:lpwstr>
  </property>
</Properties>
</file>